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J2-001 | Jour 2 | B4 | Séquence B4.1</a:t>
            </a:r>
          </a:p>
          <a:p>
            <a:r>
              <a:t>Modalité : Évaluation. Budget de la séquence complète : 10 min (ne pas additionner ce temps à chaque diapositive).</a:t>
            </a:r>
          </a:p>
          <a:p/>
          <a:p>
            <a:r>
              <a:t>OBJECTIF</a:t>
            </a:r>
          </a:p>
          <a:p>
            <a:r>
              <a:t>De la prédiction à un SI opérationnel</a:t>
            </a:r>
          </a:p>
          <a:p/>
          <a:p>
            <a:r>
              <a:t>DÉVELOPPEMENT ET CONSIGNES FORMATEUR</a:t>
            </a:r>
          </a:p>
          <a:p>
            <a:r>
              <a:t>Réouvrir les livrables de la veille : carte de décision, canevas de valeur et registre de gouvernance. Le deuxième jour les transforme en décisions techniques explicites. Le notebook fourni fonctionne sans API ni données personnelles réelles après installation des dépendances. La variante sans code utilise les mêmes résultats pré-calculés afin de conserver les objectifs de compréhension et d’application.</a:t>
            </a:r>
          </a:p>
          <a:p/>
          <a:p>
            <a:r>
              <a:t>MESSAGE À RETENIR</a:t>
            </a:r>
          </a:p>
          <a:p>
            <a:r>
              <a:t>Référence 4-020 • 6 heures pédagogiques hors pauses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J2-002 | Jour 2 | B4 | Séquence B4.1</a:t>
            </a:r>
          </a:p>
          <a:p>
            <a:r>
              <a:t>Modalité : Évaluation. Budget de la séquence complète : 10 min (ne pas additionner ce temps à chaque diapositive).</a:t>
            </a:r>
          </a:p>
          <a:p/>
          <a:p>
            <a:r>
              <a:t>OBJECTIF</a:t>
            </a:r>
          </a:p>
          <a:p>
            <a:r>
              <a:t>Rappel actif : reconstruire le système</a:t>
            </a:r>
          </a:p>
          <a:p/>
          <a:p>
            <a:r>
              <a:t>DÉVELOPPEMENT ET CONSIGNES FORMATEUR</a:t>
            </a:r>
          </a:p>
          <a:p>
            <a:r>
              <a:t>Utiliser dix minutes : trois de rappel individuel, quatre en binôme et trois de correction. Demander un exemple nouveau pour éviter une récitation. Vérifier simultanément que les fichiers locaux sont accessibles, sans faire de l’installation improvisée une activité centrale. Si un poste échoue, basculer sur le corrigé exécuté et les exports, ou travailler à deux.</a:t>
            </a:r>
          </a:p>
          <a:p/>
          <a:p>
            <a:r>
              <a:t>MESSAGE À RETENIR</a:t>
            </a:r>
          </a:p>
          <a:p>
            <a:r>
              <a:t>Le vocabulaire de la veille devient un protocole de travail.</a:t>
            </a:r>
          </a:p>
          <a:p/>
          <a:p>
            <a:r>
              <a:t>QUESTION DE RELANCE</a:t>
            </a:r>
          </a:p>
          <a:p>
            <a:r>
              <a:t>Quelle partie du système est absente d’un fichier contenant uniquement des probabilités ?</a:t>
            </a:r>
          </a:p>
          <a:p/>
          <a:p>
            <a:r>
              <a:t>RÉPONSE ATTENDUE</a:t>
            </a:r>
          </a:p>
          <a:p>
            <a:r>
              <a:t>L’action, la responsabilité, la mesure d’impact et les contrôles d’exploitation.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J2-003 | Jour 2 | B4 | Séquence B4.2</a:t>
            </a:r>
          </a:p>
          <a:p>
            <a:r>
              <a:t>Modalité : Apport. Budget de la séquence complète : 20 min (ne pas additionner ce temps à chaque diapositive).</a:t>
            </a:r>
          </a:p>
          <a:p/>
          <a:p>
            <a:r>
              <a:t>OBJECTIF</a:t>
            </a:r>
          </a:p>
          <a:p>
            <a:r>
              <a:t>04 • Choisir une méthode à partir du besoin</a:t>
            </a:r>
          </a:p>
          <a:p/>
          <a:p>
            <a:r>
              <a:t>DÉVELOPPEMENT ET CONSIGNES FORMATEUR</a:t>
            </a:r>
          </a:p>
          <a:p>
            <a:r>
              <a:t>Le bloc dure trois heures exactement. Il comprend 110 minutes de TP, 60 minutes d’apports et 10 minutes de rappel. Le but n’est pas d’enseigner toute la théorie des algorithmes mais d’apprendre à comparer une méthode simple et une méthode plus complexe, puis à interpréter le résultat dans le SI. Le Deep Learning est présenté par ses représentations et ses cas d’usage.</a:t>
            </a:r>
          </a:p>
          <a:p/>
          <a:p>
            <a:r>
              <a:t>MESSAGE À RETENIR</a:t>
            </a:r>
          </a:p>
          <a:p>
            <a:r>
              <a:t>3 heures • 110 minutes de TP • Python, Jupyter et Power BI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J2-004 | Jour 2 | B4 | Séquence B4.2</a:t>
            </a:r>
          </a:p>
          <a:p>
            <a:r>
              <a:t>Modalité : Apport. Budget de la séquence complète : 20 min (ne pas additionner ce temps à chaque diapositive).</a:t>
            </a:r>
          </a:p>
          <a:p/>
          <a:p>
            <a:r>
              <a:t>OBJECTIF</a:t>
            </a:r>
          </a:p>
          <a:p>
            <a:r>
              <a:t>Six décisions avant de choisir un algorithme</a:t>
            </a:r>
          </a:p>
          <a:p/>
          <a:p>
            <a:r>
              <a:t>DÉVELOPPEMENT ET CONSIGNES FORMATEUR</a:t>
            </a:r>
          </a:p>
          <a:p>
            <a:r>
              <a:t>Cadrer le churn en français comme un risque de départ ou de résiliation. Unité et horizon doivent être écrits. Les données doivent correspondre à l’état du client au moment de la décision. L’horizon d’apprentissage doit laisser le temps d’agir. Un projet peut échouer parce que les étiquettes ne sont connues que tardivement ou parce que la définition du départ change selon les contrats.</a:t>
            </a:r>
          </a:p>
          <a:p/>
          <a:p>
            <a:r>
              <a:t>MESSAGE À RETENIR</a:t>
            </a:r>
          </a:p>
          <a:p>
            <a:r>
              <a:t>Un problème bien formulé rend les choix de modèle discutables et testables.</a:t>
            </a:r>
          </a:p>
          <a:p/>
          <a:p>
            <a:r>
              <a:t>QUESTION DE RELANCE</a:t>
            </a:r>
          </a:p>
          <a:p>
            <a:r>
              <a:t>« Prédire les clients insatisfaits » est-il suffisamment précis ?</a:t>
            </a:r>
          </a:p>
          <a:p/>
          <a:p>
            <a:r>
              <a:t>RÉPONSE ATTENDUE</a:t>
            </a:r>
          </a:p>
          <a:p>
            <a:r>
              <a:t>Non : il faut un événement observable, une unité, une échéance et une source d’étiquettes.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J2-005 | Jour 2 | B4 | Séquence B4.2</a:t>
            </a:r>
          </a:p>
          <a:p>
            <a:r>
              <a:t>Modalité : Apport. Budget de la séquence complète : 20 min (ne pas additionner ce temps à chaque diapositive).</a:t>
            </a:r>
          </a:p>
          <a:p/>
          <a:p>
            <a:r>
              <a:t>OBJECTIF</a:t>
            </a:r>
          </a:p>
          <a:p>
            <a:r>
              <a:t>Régression et classification : deux sorties différentes</a:t>
            </a:r>
          </a:p>
          <a:p/>
          <a:p>
            <a:r>
              <a:t>DÉVELOPPEMENT ET CONSIGNES FORMATEUR</a:t>
            </a:r>
          </a:p>
          <a:p>
            <a:r>
              <a:t>Le mot régression peut prêter à confusion : la régression logistique est généralement utilisée pour classifier. Présenter les familles par leur sortie et leur critère de validation. Pour une prévision de quantité, une erreur de dix unités peut être tolérable ou critique selon le stock et l’incertitude. Pour la classification, la valeur dépend du seuil et de l’action.</a:t>
            </a:r>
          </a:p>
          <a:p/>
          <a:p>
            <a:r>
              <a:t>MESSAGE À RETENIR</a:t>
            </a:r>
          </a:p>
          <a:p>
            <a:r>
              <a:t>Le nom d’un algorithme ne suffit pas à expliquer ce qu’il produit.</a:t>
            </a:r>
          </a:p>
          <a:p/>
          <a:p>
            <a:r>
              <a:t>QUESTION DE RELANCE</a:t>
            </a:r>
          </a:p>
          <a:p>
            <a:r>
              <a:t>Quelle métrique pourrait servir à une prévision de ventes ?</a:t>
            </a:r>
          </a:p>
          <a:p/>
          <a:p>
            <a:r>
              <a:t>RÉPONSE ATTENDUE</a:t>
            </a:r>
          </a:p>
          <a:p>
            <a:r>
              <a:t>Une erreur absolue moyenne et des mesures adaptées à l’horizon et au coût de rupture, plutôt qu’une exactitude de classes.</a:t>
            </a:r>
          </a:p>
          <a:p/>
          <a:p>
            <a:r>
              <a:t>SOURCES</a:t>
            </a:r>
          </a:p>
          <a:p>
            <a:r>
              <a:t>[S02] scikit-learn : guide utilisateur</a:t>
            </a:r>
          </a:p>
          <a:p>
            <a:r>
              <a:t>https://scikit-learn.org/stable/user_guide.html</a:t>
            </a:r>
          </a:p>
          <a:p>
            <a:r>
              <a:t>Documentation technique ; environnement du TP épinglé séparément.</a:t>
            </a:r>
          </a:p>
          <a:p>
            <a:r>
              <a:t>[S04] scikit-learn : métriques et scores</a:t>
            </a:r>
          </a:p>
          <a:p>
            <a:r>
              <a:t>https://scikit-learn.org/stable/modules/model_evaluation.html</a:t>
            </a:r>
          </a:p>
          <a:p>
            <a:r>
              <a:t>Documentation primaire.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J2-006 | Jour 2 | B4 | Séquence B4.2</a:t>
            </a:r>
          </a:p>
          <a:p>
            <a:r>
              <a:t>Modalité : Apport. Budget de la séquence complète : 20 min (ne pas additionner ce temps à chaque diapositive).</a:t>
            </a:r>
          </a:p>
          <a:p/>
          <a:p>
            <a:r>
              <a:t>OBJECTIF</a:t>
            </a:r>
          </a:p>
          <a:p>
            <a:r>
              <a:t>Une référence simple évite la sophistication gratuite</a:t>
            </a:r>
          </a:p>
          <a:p/>
          <a:p>
            <a:r>
              <a:t>DÉVELOPPEMENT ET CONSIGNES FORMATEUR</a:t>
            </a:r>
          </a:p>
          <a:p>
            <a:r>
              <a:t>La baseline doit être explicitée avant l’expérimentation. En prévision temporelle, reprendre la dernière valeur ou la même période précédente peut être une référence solide. En classification déséquilibrée, la classe majoritaire peut sembler bonne en exactitude tout en ayant un rappel nul. Le TP montrera ce cas. La comparaison porte aussi sur la maintenabilité, la latence et les coûts.</a:t>
            </a:r>
          </a:p>
          <a:p/>
          <a:p>
            <a:r>
              <a:t>MESSAGE À RETENIR</a:t>
            </a:r>
          </a:p>
          <a:p>
            <a:r>
              <a:t>Toujours comparer à une solution crédible sans sophistication supplémentaire.</a:t>
            </a:r>
          </a:p>
          <a:p/>
          <a:p>
            <a:r>
              <a:t>QUESTION DE RELANCE</a:t>
            </a:r>
          </a:p>
          <a:p>
            <a:r>
              <a:t>Quel résultat invaliderait la complexité ajoutée ?</a:t>
            </a:r>
          </a:p>
          <a:p/>
          <a:p>
            <a:r>
              <a:t>RÉPONSE ATTENDUE</a:t>
            </a:r>
          </a:p>
          <a:p>
            <a:r>
              <a:t>Un bénéfice inexistant ou trop faible par rapport au coût et aux risques de la solution plus simple.</a:t>
            </a:r>
          </a:p>
          <a:p/>
          <a:p>
            <a:r>
              <a:t>SOURCES</a:t>
            </a:r>
          </a:p>
          <a:p>
            <a:r>
              <a:t>[S04] scikit-learn : métriques et scores</a:t>
            </a:r>
          </a:p>
          <a:p>
            <a:r>
              <a:t>https://scikit-learn.org/stable/modules/model_evaluation.html</a:t>
            </a:r>
          </a:p>
          <a:p>
            <a:r>
              <a:t>Documentation primaire.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J2-007 | Jour 2 | B4 | Séquence B4.2</a:t>
            </a:r>
          </a:p>
          <a:p>
            <a:r>
              <a:t>Modalité : Apport. Budget de la séquence complète : 20 min (ne pas additionner ce temps à chaque diapositive).</a:t>
            </a:r>
          </a:p>
          <a:p/>
          <a:p>
            <a:r>
              <a:t>OBJECTIF</a:t>
            </a:r>
          </a:p>
          <a:p>
            <a:r>
              <a:t>Régression logistique : un score pour classer</a:t>
            </a:r>
          </a:p>
          <a:p/>
          <a:p>
            <a:r>
              <a:t>DÉVELOPPEMENT ET CONSIGNES FORMATEUR</a:t>
            </a:r>
          </a:p>
          <a:p>
            <a:r>
              <a:t>La régression logistique apprend une combinaison des variables et la transforme en score borné. L’interprétation d’un coefficient dépend des autres variables, du codage et de l’échelle ; elle ne prouve pas un effet causal. Un score produit par predict_proba n’est pas automatiquement bien calibré sur une future population réelle. La simplicité relative facilite la discussion sans supprimer la nécessité de validation.</a:t>
            </a:r>
          </a:p>
          <a:p/>
          <a:p>
            <a:r>
              <a:t>MESSAGE À RETENIR</a:t>
            </a:r>
          </a:p>
          <a:p>
            <a:r>
              <a:t>Le seuil de 0,5 est une convention, pas une décision métier obligatoire.</a:t>
            </a:r>
          </a:p>
          <a:p/>
          <a:p>
            <a:r>
              <a:t>QUESTION DE RELANCE</a:t>
            </a:r>
          </a:p>
          <a:p>
            <a:r>
              <a:t>0,78 signifie-t-il que le départ d’une personne précise est certain ?</a:t>
            </a:r>
          </a:p>
          <a:p/>
          <a:p>
            <a:r>
              <a:t>RÉPONSE ATTENDUE</a:t>
            </a:r>
          </a:p>
          <a:p>
            <a:r>
              <a:t>Non. Il s’agit d’une estimation issue du modèle, à évaluer et à calibrer selon l’usage.</a:t>
            </a:r>
          </a:p>
          <a:p/>
          <a:p>
            <a:r>
              <a:t>SOURCES</a:t>
            </a:r>
          </a:p>
          <a:p>
            <a:r>
              <a:t>[S02] scikit-learn : guide utilisateur</a:t>
            </a:r>
          </a:p>
          <a:p>
            <a:r>
              <a:t>https://scikit-learn.org/stable/user_guide.html</a:t>
            </a:r>
          </a:p>
          <a:p>
            <a:r>
              <a:t>Documentation technique ; environnement du TP épinglé séparément.</a:t>
            </a:r>
          </a:p>
          <a:p>
            <a:r>
              <a:t>[S30] scikit-learn : choix du seuil de décision</a:t>
            </a:r>
          </a:p>
          <a:p>
            <a:r>
              <a:t>https://scikit-learn.org/stable/modules/classification_threshold.html</a:t>
            </a:r>
          </a:p>
          <a:p>
            <a:r>
              <a:t>Séparer score, seuil et validation de la politique.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J2-008 | Jour 2 | B4 | Séquence B4.2</a:t>
            </a:r>
          </a:p>
          <a:p>
            <a:r>
              <a:t>Modalité : Apport. Budget de la séquence complète : 20 min (ne pas additionner ce temps à chaque diapositive).</a:t>
            </a:r>
          </a:p>
          <a:p/>
          <a:p>
            <a:r>
              <a:t>OBJECTIF</a:t>
            </a:r>
          </a:p>
          <a:p>
            <a:r>
              <a:t>Arbre de décision : une succession de séparations</a:t>
            </a:r>
          </a:p>
          <a:p/>
          <a:p>
            <a:r>
              <a:t>DÉVELOPPEMENT ET CONSIGNES FORMATEUR</a:t>
            </a:r>
          </a:p>
          <a:p>
            <a:r>
              <a:t>Le dessin est un arbre fictif pour expliquer le principe, pas l’arbre entraîné du TP. Les coupures sont choisies pour séparer les données selon un critère. Un arbre peut être lisible lorsqu’il reste petit et devenir difficile à interpréter lorsqu’il est profond. Les seuils peuvent changer fortement avec de petites variations des données, d’où l’intérêt de méthodes d’ensemble.</a:t>
            </a:r>
          </a:p>
          <a:p/>
          <a:p>
            <a:r>
              <a:t>MESSAGE À RETENIR</a:t>
            </a:r>
          </a:p>
          <a:p>
            <a:r>
              <a:t>Un arbre apprend des règles à partir d’exemples ; ses seuils ne sont pas des lois.</a:t>
            </a:r>
          </a:p>
          <a:p/>
          <a:p>
            <a:r>
              <a:t>QUESTION DE RELANCE</a:t>
            </a:r>
          </a:p>
          <a:p>
            <a:r>
              <a:t>Un arbre facile à dessiner est-il nécessairement le plus fiable ?</a:t>
            </a:r>
          </a:p>
          <a:p/>
          <a:p>
            <a:r>
              <a:t>RÉPONSE ATTENDUE</a:t>
            </a:r>
          </a:p>
          <a:p>
            <a:r>
              <a:t>Non. Lisibilité et performance doivent être évaluées séparément.</a:t>
            </a:r>
          </a:p>
          <a:p/>
          <a:p>
            <a:r>
              <a:t>SOURCES</a:t>
            </a:r>
          </a:p>
          <a:p>
            <a:r>
              <a:t>[S02] scikit-learn : guide utilisateur</a:t>
            </a:r>
          </a:p>
          <a:p>
            <a:r>
              <a:t>https://scikit-learn.org/stable/user_guide.html</a:t>
            </a:r>
          </a:p>
          <a:p>
            <a:r>
              <a:t>Documentation technique ; environnement du TP épinglé séparément.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J2-009 | Jour 2 | B4 | Séquence B4.2</a:t>
            </a:r>
          </a:p>
          <a:p>
            <a:r>
              <a:t>Modalité : Apport. Budget de la séquence complète : 20 min (ne pas additionner ce temps à chaque diapositive).</a:t>
            </a:r>
          </a:p>
          <a:p/>
          <a:p>
            <a:r>
              <a:t>OBJECTIF</a:t>
            </a:r>
          </a:p>
          <a:p>
            <a:r>
              <a:t>Forêt et boosting : deux façons de combiner</a:t>
            </a:r>
          </a:p>
          <a:p/>
          <a:p>
            <a:r>
              <a:t>DÉVELOPPEMENT ET CONSIGNES FORMATEUR</a:t>
            </a:r>
          </a:p>
          <a:p>
            <a:r>
              <a:t>Éviter l’image trompeuse d’un vote d’experts humains. Il s’agit de modèles entraînés selon des procédures différentes. La forêt du TP est volontairement limitée pour exécuter rapidement le cours. Elle n’est pas une recherche exhaustive du meilleur modèle. Le boosting est présenté comme une famille utile, sans prétendre qu’elle gagne dans tous les cas.</a:t>
            </a:r>
          </a:p>
          <a:p/>
          <a:p>
            <a:r>
              <a:t>MESSAGE À RETENIR</a:t>
            </a:r>
          </a:p>
          <a:p>
            <a:r>
              <a:t>La comparaison empirique remplace le classement de prestige des algorithmes.</a:t>
            </a:r>
          </a:p>
          <a:p/>
          <a:p>
            <a:r>
              <a:t>QUESTION DE RELANCE</a:t>
            </a:r>
          </a:p>
          <a:p>
            <a:r>
              <a:t>Pourquoi un modèle plus complexe peut-il perdre contre la logistique dans le TP ?</a:t>
            </a:r>
          </a:p>
          <a:p/>
          <a:p>
            <a:r>
              <a:t>RÉPONSE ATTENDUE</a:t>
            </a:r>
          </a:p>
          <a:p>
            <a:r>
              <a:t>Parce que la structure des données, les réglages et le protocole peuvent favoriser une méthode plus simple.</a:t>
            </a:r>
          </a:p>
          <a:p/>
          <a:p>
            <a:r>
              <a:t>SOURCES</a:t>
            </a:r>
          </a:p>
          <a:p>
            <a:r>
              <a:t>[S02] scikit-learn : guide utilisateur</a:t>
            </a:r>
          </a:p>
          <a:p>
            <a:r>
              <a:t>https://scikit-learn.org/stable/user_guide.html</a:t>
            </a:r>
          </a:p>
          <a:p>
            <a:r>
              <a:t>Documentation technique ; environnement du TP épinglé séparément.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J2-010 | Jour 2 | B4 | Séquence B4.2</a:t>
            </a:r>
          </a:p>
          <a:p>
            <a:r>
              <a:t>Modalité : Apport. Budget de la séquence complète : 20 min (ne pas additionner ce temps à chaque diapositive).</a:t>
            </a:r>
          </a:p>
          <a:p/>
          <a:p>
            <a:r>
              <a:t>OBJECTIF</a:t>
            </a:r>
          </a:p>
          <a:p>
            <a:r>
              <a:t>Regrouper, détecter, recommander : sans tout confondre</a:t>
            </a:r>
          </a:p>
          <a:p/>
          <a:p>
            <a:r>
              <a:t>DÉVELOPPEMENT ET CONSIGNES FORMATEUR</a:t>
            </a:r>
          </a:p>
          <a:p>
            <a:r>
              <a:t>Le regroupement non supervisé ne fournit pas spontanément un sens métier aux groupes. La proximité dépend de l’échelle, des variables et de la distance. Une anomalie peut être une nouveauté légitime. La recommandation peut intégrer des règles, des représentations et plusieurs modèles. Utiliser les cas de la veille pour éviter que les familles restent abstraites.</a:t>
            </a:r>
          </a:p>
          <a:p/>
          <a:p>
            <a:r>
              <a:t>MESSAGE À RETENIR</a:t>
            </a:r>
          </a:p>
          <a:p>
            <a:r>
              <a:t>La sortie mathématique doit être interprétée avant de devenir une catégorie métier.</a:t>
            </a:r>
          </a:p>
          <a:p/>
          <a:p>
            <a:r>
              <a:t>QUESTION DE RELANCE</a:t>
            </a:r>
          </a:p>
          <a:p>
            <a:r>
              <a:t>Un groupe mathématique peut-il devenir un segment commercial sans revue ?</a:t>
            </a:r>
          </a:p>
          <a:p/>
          <a:p>
            <a:r>
              <a:t>RÉPONSE ATTENDUE</a:t>
            </a:r>
          </a:p>
          <a:p>
            <a:r>
              <a:t>Il doit être interprété, testé et évalué pour son utilité et ses conséquences.</a:t>
            </a:r>
          </a:p>
          <a:p/>
          <a:p>
            <a:r>
              <a:t>SOURCES</a:t>
            </a:r>
          </a:p>
          <a:p>
            <a:r>
              <a:t>[S02] scikit-learn : guide utilisateur</a:t>
            </a:r>
          </a:p>
          <a:p>
            <a:r>
              <a:t>https://scikit-learn.org/stable/user_guide.html</a:t>
            </a:r>
          </a:p>
          <a:p>
            <a:r>
              <a:t>Documentation technique ; environnement du TP épinglé séparément.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J2-011 | Jour 2 | B4 | Séquence B4.3</a:t>
            </a:r>
          </a:p>
          <a:p>
            <a:r>
              <a:t>Modalité : TP. Budget de la séquence complète : 40 min (ne pas additionner ce temps à chaque diapositive).</a:t>
            </a:r>
          </a:p>
          <a:p/>
          <a:p>
            <a:r>
              <a:t>OBJECTIF</a:t>
            </a:r>
          </a:p>
          <a:p>
            <a:r>
              <a:t>A08a • Ouvrir le laboratoire Novalia</a:t>
            </a:r>
          </a:p>
          <a:p/>
          <a:p>
            <a:r>
              <a:t>DÉVELOPPEMENT ET CONSIGNES FORMATEUR</a:t>
            </a:r>
          </a:p>
          <a:p>
            <a:r>
              <a:t>Le TP est guidé et ne demande pas de saisir toute la syntaxe. Exécuter les cellules dans l’ordre, lire les sorties et répondre aux questions. En variante sans code, le corrigé exécuté est affiché sans ses réponses d’analyse et les CSV de résultats sont distribués. Réserver l’effort à la compréhension des blocs. Le temps prévu est quarante minutes et n’inclut pas une installation improvisée de Python.</a:t>
            </a:r>
          </a:p>
          <a:p/>
          <a:p>
            <a:r>
              <a:t>MESSAGE À RETENIR</a:t>
            </a:r>
          </a:p>
          <a:p>
            <a:r>
              <a:t>40 minutes • Notebook participant • Cahier A08</a:t>
            </a:r>
          </a:p>
          <a:p/>
          <a:p>
            <a:r>
              <a:t>QUESTION DE RELANCE</a:t>
            </a:r>
          </a:p>
          <a:p>
            <a:r>
              <a:t>Quelle sortie attendez-vous avant tout entraînement ?</a:t>
            </a:r>
          </a:p>
          <a:p/>
          <a:p>
            <a:r>
              <a:t>RÉPONSE ATTENDUE</a:t>
            </a:r>
          </a:p>
          <a:p>
            <a:r>
              <a:t>Dimensions du jeu, proportion de départs, types, valeurs manquantes et identité de la cible.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J2-012 | Jour 2 | B4 | Séquence B4.3</a:t>
            </a:r>
          </a:p>
          <a:p>
            <a:r>
              <a:t>Modalité : TP. Budget de la séquence complète : 40 min (ne pas additionner ce temps à chaque diapositive).</a:t>
            </a:r>
          </a:p>
          <a:p/>
          <a:p>
            <a:r>
              <a:t>OBJECTIF</a:t>
            </a:r>
          </a:p>
          <a:p>
            <a:r>
              <a:t>Un notebook relie texte, calcul et résultat</a:t>
            </a:r>
          </a:p>
          <a:p/>
          <a:p>
            <a:r>
              <a:t>DÉVELOPPEMENT ET CONSIGNES FORMATEUR</a:t>
            </a:r>
          </a:p>
          <a:p>
            <a:r>
              <a:t>Jupyter est un environnement interactif. L’état en mémoire peut rendre une exécution désordonnée trompeuse : une variable ancienne peut persister après modification. La bonne vérification consiste à redémarrer le noyau et exécuter toutes les cellules dans l’ordre. Le notebook corrigé fourni a été exécuté de bout en bout. Ne pas présenter un notebook comme une application industrielle terminée.</a:t>
            </a:r>
          </a:p>
          <a:p/>
          <a:p>
            <a:r>
              <a:t>MESSAGE À RETENIR</a:t>
            </a:r>
          </a:p>
          <a:p>
            <a:r>
              <a:t>Avant livraison : redémarrer le noyau et tout réexécuter.</a:t>
            </a:r>
          </a:p>
          <a:p/>
          <a:p>
            <a:r>
              <a:t>QUESTION DE RELANCE</a:t>
            </a:r>
          </a:p>
          <a:p>
            <a:r>
              <a:t>Pourquoi une cellule peut-elle réussir chez l’auteur et échouer après redémarrage ?</a:t>
            </a:r>
          </a:p>
          <a:p/>
          <a:p>
            <a:r>
              <a:t>RÉPONSE ATTENDUE</a:t>
            </a:r>
          </a:p>
          <a:p>
            <a:r>
              <a:t>Elle dépendait d’un état antérieur non décrit dans l’ordre visible des cellules.</a:t>
            </a:r>
          </a:p>
          <a:p/>
          <a:p>
            <a:r>
              <a:t>SOURCES</a:t>
            </a:r>
          </a:p>
          <a:p>
            <a:r>
              <a:t>[S25] Projet Jupyter : documentation</a:t>
            </a:r>
          </a:p>
          <a:p>
            <a:r>
              <a:t>https://docs.jupyter.org/en/latest/</a:t>
            </a:r>
          </a:p>
          <a:p>
            <a:r>
              <a:t>Notebooks interactifs.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J2-013 | Jour 2 | B4 | Séquence B4.3</a:t>
            </a:r>
          </a:p>
          <a:p>
            <a:r>
              <a:t>Modalité : TP. Budget de la séquence complète : 40 min (ne pas additionner ce temps à chaque diapositive).</a:t>
            </a:r>
          </a:p>
          <a:p/>
          <a:p>
            <a:r>
              <a:t>OBJECTIF</a:t>
            </a:r>
          </a:p>
          <a:p>
            <a:r>
              <a:t>Le jeu de données : ce que signifie une ligne</a:t>
            </a:r>
          </a:p>
          <a:p/>
          <a:p>
            <a:r>
              <a:t>DÉVELOPPEMENT ET CONSIGNES FORMATEUR</a:t>
            </a:r>
          </a:p>
          <a:p>
            <a:r>
              <a:t>Chaque ligne représente un client indépendant de la simulation. Le dictionnaire complet est remis en annexe. Les noms techniques du CSV sont conservés pour permettre le suivi du code mais tous sont expliqués en français. Le montant mensuel n’est pas une mesure de marge. Le taux de départ résulte de la loi de génération construite et ne représente aucun secteur économique.</a:t>
            </a:r>
          </a:p>
          <a:p/>
          <a:p>
            <a:r>
              <a:t>MESSAGE À RETENIR</a:t>
            </a:r>
          </a:p>
          <a:p>
            <a:r>
              <a:t>Une ligne, une unité, une date de référence et une cible.</a:t>
            </a:r>
          </a:p>
          <a:p/>
          <a:p>
            <a:r>
              <a:t>QUESTION DE RELANCE</a:t>
            </a:r>
          </a:p>
          <a:p>
            <a:r>
              <a:t>Pourquoi conserver l’identifiant si on ne l’utilise pas comme entrée ?</a:t>
            </a:r>
          </a:p>
          <a:p/>
          <a:p>
            <a:r>
              <a:t>RÉPONSE ATTENDUE</a:t>
            </a:r>
          </a:p>
          <a:p>
            <a:r>
              <a:t>Pour relier le résultat au dossier, vérifier l’unicité et suivre les exports sans apprendre un numéro arbitraire.</a:t>
            </a:r>
          </a:p>
          <a:p/>
          <a:p>
            <a:r>
              <a:t>SOURCES</a:t>
            </a:r>
          </a:p>
          <a:p>
            <a:r>
              <a:t>[P01] Calculs reproductibles du TP Novalia</a:t>
            </a:r>
          </a:p>
          <a:p>
            <a:r>
              <a:t>travaux_pratiques/resultats_reference.json</a:t>
            </a:r>
          </a:p>
          <a:p>
            <a:r>
              <a:t>Simulation synthétique ; graine 4020 ; aucune performance réelle d’entreprise.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J2-014 | Jour 2 | B4 | Séquence B4.3</a:t>
            </a:r>
          </a:p>
          <a:p>
            <a:r>
              <a:t>Modalité : TP. Budget de la séquence complète : 40 min (ne pas additionner ce temps à chaque diapositive).</a:t>
            </a:r>
          </a:p>
          <a:p/>
          <a:p>
            <a:r>
              <a:t>OBJECTIF</a:t>
            </a:r>
          </a:p>
          <a:p>
            <a:r>
              <a:t>Avant d’entraîner : inspecter le déséquilibre</a:t>
            </a:r>
          </a:p>
          <a:p/>
          <a:p>
            <a:r>
              <a:t>DÉVELOPPEMENT ET CONSIGNES FORMATEUR</a:t>
            </a:r>
          </a:p>
          <a:p>
            <a:r>
              <a:t>Le taux affiché est calculé sur le fichier distribué. Il ne faut pas le présenter comme un taux du marché. Les valeurs manquantes sont introduites pour montrer l’imputation. On ne remplace pas automatiquement une absence par zéro : zéro peut être une valeur métier valide. Demander ce que ferait la classe majoritaire, puis comparer avec les sorties du notebook.</a:t>
            </a:r>
          </a:p>
          <a:p/>
          <a:p>
            <a:r>
              <a:t>MESSAGE À RETENIR</a:t>
            </a:r>
          </a:p>
          <a:p>
            <a:r>
              <a:t>Les statistiques affichées sont calculées sur le fichier joint, pas inventées.</a:t>
            </a:r>
          </a:p>
          <a:p/>
          <a:p>
            <a:r>
              <a:t>QUESTION DE RELANCE</a:t>
            </a:r>
          </a:p>
          <a:p>
            <a:r>
              <a:t>Quel serait le rappel d’une règle qui prédit « reste » pour tous ?</a:t>
            </a:r>
          </a:p>
          <a:p/>
          <a:p>
            <a:r>
              <a:t>RÉPONSE ATTENDUE</a:t>
            </a:r>
          </a:p>
          <a:p>
            <a:r>
              <a:t>Zéro, même avec une exactitude supérieure à 80 % dans cette simulation.</a:t>
            </a:r>
          </a:p>
          <a:p/>
          <a:p>
            <a:r>
              <a:t>SOURCES</a:t>
            </a:r>
          </a:p>
          <a:p>
            <a:r>
              <a:t>[P01] Calculs reproductibles du TP Novalia</a:t>
            </a:r>
          </a:p>
          <a:p>
            <a:r>
              <a:t>travaux_pratiques/resultats_reference.json</a:t>
            </a:r>
          </a:p>
          <a:p>
            <a:r>
              <a:t>Simulation synthétique ; graine 4020 ; aucune performance réelle d’entreprise.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J2-015 | Jour 2 | B4 | Séquence B4.3</a:t>
            </a:r>
          </a:p>
          <a:p>
            <a:r>
              <a:t>Modalité : TP. Budget de la séquence complète : 40 min (ne pas additionner ce temps à chaque diapositive).</a:t>
            </a:r>
          </a:p>
          <a:p/>
          <a:p>
            <a:r>
              <a:t>OBJECTIF</a:t>
            </a:r>
          </a:p>
          <a:p>
            <a:r>
              <a:t>Trois jeux, trois fonctions</a:t>
            </a:r>
          </a:p>
          <a:p/>
          <a:p>
            <a:r>
              <a:t>DÉVELOPPEMENT ET CONSIGNES FORMATEUR</a:t>
            </a:r>
          </a:p>
          <a:p>
            <a:r>
              <a:t>La séparation aléatoire stratifiée est adaptée à la démonstration de clients indépendants. Pour un historique réel, il faut souvent séparer dans le temps ou par client, machine ou établissement. L’entraînement ajuste les transformations et les modèles ; la validation choisit modèle et seuil ; le test estime la performance finale une fois les choix gelés. Le test ne devient pas une nouvelle validation après une déception.</a:t>
            </a:r>
          </a:p>
          <a:p/>
          <a:p>
            <a:r>
              <a:t>MESSAGE À RETENIR</a:t>
            </a:r>
          </a:p>
          <a:p>
            <a:r>
              <a:t>Choisir sur validation ; évaluer une fois sur test.</a:t>
            </a:r>
          </a:p>
          <a:p/>
          <a:p>
            <a:r>
              <a:t>QUESTION DE RELANCE</a:t>
            </a:r>
          </a:p>
          <a:p>
            <a:r>
              <a:t>Pourquoi les 20 % de test restent-ils fermés ?</a:t>
            </a:r>
          </a:p>
          <a:p/>
          <a:p>
            <a:r>
              <a:t>RÉPONSE ATTENDUE</a:t>
            </a:r>
          </a:p>
          <a:p>
            <a:r>
              <a:t>Pour limiter l’optimisme lié aux choix successifs faits sur les résultats observés.</a:t>
            </a:r>
          </a:p>
          <a:p/>
          <a:p>
            <a:r>
              <a:t>SOURCES</a:t>
            </a:r>
          </a:p>
          <a:p>
            <a:r>
              <a:t>[S03] scikit-learn : pièges et fuites de données</a:t>
            </a:r>
          </a:p>
          <a:p>
            <a:r>
              <a:t>https://scikit-learn.org/1.8/common_pitfalls.html</a:t>
            </a:r>
          </a:p>
          <a:p>
            <a:r>
              <a:t>Documentation primaire.</a:t>
            </a:r>
          </a:p>
          <a:p>
            <a:r>
              <a:t>[S29] scikit-learn : validation croisée</a:t>
            </a:r>
          </a:p>
          <a:p>
            <a:r>
              <a:t>https://scikit-learn.org/stable/modules/cross_validation.html</a:t>
            </a:r>
          </a:p>
          <a:p>
            <a:r>
              <a:t>Séparation adaptée aux données et dépendances.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J2-016 | Jour 2 | B4 | Séquence B4.3</a:t>
            </a:r>
          </a:p>
          <a:p>
            <a:r>
              <a:t>Modalité : TP. Budget de la séquence complète : 40 min (ne pas additionner ce temps à chaque diapositive).</a:t>
            </a:r>
          </a:p>
          <a:p/>
          <a:p>
            <a:r>
              <a:t>OBJECTIF</a:t>
            </a:r>
          </a:p>
          <a:p>
            <a:r>
              <a:t>Prétraitement : apprendre sur le train seulement</a:t>
            </a:r>
          </a:p>
          <a:p/>
          <a:p>
            <a:r>
              <a:t>DÉVELOPPEMENT ET CONSIGNES FORMATEUR</a:t>
            </a:r>
          </a:p>
          <a:p>
            <a:r>
              <a:t>Les statistiques d’imputation et de normalisation sont apprises sur l’entraînement. On transforme ensuite validation et test avec ces mêmes objets. Ajuster une moyenne sur l’ensemble des données introduirait déjà de l’information provenant du test. L’encodage doit prévoir une catégorie inconnue en production. La pipeline ne dispense pas d’un contrôle métier des entrées.</a:t>
            </a:r>
          </a:p>
          <a:p/>
          <a:p>
            <a:r>
              <a:t>MESSAGE À RETENIR</a:t>
            </a:r>
          </a:p>
          <a:p>
            <a:r>
              <a:t>Même chaîne en expérimentation et en usage réel, avec paramètres appris correctement.</a:t>
            </a:r>
          </a:p>
          <a:p/>
          <a:p>
            <a:r>
              <a:t>QUESTION DE RELANCE</a:t>
            </a:r>
          </a:p>
          <a:p>
            <a:r>
              <a:t>Pourquoi ne pas recalculer la moyenne de normalisation pour chaque requête ?</a:t>
            </a:r>
          </a:p>
          <a:p/>
          <a:p>
            <a:r>
              <a:t>RÉPONSE ATTENDUE</a:t>
            </a:r>
          </a:p>
          <a:p>
            <a:r>
              <a:t>Le modèle a appris avec une transformation donnée ; changer cette transformation altère le sens de ses entrées.</a:t>
            </a:r>
          </a:p>
          <a:p/>
          <a:p>
            <a:r>
              <a:t>SOURCES</a:t>
            </a:r>
          </a:p>
          <a:p>
            <a:r>
              <a:t>[S03] scikit-learn : pièges et fuites de données</a:t>
            </a:r>
          </a:p>
          <a:p>
            <a:r>
              <a:t>https://scikit-learn.org/1.8/common_pitfalls.html</a:t>
            </a:r>
          </a:p>
          <a:p>
            <a:r>
              <a:t>Documentation primaire.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J2-017 | Jour 2 | B4 | Séquence B4.3</a:t>
            </a:r>
          </a:p>
          <a:p>
            <a:r>
              <a:t>Modalité : TP. Budget de la séquence complète : 40 min (ne pas additionner ce temps à chaque diapositive).</a:t>
            </a:r>
          </a:p>
          <a:p/>
          <a:p>
            <a:r>
              <a:t>OBJECTIF</a:t>
            </a:r>
          </a:p>
          <a:p>
            <a:r>
              <a:t>Lire le code par blocs fonctionnels</a:t>
            </a:r>
          </a:p>
          <a:p/>
          <a:p>
            <a:r>
              <a:t>DÉVELOPPEMENT ET CONSIGNES FORMATEUR</a:t>
            </a:r>
          </a:p>
          <a:p>
            <a:r>
              <a:t>Le code projeté est un extrait explicatif ; le notebook contient les imports, les listes de colonnes et la construction complète du ColumnTransformer. Ne pas demander d’exécuter ce fragment isolé. Les participants identifient la séparation préparation/modèle et retrouvent les mêmes noms dans le notebook. Une erreur de variable doit conduire à relire le contexte plutôt qu’à copier un autre fragment au hasard.</a:t>
            </a:r>
          </a:p>
          <a:p/>
          <a:p>
            <a:r>
              <a:t>MESSAGE À RETENIR</a:t>
            </a:r>
          </a:p>
          <a:p>
            <a:r>
              <a:t>Extrait de lecture ; le notebook joint contient le programme complet.</a:t>
            </a:r>
          </a:p>
          <a:p/>
          <a:p>
            <a:r>
              <a:t>QUESTION DE RELANCE</a:t>
            </a:r>
          </a:p>
          <a:p>
            <a:r>
              <a:t>Quelle partie change lorsqu’on compare logistique et forêt ?</a:t>
            </a:r>
          </a:p>
          <a:p/>
          <a:p>
            <a:r>
              <a:t>RÉPONSE ATTENDUE</a:t>
            </a:r>
          </a:p>
          <a:p>
            <a:r>
              <a:t>Le classifieur, tandis que le protocole et la chaîne de préparation restent contrôlés.</a:t>
            </a:r>
          </a:p>
          <a:p/>
          <a:p>
            <a:r>
              <a:t>SOURCES</a:t>
            </a:r>
          </a:p>
          <a:p>
            <a:r>
              <a:t>[S02] scikit-learn : guide utilisateur</a:t>
            </a:r>
          </a:p>
          <a:p>
            <a:r>
              <a:t>https://scikit-learn.org/stable/user_guide.html</a:t>
            </a:r>
          </a:p>
          <a:p>
            <a:r>
              <a:t>Documentation technique ; environnement du TP épinglé séparément.</a:t>
            </a:r>
          </a:p>
          <a:p>
            <a:r>
              <a:t>[S03] scikit-learn : pièges et fuites de données</a:t>
            </a:r>
          </a:p>
          <a:p>
            <a:r>
              <a:t>https://scikit-learn.org/1.8/common_pitfalls.html</a:t>
            </a:r>
          </a:p>
          <a:p>
            <a:r>
              <a:t>Documentation primaire.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J2-018 | Jour 2 | B4 | Séquence B4.3</a:t>
            </a:r>
          </a:p>
          <a:p>
            <a:r>
              <a:t>Modalité : TP. Budget de la séquence complète : 40 min (ne pas additionner ce temps à chaque diapositive).</a:t>
            </a:r>
          </a:p>
          <a:p/>
          <a:p>
            <a:r>
              <a:t>OBJECTIF</a:t>
            </a:r>
          </a:p>
          <a:p>
            <a:r>
              <a:t>Trois modèles, une comparaison équitable</a:t>
            </a:r>
          </a:p>
          <a:p/>
          <a:p>
            <a:r>
              <a:t>DÉVELOPPEMENT ET CONSIGNES FORMATEUR</a:t>
            </a:r>
          </a:p>
          <a:p>
            <a:r>
              <a:t>Tous les modèles reçoivent les mêmes séparations et sont évalués sur les mêmes exemples. La comparaison n’est pas une compétition universelle entre algorithmes : elle porte sur ce jeu construit et ces réglages. Ne pas ajuster plusieurs fois les paramètres après consultation du test. La graine fixée facilite la reproduction mais ne démontre pas que le résultat est stable sur toutes les populations.</a:t>
            </a:r>
          </a:p>
          <a:p/>
          <a:p>
            <a:r>
              <a:t>MESSAGE À RETENIR</a:t>
            </a:r>
          </a:p>
          <a:p>
            <a:r>
              <a:t>Le protocole de comparaison compte autant que le modèle choisi.</a:t>
            </a:r>
          </a:p>
          <a:p/>
          <a:p>
            <a:r>
              <a:t>QUESTION DE RELANCE</a:t>
            </a:r>
          </a:p>
          <a:p>
            <a:r>
              <a:t>Pourquoi ne pas ajouter dix modèles immédiatement ?</a:t>
            </a:r>
          </a:p>
          <a:p/>
          <a:p>
            <a:r>
              <a:t>RÉPONSE ATTENDUE</a:t>
            </a:r>
          </a:p>
          <a:p>
            <a:r>
              <a:t>Pour garder un protocole compréhensible et éviter une sélection opportuniste sans besoin métier.</a:t>
            </a:r>
          </a:p>
          <a:p/>
          <a:p>
            <a:r>
              <a:t>SOURCES</a:t>
            </a:r>
          </a:p>
          <a:p>
            <a:r>
              <a:t>[P01] Calculs reproductibles du TP Novalia</a:t>
            </a:r>
          </a:p>
          <a:p>
            <a:r>
              <a:t>travaux_pratiques/resultats_reference.json</a:t>
            </a:r>
          </a:p>
          <a:p>
            <a:r>
              <a:t>Simulation synthétique ; graine 4020 ; aucune performance réelle d’entreprise.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J2-019 | Jour 2 | B4 | Séquence B4.4</a:t>
            </a:r>
          </a:p>
          <a:p>
            <a:r>
              <a:t>Modalité : Apport. Budget de la séquence complète : 20 min (ne pas additionner ce temps à chaque diapositive).</a:t>
            </a:r>
          </a:p>
          <a:p/>
          <a:p>
            <a:r>
              <a:t>OBJECTIF</a:t>
            </a:r>
          </a:p>
          <a:p>
            <a:r>
              <a:t>Le modèle choisi doit servir la décision</a:t>
            </a:r>
          </a:p>
          <a:p/>
          <a:p>
            <a:r>
              <a:t>DÉVELOPPEMENT ET CONSIGNES FORMATEUR</a:t>
            </a:r>
          </a:p>
          <a:p>
            <a:r>
              <a:t>Le groupe a maintenant des scores de validation. Cette séquence de vingt minutes permet de les interpréter avant de choisir une politique. Ne pas ouvrir encore les résultats de test. Faire distinguer qualité de classement, qualité des probabilités et performance au seuil. Les diapositives suivantes réutilisent la même matrice et la même convention de lecture.</a:t>
            </a:r>
          </a:p>
          <a:p/>
          <a:p>
            <a:r>
              <a:t>MESSAGE À RETENIR</a:t>
            </a:r>
          </a:p>
          <a:p>
            <a:r>
              <a:t>20 minutes d’apports entre les deux parties du TP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J2-020 | Jour 2 | B4 | Séquence B4.4</a:t>
            </a:r>
          </a:p>
          <a:p>
            <a:r>
              <a:t>Modalité : Apport. Budget de la séquence complète : 20 min (ne pas additionner ce temps à chaque diapositive).</a:t>
            </a:r>
          </a:p>
          <a:p/>
          <a:p>
            <a:r>
              <a:t>OBJECTIF</a:t>
            </a:r>
          </a:p>
          <a:p>
            <a:r>
              <a:t>Précision et rappel : deux dénominateurs</a:t>
            </a:r>
          </a:p>
          <a:p/>
          <a:p>
            <a:r>
              <a:t>DÉVELOPPEMENT ET CONSIGNES FORMATEUR</a:t>
            </a:r>
          </a:p>
          <a:p>
            <a:r>
              <a:t>Écrire les dénominateurs avant les chiffres. Un rappel élevé peut coûter beaucoup de fausses alertes ; une précision élevée peut laisser passer de nombreux cas. Le F1 combine les deux mais n’intègre pas automatiquement les coûts économiques. Le choix dépend de la capacité, de la criticité et de l’action. Un indicateur moyen peut masquer une classe ou un segment mal traité.</a:t>
            </a:r>
          </a:p>
          <a:p/>
          <a:p>
            <a:r>
              <a:t>MESSAGE À RETENIR</a:t>
            </a:r>
          </a:p>
          <a:p>
            <a:r>
              <a:t>Le bon indicateur dépend de la question posée à la file de travail.</a:t>
            </a:r>
          </a:p>
          <a:p/>
          <a:p>
            <a:r>
              <a:t>QUESTION DE RELANCE</a:t>
            </a:r>
          </a:p>
          <a:p>
            <a:r>
              <a:t>Que mesure la précision d’un modèle de départ ?</a:t>
            </a:r>
          </a:p>
          <a:p/>
          <a:p>
            <a:r>
              <a:t>RÉPONSE ATTENDUE</a:t>
            </a:r>
          </a:p>
          <a:p>
            <a:r>
              <a:t>La proportion de futurs départs parmi les clients signalés au seuil choisi.</a:t>
            </a:r>
          </a:p>
          <a:p/>
          <a:p>
            <a:r>
              <a:t>SOURCES</a:t>
            </a:r>
          </a:p>
          <a:p>
            <a:r>
              <a:t>[S04] scikit-learn : métriques et scores</a:t>
            </a:r>
          </a:p>
          <a:p>
            <a:r>
              <a:t>https://scikit-learn.org/stable/modules/model_evaluation.html</a:t>
            </a:r>
          </a:p>
          <a:p>
            <a:r>
              <a:t>Documentation primaire.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J2-021 | Jour 2 | B4 | Séquence B4.4</a:t>
            </a:r>
          </a:p>
          <a:p>
            <a:r>
              <a:t>Modalité : Apport. Budget de la séquence complète : 20 min (ne pas additionner ce temps à chaque diapositive).</a:t>
            </a:r>
          </a:p>
          <a:p/>
          <a:p>
            <a:r>
              <a:t>OBJECTIF</a:t>
            </a:r>
          </a:p>
          <a:p>
            <a:r>
              <a:t>Comparer un classement et une décision au seuil</a:t>
            </a:r>
          </a:p>
          <a:p/>
          <a:p>
            <a:r>
              <a:t>DÉVELOPPEMENT ET CONSIGNES FORMATEUR</a:t>
            </a:r>
          </a:p>
          <a:p>
            <a:r>
              <a:t>L’Average Precision n’est pas l’exactitude, ni le taux de réussite d’une campagne. Elle permet une comparaison de classement dans ce protocole. Une bonne AP n’assure pas une calibration correcte. Le modèle peut classer convenablement les clients tout en surestimant certaines probabilités. Pour un usage financier ou critique, l’évaluation doit être approfondie selon le contexte.</a:t>
            </a:r>
          </a:p>
          <a:p/>
          <a:p>
            <a:r>
              <a:t>MESSAGE À RETENIR</a:t>
            </a:r>
          </a:p>
          <a:p>
            <a:r>
              <a:t>Ne pas traduire une métrique technique dans une unité qu’elle ne mesure pas.</a:t>
            </a:r>
          </a:p>
          <a:p/>
          <a:p>
            <a:r>
              <a:t>QUESTION DE RELANCE</a:t>
            </a:r>
          </a:p>
          <a:p>
            <a:r>
              <a:t>0,48 d’AP signifie-t-il que 48 % de toutes les prédictions sont correctes ?</a:t>
            </a:r>
          </a:p>
          <a:p/>
          <a:p>
            <a:r>
              <a:t>RÉPONSE ATTENDUE</a:t>
            </a:r>
          </a:p>
          <a:p>
            <a:r>
              <a:t>Non. C’est une synthèse de la relation précision-rappel, avec une définition différente de l’exactitude.</a:t>
            </a:r>
          </a:p>
          <a:p/>
          <a:p>
            <a:r>
              <a:t>SOURCES</a:t>
            </a:r>
          </a:p>
          <a:p>
            <a:r>
              <a:t>[S04] scikit-learn : métriques et scores</a:t>
            </a:r>
          </a:p>
          <a:p>
            <a:r>
              <a:t>https://scikit-learn.org/stable/modules/model_evaluation.html</a:t>
            </a:r>
          </a:p>
          <a:p>
            <a:r>
              <a:t>Documentation primaire.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J2-022 | Jour 2 | B4 | Séquence B4.4</a:t>
            </a:r>
          </a:p>
          <a:p>
            <a:r>
              <a:t>Modalité : Apport. Budget de la séquence complète : 20 min (ne pas additionner ce temps à chaque diapositive).</a:t>
            </a:r>
          </a:p>
          <a:p/>
          <a:p>
            <a:r>
              <a:t>OBJECTIF</a:t>
            </a:r>
          </a:p>
          <a:p>
            <a:r>
              <a:t>Résultat de validation : la simplicité gagne ici</a:t>
            </a:r>
          </a:p>
          <a:p/>
          <a:p>
            <a:r>
              <a:t>DÉVELOPPEMENT ET CONSIGNES FORMATEUR</a:t>
            </a:r>
          </a:p>
          <a:p>
            <a:r>
              <a:t>Les nombres proviennent de l’exécution du notebook joint sur mille clients de validation. La logistique est sélectionnée selon l’AP prévue dans le protocole. La forêt n’a pas reçu une recherche d’hyperparamètres exhaustive. La conclusion correcte est locale : dans cette simulation et ces réglages, la logistique offre le meilleur classement selon le critère retenu. Le rappel au seuil de 0,5 montre pourquoi ce seuil doit être discuté.</a:t>
            </a:r>
          </a:p>
          <a:p/>
          <a:p>
            <a:r>
              <a:t>MESSAGE À RETENIR</a:t>
            </a:r>
          </a:p>
          <a:p>
            <a:r>
              <a:t>Résultats de validation • Simulation synthétique • Seuil comparatif : 0,5</a:t>
            </a:r>
          </a:p>
          <a:p/>
          <a:p>
            <a:r>
              <a:t>QUESTION DE RELANCE</a:t>
            </a:r>
          </a:p>
          <a:p>
            <a:r>
              <a:t>Peut-on en déduire que les forêts sont inférieures en général ?</a:t>
            </a:r>
          </a:p>
          <a:p/>
          <a:p>
            <a:r>
              <a:t>RÉPONSE ATTENDUE</a:t>
            </a:r>
          </a:p>
          <a:p>
            <a:r>
              <a:t>Non. Le résultat dépend des données, des réglages et de la validation.</a:t>
            </a:r>
          </a:p>
          <a:p/>
          <a:p>
            <a:r>
              <a:t>SOURCES</a:t>
            </a:r>
          </a:p>
          <a:p>
            <a:r>
              <a:t>[P01] Calculs reproductibles du TP Novalia</a:t>
            </a:r>
          </a:p>
          <a:p>
            <a:r>
              <a:t>travaux_pratiques/resultats_reference.json</a:t>
            </a:r>
          </a:p>
          <a:p>
            <a:r>
              <a:t>Simulation synthétique ; graine 4020 ; aucune performance réelle d’entreprise.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J2-023 | Jour 2 | B4 | Séquence B4.4</a:t>
            </a:r>
          </a:p>
          <a:p>
            <a:r>
              <a:t>Modalité : Apport. Budget de la séquence complète : 20 min (ne pas additionner ce temps à chaque diapositive).</a:t>
            </a:r>
          </a:p>
          <a:p/>
          <a:p>
            <a:r>
              <a:t>OBJECTIF</a:t>
            </a:r>
          </a:p>
          <a:p>
            <a:r>
              <a:t>Le seuil pilote la charge de travail</a:t>
            </a:r>
          </a:p>
          <a:p/>
          <a:p>
            <a:r>
              <a:t>DÉVELOPPEMENT ET CONSIGNES FORMATEUR</a:t>
            </a:r>
          </a:p>
          <a:p>
            <a:r>
              <a:t>Une augmentation du seuil réduit ou conserve le nombre d’alertes et le rappel sur une population fixée. La précision ne monte pas nécessairement de manière monotone sur un petit échantillon : éviter cette affirmation trop forte. Le TP choisit un seuil sur la validation pour respecter environ cent contacts. Une sélection des k premiers scores est une politique différente qui garantit un quota mais pas un niveau absolu de risque.</a:t>
            </a:r>
          </a:p>
          <a:p/>
          <a:p>
            <a:r>
              <a:t>MESSAGE À RETENIR</a:t>
            </a:r>
          </a:p>
          <a:p>
            <a:r>
              <a:t>Séparer le score, le seuil et la capacité réelle des équipes.</a:t>
            </a:r>
          </a:p>
          <a:p/>
          <a:p>
            <a:r>
              <a:t>QUESTION DE RELANCE</a:t>
            </a:r>
          </a:p>
          <a:p>
            <a:r>
              <a:t>Qui a fixé les 10 % ?</a:t>
            </a:r>
          </a:p>
          <a:p/>
          <a:p>
            <a:r>
              <a:t>RÉPONSE ATTENDUE</a:t>
            </a:r>
          </a:p>
          <a:p>
            <a:r>
              <a:t>C’est une hypothèse pédagogique de capacité, pas un résultat du modèle ni une exigence contractuelle.</a:t>
            </a:r>
          </a:p>
          <a:p/>
          <a:p>
            <a:r>
              <a:t>SOURCES</a:t>
            </a:r>
          </a:p>
          <a:p>
            <a:r>
              <a:t>[S30] scikit-learn : choix du seuil de décision</a:t>
            </a:r>
          </a:p>
          <a:p>
            <a:r>
              <a:t>https://scikit-learn.org/stable/modules/classification_threshold.html</a:t>
            </a:r>
          </a:p>
          <a:p>
            <a:r>
              <a:t>Séparer score, seuil et validation de la politique.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J2-024 | Jour 2 | B4 | Séquence B4.4</a:t>
            </a:r>
          </a:p>
          <a:p>
            <a:r>
              <a:t>Modalité : Apport. Budget de la séquence complète : 20 min (ne pas additionner ce temps à chaque diapositive).</a:t>
            </a:r>
          </a:p>
          <a:p/>
          <a:p>
            <a:r>
              <a:t>OBJECTIF</a:t>
            </a:r>
          </a:p>
          <a:p>
            <a:r>
              <a:t>Une bonne validation respecte la structure du réel</a:t>
            </a:r>
          </a:p>
          <a:p/>
          <a:p>
            <a:r>
              <a:t>DÉVELOPPEMENT ET CONSIGNES FORMATEUR</a:t>
            </a:r>
          </a:p>
          <a:p>
            <a:r>
              <a:t>Une séparation aléatoire peut mélanger le passé et le futur ou placer des lignes du même client dans les deux jeux. Les estimations deviennent trop optimistes. La validation croisée doit être adaptée aux dépendances et peut elle-même contenir une boucle de sélection. Pour ce public, retenir un principe : reproduire les difficultés du futur usage dans le protocole d’évaluation.</a:t>
            </a:r>
          </a:p>
          <a:p/>
          <a:p>
            <a:r>
              <a:t>MESSAGE À RETENIR</a:t>
            </a:r>
          </a:p>
          <a:p>
            <a:r>
              <a:t>Le découpage des données est une hypothèse sur le futur usage.</a:t>
            </a:r>
          </a:p>
          <a:p/>
          <a:p>
            <a:r>
              <a:t>QUESTION DE RELANCE</a:t>
            </a:r>
          </a:p>
          <a:p>
            <a:r>
              <a:t>Pourquoi répartir au hasard les fenêtres d’une même machine peut-il tromper ?</a:t>
            </a:r>
          </a:p>
          <a:p/>
          <a:p>
            <a:r>
              <a:t>RÉPONSE ATTENDUE</a:t>
            </a:r>
          </a:p>
          <a:p>
            <a:r>
              <a:t>Le modèle peut retrouver des caractéristiques propres à cette machine déjà vues à l’entraînement.</a:t>
            </a:r>
          </a:p>
          <a:p/>
          <a:p>
            <a:r>
              <a:t>SOURCES</a:t>
            </a:r>
          </a:p>
          <a:p>
            <a:r>
              <a:t>[S29] scikit-learn : validation croisée</a:t>
            </a:r>
          </a:p>
          <a:p>
            <a:r>
              <a:t>https://scikit-learn.org/stable/modules/cross_validation.html</a:t>
            </a:r>
          </a:p>
          <a:p>
            <a:r>
              <a:t>Séparation adaptée aux données et dépendances.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J2-025 | Jour 2 | B4 | Séquence B4.5</a:t>
            </a:r>
          </a:p>
          <a:p>
            <a:r>
              <a:t>Modalité : TP. Budget de la séquence complète : 35 min (ne pas additionner ce temps à chaque diapositive).</a:t>
            </a:r>
          </a:p>
          <a:p/>
          <a:p>
            <a:r>
              <a:t>OBJECTIF</a:t>
            </a:r>
          </a:p>
          <a:p>
            <a:r>
              <a:t>A08b • Choisir le seuil puis ouvrir le test</a:t>
            </a:r>
          </a:p>
          <a:p/>
          <a:p>
            <a:r>
              <a:t>DÉVELOPPEMENT ET CONSIGNES FORMATEUR</a:t>
            </a:r>
          </a:p>
          <a:p>
            <a:r>
              <a:t>Répartir trente-cinq minutes : dix pour explorer les seuils, cinq pour écrire la décision, dix pour tester et dix pour interpréter. Le seuil de référence est calculé au milieu des scores classés autour de la centième position de validation. Le groupe peut défendre une autre politique à condition de ne pas l’optimiser sur le test. Les écarts de charge en test sont un résultat d’apprentissage, pas un bug à cacher.</a:t>
            </a:r>
          </a:p>
          <a:p/>
          <a:p>
            <a:r>
              <a:t>MESSAGE À RETENIR</a:t>
            </a:r>
          </a:p>
          <a:p>
            <a:r>
              <a:t>35 minutes • Le test reste fermé tant que les choix ne sont pas écrits.</a:t>
            </a:r>
          </a:p>
          <a:p/>
          <a:p>
            <a:r>
              <a:t>QUESTION DE RELANCE</a:t>
            </a:r>
          </a:p>
          <a:p>
            <a:r>
              <a:t>Que faites-vous si le quota est dépassé sur test ?</a:t>
            </a:r>
          </a:p>
          <a:p/>
          <a:p>
            <a:r>
              <a:t>RÉPONSE ATTENDUE</a:t>
            </a:r>
          </a:p>
          <a:p>
            <a:r>
              <a:t>On constate la limite du seuil fixe, puis on choisit et valide une politique de quota ou une file de débordement sans régler opportunément sur ce test.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J2-026 | Jour 2 | B4 | Séquence B4.5</a:t>
            </a:r>
          </a:p>
          <a:p>
            <a:r>
              <a:t>Modalité : TP. Budget de la séquence complète : 35 min (ne pas additionner ce temps à chaque diapositive).</a:t>
            </a:r>
          </a:p>
          <a:p/>
          <a:p>
            <a:r>
              <a:t>OBJECTIF</a:t>
            </a:r>
          </a:p>
          <a:p>
            <a:r>
              <a:t>Le seuil appris ne garantit pas le quota futur</a:t>
            </a:r>
          </a:p>
          <a:p/>
          <a:p>
            <a:r>
              <a:t>DÉVELOPPEMENT ET CONSIGNES FORMATEUR</a:t>
            </a:r>
          </a:p>
          <a:p>
            <a:r>
              <a:t>Le seuil est dérivé de la distribution de validation. Une autre population peut produire une proportion différente d’alertes. Ce dépassement de cinq cas rend visible la différence entre seuil de risque et quota de traitement. La réponse doit être opérationnelle : file prioritaire, sélection top-k, capacité de réserve ou revue de la politique. Aucune de ces options ne doit être ajoutée silencieusement après le calcul.</a:t>
            </a:r>
          </a:p>
          <a:p/>
          <a:p>
            <a:r>
              <a:t>MESSAGE À RETENIR</a:t>
            </a:r>
          </a:p>
          <a:p>
            <a:r>
              <a:t>Une contrainte d’équipe doit être implémentée dans la politique, pas espérée du modèle.</a:t>
            </a:r>
          </a:p>
          <a:p/>
          <a:p>
            <a:r>
              <a:t>QUESTION DE RELANCE</a:t>
            </a:r>
          </a:p>
          <a:p>
            <a:r>
              <a:t>Quelle politique garantit cent dossiers exactement lorsque les scores sont nombreux ?</a:t>
            </a:r>
          </a:p>
          <a:p/>
          <a:p>
            <a:r>
              <a:t>RÉPONSE ATTENDUE</a:t>
            </a:r>
          </a:p>
          <a:p>
            <a:r>
              <a:t>Une sélection des cent premiers avec règle de départage des ex æquo, à documenter et valider.</a:t>
            </a:r>
          </a:p>
          <a:p/>
          <a:p>
            <a:r>
              <a:t>SOURCES</a:t>
            </a:r>
          </a:p>
          <a:p>
            <a:r>
              <a:t>[P01] Calculs reproductibles du TP Novalia</a:t>
            </a:r>
          </a:p>
          <a:p>
            <a:r>
              <a:t>travaux_pratiques/resultats_reference.json</a:t>
            </a:r>
          </a:p>
          <a:p>
            <a:r>
              <a:t>Simulation synthétique ; graine 4020 ; aucune performance réelle d’entreprise.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J2-027 | Jour 2 | B4 | Séquence B4.5</a:t>
            </a:r>
          </a:p>
          <a:p>
            <a:r>
              <a:t>Modalité : TP. Budget de la séquence complète : 35 min (ne pas additionner ce temps à chaque diapositive).</a:t>
            </a:r>
          </a:p>
          <a:p/>
          <a:p>
            <a:r>
              <a:t>OBJECTIF</a:t>
            </a:r>
          </a:p>
          <a:p>
            <a:r>
              <a:t>Test indépendant : lire les quatre cases</a:t>
            </a:r>
          </a:p>
          <a:p/>
          <a:p>
            <a:r>
              <a:t>DÉVELOPPEMENT ET CONSIGNES FORMATEUR</a:t>
            </a:r>
          </a:p>
          <a:p>
            <a:r>
              <a:t>La matrice est réorientée pour garder la convention du cours ; le tableau du notebook affiche ses propres en-têtes explicites. Total : mille clients. Précision : 47/105, soit 44,8 %. Rappel : 47/175, soit 26,9 %. Exactitude : 814/1000, soit 81,4 %. Le modèle ne détecte pas tous les départs et cela doit être dit clairement. Il faut ensuite mesurer l’utilité de l’action sur les cas détectés.</a:t>
            </a:r>
          </a:p>
          <a:p/>
          <a:p>
            <a:r>
              <a:t>MESSAGE À RETENIR</a:t>
            </a:r>
          </a:p>
          <a:p>
            <a:r>
              <a:t>Données de test synthétiques • 1 000 observations • Aucun résultat commercial réel.</a:t>
            </a:r>
          </a:p>
          <a:p/>
          <a:p>
            <a:r>
              <a:t>QUESTION DE RELANCE</a:t>
            </a:r>
          </a:p>
          <a:p>
            <a:r>
              <a:t>Pourquoi 47 vrais positifs ne signifie-t-il pas 47 clients sauvés ?</a:t>
            </a:r>
          </a:p>
          <a:p/>
          <a:p>
            <a:r>
              <a:t>RÉPONSE ATTENDUE</a:t>
            </a:r>
          </a:p>
          <a:p>
            <a:r>
              <a:t>La prédiction n’établit ni le contact effectif ni l’efficacité d’une intervention.</a:t>
            </a:r>
          </a:p>
          <a:p/>
          <a:p>
            <a:r>
              <a:t>SOURCES</a:t>
            </a:r>
          </a:p>
          <a:p>
            <a:r>
              <a:t>[P01] Calculs reproductibles du TP Novalia</a:t>
            </a:r>
          </a:p>
          <a:p>
            <a:r>
              <a:t>travaux_pratiques/resultats_reference.json</a:t>
            </a:r>
          </a:p>
          <a:p>
            <a:r>
              <a:t>Simulation synthétique ; graine 4020 ; aucune performance réelle d’entreprise.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J2-028 | Jour 2 | B4 | Séquence B4.5</a:t>
            </a:r>
          </a:p>
          <a:p>
            <a:r>
              <a:t>Modalité : TP. Budget de la séquence complète : 35 min (ne pas additionner ce temps à chaque diapositive).</a:t>
            </a:r>
          </a:p>
          <a:p/>
          <a:p>
            <a:r>
              <a:t>OBJECTIF</a:t>
            </a:r>
          </a:p>
          <a:p>
            <a:r>
              <a:t>Interpréter sans masquer les limites</a:t>
            </a:r>
          </a:p>
          <a:p/>
          <a:p>
            <a:r>
              <a:t>DÉVELOPPEMENT ET CONSIGNES FORMATEUR</a:t>
            </a:r>
          </a:p>
          <a:p>
            <a:r>
              <a:t>Le fait que l’exactitude soit inférieure à la baseline ne signifie pas automatiquement que le modèle est inutile : la règle majoritaire ne détecte aucun départ. Mais le modèle n’est pas automatiquement utile non plus. Il faut une action efficace et un coût acceptable. Ne pas sélectionner seulement le chiffre flatteur. Les résultats sont cohérents avec un problème bruité construit pour le cours et ne doivent pas être vendus comme une performance industrielle.</a:t>
            </a:r>
          </a:p>
          <a:p/>
          <a:p>
            <a:r>
              <a:t>MESSAGE À RETENIR</a:t>
            </a:r>
          </a:p>
          <a:p>
            <a:r>
              <a:t>Présenter les faiblesses fait partie du résultat, pas d’une annexe cachée.</a:t>
            </a:r>
          </a:p>
          <a:p/>
          <a:p>
            <a:r>
              <a:t>QUESTION DE RELANCE</a:t>
            </a:r>
          </a:p>
          <a:p>
            <a:r>
              <a:t>Quel chiffre montreriez-vous au manager en premier ?</a:t>
            </a:r>
          </a:p>
          <a:p/>
          <a:p>
            <a:r>
              <a:t>RÉPONSE ATTENDUE</a:t>
            </a:r>
          </a:p>
          <a:p>
            <a:r>
              <a:t>La capacité et les conséquences de la politique, accompagnées de précision, rappel et limites, puis un protocole de mesure métier.</a:t>
            </a:r>
          </a:p>
          <a:p/>
          <a:p>
            <a:r>
              <a:t>SOURCES</a:t>
            </a:r>
          </a:p>
          <a:p>
            <a:r>
              <a:t>[P01] Calculs reproductibles du TP Novalia</a:t>
            </a:r>
          </a:p>
          <a:p>
            <a:r>
              <a:t>travaux_pratiques/resultats_reference.json</a:t>
            </a:r>
          </a:p>
          <a:p>
            <a:r>
              <a:t>Simulation synthétique ; graine 4020 ; aucune performance réelle d’entreprise.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J2-029 | Jour 2 | B4 | Séquence B4.6</a:t>
            </a:r>
          </a:p>
          <a:p>
            <a:r>
              <a:t>Modalité : Apport. Budget de la séquence complète : 20 min (ne pas additionner ce temps à chaque diapositive).</a:t>
            </a:r>
          </a:p>
          <a:p/>
          <a:p>
            <a:r>
              <a:t>OBJECTIF</a:t>
            </a:r>
          </a:p>
          <a:p>
            <a:r>
              <a:t>Deep Learning : apprendre des représentations</a:t>
            </a:r>
          </a:p>
          <a:p/>
          <a:p>
            <a:r>
              <a:t>DÉVELOPPEMENT ET CONSIGNES FORMATEUR</a:t>
            </a:r>
          </a:p>
          <a:p>
            <a:r>
              <a:t>Le réseau est une succession de transformations mathématiques apprises, pas un cerveau humain simplifié. Un neurone combine des valeurs avec des poids et un biais, puis applique une fonction. Plusieurs couches peuvent représenter des structures de plus en plus abstraites. Le nombre de couches ne garantit pas la qualité. L’intérêt est particulièrement visible sur des données riches, mais le choix reste empirique et contextualisé.</a:t>
            </a:r>
          </a:p>
          <a:p/>
          <a:p>
            <a:r>
              <a:t>MESSAGE À RETENIR</a:t>
            </a:r>
          </a:p>
          <a:p>
            <a:r>
              <a:t>Une représentation apprise n’est pas une explication humaine garantie.</a:t>
            </a:r>
          </a:p>
          <a:p/>
          <a:p>
            <a:r>
              <a:t>QUESTION DE RELANCE</a:t>
            </a:r>
          </a:p>
          <a:p>
            <a:r>
              <a:t>Qu’est-ce qui change pendant l’apprentissage ?</a:t>
            </a:r>
          </a:p>
          <a:p/>
          <a:p>
            <a:r>
              <a:t>RÉPONSE ATTENDUE</a:t>
            </a:r>
          </a:p>
          <a:p>
            <a:r>
              <a:t>Les paramètres des transformations selon un objectif et un algorithme d’optimisation.</a:t>
            </a:r>
          </a:p>
          <a:p/>
          <a:p>
            <a:r>
              <a:t>SOURCES</a:t>
            </a:r>
          </a:p>
          <a:p>
            <a:r>
              <a:t>[S05] LeCun, Bengio et Hinton : apprentissage profond</a:t>
            </a:r>
          </a:p>
          <a:p>
            <a:r>
              <a:t>https://www.nature.com/articles/nature14539</a:t>
            </a:r>
          </a:p>
          <a:p>
            <a:r>
              <a:t>Article de synthèse scientifique, Nature.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J2-030 | Jour 2 | B4 | Séquence B4.6</a:t>
            </a:r>
          </a:p>
          <a:p>
            <a:r>
              <a:t>Modalité : Apport. Budget de la séquence complète : 20 min (ne pas additionner ce temps à chaque diapositive).</a:t>
            </a:r>
          </a:p>
          <a:p/>
          <a:p>
            <a:r>
              <a:t>OBJECTIF</a:t>
            </a:r>
          </a:p>
          <a:p>
            <a:r>
              <a:t>Image, séquence, langage : des structures différentes</a:t>
            </a:r>
          </a:p>
          <a:p/>
          <a:p>
            <a:r>
              <a:t>DÉVELOPPEMENT ET CONSIGNES FORMATEUR</a:t>
            </a:r>
          </a:p>
          <a:p>
            <a:r>
              <a:t>La présentation est volontairement intuitive. Les convolutions ont joué un rôle majeur en vision ; les récurrences ont longtemps structuré des approches de séquences ; l’article Transformer propose une architecture centrée sur l’attention. Ces familles coexistent et les usages dépassent cette classification simple. Les participants ne doivent pas mémoriser les équations, mais reconnaître pourquoi la forme des données influence l’architecture.</a:t>
            </a:r>
          </a:p>
          <a:p/>
          <a:p>
            <a:r>
              <a:t>MESSAGE À RETENIR</a:t>
            </a:r>
          </a:p>
          <a:p>
            <a:r>
              <a:t>L’architecture doit correspondre aux données et au besoin, pas à la tendance.</a:t>
            </a:r>
          </a:p>
          <a:p/>
          <a:p>
            <a:r>
              <a:t>QUESTION DE RELANCE</a:t>
            </a:r>
          </a:p>
          <a:p>
            <a:r>
              <a:t>Une table de dix variables exige-t-elle un Transformer ?</a:t>
            </a:r>
          </a:p>
          <a:p/>
          <a:p>
            <a:r>
              <a:t>RÉPONSE ATTENDUE</a:t>
            </a:r>
          </a:p>
          <a:p>
            <a:r>
              <a:t>Pas par principe. Une méthode tabulaire simple peut être plus adaptée et plus facile à exploiter.</a:t>
            </a:r>
          </a:p>
          <a:p/>
          <a:p>
            <a:r>
              <a:t>SOURCES</a:t>
            </a:r>
          </a:p>
          <a:p>
            <a:r>
              <a:t>[S05] LeCun, Bengio et Hinton : apprentissage profond</a:t>
            </a:r>
          </a:p>
          <a:p>
            <a:r>
              <a:t>https://www.nature.com/articles/nature14539</a:t>
            </a:r>
          </a:p>
          <a:p>
            <a:r>
              <a:t>Article de synthèse scientifique, Nature.</a:t>
            </a:r>
          </a:p>
          <a:p>
            <a:r>
              <a:t>[S06] Vaswani et al. : Attention Is All You Need</a:t>
            </a:r>
          </a:p>
          <a:p>
            <a:r>
              <a:t>https://arxiv.org/abs/1706.03762</a:t>
            </a:r>
          </a:p>
          <a:p>
            <a:r>
              <a:t>Article scientifique fondateur des Transformers.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J2-031 | Jour 2 | B4 | Séquence B4.6</a:t>
            </a:r>
          </a:p>
          <a:p>
            <a:r>
              <a:t>Modalité : Apport. Budget de la séquence complète : 20 min (ne pas additionner ce temps à chaque diapositive).</a:t>
            </a:r>
          </a:p>
          <a:p/>
          <a:p>
            <a:r>
              <a:t>OBJECTIF</a:t>
            </a:r>
          </a:p>
          <a:p>
            <a:r>
              <a:t>L’attention relie des éléments d’un contexte</a:t>
            </a:r>
          </a:p>
          <a:p/>
          <a:p>
            <a:r>
              <a:t>DÉVELOPPEMENT ET CONSIGNES FORMATEUR</a:t>
            </a:r>
          </a:p>
          <a:p>
            <a:r>
              <a:t>Le schéma montre des liens fictifs entre tokens pour illustrer le principe et non les poids d’un modèle réellement mesuré. L’attention calcule des combinaisons pondérées de représentations. Le Transformer originel introduit également des composants et des mécanismes de position ; ne pas réduire toute l’architecture à une simple surbrillance de mots importants. Faire le lien avec classification, recherche et génération.</a:t>
            </a:r>
          </a:p>
          <a:p/>
          <a:p>
            <a:r>
              <a:t>MESSAGE À RETENIR</a:t>
            </a:r>
          </a:p>
          <a:p>
            <a:r>
              <a:t>Illustration conceptuelle, pas visualisation d’un modèle exécuté.</a:t>
            </a:r>
          </a:p>
          <a:p/>
          <a:p>
            <a:r>
              <a:t>QUESTION DE RELANCE</a:t>
            </a:r>
          </a:p>
          <a:p>
            <a:r>
              <a:t>L’illustration permet-elle de lire directement le raisonnement interne d’un modèle ?</a:t>
            </a:r>
          </a:p>
          <a:p/>
          <a:p>
            <a:r>
              <a:t>RÉPONSE ATTENDUE</a:t>
            </a:r>
          </a:p>
          <a:p>
            <a:r>
              <a:t>Non. C’est une explication de mécanisme, pas une preuve d’interprétabilité d’une décision.</a:t>
            </a:r>
          </a:p>
          <a:p/>
          <a:p>
            <a:r>
              <a:t>SOURCES</a:t>
            </a:r>
          </a:p>
          <a:p>
            <a:r>
              <a:t>[S06] Vaswani et al. : Attention Is All You Need</a:t>
            </a:r>
          </a:p>
          <a:p>
            <a:r>
              <a:t>https://arxiv.org/abs/1706.03762</a:t>
            </a:r>
          </a:p>
          <a:p>
            <a:r>
              <a:t>Article scientifique fondateur des Transformers.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J2-032 | Jour 2 | B4 | Séquence B4.6</a:t>
            </a:r>
          </a:p>
          <a:p>
            <a:r>
              <a:t>Modalité : Apport. Budget de la séquence complète : 20 min (ne pas additionner ce temps à chaque diapositive).</a:t>
            </a:r>
          </a:p>
          <a:p/>
          <a:p>
            <a:r>
              <a:t>OBJECTIF</a:t>
            </a:r>
          </a:p>
          <a:p>
            <a:r>
              <a:t>Générer, retrouver, agir : trois niveaux à contrôler</a:t>
            </a:r>
          </a:p>
          <a:p/>
          <a:p>
            <a:r>
              <a:t>DÉVELOPPEMENT ET CONSIGNES FORMATEUR</a:t>
            </a:r>
          </a:p>
          <a:p>
            <a:r>
              <a:t>L’IA générative est replacée dans le SI sans devenir le centre de la formation. Un assistant documentaire doit filtrer les droits avant la recherche et la restitution. Le fait de fournir des documents ne supprime pas les erreurs de génération. Lorsqu’un système appelle des outils, les permissions, validations et limites d’action doivent être vérifiées hors du modèle. Un contenu externe n’est pas une instruction de sécurité de confiance.</a:t>
            </a:r>
          </a:p>
          <a:p/>
          <a:p>
            <a:r>
              <a:t>MESSAGE À RETENIR</a:t>
            </a:r>
          </a:p>
          <a:p>
            <a:r>
              <a:t>Une réponse plausible ne vaut ni vérité ni autorisation.</a:t>
            </a:r>
          </a:p>
          <a:p/>
          <a:p>
            <a:r>
              <a:t>QUESTION DE RELANCE</a:t>
            </a:r>
          </a:p>
          <a:p>
            <a:r>
              <a:t>Pourquoi séparer droit de lire et droit d’agir ?</a:t>
            </a:r>
          </a:p>
          <a:p/>
          <a:p>
            <a:r>
              <a:t>RÉPONSE ATTENDUE</a:t>
            </a:r>
          </a:p>
          <a:p>
            <a:r>
              <a:t>Un utilisateur peut avoir accès à une information sans être autorisé à déclencher une transaction.</a:t>
            </a:r>
          </a:p>
          <a:p/>
          <a:p>
            <a:r>
              <a:t>SOURCES</a:t>
            </a:r>
          </a:p>
          <a:p>
            <a:r>
              <a:t>[S16] ANSSI : sécurité d’un système d’IA générative</a:t>
            </a:r>
          </a:p>
          <a:p>
            <a:r>
              <a:t>https://messervices.cyber.gouv.fr/guides/recommandations-de-securite-pour-un-systeme-dia-generative</a:t>
            </a:r>
          </a:p>
          <a:p>
            <a:r>
              <a:t>Recommandations de sécurité ; ne couvrent pas toutes les questions juridiques.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J2-033 | Jour 2 | B4 | Séquence B4.6</a:t>
            </a:r>
          </a:p>
          <a:p>
            <a:r>
              <a:t>Modalité : Apport. Budget de la séquence complète : 20 min (ne pas additionner ce temps à chaque diapositive).</a:t>
            </a:r>
          </a:p>
          <a:p/>
          <a:p>
            <a:r>
              <a:t>OBJECTIF</a:t>
            </a:r>
          </a:p>
          <a:p>
            <a:r>
              <a:t>Du notebook au service exploité</a:t>
            </a:r>
          </a:p>
          <a:p/>
          <a:p>
            <a:r>
              <a:t>DÉVELOPPEMENT ET CONSIGNES FORMATEUR</a:t>
            </a:r>
          </a:p>
          <a:p>
            <a:r>
              <a:t>Le passage en production ajoute une discipline logicielle et opérationnelle. Il faut retrouver la version d’une prédiction, reproduire les transformations, surveiller les erreurs et revenir à une version antérieure. Le papier sur la dette technique des systèmes ML illustre pourquoi les dépendances et les boucles de données doivent être traitées à l’échelle du système. Le schéma est une architecture pédagogique, pas une obligation d’utiliser chaque outil du marché.</a:t>
            </a:r>
          </a:p>
          <a:p/>
          <a:p>
            <a:r>
              <a:t>MESSAGE À RETENIR</a:t>
            </a:r>
          </a:p>
          <a:p>
            <a:r>
              <a:t>Un fichier modèle n’est pas un service prêt à exploiter.</a:t>
            </a:r>
          </a:p>
          <a:p/>
          <a:p>
            <a:r>
              <a:t>QUESTION DE RELANCE</a:t>
            </a:r>
          </a:p>
          <a:p>
            <a:r>
              <a:t>Qu’est-ce qu’un prototype réussi ne prouve pas encore ?</a:t>
            </a:r>
          </a:p>
          <a:p/>
          <a:p>
            <a:r>
              <a:t>RÉPONSE ATTENDUE</a:t>
            </a:r>
          </a:p>
          <a:p>
            <a:r>
              <a:t>Disponibilité, sécurité, robustesse aux changements, adoption et impact métier.</a:t>
            </a:r>
          </a:p>
          <a:p/>
          <a:p>
            <a:r>
              <a:t>SOURCES</a:t>
            </a:r>
          </a:p>
          <a:p>
            <a:r>
              <a:t>[S28] Sculley et al. : dette technique des systèmes ML</a:t>
            </a:r>
          </a:p>
          <a:p>
            <a:r>
              <a:t>https://research.google/pubs/hidden-technical-debt-in-machine-learning-systems/</a:t>
            </a:r>
          </a:p>
          <a:p>
            <a:r>
              <a:t>Article scientifique sur l’industrialisation.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J2-034 | Jour 2 | B4 | Séquence B4.6</a:t>
            </a:r>
          </a:p>
          <a:p>
            <a:r>
              <a:t>Modalité : Apport. Budget de la séquence complète : 20 min (ne pas additionner ce temps à chaque diapositive).</a:t>
            </a:r>
          </a:p>
          <a:p/>
          <a:p>
            <a:r>
              <a:t>OBJECTIF</a:t>
            </a:r>
          </a:p>
          <a:p>
            <a:r>
              <a:t>Le monde change après le déploiement</a:t>
            </a:r>
          </a:p>
          <a:p/>
          <a:p>
            <a:r>
              <a:t>DÉVELOPPEMENT ET CONSIGNES FORMATEUR</a:t>
            </a:r>
          </a:p>
          <a:p>
            <a:r>
              <a:t>Les trois dimensions sont liées mais non équivalentes. Un changement de données peut ne pas dégrader la performance ; une dégradation peut résulter d’un incident de pipeline plutôt que du modèle. Les labels peuvent arriver tard, ce qui retarde la mesure. Prévoir un suivi des entrées et des résultats, une revue humaine et un protocole de mise à jour. Réentraîner automatiquement sur des données douteuses peut aggraver un incident.</a:t>
            </a:r>
          </a:p>
          <a:p/>
          <a:p>
            <a:r>
              <a:t>MESSAGE À RETENIR</a:t>
            </a:r>
          </a:p>
          <a:p>
            <a:r>
              <a:t>Surveiller → diagnostiquer → décider → valider, plutôt que réentraîner aveuglément.</a:t>
            </a:r>
          </a:p>
          <a:p/>
          <a:p>
            <a:r>
              <a:t>QUESTION DE RELANCE</a:t>
            </a:r>
          </a:p>
          <a:p>
            <a:r>
              <a:t>Une dérive déclenche-t-elle nécessairement un réentraînement immédiat ?</a:t>
            </a:r>
          </a:p>
          <a:p/>
          <a:p>
            <a:r>
              <a:t>RÉPONSE ATTENDUE</a:t>
            </a:r>
          </a:p>
          <a:p>
            <a:r>
              <a:t>Non. Il faut diagnostiquer, vérifier les données et comparer des options avant une nouvelle validation.</a:t>
            </a:r>
          </a:p>
          <a:p/>
          <a:p>
            <a:r>
              <a:t>SOURCES</a:t>
            </a:r>
          </a:p>
          <a:p>
            <a:r>
              <a:t>[S28] Sculley et al. : dette technique des systèmes ML</a:t>
            </a:r>
          </a:p>
          <a:p>
            <a:r>
              <a:t>https://research.google/pubs/hidden-technical-debt-in-machine-learning-systems/</a:t>
            </a:r>
          </a:p>
          <a:p>
            <a:r>
              <a:t>Article scientifique sur l’industrialisation.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J2-035 | Jour 2 | B4 | Séquence B4.7</a:t>
            </a:r>
          </a:p>
          <a:p>
            <a:r>
              <a:t>Modalité : TP. Budget de la séquence complète : 35 min (ne pas additionner ce temps à chaque diapositive).</a:t>
            </a:r>
          </a:p>
          <a:p/>
          <a:p>
            <a:r>
              <a:t>OBJECTIF</a:t>
            </a:r>
          </a:p>
          <a:p>
            <a:r>
              <a:t>A09 • Transformer les scores en vue de décision</a:t>
            </a:r>
          </a:p>
          <a:p/>
          <a:p>
            <a:r>
              <a:t>DÉVELOPPEMENT ET CONSIGNES FORMATEUR</a:t>
            </a:r>
          </a:p>
          <a:p>
            <a:r>
              <a:t>Prévoir trente-cinq minutes : cinq d’import, quinze de création, dix d’interprétation, cinq de revue. Power BI Desktop est utilisé lorsque le parc le permet. La variante sans code et sans Power BI consiste à travailler sur les CSV et la maquette fournie. Aucun fichier PBIX n’est prétendu livré ou testé. Les participants doivent comprendre que la vue présente un test indépendant, pas tous les clients de Novalia.</a:t>
            </a:r>
          </a:p>
          <a:p/>
          <a:p>
            <a:r>
              <a:t>MESSAGE À RETENIR</a:t>
            </a:r>
          </a:p>
          <a:p>
            <a:r>
              <a:t>35 minutes • Cahier A09 • Les CSV de secours sont fournis.</a:t>
            </a:r>
          </a:p>
          <a:p/>
          <a:p>
            <a:r>
              <a:t>QUESTION DE RELANCE</a:t>
            </a:r>
          </a:p>
          <a:p>
            <a:r>
              <a:t>Quelle mention empêche de prendre cette vue pour un tableau de bord de production ?</a:t>
            </a:r>
          </a:p>
          <a:p/>
          <a:p>
            <a:r>
              <a:t>RÉPONSE ATTENDUE</a:t>
            </a:r>
          </a:p>
          <a:p>
            <a:r>
              <a:t>« Cohorte de test synthétique », avec date des scores, version et périmètre.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J2-036 | Jour 2 | B4 | Séquence B4.7</a:t>
            </a:r>
          </a:p>
          <a:p>
            <a:r>
              <a:t>Modalité : TP. Budget de la séquence complète : 35 min (ne pas additionner ce temps à chaque diapositive).</a:t>
            </a:r>
          </a:p>
          <a:p/>
          <a:p>
            <a:r>
              <a:t>OBJECTIF</a:t>
            </a:r>
          </a:p>
          <a:p>
            <a:r>
              <a:t>Importer sans altérer les chiffres</a:t>
            </a:r>
          </a:p>
          <a:p/>
          <a:p>
            <a:r>
              <a:t>DÉVELOPPEMENT ET CONSIGNES FORMATEUR</a:t>
            </a:r>
          </a:p>
          <a:p>
            <a:r>
              <a:t>Le CSV utilise des points décimaux. Une locale française appliquée sans vérification peut interpréter les types incorrectement. Dans Power Query, définir les types avec la locale appropriée, puis formater l’affichage en français. Le script M fourni est un exemple d’import à adapter au chemin du fichier. Son interface n’a pas été exécutée ici ; les fichiers de données et les totaux de référence sont disponibles pour vérifier le résultat.</a:t>
            </a:r>
          </a:p>
          <a:p/>
          <a:p>
            <a:r>
              <a:t>MESSAGE À RETENIR</a:t>
            </a:r>
          </a:p>
          <a:p>
            <a:r>
              <a:t>La qualité d’une visualisation commence à l’import.</a:t>
            </a:r>
          </a:p>
          <a:p/>
          <a:p>
            <a:r>
              <a:t>QUESTION DE RELANCE</a:t>
            </a:r>
          </a:p>
          <a:p>
            <a:r>
              <a:t>Pourquoi contrôler le nombre de lignes avant de créer une visualisation ?</a:t>
            </a:r>
          </a:p>
          <a:p/>
          <a:p>
            <a:r>
              <a:t>RÉPONSE ATTENDUE</a:t>
            </a:r>
          </a:p>
          <a:p>
            <a:r>
              <a:t>Pour détecter une erreur d’import, de filtre ou de dédoublonnage avant qu’un graphique la rende crédible.</a:t>
            </a:r>
          </a:p>
          <a:p/>
          <a:p>
            <a:r>
              <a:t>SOURCES</a:t>
            </a:r>
          </a:p>
          <a:p>
            <a:r>
              <a:t>[S26] Microsoft : scripts Python dans Power BI Desktop</a:t>
            </a:r>
          </a:p>
          <a:p>
            <a:r>
              <a:t>https://learn.microsoft.com/fr-fr/power-bi/connect-data/desktop-python-scripts</a:t>
            </a:r>
          </a:p>
          <a:p>
            <a:r>
              <a:t>Documentation officielle ; interface non exécutée dans ce livrable.</a:t>
            </a:r>
          </a:p>
          <a:p>
            <a:r>
              <a:t>[P01] Calculs reproductibles du TP Novalia</a:t>
            </a:r>
          </a:p>
          <a:p>
            <a:r>
              <a:t>travaux_pratiques/resultats_reference.json</a:t>
            </a:r>
          </a:p>
          <a:p>
            <a:r>
              <a:t>Simulation synthétique ; graine 4020 ; aucune performance réelle d’entreprise.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J2-037 | Jour 2 | B4 | Séquence B4.7</a:t>
            </a:r>
          </a:p>
          <a:p>
            <a:r>
              <a:t>Modalité : TP. Budget de la séquence complète : 35 min (ne pas additionner ce temps à chaque diapositive).</a:t>
            </a:r>
          </a:p>
          <a:p/>
          <a:p>
            <a:r>
              <a:t>OBJECTIF</a:t>
            </a:r>
          </a:p>
          <a:p>
            <a:r>
              <a:t>Maquette décisionnelle Novalia</a:t>
            </a:r>
          </a:p>
          <a:p/>
          <a:p>
            <a:r>
              <a:t>DÉVELOPPEMENT ET CONSIGNES FORMATEUR</a:t>
            </a:r>
          </a:p>
          <a:p>
            <a:r>
              <a:t>La maquette est construite à partir des exports du notebook, pas d’une capture de Power BI. Elle est entièrement modifiable dans le PowerPoint. Les graphiques portent sur une population synthétique de test. La somme du montant mensuel multiplié par le score est un indicateur pédagogique d’exposition estimée, pas un montant de perte certaine ni un revenu sauvable. Le formateur fait relier chaque visuel à une décision.</a:t>
            </a:r>
          </a:p>
          <a:p/>
          <a:p>
            <a:r>
              <a:t>MESSAGE À RETENIR</a:t>
            </a:r>
          </a:p>
          <a:p>
            <a:r>
              <a:t>Maquette pédagogique alimentée par les fichiers joints, pas fichier PBIX.</a:t>
            </a:r>
          </a:p>
          <a:p/>
          <a:p>
            <a:r>
              <a:t>QUESTION DE RELANCE</a:t>
            </a:r>
          </a:p>
          <a:p>
            <a:r>
              <a:t>Quelle vue permet de vérifier si un segment concentre trop d’alertes ?</a:t>
            </a:r>
          </a:p>
          <a:p/>
          <a:p>
            <a:r>
              <a:t>RÉPONSE ATTENDUE</a:t>
            </a:r>
          </a:p>
          <a:p>
            <a:r>
              <a:t>Un tableau par segment indiquant effectif, taux d’alertes et résultats observés, sans se limiter au nombre brut.</a:t>
            </a:r>
          </a:p>
          <a:p/>
          <a:p>
            <a:r>
              <a:t>SOURCES</a:t>
            </a:r>
          </a:p>
          <a:p>
            <a:r>
              <a:t>[P01] Calculs reproductibles du TP Novalia</a:t>
            </a:r>
          </a:p>
          <a:p>
            <a:r>
              <a:t>travaux_pratiques/resultats_reference.json</a:t>
            </a:r>
          </a:p>
          <a:p>
            <a:r>
              <a:t>Simulation synthétique ; graine 4020 ; aucune performance réelle d’entreprise.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J2-038 | Jour 2 | B4 | Séquence B4.7</a:t>
            </a:r>
          </a:p>
          <a:p>
            <a:r>
              <a:t>Modalité : TP. Budget de la séquence complète : 35 min (ne pas additionner ce temps à chaque diapositive).</a:t>
            </a:r>
          </a:p>
          <a:p/>
          <a:p>
            <a:r>
              <a:t>OBJECTIF</a:t>
            </a:r>
          </a:p>
          <a:p>
            <a:r>
              <a:t>Des mesures DAX simples et explicites</a:t>
            </a:r>
          </a:p>
          <a:p/>
          <a:p>
            <a:r>
              <a:t>DÉVELOPPEMENT ET CONSIGNES FORMATEUR</a:t>
            </a:r>
          </a:p>
          <a:p>
            <a:r>
              <a:t>Les noms affichés sont ceux du fichier DAX fourni. Selon les paramètres régionaux de l’application, adapter les séparateurs d’arguments si nécessaire. Expliquer COUNTROWS, SUM et DIVIDE plutôt que faire mémoriser une syntaxe. L’exposition est calculée sur les montants disponibles et impute zéro aux absences uniquement pour cette démonstration ; le cahier demande d’indiquer cette limite et d’envisager une politique plus adaptée.</a:t>
            </a:r>
          </a:p>
          <a:p/>
          <a:p>
            <a:r>
              <a:t>MESSAGE À RETENIR</a:t>
            </a:r>
          </a:p>
          <a:p>
            <a:r>
              <a:t>Fichier de mesures fourni • Vérifier les chiffres sur votre poste.</a:t>
            </a:r>
          </a:p>
          <a:p/>
          <a:p>
            <a:r>
              <a:t>QUESTION DE RELANCE</a:t>
            </a:r>
          </a:p>
          <a:p>
            <a:r>
              <a:t>Un segment filtré garde-t-il la même signification que le total ?</a:t>
            </a:r>
          </a:p>
          <a:p/>
          <a:p>
            <a:r>
              <a:t>RÉPONSE ATTENDUE</a:t>
            </a:r>
          </a:p>
          <a:p>
            <a:r>
              <a:t>Oui pour les mesures correctement définies, mais le périmètre doit être visible et les petits effectifs discutés.</a:t>
            </a:r>
          </a:p>
          <a:p/>
          <a:p>
            <a:r>
              <a:t>SOURCES</a:t>
            </a:r>
          </a:p>
          <a:p>
            <a:r>
              <a:t>[S26] Microsoft : scripts Python dans Power BI Desktop</a:t>
            </a:r>
          </a:p>
          <a:p>
            <a:r>
              <a:t>https://learn.microsoft.com/fr-fr/power-bi/connect-data/desktop-python-scripts</a:t>
            </a:r>
          </a:p>
          <a:p>
            <a:r>
              <a:t>Documentation officielle ; interface non exécutée dans ce livrable.</a:t>
            </a:r>
          </a:p>
          <a:p>
            <a:r>
              <a:t>[P01] Calculs reproductibles du TP Novalia</a:t>
            </a:r>
          </a:p>
          <a:p>
            <a:r>
              <a:t>travaux_pratiques/resultats_reference.json</a:t>
            </a:r>
          </a:p>
          <a:p>
            <a:r>
              <a:t>Simulation synthétique ; graine 4020 ; aucune performance réelle d’entreprise.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J2-039 | Jour 2 | B4 | Séquence B4.7</a:t>
            </a:r>
          </a:p>
          <a:p>
            <a:r>
              <a:t>Modalité : TP. Budget de la séquence complète : 35 min (ne pas additionner ce temps à chaque diapositive).</a:t>
            </a:r>
          </a:p>
          <a:p/>
          <a:p>
            <a:r>
              <a:t>OBJECTIF</a:t>
            </a:r>
          </a:p>
          <a:p>
            <a:r>
              <a:t>Le dashboard n’est pas l’action</a:t>
            </a:r>
          </a:p>
          <a:p/>
          <a:p>
            <a:r>
              <a:t>DÉVELOPPEMENT ET CONSIGNES FORMATEUR</a:t>
            </a:r>
          </a:p>
          <a:p>
            <a:r>
              <a:t>Une vue réussie n’est pas seulement esthétique. Le participant doit indiquer ce qu’une personne fera après lecture. Les champs individuels ne sont pas obligatoires pour une vue de pilotage. Les droits doivent être définis si l’on descend au dossier. La disponibilité d’un score historique ne justifie pas de le réutiliser sans vérifier sa fraîcheur et son usage.</a:t>
            </a:r>
          </a:p>
          <a:p/>
          <a:p>
            <a:r>
              <a:t>MESSAGE À RETENIR</a:t>
            </a:r>
          </a:p>
          <a:p>
            <a:r>
              <a:t>La restitution devient utile lorsqu’elle déclenche une décision maîtrisée.</a:t>
            </a:r>
          </a:p>
          <a:p/>
          <a:p>
            <a:r>
              <a:t>QUESTION DE RELANCE</a:t>
            </a:r>
          </a:p>
          <a:p>
            <a:r>
              <a:t>Quel message afficher si le score est trop ancien ?</a:t>
            </a:r>
          </a:p>
          <a:p/>
          <a:p>
            <a:r>
              <a:t>RÉPONSE ATTENDUE</a:t>
            </a:r>
          </a:p>
          <a:p>
            <a:r>
              <a:t>Un statut explicite « données périmées » et une action de repli, pas le même indicateur sans avertissement.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J2-040 | Jour 2 | B5 | Séquence B5.1</a:t>
            </a:r>
          </a:p>
          <a:p>
            <a:r>
              <a:t>Modalité : Apport. Budget de la séquence complète : 20 min (ne pas additionner ce temps à chaque diapositive).</a:t>
            </a:r>
          </a:p>
          <a:p/>
          <a:p>
            <a:r>
              <a:t>OBJECTIF</a:t>
            </a:r>
          </a:p>
          <a:p>
            <a:r>
              <a:t>05 • Ouvrir le SI sans perdre la maîtrise</a:t>
            </a:r>
          </a:p>
          <a:p/>
          <a:p>
            <a:r>
              <a:t>DÉVELOPPEMENT ET CONSIGNES FORMATEUR</a:t>
            </a:r>
          </a:p>
          <a:p>
            <a:r>
              <a:t>Ce dernier bloc répond aux deux directions imposées par le référentiel : collecter des données externes et fournir des informations ou des services à l’extérieur. Les participants construiront une architecture, un contrat de données et une réponse à incident. L’ouverture n’est pas synonyme d’accès public. Le système peut être connecté à des partenaires précisément autorisés.</a:t>
            </a:r>
          </a:p>
          <a:p/>
          <a:p>
            <a:r>
              <a:t>MESSAGE À RETENIR</a:t>
            </a:r>
          </a:p>
          <a:p>
            <a:r>
              <a:t>3 heures • 110 minutes de TP • 30 minutes d’évaluation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J2-041 | Jour 2 | B5 | Séquence B5.1</a:t>
            </a:r>
          </a:p>
          <a:p>
            <a:r>
              <a:t>Modalité : Apport. Budget de la séquence complète : 20 min (ne pas additionner ce temps à chaque diapositive).</a:t>
            </a:r>
          </a:p>
          <a:p/>
          <a:p>
            <a:r>
              <a:t>OBJECTIF</a:t>
            </a:r>
          </a:p>
          <a:p>
            <a:r>
              <a:t>L’ouverture est bidirectionnelle</a:t>
            </a:r>
          </a:p>
          <a:p/>
          <a:p>
            <a:r>
              <a:t>DÉVELOPPEMENT ET CONSIGNES FORMATEUR</a:t>
            </a:r>
          </a:p>
          <a:p>
            <a:r>
              <a:t>Un SI ouvert reçoit et fournit des ressources selon des droits. Les flux entrants apportent du contexte ; les sortants permettent de coordonner un écosystème ou de créer un service. Une sortie peut être agrégée plutôt que brute. Pour chaque flux, noter finalité, source, destinataire, fréquence, sécurité et responsabilité. Une base interne ne doit pas être exposée directement pour éviter de concevoir une interface.</a:t>
            </a:r>
          </a:p>
          <a:p/>
          <a:p>
            <a:r>
              <a:t>MESSAGE À RETENIR</a:t>
            </a:r>
          </a:p>
          <a:p>
            <a:r>
              <a:t>Ouvrir une capacité de service, pas toute la base de données.</a:t>
            </a:r>
          </a:p>
          <a:p/>
          <a:p>
            <a:r>
              <a:t>QUESTION DE RELANCE</a:t>
            </a:r>
          </a:p>
          <a:p>
            <a:r>
              <a:t>Que peut-on fournir à un fournisseur sans lui donner les clients individuels ?</a:t>
            </a:r>
          </a:p>
          <a:p/>
          <a:p>
            <a:r>
              <a:t>RÉPONSE ATTENDUE</a:t>
            </a:r>
          </a:p>
          <a:p>
            <a:r>
              <a:t>Une prévision agrégée par produit et période, si le besoin, les droits et les risques le permettent.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J2-042 | Jour 2 | B5 | Séquence B5.1</a:t>
            </a:r>
          </a:p>
          <a:p>
            <a:r>
              <a:t>Modalité : Apport. Budget de la séquence complète : 20 min (ne pas additionner ce temps à chaque diapositive).</a:t>
            </a:r>
          </a:p>
          <a:p/>
          <a:p>
            <a:r>
              <a:t>OBJECTIF</a:t>
            </a:r>
          </a:p>
          <a:p>
            <a:r>
              <a:t>Quatre modes d’échange à savoir choisir</a:t>
            </a:r>
          </a:p>
          <a:p/>
          <a:p>
            <a:r>
              <a:t>DÉVELOPPEMENT ET CONSIGNES FORMATEUR</a:t>
            </a:r>
          </a:p>
          <a:p>
            <a:r>
              <a:t>Les modes ne sont pas classés du moins au plus moderne. Le choix dépend de fraîcheur, volume, couplage, coût et criticité. Un webhook est un appel déclenché par un événement ; il n’est pas équivalent à un bus d’événements complet. Un fichier planifié peut être parfaitement adapté à un calcul nocturne. La méthode doit rester compréhensible par le responsable métier.</a:t>
            </a:r>
          </a:p>
          <a:p/>
          <a:p>
            <a:r>
              <a:t>MESSAGE À RETENIR</a:t>
            </a:r>
          </a:p>
          <a:p>
            <a:r>
              <a:t>La fréquence de décision justifie la fréquence de circulation.</a:t>
            </a:r>
          </a:p>
          <a:p/>
          <a:p>
            <a:r>
              <a:t>QUESTION DE RELANCE</a:t>
            </a:r>
          </a:p>
          <a:p>
            <a:r>
              <a:t>Pourquoi ne pas choisir le temps réel par défaut ?</a:t>
            </a:r>
          </a:p>
          <a:p/>
          <a:p>
            <a:r>
              <a:t>RÉPONSE ATTENDUE</a:t>
            </a:r>
          </a:p>
          <a:p>
            <a:r>
              <a:t>Il peut ajouter des coûts et des contraintes sans améliorer une décision qui n’est prise qu’une fois par jour.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J2-043 | Jour 2 | B5 | Séquence B5.1</a:t>
            </a:r>
          </a:p>
          <a:p>
            <a:r>
              <a:t>Modalité : Apport. Budget de la séquence complète : 20 min (ne pas additionner ce temps à chaque diapositive).</a:t>
            </a:r>
          </a:p>
          <a:p/>
          <a:p>
            <a:r>
              <a:t>OBJECTIF</a:t>
            </a:r>
          </a:p>
          <a:p>
            <a:r>
              <a:t>La latence utile dépend du métier</a:t>
            </a:r>
          </a:p>
          <a:p/>
          <a:p>
            <a:r>
              <a:t>DÉVELOPPEMENT ET CONSIGNES FORMATEUR</a:t>
            </a:r>
          </a:p>
          <a:p>
            <a:r>
              <a:t>Les positions sont illustratives et non des engagements de service de fournisseurs. Une application conversationnelle peut accepter quelques secondes, tandis qu’un contrôle dans un paiement impose souvent une contrainte plus forte. Une prévision nocturne n’a pas besoin de répondre à chaque clic. Faire évaluer ce qui se passe lorsque le résultat arrive trop tard : devient-il inutile, dangereux ou simplement moins confortable ?</a:t>
            </a:r>
          </a:p>
          <a:p/>
          <a:p>
            <a:r>
              <a:t>MESSAGE À RETENIR</a:t>
            </a:r>
          </a:p>
          <a:p>
            <a:r>
              <a:t>Une prédiction utile doit arriver avant que la décision ne soit devenue irréversible.</a:t>
            </a:r>
          </a:p>
          <a:p/>
          <a:p>
            <a:r>
              <a:t>QUESTION DE RELANCE</a:t>
            </a:r>
          </a:p>
          <a:p>
            <a:r>
              <a:t>La vitesse de calcul est-elle le seul facteur de latence ?</a:t>
            </a:r>
          </a:p>
          <a:p/>
          <a:p>
            <a:r>
              <a:t>RÉPONSE ATTENDUE</a:t>
            </a:r>
          </a:p>
          <a:p>
            <a:r>
              <a:t>Non. Collecte, préparation, réseau, file d’attente, service et action humaine participent au délai total.</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J2-044 | Jour 2 | B5 | Séquence B5.1</a:t>
            </a:r>
          </a:p>
          <a:p>
            <a:r>
              <a:t>Modalité : Apport. Budget de la séquence complète : 20 min (ne pas additionner ce temps à chaque diapositive).</a:t>
            </a:r>
          </a:p>
          <a:p/>
          <a:p>
            <a:r>
              <a:t>OBJECTIF</a:t>
            </a:r>
          </a:p>
          <a:p>
            <a:r>
              <a:t>UPS : le réseau logistique comme système de données</a:t>
            </a:r>
          </a:p>
          <a:p/>
          <a:p>
            <a:r>
              <a:t>DÉVELOPPEMENT ET CONSIGNES FORMATEUR</a:t>
            </a:r>
          </a:p>
          <a:p>
            <a:r>
              <a:t>Le communiqué UPS du 18 juin 2026 décrit un jumeau numérique du réseau et l’intégration de données opérationnelles pour anticiper les perturbations. Il s’agit d’une annonce de l’entreprise, pas d’une évaluation indépendante de chaque composant. Le dessin du cours est conceptuel. La leçon porte sur le couplage entre signaux externes, représentation du réseau et décisions de planification.</a:t>
            </a:r>
          </a:p>
          <a:p/>
          <a:p>
            <a:r>
              <a:t>MESSAGE À RETENIR</a:t>
            </a:r>
          </a:p>
          <a:p>
            <a:r>
              <a:t>Cas documenté • UPS, 18 juin 2026 • Architecture schématique</a:t>
            </a:r>
          </a:p>
          <a:p/>
          <a:p>
            <a:r>
              <a:t>QUESTION DE RELANCE</a:t>
            </a:r>
          </a:p>
          <a:p>
            <a:r>
              <a:t>Quelle donnée extérieure peut être utile seulement pendant quelques heures ?</a:t>
            </a:r>
          </a:p>
          <a:p/>
          <a:p>
            <a:r>
              <a:t>RÉPONSE ATTENDUE</a:t>
            </a:r>
          </a:p>
          <a:p>
            <a:r>
              <a:t>Une prévision météo, un incident de trafic ou une estimation de retard.</a:t>
            </a:r>
          </a:p>
          <a:p/>
          <a:p>
            <a:r>
              <a:t>SOURCES</a:t>
            </a:r>
          </a:p>
          <a:p>
            <a:r>
              <a:t>[S12] UPS : initiatives IA et jumeau numérique</a:t>
            </a:r>
          </a:p>
          <a:p>
            <a:r>
              <a:t>https://about.ups.com/us/en/newsroom/press-releases/innovation-driven/proof-over-promises--ups-s-bold-ai-initiatives-enhance-products-.html</a:t>
            </a:r>
          </a:p>
          <a:p>
            <a:r>
              <a:t>Communiqué de l’entreprise ; déclarations et déploiements annoncés.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J2-045 | Jour 2 | B5 | Séquence B5.1</a:t>
            </a:r>
          </a:p>
          <a:p>
            <a:r>
              <a:t>Modalité : Apport. Budget de la séquence complète : 20 min (ne pas additionner ce temps à chaque diapositive).</a:t>
            </a:r>
          </a:p>
          <a:p/>
          <a:p>
            <a:r>
              <a:t>OBJECTIF</a:t>
            </a:r>
          </a:p>
          <a:p>
            <a:r>
              <a:t>Un jumeau numérique n’est pas une simple image 3D</a:t>
            </a:r>
          </a:p>
          <a:p/>
          <a:p>
            <a:r>
              <a:t>DÉVELOPPEMENT ET CONSIGNES FORMATEUR</a:t>
            </a:r>
          </a:p>
          <a:p>
            <a:r>
              <a:t>Expliquer la différence entre un dessin statique et une représentation reliée à des états observés. La fidélité requise dépend de la décision. Le communiqué UPS annonce une actualisation de son jumeau à intervalles de dix minutes ; ne pas en déduire que toutes les données d’un tel système sont synchrones à la seconde. Une simulation ne supprime pas les incertitudes ni les données manquantes.</a:t>
            </a:r>
          </a:p>
          <a:p/>
          <a:p>
            <a:r>
              <a:t>MESSAGE À RETENIR</a:t>
            </a:r>
          </a:p>
          <a:p>
            <a:r>
              <a:t>Le jumeau vaut par sa relation au réel et à la décision qu’il permet d’évaluer.</a:t>
            </a:r>
          </a:p>
          <a:p/>
          <a:p>
            <a:r>
              <a:t>QUESTION DE RELANCE</a:t>
            </a:r>
          </a:p>
          <a:p>
            <a:r>
              <a:t>Que faut-il connaître avant de croire une simulation ?</a:t>
            </a:r>
          </a:p>
          <a:p/>
          <a:p>
            <a:r>
              <a:t>RÉPONSE ATTENDUE</a:t>
            </a:r>
          </a:p>
          <a:p>
            <a:r>
              <a:t>Hypothèses, données d’entrée, validité du modèle, incertitude et limites d’usage.</a:t>
            </a:r>
          </a:p>
          <a:p/>
          <a:p>
            <a:r>
              <a:t>SOURCES</a:t>
            </a:r>
          </a:p>
          <a:p>
            <a:r>
              <a:t>[S12] UPS : initiatives IA et jumeau numérique</a:t>
            </a:r>
          </a:p>
          <a:p>
            <a:r>
              <a:t>https://about.ups.com/us/en/newsroom/press-releases/innovation-driven/proof-over-promises--ups-s-bold-ai-initiatives-enhance-products-.html</a:t>
            </a:r>
          </a:p>
          <a:p>
            <a:r>
              <a:t>Communiqué de l’entreprise ; déclarations et déploiements annoncés.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J2-046 | Jour 2 | B5 | Séquence B5.1</a:t>
            </a:r>
          </a:p>
          <a:p>
            <a:r>
              <a:t>Modalité : Apport. Budget de la séquence complète : 20 min (ne pas additionner ce temps à chaque diapositive).</a:t>
            </a:r>
          </a:p>
          <a:p/>
          <a:p>
            <a:r>
              <a:t>OBJECTIF</a:t>
            </a:r>
          </a:p>
          <a:p>
            <a:r>
              <a:t>Le fournisseur externe devient une dépendance</a:t>
            </a:r>
          </a:p>
          <a:p/>
          <a:p>
            <a:r>
              <a:t>DÉVELOPPEMENT ET CONSIGNES FORMATEUR</a:t>
            </a:r>
          </a:p>
          <a:p>
            <a:r>
              <a:t>Imaginer que l’API météo ne répond plus. Remplacer la pluie inconnue par zéro transformerait une absence de connaissance en une observation fausse. Une option est d’utiliser un modèle sans météo, une source secondaire ou une dernière valeur encore acceptable selon une durée définie. Chaque repli doit avoir été validé. Le service utilisateur doit indiquer son statut, pas masquer le défaut.</a:t>
            </a:r>
          </a:p>
          <a:p/>
          <a:p>
            <a:r>
              <a:t>MESSAGE À RETENIR</a:t>
            </a:r>
          </a:p>
          <a:p>
            <a:r>
              <a:t>L’absence de donnée n’est pas une valeur métier.</a:t>
            </a:r>
          </a:p>
          <a:p/>
          <a:p>
            <a:r>
              <a:t>QUESTION DE RELANCE</a:t>
            </a:r>
          </a:p>
          <a:p>
            <a:r>
              <a:t>Qu’est-ce qu’un bon mode dégradé ?</a:t>
            </a:r>
          </a:p>
          <a:p/>
          <a:p>
            <a:r>
              <a:t>RÉPONSE ATTENDUE</a:t>
            </a:r>
          </a:p>
          <a:p>
            <a:r>
              <a:t>Une alternative connue, déclenchée par une condition observable, avec un responsable et des limites communiquées.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J2-047 | Jour 2 | B5 | Séquence B5.2</a:t>
            </a:r>
          </a:p>
          <a:p>
            <a:r>
              <a:t>Modalité : TP. Budget de la séquence complète : 45 min (ne pas additionner ce temps à chaque diapositive).</a:t>
            </a:r>
          </a:p>
          <a:p/>
          <a:p>
            <a:r>
              <a:t>OBJECTIF</a:t>
            </a:r>
          </a:p>
          <a:p>
            <a:r>
              <a:t>A10 • Concevoir le SI ouvert de Novalia</a:t>
            </a:r>
          </a:p>
          <a:p/>
          <a:p>
            <a:r>
              <a:t>DÉVELOPPEMENT ET CONSIGNES FORMATEUR</a:t>
            </a:r>
          </a:p>
          <a:p>
            <a:r>
              <a:t>Consacrer quarante-cinq minutes : cinq au cadrage, vingt au dessin, dix au contrôle croisé et dix au test d’un parcours. Les groupes reprennent leur carte initiale et ajoutent au moins une source entrante et une capacité sortante. Le modèle ML est identifié par sa famille ; il n’est pas nécessaire de le développer dans ce bloc. Interdire le partage de données individuelles lorsqu’aucun besoin ne le justifie.</a:t>
            </a:r>
          </a:p>
          <a:p/>
          <a:p>
            <a:r>
              <a:t>MESSAGE À RETENIR</a:t>
            </a:r>
          </a:p>
          <a:p>
            <a:r>
              <a:t>45 minutes • Cahier A10 • Un flux entrant et un flux sortant justifiés</a:t>
            </a:r>
          </a:p>
          <a:p/>
          <a:p>
            <a:r>
              <a:t>QUESTION DE RELANCE</a:t>
            </a:r>
          </a:p>
          <a:p>
            <a:r>
              <a:t>Quel flux élimineriez-vous si sa valeur n’est pas démontrée ?</a:t>
            </a:r>
          </a:p>
          <a:p/>
          <a:p>
            <a:r>
              <a:t>RÉPONSE ATTENDUE</a:t>
            </a:r>
          </a:p>
          <a:p>
            <a:r>
              <a:t>Tout flux dont le lien avec une décision ou un engagement de service reste non établi.</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J2-048 | Jour 2 | B5 | Séquence B5.2</a:t>
            </a:r>
          </a:p>
          <a:p>
            <a:r>
              <a:t>Modalité : TP. Budget de la séquence complète : 45 min (ne pas additionner ce temps à chaque diapositive).</a:t>
            </a:r>
          </a:p>
          <a:p/>
          <a:p>
            <a:r>
              <a:t>OBJECTIF</a:t>
            </a:r>
          </a:p>
          <a:p>
            <a:r>
              <a:t>Architecture cible : des frontières visibles</a:t>
            </a:r>
          </a:p>
          <a:p/>
          <a:p>
            <a:r>
              <a:t>DÉVELOPPEMENT ET CONSIGNES FORMATEUR</a:t>
            </a:r>
          </a:p>
          <a:p>
            <a:r>
              <a:t>Le schéma propose des fonctions, pas une liste d’achats. Certaines peuvent être assurées par un même composant dans une petite architecture. Le contrôle d’accès doit s’appliquer aux entrées et aux sorties. L’observabilité traverse le système. Les secrets ne sont pas inscrits dans le notebook ni dans le diaporama. Le modèle n’accède qu’aux données nécessaires à sa tâche.</a:t>
            </a:r>
          </a:p>
          <a:p/>
          <a:p>
            <a:r>
              <a:t>MESSAGE À RETENIR</a:t>
            </a:r>
          </a:p>
          <a:p>
            <a:r>
              <a:t>Architecture pédagogique • Chaque frontière correspond à un contrôle à définir.</a:t>
            </a:r>
          </a:p>
          <a:p/>
          <a:p>
            <a:r>
              <a:t>QUESTION DE RELANCE</a:t>
            </a:r>
          </a:p>
          <a:p>
            <a:r>
              <a:t>Où vérifier qu’un partenaire ne lit que ses données ?</a:t>
            </a:r>
          </a:p>
          <a:p/>
          <a:p>
            <a:r>
              <a:t>RÉPONSE ATTENDUE</a:t>
            </a:r>
          </a:p>
          <a:p>
            <a:r>
              <a:t>Dans la couche d’autorisation du service et les requêtes, avec tests d’isolation, pas dans une simple consigne au modèle.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J2-049 | Jour 2 | B5 | Séquence B5.2</a:t>
            </a:r>
          </a:p>
          <a:p>
            <a:r>
              <a:t>Modalité : TP. Budget de la séquence complète : 45 min (ne pas additionner ce temps à chaque diapositive).</a:t>
            </a:r>
          </a:p>
          <a:p/>
          <a:p>
            <a:r>
              <a:t>OBJECTIF</a:t>
            </a:r>
          </a:p>
          <a:p>
            <a:r>
              <a:t>Décrire chaque flèche comme un contrat</a:t>
            </a:r>
          </a:p>
          <a:p/>
          <a:p>
            <a:r>
              <a:t>DÉVELOPPEMENT ET CONSIGNES FORMATEUR</a:t>
            </a:r>
          </a:p>
          <a:p>
            <a:r>
              <a:t>Le tableau est une correction possible, sans imposer une cadence universelle. Les quantités minimales dépendent du besoin. Exiger pour chaque flux une gestion d’échec, une règle de fraîcheur et un contrat de schéma. Un identifiant pseudonyme reste potentiellement une donnée personnelle selon le contexte et les possibilités de rattachement. Les partenaires ne doivent pas choisir librement de nouvelles finalités à partir d’un accès existant.</a:t>
            </a:r>
          </a:p>
          <a:p/>
          <a:p>
            <a:r>
              <a:t>MESSAGE À RETENIR</a:t>
            </a:r>
          </a:p>
          <a:p>
            <a:r>
              <a:t>Nommer les données qui circulent révèle les risques cachés derrière une flèche.</a:t>
            </a:r>
          </a:p>
          <a:p/>
          <a:p>
            <a:r>
              <a:t>QUESTION DE RELANCE</a:t>
            </a:r>
          </a:p>
          <a:p>
            <a:r>
              <a:t>Quelle information manque à un score seul ?</a:t>
            </a:r>
          </a:p>
          <a:p/>
          <a:p>
            <a:r>
              <a:t>RÉPONSE ATTENDUE</a:t>
            </a:r>
          </a:p>
          <a:p>
            <a:r>
              <a:t>Sa date, sa version, la définition de sa cible, les limites de validité et la politique d’usage.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J2-050 | Jour 2 | B5 | Séquence B5.2</a:t>
            </a:r>
          </a:p>
          <a:p>
            <a:r>
              <a:t>Modalité : TP. Budget de la séquence complète : 45 min (ne pas additionner ce temps à chaque diapositive).</a:t>
            </a:r>
          </a:p>
          <a:p/>
          <a:p>
            <a:r>
              <a:t>OBJECTIF</a:t>
            </a:r>
          </a:p>
          <a:p>
            <a:r>
              <a:t>Revue croisée : suivre un événement de bout en bout</a:t>
            </a:r>
          </a:p>
          <a:p/>
          <a:p>
            <a:r>
              <a:t>DÉVELOPPEMENT ET CONSIGNES FORMATEUR</a:t>
            </a:r>
          </a:p>
          <a:p>
            <a:r>
              <a:t>Le groupe voisin joue le rôle d’un auditeur métier. Il suit un événement concret et demande à chaque étape ce qui peut échouer. Faire vérifier l’identifiant d’événement pour éviter les doublons et l’ordre temporel des messages. Une livraison reçue deux fois ne doit pas déclencher deux notifications identiques ou deux compensations. La complexité doit être introduite par l’exemple plutôt que par une liste abstraite de technologies.</a:t>
            </a:r>
          </a:p>
          <a:p/>
          <a:p>
            <a:r>
              <a:t>MESSAGE À RETENIR</a:t>
            </a:r>
          </a:p>
          <a:p>
            <a:r>
              <a:t>Une architecture se vérifie en racontant un parcours précis.</a:t>
            </a:r>
          </a:p>
          <a:p/>
          <a:p>
            <a:r>
              <a:t>QUESTION DE RELANCE</a:t>
            </a:r>
          </a:p>
          <a:p>
            <a:r>
              <a:t>Comment éviter qu’un même événement déclenche deux fois l’action ?</a:t>
            </a:r>
          </a:p>
          <a:p/>
          <a:p>
            <a:r>
              <a:t>RÉPONSE ATTENDUE</a:t>
            </a:r>
          </a:p>
          <a:p>
            <a:r>
              <a:t>Conserver un identifiant et une logique d’idempotence ou de déduplication appropriée.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J2-051 | Jour 2 | B5 | Séquence B5.3</a:t>
            </a:r>
          </a:p>
          <a:p>
            <a:r>
              <a:t>Modalité : Apport. Budget de la séquence complète : 20 min (ne pas additionner ce temps à chaque diapositive).</a:t>
            </a:r>
          </a:p>
          <a:p/>
          <a:p>
            <a:r>
              <a:t>OBJECTIF</a:t>
            </a:r>
          </a:p>
          <a:p>
            <a:r>
              <a:t>Une API expose un service, pas un mot de passe</a:t>
            </a:r>
          </a:p>
          <a:p/>
          <a:p>
            <a:r>
              <a:t>DÉVELOPPEMENT ET CONSIGNES FORMATEUR</a:t>
            </a:r>
          </a:p>
          <a:p>
            <a:r>
              <a:t>OAuth 2.0 est un cadre d’autorisation. Il ne doit pas être présenté à lui seul comme un protocole complet d’authentification d’utilisateur ; l’identité peut s’appuyer sur d’autres mécanismes tels qu’OpenID Connect selon le système. Un jeton donne des droits limités et doit être protégé. Les secrets restent côté service. La vérification des droits doit inclure l’objet demandé et pas seulement l’existence d’un jeton valide.</a:t>
            </a:r>
          </a:p>
          <a:p/>
          <a:p>
            <a:r>
              <a:t>MESSAGE À RETENIR</a:t>
            </a:r>
          </a:p>
          <a:p>
            <a:r>
              <a:t>Authentifier une identité et autoriser une action sont deux questions différentes.</a:t>
            </a:r>
          </a:p>
          <a:p/>
          <a:p>
            <a:r>
              <a:t>QUESTION DE RELANCE</a:t>
            </a:r>
          </a:p>
          <a:p>
            <a:r>
              <a:t>Un jeton valide permet-il de consulter n’importe quel client ?</a:t>
            </a:r>
          </a:p>
          <a:p/>
          <a:p>
            <a:r>
              <a:t>RÉPONSE ATTENDUE</a:t>
            </a:r>
          </a:p>
          <a:p>
            <a:r>
              <a:t>Non. L’autorisation doit porter sur l’action et les ressources autorisées.</a:t>
            </a:r>
          </a:p>
          <a:p/>
          <a:p>
            <a:r>
              <a:t>SOURCES</a:t>
            </a:r>
          </a:p>
          <a:p>
            <a:r>
              <a:t>[S24] IETF : cadre d’autorisation OAuth 2.0</a:t>
            </a:r>
          </a:p>
          <a:p>
            <a:r>
              <a:t>https://www.rfc-editor.org/rfc/rfc6749</a:t>
            </a:r>
          </a:p>
          <a:p>
            <a:r>
              <a:t>Cadre d’autorisation, à distinguer d’un protocole d’authentification utilisateur.</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J2-052 | Jour 2 | B5 | Séquence B5.3</a:t>
            </a:r>
          </a:p>
          <a:p>
            <a:r>
              <a:t>Modalité : Apport. Budget de la séquence complète : 20 min (ne pas additionner ce temps à chaque diapositive).</a:t>
            </a:r>
          </a:p>
          <a:p/>
          <a:p>
            <a:r>
              <a:t>OBJECTIF</a:t>
            </a:r>
          </a:p>
          <a:p>
            <a:r>
              <a:t>John Deere : un exemple d’écosystème contrôlé</a:t>
            </a:r>
          </a:p>
          <a:p/>
          <a:p>
            <a:r>
              <a:t>DÉVELOPPEMENT ET CONSIGNES FORMATEUR</a:t>
            </a:r>
          </a:p>
          <a:p>
            <a:r>
              <a:t>La documentation John Deere consultée illustre des API avec un mécanisme OAuth 2. La page utilisée concerne des services spécifiques ; ne pas attribuer ce même flux à tous les endpoints de l’écosystème. Le but est de montrer que connecter des partenaires demande une identité d’application, des droits et une gestion de cycle de vie. Ce micro-cas ne constitue pas une étude de performance de Machine Learning.</a:t>
            </a:r>
          </a:p>
          <a:p/>
          <a:p>
            <a:r>
              <a:t>MESSAGE À RETENIR</a:t>
            </a:r>
          </a:p>
          <a:p>
            <a:r>
              <a:t>Micro-cas d’API documenté, pas preuve d’un bénéfice ML.</a:t>
            </a:r>
          </a:p>
          <a:p/>
          <a:p>
            <a:r>
              <a:t>QUESTION DE RELANCE</a:t>
            </a:r>
          </a:p>
          <a:p>
            <a:r>
              <a:t>Pourquoi un partenaire ne doit-il pas recevoir un accès SQL global ?</a:t>
            </a:r>
          </a:p>
          <a:p/>
          <a:p>
            <a:r>
              <a:t>RÉPONSE ATTENDUE</a:t>
            </a:r>
          </a:p>
          <a:p>
            <a:r>
              <a:t>Il contournerait les limites de service, la minimisation, le versionnement et le contrôle d’usage.</a:t>
            </a:r>
          </a:p>
          <a:p/>
          <a:p>
            <a:r>
              <a:t>SOURCES</a:t>
            </a:r>
          </a:p>
          <a:p>
            <a:r>
              <a:t>[S14] John Deere : documentation des API et OAuth 2</a:t>
            </a:r>
          </a:p>
          <a:p>
            <a:r>
              <a:t>https://developer.deere.com/dev-docs/customer-linkage</a:t>
            </a:r>
          </a:p>
          <a:p>
            <a:r>
              <a:t>Documentation officielle, micro-cas de contrôle d’accès.</a:t>
            </a:r>
          </a:p>
          <a:p>
            <a:r>
              <a:t>[S24] IETF : cadre d’autorisation OAuth 2.0</a:t>
            </a:r>
          </a:p>
          <a:p>
            <a:r>
              <a:t>https://www.rfc-editor.org/rfc/rfc6749</a:t>
            </a:r>
          </a:p>
          <a:p>
            <a:r>
              <a:t>Cadre d’autorisation, à distinguer d’un protocole d’authentification utilisateur.</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J2-053 | Jour 2 | B5 | Séquence B5.3</a:t>
            </a:r>
          </a:p>
          <a:p>
            <a:r>
              <a:t>Modalité : Apport. Budget de la séquence complète : 20 min (ne pas additionner ce temps à chaque diapositive).</a:t>
            </a:r>
          </a:p>
          <a:p/>
          <a:p>
            <a:r>
              <a:t>OBJECTIF</a:t>
            </a:r>
          </a:p>
          <a:p>
            <a:r>
              <a:t>La partie visible d’une API est la plus petite</a:t>
            </a:r>
          </a:p>
          <a:p/>
          <a:p>
            <a:r>
              <a:t>DÉVELOPPEMENT ET CONSIGNES FORMATEUR</a:t>
            </a:r>
          </a:p>
          <a:p>
            <a:r>
              <a:t>L’iceberg est une analogie originale. La syntaxe d’une requête ne dit pas qui porte le coût de l’indisponibilité, qui peut réutiliser les données ou comment retirer l’accès. Une interface stable exige une gestion de versions. Une nouvelle finalité d’entraînement ne doit pas être déduite automatiquement d’un droit de consultation. Faire distinguer contrat juridique et contrat technique de schéma, tous deux nécessaires selon le contexte.</a:t>
            </a:r>
          </a:p>
          <a:p/>
          <a:p>
            <a:r>
              <a:t>MESSAGE À RETENIR</a:t>
            </a:r>
          </a:p>
          <a:p>
            <a:r>
              <a:t>« Nous avons une API » ne signifie pas « nous maîtrisons l’échange ».</a:t>
            </a:r>
          </a:p>
          <a:p/>
          <a:p>
            <a:r>
              <a:t>QUESTION DE RELANCE</a:t>
            </a:r>
          </a:p>
          <a:p>
            <a:r>
              <a:t>Quelle question poser avant d’utiliser les données d’un partenaire pour entraîner un modèle ?</a:t>
            </a:r>
          </a:p>
          <a:p/>
          <a:p>
            <a:r>
              <a:t>RÉPONSE ATTENDUE</a:t>
            </a:r>
          </a:p>
          <a:p>
            <a:r>
              <a:t>Vérifier les droits et finalités de réutilisation, les personnes concernées et les obligations contractuelles ou légales.</a:t>
            </a:r>
          </a:p>
          <a:p/>
          <a:p>
            <a:r>
              <a:t>SOURCES</a:t>
            </a:r>
          </a:p>
          <a:p>
            <a:r>
              <a:t>[S22] Commission européenne : règlement sur les données</a:t>
            </a:r>
          </a:p>
          <a:p>
            <a:r>
              <a:t>https://digital-strategy.ec.europa.eu/en/policies/data-act</a:t>
            </a:r>
          </a:p>
          <a:p>
            <a:r>
              <a:t>Data Act ; champ d’application et dispositions à vérifier par cas.</a:t>
            </a:r>
          </a:p>
          <a:p>
            <a:r>
              <a:t>[S24] IETF : cadre d’autorisation OAuth 2.0</a:t>
            </a:r>
          </a:p>
          <a:p>
            <a:r>
              <a:t>https://www.rfc-editor.org/rfc/rfc6749</a:t>
            </a:r>
          </a:p>
          <a:p>
            <a:r>
              <a:t>Cadre d’autorisation, à distinguer d’un protocole d’authentification utilisateur.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J2-054 | Jour 2 | B5 | Séquence B5.3</a:t>
            </a:r>
          </a:p>
          <a:p>
            <a:r>
              <a:t>Modalité : Apport. Budget de la séquence complète : 20 min (ne pas additionner ce temps à chaque diapositive).</a:t>
            </a:r>
          </a:p>
          <a:p/>
          <a:p>
            <a:r>
              <a:t>OBJECTIF</a:t>
            </a:r>
          </a:p>
          <a:p>
            <a:r>
              <a:t>Un contrat de données comporte quatre couches</a:t>
            </a:r>
          </a:p>
          <a:p/>
          <a:p>
            <a:r>
              <a:t>DÉVELOPPEMENT ET CONSIGNES FORMATEUR</a:t>
            </a:r>
          </a:p>
          <a:p>
            <a:r>
              <a:t>Donner l’exemple d’une température : un nombre valide peut être en Fahrenheit plutôt qu’en Celsius. Le schéma doit donc expliciter l’unité et pas seulement le type float. Une modification compatible syntaxiquement peut rester incompatible sémantiquement. Le contrat précise comment annoncer le changement, tester et revenir en arrière. La durée de conservation des journaux doit également être maîtrisée.</a:t>
            </a:r>
          </a:p>
          <a:p/>
          <a:p>
            <a:r>
              <a:t>MESSAGE À RETENIR</a:t>
            </a:r>
          </a:p>
          <a:p>
            <a:r>
              <a:t>Un schéma valide n’est pas encore une donnée correcte.</a:t>
            </a:r>
          </a:p>
          <a:p/>
          <a:p>
            <a:r>
              <a:t>QUESTION DE RELANCE</a:t>
            </a:r>
          </a:p>
          <a:p>
            <a:r>
              <a:t>Quel changement ne serait pas détecté par un simple test de type ?</a:t>
            </a:r>
          </a:p>
          <a:p/>
          <a:p>
            <a:r>
              <a:t>RÉPONSE ATTENDUE</a:t>
            </a:r>
          </a:p>
          <a:p>
            <a:r>
              <a:t>Un changement d’unité ou de définition métier.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J2-055 | Jour 2 | B5 | Séquence B5.3</a:t>
            </a:r>
          </a:p>
          <a:p>
            <a:r>
              <a:t>Modalité : Apport. Budget de la séquence complète : 20 min (ne pas additionner ce temps à chaque diapositive).</a:t>
            </a:r>
          </a:p>
          <a:p/>
          <a:p>
            <a:r>
              <a:t>OBJECTIF</a:t>
            </a:r>
          </a:p>
          <a:p>
            <a:r>
              <a:t>Data Act et gouvernance du partage</a:t>
            </a:r>
          </a:p>
          <a:p/>
          <a:p>
            <a:r>
              <a:t>DÉVELOPPEMENT ET CONSIGNES FORMATEUR</a:t>
            </a:r>
          </a:p>
          <a:p>
            <a:r>
              <a:t>La Commission présente le Data Act comme un cadre d’accès et d’usage équitables des données, incluant les dispositifs connectés et des questions de services. Le champ, les dates particulières et les exceptions doivent être examinés. Il ne crée pas un droit illimité de collecter tout ce qui est techniquement accessible. Le Data Governance Act apporte d’autres mécanismes de confiance. Le RGPD reste pertinent pour les données personnelles.</a:t>
            </a:r>
          </a:p>
          <a:p/>
          <a:p>
            <a:r>
              <a:t>MESSAGE À RETENIR</a:t>
            </a:r>
          </a:p>
          <a:p>
            <a:r>
              <a:t>Sensibilisation au 14 septembre 2026, à faire qualifier selon le cas réel.</a:t>
            </a:r>
          </a:p>
          <a:p/>
          <a:p>
            <a:r>
              <a:t>QUESTION DE RELANCE</a:t>
            </a:r>
          </a:p>
          <a:p>
            <a:r>
              <a:t>L’application du Data Act dispense-t-elle de vérifier la confidentialité et les données personnelles ?</a:t>
            </a:r>
          </a:p>
          <a:p/>
          <a:p>
            <a:r>
              <a:t>RÉPONSE ATTENDUE</a:t>
            </a:r>
          </a:p>
          <a:p>
            <a:r>
              <a:t>Non. L’accès, le droit d’usage, les secrets et la protection des personnes doivent être articulés.</a:t>
            </a:r>
          </a:p>
          <a:p/>
          <a:p>
            <a:r>
              <a:t>SOURCES</a:t>
            </a:r>
          </a:p>
          <a:p>
            <a:r>
              <a:t>[S22] Commission européenne : règlement sur les données</a:t>
            </a:r>
          </a:p>
          <a:p>
            <a:r>
              <a:t>https://digital-strategy.ec.europa.eu/en/policies/data-act</a:t>
            </a:r>
          </a:p>
          <a:p>
            <a:r>
              <a:t>Data Act ; champ d’application et dispositions à vérifier par cas.</a:t>
            </a:r>
          </a:p>
          <a:p>
            <a:r>
              <a:t>[S23] Commission européenne : gouvernance des données</a:t>
            </a:r>
          </a:p>
          <a:p>
            <a:r>
              <a:t>https://digital-strategy.ec.europa.eu/en/policies/data-governance-act</a:t>
            </a:r>
          </a:p>
          <a:p>
            <a:r>
              <a:t>Data Governance Act ; complément, non substitut au RGPD.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J2-056 | Jour 2 | B5 | Séquence B5.3</a:t>
            </a:r>
          </a:p>
          <a:p>
            <a:r>
              <a:t>Modalité : Apport. Budget de la séquence complète : 20 min (ne pas additionner ce temps à chaque diapositive).</a:t>
            </a:r>
          </a:p>
          <a:p/>
          <a:p>
            <a:r>
              <a:t>OBJECTIF</a:t>
            </a:r>
          </a:p>
          <a:p>
            <a:r>
              <a:t>Huit contrôles avant d’exposer un service IA</a:t>
            </a:r>
          </a:p>
          <a:p/>
          <a:p>
            <a:r>
              <a:t>DÉVELOPPEMENT ET CONSIGNES FORMATEUR</a:t>
            </a:r>
          </a:p>
          <a:p>
            <a:r>
              <a:t>Les six cartouches regroupent huit contrôles : identité, autorisation, validation des entrées, gestion des secrets, quotas, contrôle des sorties, journalisation et révocation. Les menaces dépendent de l’architecture. Un système qui propose des actions ne doit pas les exécuter avec des privilèges globaux. Pour un service sensible, les tests doivent couvrir les erreurs, les cas limites et l’isolation entre partenaires. Les descriptions restent défensives et non opérationnelles pour l’attaque.</a:t>
            </a:r>
          </a:p>
          <a:p/>
          <a:p>
            <a:r>
              <a:t>MESSAGE À RETENIR</a:t>
            </a:r>
          </a:p>
          <a:p>
            <a:r>
              <a:t>La sécurité de l’interface ne dépend pas de la bonne volonté du modèle.</a:t>
            </a:r>
          </a:p>
          <a:p/>
          <a:p>
            <a:r>
              <a:t>QUESTION DE RELANCE</a:t>
            </a:r>
          </a:p>
          <a:p>
            <a:r>
              <a:t>Quel contrôle doit rester actif même si le modèle est très performant ?</a:t>
            </a:r>
          </a:p>
          <a:p/>
          <a:p>
            <a:r>
              <a:t>RÉPONSE ATTENDUE</a:t>
            </a:r>
          </a:p>
          <a:p>
            <a:r>
              <a:t>Tous les contrôles d’accès et d’usage : la performance statistique ne donne aucun droit supplémentaire.</a:t>
            </a:r>
          </a:p>
          <a:p/>
          <a:p>
            <a:r>
              <a:t>SOURCES</a:t>
            </a:r>
          </a:p>
          <a:p>
            <a:r>
              <a:t>[S16] ANSSI : sécurité d’un système d’IA générative</a:t>
            </a:r>
          </a:p>
          <a:p>
            <a:r>
              <a:t>https://messervices.cyber.gouv.fr/guides/recommandations-de-securite-pour-un-systeme-dia-generative</a:t>
            </a:r>
          </a:p>
          <a:p>
            <a:r>
              <a:t>Recommandations de sécurité ; ne couvrent pas toutes les questions juridiques.</a:t>
            </a:r>
          </a:p>
          <a:p>
            <a:r>
              <a:t>[S24] IETF : cadre d’autorisation OAuth 2.0</a:t>
            </a:r>
          </a:p>
          <a:p>
            <a:r>
              <a:t>https://www.rfc-editor.org/rfc/rfc6749</a:t>
            </a:r>
          </a:p>
          <a:p>
            <a:r>
              <a:t>Cadre d’autorisation, à distinguer d’un protocole d’authentification utilisateur.</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J2-057 | Jour 2 | B5 | Séquence B5.4</a:t>
            </a:r>
          </a:p>
          <a:p>
            <a:r>
              <a:t>Modalité : TP. Budget de la séquence complète : 35 min (ne pas additionner ce temps à chaque diapositive).</a:t>
            </a:r>
          </a:p>
          <a:p/>
          <a:p>
            <a:r>
              <a:t>OBJECTIF</a:t>
            </a:r>
          </a:p>
          <a:p>
            <a:r>
              <a:t>A11 • Écrire le contrat avant de brancher</a:t>
            </a:r>
          </a:p>
          <a:p/>
          <a:p>
            <a:r>
              <a:t>DÉVELOPPEMENT ET CONSIGNES FORMATEUR</a:t>
            </a:r>
          </a:p>
          <a:p>
            <a:r>
              <a:t>Allouer trente-cinq minutes : dix au sens et aux droits, dix au schéma et au service, dix aux tests, cinq à la revue. Le notebook de simulation locale constitue une option d’appui, pas un prérequis réseau. Faire écrire une erreur attendue et une réponse de repli pour chaque test. Un contrat qui ne prévoit que le succès nominal est incomplet.</a:t>
            </a:r>
          </a:p>
          <a:p/>
          <a:p>
            <a:r>
              <a:t>MESSAGE À RETENIR</a:t>
            </a:r>
          </a:p>
          <a:p>
            <a:r>
              <a:t>35 minutes • Cahier A11 • Simulation locale facultative incluse</a:t>
            </a:r>
          </a:p>
          <a:p/>
          <a:p>
            <a:r>
              <a:t>QUESTION DE RELANCE</a:t>
            </a:r>
          </a:p>
          <a:p>
            <a:r>
              <a:t>Quelle réponse attend-on lorsque la météo est trop ancienne ?</a:t>
            </a:r>
          </a:p>
          <a:p/>
          <a:p>
            <a:r>
              <a:t>RÉPONSE ATTENDUE</a:t>
            </a:r>
          </a:p>
          <a:p>
            <a:r>
              <a:t>Un statut explicite et un repli validé, sans remplacer silencieusement la donnée par une valeur inventée.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J2-058 | Jour 2 | B5 | Séquence B5.4</a:t>
            </a:r>
          </a:p>
          <a:p>
            <a:r>
              <a:t>Modalité : TP. Budget de la séquence complète : 35 min (ne pas additionner ce temps à chaque diapositive).</a:t>
            </a:r>
          </a:p>
          <a:p/>
          <a:p>
            <a:r>
              <a:t>OBJECTIF</a:t>
            </a:r>
          </a:p>
          <a:p>
            <a:r>
              <a:t>Exemple : un message minimal et vérifiable</a:t>
            </a:r>
          </a:p>
          <a:p/>
          <a:p>
            <a:r>
              <a:t>DÉVELOPPEMENT ET CONSIGNES FORMATEUR</a:t>
            </a:r>
          </a:p>
          <a:p>
            <a:r>
              <a:t>Le message est fictif et utilisé dans le notebook sans aucun appel à un fournisseur réel. Il faut préciser dans le contrat la période de prévision, qui n’est pas complète dans ce message minimal : c’est un point d’amélioration volontaire du groupe. L’horodatage indique la génération et non automatiquement la période couverte. Ajouter l’horizon avant de considérer le contrat exploitable dans un vrai SI.</a:t>
            </a:r>
          </a:p>
          <a:p/>
          <a:p>
            <a:r>
              <a:t>MESSAGE À RETENIR</a:t>
            </a:r>
          </a:p>
          <a:p>
            <a:r>
              <a:t>Exemple minimal de laboratoire, à compléter avant un usage réel.</a:t>
            </a:r>
          </a:p>
          <a:p/>
          <a:p>
            <a:r>
              <a:t>QUESTION DE RELANCE</a:t>
            </a:r>
          </a:p>
          <a:p>
            <a:r>
              <a:t>Quel champ manque pour savoir pour quelle période la pluie est prévue ?</a:t>
            </a:r>
          </a:p>
          <a:p/>
          <a:p>
            <a:r>
              <a:t>RÉPONSE ATTENDUE</a:t>
            </a:r>
          </a:p>
          <a:p>
            <a:r>
              <a:t>Un début et une fin de validité ou un horizon explicitement défini dans le contrat.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J2-059 | Jour 2 | B5 | Séquence B5.4</a:t>
            </a:r>
          </a:p>
          <a:p>
            <a:r>
              <a:t>Modalité : TP. Budget de la séquence complète : 35 min (ne pas additionner ce temps à chaque diapositive).</a:t>
            </a:r>
          </a:p>
          <a:p/>
          <a:p>
            <a:r>
              <a:t>OBJECTIF</a:t>
            </a:r>
          </a:p>
          <a:p>
            <a:r>
              <a:t>Quatre tests de contrat, quatre décisions explicites</a:t>
            </a:r>
          </a:p>
          <a:p/>
          <a:p>
            <a:r>
              <a:t>DÉVELOPPEMENT ET CONSIGNES FORMATEUR</a:t>
            </a:r>
          </a:p>
          <a:p>
            <a:r>
              <a:t>Le notebook de simulation joint vérifie ces quatre cas et a été exécuté. Ce n’est pas un service sécurisé complet : il ne réalise ni OAuth, ni TLS, ni quotas, ni déploiement. L’exercice sert à relier une condition de qualité à une réponse déterministe. Le groupe peut ajouter un test d’unité, de délai réseau ou de champ personnel inattendu. Les seuils retenus sont des hypothèses pédagogiques.</a:t>
            </a:r>
          </a:p>
          <a:p/>
          <a:p>
            <a:r>
              <a:t>MESSAGE À RETENIR</a:t>
            </a:r>
          </a:p>
          <a:p>
            <a:r>
              <a:t>Simulation exécutable locale • Aucun réseau ni secret réel</a:t>
            </a:r>
          </a:p>
          <a:p/>
          <a:p>
            <a:r>
              <a:t>QUESTION DE RELANCE</a:t>
            </a:r>
          </a:p>
          <a:p>
            <a:r>
              <a:t>Pourquoi écrire les statuts avant le déploiement ?</a:t>
            </a:r>
          </a:p>
          <a:p/>
          <a:p>
            <a:r>
              <a:t>RÉPONSE ATTENDUE</a:t>
            </a:r>
          </a:p>
          <a:p>
            <a:r>
              <a:t>Pour que les consommateurs et les opérateurs sachent distinguer les erreurs et appliquer le bon repli.</a:t>
            </a:r>
          </a:p>
          <a:p/>
          <a:p>
            <a:r>
              <a:t>SOURCES</a:t>
            </a:r>
          </a:p>
          <a:p>
            <a:r>
              <a:t>[P01] Calculs reproductibles du TP Novalia</a:t>
            </a:r>
          </a:p>
          <a:p>
            <a:r>
              <a:t>travaux_pratiques/resultats_reference.json</a:t>
            </a:r>
          </a:p>
          <a:p>
            <a:r>
              <a:t>Simulation synthétique ; graine 4020 ; aucune performance réelle d’entreprise.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J2-060 | Jour 2 | B5 | Séquence B5.4</a:t>
            </a:r>
          </a:p>
          <a:p>
            <a:r>
              <a:t>Modalité : TP. Budget de la séquence complète : 35 min (ne pas additionner ce temps à chaque diapositive).</a:t>
            </a:r>
          </a:p>
          <a:p/>
          <a:p>
            <a:r>
              <a:t>OBJECTIF</a:t>
            </a:r>
          </a:p>
          <a:p>
            <a:r>
              <a:t>Partager moins peut créer autant de valeur</a:t>
            </a:r>
          </a:p>
          <a:p/>
          <a:p>
            <a:r>
              <a:t>DÉVELOPPEMENT ET CONSIGNES FORMATEUR</a:t>
            </a:r>
          </a:p>
          <a:p>
            <a:r>
              <a:t>La minimisation peut également simplifier l’intégration, limiter le risque et réduire le couplage. Mais une agrégation n’est pas automatiquement anonyme : de petits groupes peuvent révéler une personne ou une information confidentielle. Le choix du niveau d’agrégation doit tenir compte du besoin et des risques. Faire expliciter les droits d’entraînement d’un modèle à partir des agrégats plutôt que de les supposer.</a:t>
            </a:r>
          </a:p>
          <a:p/>
          <a:p>
            <a:r>
              <a:t>MESSAGE À RETENIR</a:t>
            </a:r>
          </a:p>
          <a:p>
            <a:r>
              <a:t>La donnée fournie doit répondre au besoin, pas à la curiosité du destinataire.</a:t>
            </a:r>
          </a:p>
          <a:p/>
          <a:p>
            <a:r>
              <a:t>QUESTION DE RELANCE</a:t>
            </a:r>
          </a:p>
          <a:p>
            <a:r>
              <a:t>Quelle granularité suffit à un fournisseur pour planifier sa production ?</a:t>
            </a:r>
          </a:p>
          <a:p/>
          <a:p>
            <a:r>
              <a:t>RÉPONSE ATTENDUE</a:t>
            </a:r>
          </a:p>
          <a:p>
            <a:r>
              <a:t>Une prévision par produit et période peut suffire, sans identification individuelle des clients, selon le cas.</a:t>
            </a:r>
          </a:p>
          <a:p/>
          <a:p>
            <a:r>
              <a:t>SOURCES</a:t>
            </a:r>
          </a:p>
          <a:p>
            <a:r>
              <a:t>[S15] CNIL : fiches pratiques IA</a:t>
            </a:r>
          </a:p>
          <a:p>
            <a:r>
              <a:t>https://www.cnil.fr/fr/les-fiches-pratiques-ia</a:t>
            </a:r>
          </a:p>
          <a:p>
            <a:r>
              <a:t>Cadre RGPD, finalité, minimisation, droits et sécurité.</a:t>
            </a:r>
          </a:p>
          <a:p>
            <a:r>
              <a:t>[S22] Commission européenne : règlement sur les données</a:t>
            </a:r>
          </a:p>
          <a:p>
            <a:r>
              <a:t>https://digital-strategy.ec.europa.eu/en/policies/data-act</a:t>
            </a:r>
          </a:p>
          <a:p>
            <a:r>
              <a:t>Data Act ; champ d’application et dispositions à vérifier par cas.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J2-061 | Jour 2 | B5 | Séquence B5.5</a:t>
            </a:r>
          </a:p>
          <a:p>
            <a:r>
              <a:t>Modalité : TP. Budget de la séquence complète : 30 min (ne pas additionner ce temps à chaque diapositive).</a:t>
            </a:r>
          </a:p>
          <a:p/>
          <a:p>
            <a:r>
              <a:t>OBJECTIF</a:t>
            </a:r>
          </a:p>
          <a:p>
            <a:r>
              <a:t>A12 • Votre architecture reçoit un incident</a:t>
            </a:r>
          </a:p>
          <a:p/>
          <a:p>
            <a:r>
              <a:t>DÉVELOPPEMENT ET CONSIGNES FORMATEUR</a:t>
            </a:r>
          </a:p>
          <a:p>
            <a:r>
              <a:t>Prévoir trente minutes : cinq pour tirer et lire la carte, dix pour décider, dix pour un échange contradictoire et cinq pour documenter. Les scénarios sont simulés. Le groupe ne doit pas improviser des actions risquées ; il décrit une procédure défensive et proportionnée. La suspension d’un accès n’est utile que si les équipes savent maintenir le processus métier autrement.</a:t>
            </a:r>
          </a:p>
          <a:p/>
          <a:p>
            <a:r>
              <a:t>MESSAGE À RETENIR</a:t>
            </a:r>
          </a:p>
          <a:p>
            <a:r>
              <a:t>30 minutes • Cahier A12 • Cartes incident imprimables fournies</a:t>
            </a:r>
          </a:p>
          <a:p/>
          <a:p>
            <a:r>
              <a:t>QUESTION DE RELANCE</a:t>
            </a:r>
          </a:p>
          <a:p>
            <a:r>
              <a:t>Quelle décision ne doit pas être prise automatiquement après l’incident ?</a:t>
            </a:r>
          </a:p>
          <a:p/>
          <a:p>
            <a:r>
              <a:t>RÉPONSE ATTENDUE</a:t>
            </a:r>
          </a:p>
          <a:p>
            <a:r>
              <a:t>La reprise complète si les conditions de sécurité, de qualité et de responsabilité ne sont pas rétablies.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J2-062 | Jour 2 | B5 | Séquence B5.5</a:t>
            </a:r>
          </a:p>
          <a:p>
            <a:r>
              <a:t>Modalité : TP. Budget de la séquence complète : 30 min (ne pas additionner ce temps à chaque diapositive).</a:t>
            </a:r>
          </a:p>
          <a:p/>
          <a:p>
            <a:r>
              <a:t>OBJECTIF</a:t>
            </a:r>
          </a:p>
          <a:p>
            <a:r>
              <a:t>Sept situations de rupture</a:t>
            </a:r>
          </a:p>
          <a:p/>
          <a:p>
            <a:r>
              <a:t>DÉVELOPPEMENT ET CONSIGNES FORMATEUR</a:t>
            </a:r>
          </a:p>
          <a:p>
            <a:r>
              <a:t>Les sept cartes détaillées se trouvent dans le cahier : l’indisponibilité et le changement de schéma sont deux cartes distinctes. Demander aux groupes de ne pas confondre incident technique et demande de nouveau droit. Une demande de données brutes peut être un changement contractuel, pas une panne. La dégradation de rappel nécessite des étiquettes observées et une vérification de leur qualité.</a:t>
            </a:r>
          </a:p>
          <a:p/>
          <a:p>
            <a:r>
              <a:t>MESSAGE À RETENIR</a:t>
            </a:r>
          </a:p>
          <a:p>
            <a:r>
              <a:t>L’incident révèle ce que le diagramme nominal ne montrait pas.</a:t>
            </a:r>
          </a:p>
          <a:p/>
          <a:p>
            <a:r>
              <a:t>QUESTION DE RELANCE</a:t>
            </a:r>
          </a:p>
          <a:p>
            <a:r>
              <a:t>Quelle alerte est impossible à calculer immédiatement si la cible arrive dans 30 jours ?</a:t>
            </a:r>
          </a:p>
          <a:p/>
          <a:p>
            <a:r>
              <a:t>RÉPONSE ATTENDUE</a:t>
            </a:r>
          </a:p>
          <a:p>
            <a:r>
              <a:t>Le rappel réel sur les décisions du jour ; il faut d’abord suivre des indicateurs précoces puis les labels arrivés à maturité.</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J2-063 | Jour 2 | B5 | Séquence B5.5</a:t>
            </a:r>
          </a:p>
          <a:p>
            <a:r>
              <a:t>Modalité : TP. Budget de la séquence complète : 30 min (ne pas additionner ce temps à chaque diapositive).</a:t>
            </a:r>
          </a:p>
          <a:p/>
          <a:p>
            <a:r>
              <a:t>OBJECTIF</a:t>
            </a:r>
          </a:p>
          <a:p>
            <a:r>
              <a:t>Un repli se prépare et se termine</a:t>
            </a:r>
          </a:p>
          <a:p/>
          <a:p>
            <a:r>
              <a:t>DÉVELOPPEMENT ET CONSIGNES FORMATEUR</a:t>
            </a:r>
          </a:p>
          <a:p>
            <a:r>
              <a:t>Le retour au nominal doit être soumis à des critères. Une API qui répond de nouveau peut servir une mauvaise version ou des données corrompues. Les journaux doivent permettre l’analyse sans exposer inutilement des informations sensibles. Après incident, revoir les tests de contrat et les dépendances. Le cycle est une proposition de procédure à adapter au plan de réponse de l’organisation.</a:t>
            </a:r>
          </a:p>
          <a:p/>
          <a:p>
            <a:r>
              <a:t>MESSAGE À RETENIR</a:t>
            </a:r>
          </a:p>
          <a:p>
            <a:r>
              <a:t>La reprise est une décision vérifiée, pas le simple retour d’un voyant vert.</a:t>
            </a:r>
          </a:p>
          <a:p/>
          <a:p>
            <a:r>
              <a:t>QUESTION DE RELANCE</a:t>
            </a:r>
          </a:p>
          <a:p>
            <a:r>
              <a:t>Qu’est-ce qui prouve que le service peut reprendre ?</a:t>
            </a:r>
          </a:p>
          <a:p/>
          <a:p>
            <a:r>
              <a:t>RÉPONSE ATTENDUE</a:t>
            </a:r>
          </a:p>
          <a:p>
            <a:r>
              <a:t>Tests de qualité et de sécurité, résultat de contrôle, autorisation du responsable et surveillance renforcée selon le cas.</a:t>
            </a:r>
          </a:p>
          <a:p/>
          <a:p>
            <a:r>
              <a:t>SOURCES</a:t>
            </a:r>
          </a:p>
          <a:p>
            <a:r>
              <a:t>[S16] ANSSI : sécurité d’un système d’IA générative</a:t>
            </a:r>
          </a:p>
          <a:p>
            <a:r>
              <a:t>https://messervices.cyber.gouv.fr/guides/recommandations-de-securite-pour-un-systeme-dia-generative</a:t>
            </a:r>
          </a:p>
          <a:p>
            <a:r>
              <a:t>Recommandations de sécurité ; ne couvrent pas toutes les questions juridiques.</a:t>
            </a:r>
          </a:p>
          <a:p>
            <a:r>
              <a:t>[S28] Sculley et al. : dette technique des systèmes ML</a:t>
            </a:r>
          </a:p>
          <a:p>
            <a:r>
              <a:t>https://research.google/pubs/hidden-technical-debt-in-machine-learning-systems/</a:t>
            </a:r>
          </a:p>
          <a:p>
            <a:r>
              <a:t>Article scientifique sur l’industrialisation.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J2-064 | Jour 2 | B5 | Séquence B5.6</a:t>
            </a:r>
          </a:p>
          <a:p>
            <a:r>
              <a:t>Modalité : Évaluation. Budget de la séquence complète : 30 min (ne pas additionner ce temps à chaque diapositive).</a:t>
            </a:r>
          </a:p>
          <a:p/>
          <a:p>
            <a:r>
              <a:t>OBJECTIF</a:t>
            </a:r>
          </a:p>
          <a:p>
            <a:r>
              <a:t>Restitution : défendre votre système en trois minutes</a:t>
            </a:r>
          </a:p>
          <a:p/>
          <a:p>
            <a:r>
              <a:t>DÉVELOPPEMENT ET CONSIGNES FORMATEUR</a:t>
            </a:r>
          </a:p>
          <a:p>
            <a:r>
              <a:t>Le dispositif de référence prévoit jusqu’à quatre groupes : trois minutes chacun et trois minutes de retour collectif dans une fenêtre de quinze minutes. Pour un groupe plus grand, utiliser une galerie de restitution parallèle plutôt que dépasser le budget. Le formateur utilise la grille du cahier corrigé. La note individuelle ne dépend pas uniquement du pitch du groupe : le QCM et la fiche de transfert complètent la preuve.</a:t>
            </a:r>
          </a:p>
          <a:p/>
          <a:p>
            <a:r>
              <a:t>MESSAGE À RETENIR</a:t>
            </a:r>
          </a:p>
          <a:p>
            <a:r>
              <a:t>15 minutes au total • Quatre groupes maximum en restitution successive</a:t>
            </a:r>
          </a:p>
          <a:p/>
          <a:p>
            <a:r>
              <a:t>QUESTION DE RELANCE</a:t>
            </a:r>
          </a:p>
          <a:p>
            <a:r>
              <a:t>Quel point pourriez-vous défendre avec une preuve plutôt qu’une promesse ?</a:t>
            </a:r>
          </a:p>
          <a:p/>
          <a:p>
            <a:r>
              <a:t>RÉPONSE ATTENDUE</a:t>
            </a:r>
          </a:p>
          <a:p>
            <a:r>
              <a:t>Le schéma de flux, les règles de qualité, un calcul reproductible ou un protocole de mesure clairement défini.</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J2-065 | Jour 2 | B5 | Séquence B5.6</a:t>
            </a:r>
          </a:p>
          <a:p>
            <a:r>
              <a:t>Modalité : Évaluation. Budget de la séquence complète : 30 min (ne pas additionner ce temps à chaque diapositive).</a:t>
            </a:r>
          </a:p>
          <a:p/>
          <a:p>
            <a:r>
              <a:t>OBJECTIF</a:t>
            </a:r>
          </a:p>
          <a:p>
            <a:r>
              <a:t>Évaluation finale : appliquer les distinctions</a:t>
            </a:r>
          </a:p>
          <a:p/>
          <a:p>
            <a:r>
              <a:t>DÉVELOPPEMENT ET CONSIGNES FORMATEUR</a:t>
            </a:r>
          </a:p>
          <a:p>
            <a:r>
              <a:t>Distribuer le QCM final de douze questions et accorder dix minutes. Les réponses et justifications détaillées figurent uniquement dans le guide formateur. Éviter une correction collective qui révèle les réponses avant remise. Chaque question vaut un point pour le diagnostic individuel. La grille de cas sur cent points est un outil pédagogique distinct, et non une certification officielle liée à un seuil contractuel.</a:t>
            </a:r>
          </a:p>
          <a:p/>
          <a:p>
            <a:r>
              <a:t>MESSAGE À RETENIR</a:t>
            </a:r>
          </a:p>
          <a:p>
            <a:r>
              <a:t>10 minutes • QCM individuel • Corrigé dans le guide formateur</a:t>
            </a:r>
          </a:p>
          <a:p/>
          <a:p>
            <a:r>
              <a:t>QUESTION DE RELANCE</a:t>
            </a:r>
          </a:p>
          <a:p>
            <a:r>
              <a:t>Quel raisonnement justifie votre réponse lorsque deux options semblent proches ?</a:t>
            </a:r>
          </a:p>
          <a:p/>
          <a:p>
            <a:r>
              <a:t>RÉPONSE ATTENDUE</a:t>
            </a:r>
          </a:p>
          <a:p>
            <a:r>
              <a:t>Revenir au moment de la décision, au rôle de la mesure ou à la responsabilité de l’action.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J2-066 | Jour 2 | B5 | Séquence B5.6</a:t>
            </a:r>
          </a:p>
          <a:p>
            <a:r>
              <a:t>Modalité : Évaluation. Budget de la séquence complète : 30 min (ne pas additionner ce temps à chaque diapositive).</a:t>
            </a:r>
          </a:p>
          <a:p/>
          <a:p>
            <a:r>
              <a:t>OBJECTIF</a:t>
            </a:r>
          </a:p>
          <a:p>
            <a:r>
              <a:t>Votre prochain cas d’usage, sur une page</a:t>
            </a:r>
          </a:p>
          <a:p/>
          <a:p>
            <a:r>
              <a:t>DÉVELOPPEMENT ET CONSIGNES FORMATEUR</a:t>
            </a:r>
          </a:p>
          <a:p>
            <a:r>
              <a:t>Réserver cinq minutes de transfert individuel. Le participant choisit un cas réel sans partager de données confidentielles. Il note une première vérification à effectuer et un point qui nécessite une expertise complémentaire. Le support ne se termine pas par une promesse sur l’avenir de l’IA : il se termine sur une décision praticable. Ne pas imposer le lancement d’un projet si un recadrage ou un abandon est plus justifié.</a:t>
            </a:r>
          </a:p>
          <a:p/>
          <a:p>
            <a:r>
              <a:t>MESSAGE À RETENIR</a:t>
            </a:r>
          </a:p>
          <a:p>
            <a:r>
              <a:t>5 minutes • Fiche individuelle de transfert • Un fait à vérifier avant le prototype</a:t>
            </a:r>
          </a:p>
          <a:p/>
          <a:p>
            <a:r>
              <a:t>QUESTION DE RELANCE</a:t>
            </a:r>
          </a:p>
          <a:p>
            <a:r>
              <a:t>Quelle vérification précise pouvez-vous lancer sans développer de modèle ?</a:t>
            </a:r>
          </a:p>
          <a:p/>
          <a:p>
            <a:r>
              <a:t>RÉPONSE ATTENDUE</a:t>
            </a:r>
          </a:p>
          <a:p>
            <a:r>
              <a:t>Par exemple vérifier l’existence et la date des données, identifier le propriétaire du processus ou mesurer la baseline.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J2-067 | Jour 2 | ANNEXE | Séquence ANNEXE</a:t>
            </a:r>
          </a:p>
          <a:p>
            <a:r>
              <a:t>Modalité : Ressource. Budget de la séquence complète : 0 min (ne pas additionner ce temps à chaque diapositive).</a:t>
            </a:r>
          </a:p>
          <a:p/>
          <a:p>
            <a:r>
              <a:t>OBJECTIF</a:t>
            </a:r>
          </a:p>
          <a:p>
            <a:r>
              <a:t>Annexes du jour 2</a:t>
            </a:r>
          </a:p>
          <a:p/>
          <a:p>
            <a:r>
              <a:t>DÉVELOPPEMENT ET CONSIGNES FORMATEUR</a:t>
            </a:r>
          </a:p>
          <a:p>
            <a:r>
              <a:t>Ces pages ne sont pas toutes à projeter. Elles servent aux questions techniques, à la correction et au perfectionnement. Le minutage de douze heures concerne les segments principaux ; les annexes n’ajoutent aucune obligation d’exercice. Utiliser la progression du groupe pour sélectionner les pages utiles.</a:t>
            </a:r>
          </a:p>
          <a:p/>
          <a:p>
            <a:r>
              <a:t>MESSAGE À RETENIR</a:t>
            </a:r>
          </a:p>
          <a:p>
            <a:r>
              <a:t>Hors minutage • Banque de ressources formateur</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J2-068 | Jour 2 | ANNEXE | Séquence ANNEXE</a:t>
            </a:r>
          </a:p>
          <a:p>
            <a:r>
              <a:t>Modalité : Ressource. Budget de la séquence complète : 0 min (ne pas additionner ce temps à chaque diapositive).</a:t>
            </a:r>
          </a:p>
          <a:p/>
          <a:p>
            <a:r>
              <a:t>OBJECTIF</a:t>
            </a:r>
          </a:p>
          <a:p>
            <a:r>
              <a:t>Régression : lire une erreur dans une unité métier</a:t>
            </a:r>
          </a:p>
          <a:p/>
          <a:p>
            <a:r>
              <a:t>DÉVELOPPEMENT ET CONSIGNES FORMATEUR</a:t>
            </a:r>
          </a:p>
          <a:p>
            <a:r>
              <a:t>Un MAE de dix commandes n’a de sens qu’avec le volume et l’horizon. Les erreurs de sous-prévision et de sur-prévision peuvent avoir des coûts différents. Les indicateurs relatifs posent des difficultés lorsque les valeurs réelles sont nulles ou faibles. Le participant n’a pas besoin de connaître toutes les métriques : il doit demander unité, comparateur et conséquence.</a:t>
            </a:r>
          </a:p>
          <a:p/>
          <a:p>
            <a:r>
              <a:t>MESSAGE À RETENIR</a:t>
            </a:r>
          </a:p>
          <a:p>
            <a:r>
              <a:t>Une métrique doit rester interprétable dans le problème qu’elle mesure.</a:t>
            </a:r>
          </a:p>
          <a:p/>
          <a:p>
            <a:r>
              <a:t>QUESTION DE RELANCE</a:t>
            </a:r>
          </a:p>
          <a:p>
            <a:r>
              <a:t>Pourquoi ne pas utiliser la même métrique pour des euros et des classes ?</a:t>
            </a:r>
          </a:p>
          <a:p/>
          <a:p>
            <a:r>
              <a:t>RÉPONSE ATTENDUE</a:t>
            </a:r>
          </a:p>
          <a:p>
            <a:r>
              <a:t>Les sorties et les conséquences d’erreur sont différentes.</a:t>
            </a:r>
          </a:p>
          <a:p/>
          <a:p>
            <a:r>
              <a:t>SOURCES</a:t>
            </a:r>
          </a:p>
          <a:p>
            <a:r>
              <a:t>[S04] scikit-learn : métriques et scores</a:t>
            </a:r>
          </a:p>
          <a:p>
            <a:r>
              <a:t>https://scikit-learn.org/stable/modules/model_evaluation.html</a:t>
            </a:r>
          </a:p>
          <a:p>
            <a:r>
              <a:t>Documentation primaire.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J2-069 | Jour 2 | ANNEXE | Séquence ANNEXE</a:t>
            </a:r>
          </a:p>
          <a:p>
            <a:r>
              <a:t>Modalité : Ressource. Budget de la séquence complète : 0 min (ne pas additionner ce temps à chaque diapositive).</a:t>
            </a:r>
          </a:p>
          <a:p/>
          <a:p>
            <a:r>
              <a:t>OBJECTIF</a:t>
            </a:r>
          </a:p>
          <a:p>
            <a:r>
              <a:t>K-means : regrouper n’est pas expliquer</a:t>
            </a:r>
          </a:p>
          <a:p/>
          <a:p>
            <a:r>
              <a:t>DÉVELOPPEMENT ET CONSIGNES FORMATEUR</a:t>
            </a:r>
          </a:p>
          <a:p>
            <a:r>
              <a:t>Les points de la figure sont schématiques. K-means cherche des centres qui réduisent une dispersion selon la distance retenue. Il peut être inadapté à des formes complexes ou à des densités très différentes. Un groupe ne devient pas automatiquement un persona marketing. Les noms donnés aux groupes doivent être prudents et éviter d’inférer des caractéristiques sensibles non observées.</a:t>
            </a:r>
          </a:p>
          <a:p/>
          <a:p>
            <a:r>
              <a:t>MESSAGE À RETENIR</a:t>
            </a:r>
          </a:p>
          <a:p>
            <a:r>
              <a:t>Un cluster est un résultat de méthode, pas une catégorie naturelle garantie.</a:t>
            </a:r>
          </a:p>
          <a:p/>
          <a:p>
            <a:r>
              <a:t>QUESTION DE RELANCE</a:t>
            </a:r>
          </a:p>
          <a:p>
            <a:r>
              <a:t>Que se passe-t-il si une variable en euros domine une variable normalisée ?</a:t>
            </a:r>
          </a:p>
          <a:p/>
          <a:p>
            <a:r>
              <a:t>RÉPONSE ATTENDUE</a:t>
            </a:r>
          </a:p>
          <a:p>
            <a:r>
              <a:t>La notion de proximité peut refléter surtout l’échelle numérique plutôt que le besoin métier.</a:t>
            </a:r>
          </a:p>
          <a:p/>
          <a:p>
            <a:r>
              <a:t>SOURCES</a:t>
            </a:r>
          </a:p>
          <a:p>
            <a:r>
              <a:t>[S02] scikit-learn : guide utilisateur</a:t>
            </a:r>
          </a:p>
          <a:p>
            <a:r>
              <a:t>https://scikit-learn.org/stable/user_guide.html</a:t>
            </a:r>
          </a:p>
          <a:p>
            <a:r>
              <a:t>Documentation technique ; environnement du TP épinglé séparément.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J2-070 | Jour 2 | ANNEXE | Séquence ANNEXE</a:t>
            </a:r>
          </a:p>
          <a:p>
            <a:r>
              <a:t>Modalité : Ressource. Budget de la séquence complète : 0 min (ne pas additionner ce temps à chaque diapositive).</a:t>
            </a:r>
          </a:p>
          <a:p/>
          <a:p>
            <a:r>
              <a:t>OBJECTIF</a:t>
            </a:r>
          </a:p>
          <a:p>
            <a:r>
              <a:t>Personnaliser sans enfermer</a:t>
            </a:r>
          </a:p>
          <a:p/>
          <a:p>
            <a:r>
              <a:t>DÉVELOPPEMENT ET CONSIGNES FORMATEUR</a:t>
            </a:r>
          </a:p>
          <a:p>
            <a:r>
              <a:t>La personnalisation peut améliorer l’accès à l’information mais aussi renforcer des choix observés sous contrainte d’exposition. Il faut définir les objectifs et les garde-fous. Un utilisateur qui clique sur une seule catégorie parce qu’elle lui est toujours montrée ne révèle pas l’ensemble de ses intérêts. Les possibilités de contrôle et de correction peuvent faire partie de la conception du service.</a:t>
            </a:r>
          </a:p>
          <a:p/>
          <a:p>
            <a:r>
              <a:t>MESSAGE À RETENIR</a:t>
            </a:r>
          </a:p>
          <a:p>
            <a:r>
              <a:t>La personnalisation sert l’utilisateur ; elle ne le réduit pas à son historique.</a:t>
            </a:r>
          </a:p>
          <a:p/>
          <a:p>
            <a:r>
              <a:t>QUESTION DE RELANCE</a:t>
            </a:r>
          </a:p>
          <a:p>
            <a:r>
              <a:t>Quel signal permet d’entendre une préférence différente de l’historique ?</a:t>
            </a:r>
          </a:p>
          <a:p/>
          <a:p>
            <a:r>
              <a:t>RÉPONSE ATTENDUE</a:t>
            </a:r>
          </a:p>
          <a:p>
            <a:r>
              <a:t>Une préférence explicite, un refus, une correction ou une expérimentation encadrée.</a:t>
            </a:r>
          </a:p>
          <a:p/>
          <a:p>
            <a:r>
              <a:t>SOURCES</a:t>
            </a:r>
          </a:p>
          <a:p>
            <a:r>
              <a:t>[S07] Gomez-Uribe et Hunt : le système de recommandation Netflix</a:t>
            </a:r>
          </a:p>
          <a:p>
            <a:r>
              <a:t>https://doi.org/10.1145/2843948</a:t>
            </a:r>
          </a:p>
          <a:p>
            <a:r>
              <a:t>Article de chercheurs Netflix ; contexte historique.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J2-071 | Jour 2 | ANNEXE | Séquence ANNEXE</a:t>
            </a:r>
          </a:p>
          <a:p>
            <a:r>
              <a:t>Modalité : Ressource. Budget de la séquence complète : 0 min (ne pas additionner ce temps à chaque diapositive).</a:t>
            </a:r>
          </a:p>
          <a:p/>
          <a:p>
            <a:r>
              <a:t>OBJECTIF</a:t>
            </a:r>
          </a:p>
          <a:p>
            <a:r>
              <a:t>Un neurone artificiel, sans analogie trompeuse</a:t>
            </a:r>
          </a:p>
          <a:p/>
          <a:p>
            <a:r>
              <a:t>DÉVELOPPEMENT ET CONSIGNES FORMATEUR</a:t>
            </a:r>
          </a:p>
          <a:p>
            <a:r>
              <a:t>Formule en typographie classique : sortie = activation(w₁ × x₁ + w₂ × x₂ + w₃ × x₃ + biais). Il s’agit d’une brique mathématique utile, non d’une reproduction complète du neurone biologique. L’apprentissage ajuste les poids pour réduire un critère. Dans un réseau profond, des couches composent ces transformations. Les notions de fonction de perte et de gradient peuvent être mentionnées sans démonstration formelle.</a:t>
            </a:r>
          </a:p>
          <a:p/>
          <a:p>
            <a:r>
              <a:t>MESSAGE À RETENIR</a:t>
            </a:r>
          </a:p>
          <a:p>
            <a:r>
              <a:t>Paramètres appris ≠ connaissance causale garantie.</a:t>
            </a:r>
          </a:p>
          <a:p/>
          <a:p>
            <a:r>
              <a:t>QUESTION DE RELANCE</a:t>
            </a:r>
          </a:p>
          <a:p>
            <a:r>
              <a:t>Un poids élevé prouve-t-il qu’une variable cause le résultat ?</a:t>
            </a:r>
          </a:p>
          <a:p/>
          <a:p>
            <a:r>
              <a:t>RÉPONSE ATTENDUE</a:t>
            </a:r>
          </a:p>
          <a:p>
            <a:r>
              <a:t>Non. Il dépend de l’échelle, des interactions et du protocole d’apprentissage.</a:t>
            </a:r>
          </a:p>
          <a:p/>
          <a:p>
            <a:r>
              <a:t>SOURCES</a:t>
            </a:r>
          </a:p>
          <a:p>
            <a:r>
              <a:t>[S05] LeCun, Bengio et Hinton : apprentissage profond</a:t>
            </a:r>
          </a:p>
          <a:p>
            <a:r>
              <a:t>https://www.nature.com/articles/nature14539</a:t>
            </a:r>
          </a:p>
          <a:p>
            <a:r>
              <a:t>Article de synthèse scientifique, Nature.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J2-072 | Jour 2 | ANNEXE | Séquence ANNEXE</a:t>
            </a:r>
          </a:p>
          <a:p>
            <a:r>
              <a:t>Modalité : Ressource. Budget de la séquence complète : 0 min (ne pas additionner ce temps à chaque diapositive).</a:t>
            </a:r>
          </a:p>
          <a:p/>
          <a:p>
            <a:r>
              <a:t>OBJECTIF</a:t>
            </a:r>
          </a:p>
          <a:p>
            <a:r>
              <a:t>Entraîner, adapter ou utiliser un modèle existant</a:t>
            </a:r>
          </a:p>
          <a:p/>
          <a:p>
            <a:r>
              <a:t>DÉVELOPPEMENT ET CONSIGNES FORMATEUR</a:t>
            </a:r>
          </a:p>
          <a:p>
            <a:r>
              <a:t>Le choix ne se réduit pas à local contre cloud. Examiner besoin, criticité, localisation des données, contrôle des versions, latence, coûts et capacité d’exploitation. Une API peut faciliter le démarrage mais ajouter une dépendance fournisseur. Une installation locale ne garantit ni qualité ni sécurité par elle-même. Cette grille n’est pas un conseil d’achat ; elle soutient l’analyse architecturale.</a:t>
            </a:r>
          </a:p>
          <a:p/>
          <a:p>
            <a:r>
              <a:t>MESSAGE À RETENIR</a:t>
            </a:r>
          </a:p>
          <a:p>
            <a:r>
              <a:t>Choisir le niveau de maîtrise adapté au risque et aux moyens disponibles.</a:t>
            </a:r>
          </a:p>
          <a:p/>
          <a:p>
            <a:r>
              <a:t>QUESTION DE RELANCE</a:t>
            </a:r>
          </a:p>
          <a:p>
            <a:r>
              <a:t>Quel changement fournisseur pourrait affecter les résultats sans modification du code métier ?</a:t>
            </a:r>
          </a:p>
          <a:p/>
          <a:p>
            <a:r>
              <a:t>RÉPONSE ATTENDUE</a:t>
            </a:r>
          </a:p>
          <a:p>
            <a:r>
              <a:t>Une mise à jour de modèle, de quota, de politique de conservation ou de format de sortie.</a:t>
            </a:r>
          </a:p>
          <a:p/>
          <a:p>
            <a:r>
              <a:t>SOURCES</a:t>
            </a:r>
          </a:p>
          <a:p>
            <a:r>
              <a:t>[S16] ANSSI : sécurité d’un système d’IA générative</a:t>
            </a:r>
          </a:p>
          <a:p>
            <a:r>
              <a:t>https://messervices.cyber.gouv.fr/guides/recommandations-de-securite-pour-un-systeme-dia-generative</a:t>
            </a:r>
          </a:p>
          <a:p>
            <a:r>
              <a:t>Recommandations de sécurité ; ne couvrent pas toutes les questions juridiques.</a:t>
            </a:r>
          </a:p>
          <a:p>
            <a:r>
              <a:t>[S28] Sculley et al. : dette technique des systèmes ML</a:t>
            </a:r>
          </a:p>
          <a:p>
            <a:r>
              <a:t>https://research.google/pubs/hidden-technical-debt-in-machine-learning-systems/</a:t>
            </a:r>
          </a:p>
          <a:p>
            <a:r>
              <a:t>Article scientifique sur l’industrialisation.</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J2-073 | Jour 2 | ANNEXE | Séquence ANNEXE</a:t>
            </a:r>
          </a:p>
          <a:p>
            <a:r>
              <a:t>Modalité : Ressource. Budget de la séquence complète : 0 min (ne pas additionner ce temps à chaque diapositive).</a:t>
            </a:r>
          </a:p>
          <a:p/>
          <a:p>
            <a:r>
              <a:t>OBJECTIF</a:t>
            </a:r>
          </a:p>
          <a:p>
            <a:r>
              <a:t>Ce qu’il faut versionner pour reproduire un score</a:t>
            </a:r>
          </a:p>
          <a:p/>
          <a:p>
            <a:r>
              <a:t>DÉVELOPPEMENT ET CONSIGNES FORMATEUR</a:t>
            </a:r>
          </a:p>
          <a:p>
            <a:r>
              <a:t>Versionner seulement le fichier de poids ne suffit pas. Un changement de préparation ou de politique peut produire des décisions différentes à modèle identique. Les traces doivent rester proportionnées et compatibles avec les durées de conservation. Pour le TP, le fichier resultats_reference.json consigne la version des principales bibliothèques et les résultats ; le notebook conserve le protocole.</a:t>
            </a:r>
          </a:p>
          <a:p/>
          <a:p>
            <a:r>
              <a:t>MESSAGE À RETENIR</a:t>
            </a:r>
          </a:p>
          <a:p>
            <a:r>
              <a:t>La reproductibilité concerne le système de décision complet.</a:t>
            </a:r>
          </a:p>
          <a:p/>
          <a:p>
            <a:r>
              <a:t>QUESTION DE RELANCE</a:t>
            </a:r>
          </a:p>
          <a:p>
            <a:r>
              <a:t>Pourquoi deux scores identiques peuvent-ils conduire à deux actions différentes ?</a:t>
            </a:r>
          </a:p>
          <a:p/>
          <a:p>
            <a:r>
              <a:t>RÉPONSE ATTENDUE</a:t>
            </a:r>
          </a:p>
          <a:p>
            <a:r>
              <a:t>Le seuil, les droits, la capacité ou les règles d’exclusion peuvent changer.</a:t>
            </a:r>
          </a:p>
          <a:p/>
          <a:p>
            <a:r>
              <a:t>SOURCES</a:t>
            </a:r>
          </a:p>
          <a:p>
            <a:r>
              <a:t>[S28] Sculley et al. : dette technique des systèmes ML</a:t>
            </a:r>
          </a:p>
          <a:p>
            <a:r>
              <a:t>https://research.google/pubs/hidden-technical-debt-in-machine-learning-systems/</a:t>
            </a:r>
          </a:p>
          <a:p>
            <a:r>
              <a:t>Article scientifique sur l’industrialisation.</a:t>
            </a:r>
          </a:p>
          <a:p>
            <a:r>
              <a:t>[P01] Calculs reproductibles du TP Novalia</a:t>
            </a:r>
          </a:p>
          <a:p>
            <a:r>
              <a:t>travaux_pratiques/resultats_reference.json</a:t>
            </a:r>
          </a:p>
          <a:p>
            <a:r>
              <a:t>Simulation synthétique ; graine 4020 ; aucune performance réelle d’entreprise.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J2-074 | Jour 2 | ANNEXE | Séquence ANNEXE</a:t>
            </a:r>
          </a:p>
          <a:p>
            <a:r>
              <a:t>Modalité : Ressource. Budget de la séquence complète : 0 min (ne pas additionner ce temps à chaque diapositive).</a:t>
            </a:r>
          </a:p>
          <a:p/>
          <a:p>
            <a:r>
              <a:t>OBJECTIF</a:t>
            </a:r>
          </a:p>
          <a:p>
            <a:r>
              <a:t>Déployer progressivement et savoir revenir en arrière</a:t>
            </a:r>
          </a:p>
          <a:p/>
          <a:p>
            <a:r>
              <a:t>DÉVELOPPEMENT ET CONSIGNES FORMATEUR</a:t>
            </a:r>
          </a:p>
          <a:p>
            <a:r>
              <a:t>Ces étapes sont des options de déploiement adaptées au risque. Une phase d’observation permet de comparer sans modifier immédiatement l’action. Le pilote doit avoir un périmètre, une durée et des critères d’arrêt. Le retour arrière doit restaurer une chaîne compatible, pas seulement un ancien modèle. Le responsable métier doit comprendre les limites de la phase pilote.</a:t>
            </a:r>
          </a:p>
          <a:p/>
          <a:p>
            <a:r>
              <a:t>MESSAGE À RETENIR</a:t>
            </a:r>
          </a:p>
          <a:p>
            <a:r>
              <a:t>Un déploiement maîtrisé prévoit son arrêt avant son extension.</a:t>
            </a:r>
          </a:p>
          <a:p/>
          <a:p>
            <a:r>
              <a:t>QUESTION DE RELANCE</a:t>
            </a:r>
          </a:p>
          <a:p>
            <a:r>
              <a:t>Pourquoi tester en observation avant un automatisme sensible ?</a:t>
            </a:r>
          </a:p>
          <a:p/>
          <a:p>
            <a:r>
              <a:t>RÉPONSE ATTENDUE</a:t>
            </a:r>
          </a:p>
          <a:p>
            <a:r>
              <a:t>Pour mesurer comportement et erreurs dans le contexte réel sans déclencher toutes les conséquences de l’action.</a:t>
            </a:r>
          </a:p>
          <a:p/>
          <a:p>
            <a:r>
              <a:t>SOURCES</a:t>
            </a:r>
          </a:p>
          <a:p>
            <a:r>
              <a:t>[S28] Sculley et al. : dette technique des systèmes ML</a:t>
            </a:r>
          </a:p>
          <a:p>
            <a:r>
              <a:t>https://research.google/pubs/hidden-technical-debt-in-machine-learning-systems/</a:t>
            </a:r>
          </a:p>
          <a:p>
            <a:r>
              <a:t>Article scientifique sur l’industrialisation.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J2-075 | Jour 2 | ANNEXE | Séquence ANNEXE</a:t>
            </a:r>
          </a:p>
          <a:p>
            <a:r>
              <a:t>Modalité : Ressource. Budget de la séquence complète : 0 min (ne pas additionner ce temps à chaque diapositive).</a:t>
            </a:r>
          </a:p>
          <a:p/>
          <a:p>
            <a:r>
              <a:t>OBJECTIF</a:t>
            </a:r>
          </a:p>
          <a:p>
            <a:r>
              <a:t>Prévision de maintenance : fiche de correction finale</a:t>
            </a:r>
          </a:p>
          <a:p/>
          <a:p>
            <a:r>
              <a:t>DÉVELOPPEMENT ET CONSIGNES FORMATEUR</a:t>
            </a:r>
          </a:p>
          <a:p>
            <a:r>
              <a:t>Cette correction propose une famille plausible sans imposer une unique méthode. La GMAO est le système de gestion de maintenance assistée par ordinateur. La qualité de l’historique peut conduire à privilégier une détection d’anomalie lorsque les pannes sont rares ou mal étiquetées. Les procédures de sécurité et la responsabilité de l’intervention restent humaines et organisationnelles selon le domaine.</a:t>
            </a:r>
          </a:p>
          <a:p/>
          <a:p>
            <a:r>
              <a:t>MESSAGE À RETENIR</a:t>
            </a:r>
          </a:p>
          <a:p>
            <a:r>
              <a:t>Corrigé adaptable • Une alternative est recevable si elle est justifiée.</a:t>
            </a:r>
          </a:p>
          <a:p/>
          <a:p>
            <a:r>
              <a:t>QUESTION DE RELANCE</a:t>
            </a:r>
          </a:p>
          <a:p>
            <a:r>
              <a:t>Quelle précision manque le plus souvent dans « prédire les pannes » ?</a:t>
            </a:r>
          </a:p>
          <a:p/>
          <a:p>
            <a:r>
              <a:t>RÉPONSE ATTENDUE</a:t>
            </a:r>
          </a:p>
          <a:p>
            <a:r>
              <a:t>L’événement, l’horizon, la machine, le délai d’action et la qualité des labels.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J2-076 | Jour 2 | ANNEXE | Séquence ANNEXE</a:t>
            </a:r>
          </a:p>
          <a:p>
            <a:r>
              <a:t>Modalité : Ressource. Budget de la séquence complète : 0 min (ne pas additionner ce temps à chaque diapositive).</a:t>
            </a:r>
          </a:p>
          <a:p/>
          <a:p>
            <a:r>
              <a:t>OBJECTIF</a:t>
            </a:r>
          </a:p>
          <a:p>
            <a:r>
              <a:t>Grille d’évaluation de la mise en situation</a:t>
            </a:r>
          </a:p>
          <a:p/>
          <a:p>
            <a:r>
              <a:t>DÉVELOPPEMENT ET CONSIGNES FORMATEUR</a:t>
            </a:r>
          </a:p>
          <a:p>
            <a:r>
              <a:t>La grille détaillée du guide répartit les trente points de chaque groupe en deux dimensions de quinze. Les dix derniers points comprennent cinq de suivi et cinq d’argumentation. Le seuil de soixante-dix est une proposition pédagogique, pas une exigence officielle du référentiel fourni. Une erreur grave de temporalité ou une absence de responsable doit déclencher une remédiation, même si le total est satisfaisant.</a:t>
            </a:r>
          </a:p>
          <a:p/>
          <a:p>
            <a:r>
              <a:t>MESSAGE À RETENIR</a:t>
            </a:r>
          </a:p>
          <a:p>
            <a:r>
              <a:t>Grille de conception pédagogique • Ne vaut pas certification réglementaire.</a:t>
            </a:r>
          </a:p>
          <a:p/>
          <a:p>
            <a:r>
              <a:t>QUESTION DE RELANCE</a:t>
            </a:r>
          </a:p>
          <a:p>
            <a:r>
              <a:t>Qu’est-ce qui distingue un 2/5 d’un 5/5 sur une dimension ?</a:t>
            </a:r>
          </a:p>
          <a:p/>
          <a:p>
            <a:r>
              <a:t>RÉPONSE ATTENDUE</a:t>
            </a:r>
          </a:p>
          <a:p>
            <a:r>
              <a:t>La précision, la justification et la capacité à vérifier, plutôt que le simple emploi du vocabulaire.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J2-077 | Jour 2 | ANNEXE | Séquence ANNEXE</a:t>
            </a:r>
          </a:p>
          <a:p>
            <a:r>
              <a:t>Modalité : Ressource. Budget de la séquence complète : 0 min (ne pas additionner ce temps à chaque diapositive).</a:t>
            </a:r>
          </a:p>
          <a:p/>
          <a:p>
            <a:r>
              <a:t>OBJECTIF</a:t>
            </a:r>
          </a:p>
          <a:p>
            <a:r>
              <a:t>Choisir une métrique de suivi avec une réponse</a:t>
            </a:r>
          </a:p>
          <a:p/>
          <a:p>
            <a:r>
              <a:t>DÉVELOPPEMENT ET CONSIGNES FORMATEUR</a:t>
            </a:r>
          </a:p>
          <a:p>
            <a:r>
              <a:t>Cette table complète les notions de dérive. Elle évite de réduire le monitoring à une courbe de performance ML. Les seuils et fréquences sont choisis selon le risque et la disponibilité des données. Une alerte de performance nécessite un volume suffisant pour ne pas réagir à du bruit. Les actions doivent être réversibles et attribuées.</a:t>
            </a:r>
          </a:p>
          <a:p/>
          <a:p>
            <a:r>
              <a:t>MESSAGE À RETENIR</a:t>
            </a:r>
          </a:p>
          <a:p>
            <a:r>
              <a:t>Mesure + seuil + fréquence + responsable + action.</a:t>
            </a:r>
          </a:p>
          <a:p/>
          <a:p>
            <a:r>
              <a:t>QUESTION DE RELANCE</a:t>
            </a:r>
          </a:p>
          <a:p>
            <a:r>
              <a:t>Qui reçoit une alerte si aucune personne n’est nommée ?</a:t>
            </a:r>
          </a:p>
          <a:p/>
          <a:p>
            <a:r>
              <a:t>RÉPONSE ATTENDUE</a:t>
            </a:r>
          </a:p>
          <a:p>
            <a:r>
              <a:t>Personne de manière fiable : une métrique sans circuit d’escalade reste passive.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J2-078 | Jour 2 | ANNEXE | Séquence ANNEXE</a:t>
            </a:r>
          </a:p>
          <a:p>
            <a:r>
              <a:t>Modalité : Ressource. Budget de la séquence complète : 0 min (ne pas additionner ce temps à chaque diapositive).</a:t>
            </a:r>
          </a:p>
          <a:p/>
          <a:p>
            <a:r>
              <a:t>OBJECTIF</a:t>
            </a:r>
          </a:p>
          <a:p>
            <a:r>
              <a:t>Glossaire pratique des termes rencontrés</a:t>
            </a:r>
          </a:p>
          <a:p/>
          <a:p>
            <a:r>
              <a:t>DÉVELOPPEMENT ET CONSIGNES FORMATEUR</a:t>
            </a:r>
          </a:p>
          <a:p>
            <a:r>
              <a:t>La liste complète figure dans le cahier. Faire traduire chaque terme en une phrase et un exemple métier. Les mots anglais sont conservés lorsqu’ils apparaissent dans les outils, avec définition française. Le but est de communiquer avec les équipes techniques sans se laisser impressionner par les acronymes. Une personne peut comprendre la décision sans écrire l’implémentation.</a:t>
            </a:r>
          </a:p>
          <a:p/>
          <a:p>
            <a:r>
              <a:t>MESSAGE À RETENIR</a:t>
            </a:r>
          </a:p>
          <a:p>
            <a:r>
              <a:t>Comprendre le terme, son rôle et sa limite.</a:t>
            </a:r>
          </a:p>
          <a:p/>
          <a:p>
            <a:r>
              <a:t>QUESTION DE RELANCE</a:t>
            </a:r>
          </a:p>
          <a:p>
            <a:r>
              <a:t>Quel terme utiliseriez-vous pour expliquer le système à un collègue non technique ?</a:t>
            </a:r>
          </a:p>
          <a:p/>
          <a:p>
            <a:r>
              <a:t>RÉPONSE ATTENDUE</a:t>
            </a:r>
          </a:p>
          <a:p>
            <a:r>
              <a:t>Un vocabulaire concret : données, estimation, règle, action, responsabilité et mesure.</a:t>
            </a:r>
          </a:p>
          <a:p/>
          <a:p>
            <a:r>
              <a:t>SOURCES</a:t>
            </a:r>
          </a:p>
          <a:p>
            <a:r>
              <a:t>[S02] scikit-learn : guide utilisateur</a:t>
            </a:r>
          </a:p>
          <a:p>
            <a:r>
              <a:t>https://scikit-learn.org/stable/user_guide.html</a:t>
            </a:r>
          </a:p>
          <a:p>
            <a:r>
              <a:t>Documentation technique ; environnement du TP épinglé séparément.</a:t>
            </a:r>
          </a:p>
          <a:p>
            <a:r>
              <a:t>[S25] Projet Jupyter : documentation</a:t>
            </a:r>
          </a:p>
          <a:p>
            <a:r>
              <a:t>https://docs.jupyter.org/en/latest/</a:t>
            </a:r>
          </a:p>
          <a:p>
            <a:r>
              <a:t>Notebooks interactifs.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J2-079 | Jour 2 | ANNEXE | Séquence ANNEXE</a:t>
            </a:r>
          </a:p>
          <a:p>
            <a:r>
              <a:t>Modalité : Ressource. Budget de la séquence complète : 0 min (ne pas additionner ce temps à chaque diapositive).</a:t>
            </a:r>
          </a:p>
          <a:p/>
          <a:p>
            <a:r>
              <a:t>OBJECTIF</a:t>
            </a:r>
          </a:p>
          <a:p>
            <a:r>
              <a:t>Références et approfondissements 1</a:t>
            </a:r>
          </a:p>
          <a:p/>
          <a:p>
            <a:r>
              <a:t>DÉVELOPPEMENT ET CONSIGNES FORMATEUR</a:t>
            </a:r>
          </a:p>
          <a:p>
            <a:r>
              <a:t>Les identifiants de source présents dans les pieds de page renvoient à ces références. Les URL complètes, les dates et le statut des preuves sont également réunis dans la bibliographie jointe. Les résultats Novalia sont des calculs sur une simulation. Les pages de réglementation ont été vérifiées au 14 septembre 2026 et doivent être relues avant toute nouvelle session.</a:t>
            </a:r>
          </a:p>
          <a:p/>
          <a:p>
            <a:r>
              <a:t>MESSAGE À RETENIR</a:t>
            </a:r>
          </a:p>
          <a:p>
            <a:r>
              <a:t>Bibliographie complète et statut des preuves dans les annexes du kit.</a:t>
            </a:r>
          </a:p>
          <a:p/>
          <a:p>
            <a:r>
              <a:t>SOURCES</a:t>
            </a:r>
          </a:p>
          <a:p>
            <a:r>
              <a:t>[S02] scikit-learn : guide utilisateur</a:t>
            </a:r>
          </a:p>
          <a:p>
            <a:r>
              <a:t>https://scikit-learn.org/stable/user_guide.html</a:t>
            </a:r>
          </a:p>
          <a:p>
            <a:r>
              <a:t>Documentation technique ; environnement du TP épinglé séparément.</a:t>
            </a:r>
          </a:p>
          <a:p>
            <a:r>
              <a:t>[S03] scikit-learn : pièges et fuites de données</a:t>
            </a:r>
          </a:p>
          <a:p>
            <a:r>
              <a:t>https://scikit-learn.org/1.8/common_pitfalls.html</a:t>
            </a:r>
          </a:p>
          <a:p>
            <a:r>
              <a:t>Documentation primaire.</a:t>
            </a:r>
          </a:p>
          <a:p>
            <a:r>
              <a:t>[S04] scikit-learn : métriques et scores</a:t>
            </a:r>
          </a:p>
          <a:p>
            <a:r>
              <a:t>https://scikit-learn.org/stable/modules/model_evaluation.html</a:t>
            </a:r>
          </a:p>
          <a:p>
            <a:r>
              <a:t>Documentation primaire.</a:t>
            </a:r>
          </a:p>
          <a:p>
            <a:r>
              <a:t>[S05] LeCun, Bengio et Hinton : apprentissage profond</a:t>
            </a:r>
          </a:p>
          <a:p>
            <a:r>
              <a:t>https://www.nature.com/articles/nature14539</a:t>
            </a:r>
          </a:p>
          <a:p>
            <a:r>
              <a:t>Article de synthèse scientifique, Nature.</a:t>
            </a:r>
          </a:p>
          <a:p>
            <a:r>
              <a:t>[S06] Vaswani et al. : Attention Is All You Need</a:t>
            </a:r>
          </a:p>
          <a:p>
            <a:r>
              <a:t>https://arxiv.org/abs/1706.03762</a:t>
            </a:r>
          </a:p>
          <a:p>
            <a:r>
              <a:t>Article scientifique fondateur des Transformers.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J2-080 | Jour 2 | ANNEXE | Séquence ANNEXE</a:t>
            </a:r>
          </a:p>
          <a:p>
            <a:r>
              <a:t>Modalité : Ressource. Budget de la séquence complète : 0 min (ne pas additionner ce temps à chaque diapositive).</a:t>
            </a:r>
          </a:p>
          <a:p/>
          <a:p>
            <a:r>
              <a:t>OBJECTIF</a:t>
            </a:r>
          </a:p>
          <a:p>
            <a:r>
              <a:t>Références et approfondissements 2</a:t>
            </a:r>
          </a:p>
          <a:p/>
          <a:p>
            <a:r>
              <a:t>DÉVELOPPEMENT ET CONSIGNES FORMATEUR</a:t>
            </a:r>
          </a:p>
          <a:p>
            <a:r>
              <a:t>Les identifiants de source présents dans les pieds de page renvoient à ces références. Les URL complètes, les dates et le statut des preuves sont également réunis dans la bibliographie jointe. Les résultats Novalia sont des calculs sur une simulation. Les pages de réglementation ont été vérifiées au 14 septembre 2026 et doivent être relues avant toute nouvelle session.</a:t>
            </a:r>
          </a:p>
          <a:p/>
          <a:p>
            <a:r>
              <a:t>MESSAGE À RETENIR</a:t>
            </a:r>
          </a:p>
          <a:p>
            <a:r>
              <a:t>Bibliographie complète et statut des preuves dans les annexes du kit.</a:t>
            </a:r>
          </a:p>
          <a:p/>
          <a:p>
            <a:r>
              <a:t>SOURCES</a:t>
            </a:r>
          </a:p>
          <a:p>
            <a:r>
              <a:t>[S07] Gomez-Uribe et Hunt : le système de recommandation Netflix</a:t>
            </a:r>
          </a:p>
          <a:p>
            <a:r>
              <a:t>https://doi.org/10.1145/2843948</a:t>
            </a:r>
          </a:p>
          <a:p>
            <a:r>
              <a:t>Article de chercheurs Netflix ; contexte historique.</a:t>
            </a:r>
          </a:p>
          <a:p>
            <a:r>
              <a:t>[S08] Cheng et al. : Wide &amp; Deep pour la recommandation</a:t>
            </a:r>
          </a:p>
          <a:p>
            <a:r>
              <a:t>https://research.google/pubs/wide-deep-learning-for-recommender-systems/</a:t>
            </a:r>
          </a:p>
          <a:p>
            <a:r>
              <a:t>Publication Google Research ; résultats historiques.</a:t>
            </a:r>
          </a:p>
          <a:p>
            <a:r>
              <a:t>[S12] UPS : initiatives IA et jumeau numérique</a:t>
            </a:r>
          </a:p>
          <a:p>
            <a:r>
              <a:t>https://about.ups.com/us/en/newsroom/press-releases/innovation-driven/proof-over-promises--ups-s-bold-ai-initiatives-enhance-products-.html</a:t>
            </a:r>
          </a:p>
          <a:p>
            <a:r>
              <a:t>Communiqué de l’entreprise ; déclarations et déploiements annoncés.</a:t>
            </a:r>
          </a:p>
          <a:p>
            <a:r>
              <a:t>[S14] John Deere : documentation des API et OAuth 2</a:t>
            </a:r>
          </a:p>
          <a:p>
            <a:r>
              <a:t>https://developer.deere.com/dev-docs/customer-linkage</a:t>
            </a:r>
          </a:p>
          <a:p>
            <a:r>
              <a:t>Documentation officielle, micro-cas de contrôle d’accès.</a:t>
            </a:r>
          </a:p>
          <a:p>
            <a:r>
              <a:t>[S15] CNIL : fiches pratiques IA</a:t>
            </a:r>
          </a:p>
          <a:p>
            <a:r>
              <a:t>https://www.cnil.fr/fr/les-fiches-pratiques-ia</a:t>
            </a:r>
          </a:p>
          <a:p>
            <a:r>
              <a:t>Cadre RGPD, finalité, minimisation, droits et sécurité.</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J2-081 | Jour 2 | ANNEXE | Séquence ANNEXE</a:t>
            </a:r>
          </a:p>
          <a:p>
            <a:r>
              <a:t>Modalité : Ressource. Budget de la séquence complète : 0 min (ne pas additionner ce temps à chaque diapositive).</a:t>
            </a:r>
          </a:p>
          <a:p/>
          <a:p>
            <a:r>
              <a:t>OBJECTIF</a:t>
            </a:r>
          </a:p>
          <a:p>
            <a:r>
              <a:t>Références et approfondissements 3</a:t>
            </a:r>
          </a:p>
          <a:p/>
          <a:p>
            <a:r>
              <a:t>DÉVELOPPEMENT ET CONSIGNES FORMATEUR</a:t>
            </a:r>
          </a:p>
          <a:p>
            <a:r>
              <a:t>Les identifiants de source présents dans les pieds de page renvoient à ces références. Les URL complètes, les dates et le statut des preuves sont également réunis dans la bibliographie jointe. Les résultats Novalia sont des calculs sur une simulation. Les pages de réglementation ont été vérifiées au 14 septembre 2026 et doivent être relues avant toute nouvelle session.</a:t>
            </a:r>
          </a:p>
          <a:p/>
          <a:p>
            <a:r>
              <a:t>MESSAGE À RETENIR</a:t>
            </a:r>
          </a:p>
          <a:p>
            <a:r>
              <a:t>Bibliographie complète et statut des preuves dans les annexes du kit.</a:t>
            </a:r>
          </a:p>
          <a:p/>
          <a:p>
            <a:r>
              <a:t>SOURCES</a:t>
            </a:r>
          </a:p>
          <a:p>
            <a:r>
              <a:t>[S16] ANSSI : sécurité d’un système d’IA générative</a:t>
            </a:r>
          </a:p>
          <a:p>
            <a:r>
              <a:t>https://messervices.cyber.gouv.fr/guides/recommandations-de-securite-pour-un-systeme-dia-generative</a:t>
            </a:r>
          </a:p>
          <a:p>
            <a:r>
              <a:t>Recommandations de sécurité ; ne couvrent pas toutes les questions juridiques.</a:t>
            </a:r>
          </a:p>
          <a:p>
            <a:r>
              <a:t>[S20] Commission européenne : calendrier d’application IA</a:t>
            </a:r>
          </a:p>
          <a:p>
            <a:r>
              <a:t>https://ai-act-service-desk.ec.europa.eu/en/ai-act/eu-ai-act-implementation-timeline</a:t>
            </a:r>
          </a:p>
          <a:p>
            <a:r>
              <a:t>Calendrier officiel intégrant les modifications de 2026.</a:t>
            </a:r>
          </a:p>
          <a:p>
            <a:r>
              <a:t>[S22] Commission européenne : règlement sur les données</a:t>
            </a:r>
          </a:p>
          <a:p>
            <a:r>
              <a:t>https://digital-strategy.ec.europa.eu/en/policies/data-act</a:t>
            </a:r>
          </a:p>
          <a:p>
            <a:r>
              <a:t>Data Act ; champ d’application et dispositions à vérifier par cas.</a:t>
            </a:r>
          </a:p>
          <a:p>
            <a:r>
              <a:t>[S23] Commission européenne : gouvernance des données</a:t>
            </a:r>
          </a:p>
          <a:p>
            <a:r>
              <a:t>https://digital-strategy.ec.europa.eu/en/policies/data-governance-act</a:t>
            </a:r>
          </a:p>
          <a:p>
            <a:r>
              <a:t>Data Governance Act ; complément, non substitut au RGPD.</a:t>
            </a:r>
          </a:p>
          <a:p>
            <a:r>
              <a:t>[S24] IETF : cadre d’autorisation OAuth 2.0</a:t>
            </a:r>
          </a:p>
          <a:p>
            <a:r>
              <a:t>https://www.rfc-editor.org/rfc/rfc6749</a:t>
            </a:r>
          </a:p>
          <a:p>
            <a:r>
              <a:t>Cadre d’autorisation, à distinguer d’un protocole d’authentification utilisateur.</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J2-082 | Jour 2 | ANNEXE | Séquence ANNEXE</a:t>
            </a:r>
          </a:p>
          <a:p>
            <a:r>
              <a:t>Modalité : Ressource. Budget de la séquence complète : 0 min (ne pas additionner ce temps à chaque diapositive).</a:t>
            </a:r>
          </a:p>
          <a:p/>
          <a:p>
            <a:r>
              <a:t>OBJECTIF</a:t>
            </a:r>
          </a:p>
          <a:p>
            <a:r>
              <a:t>Références et approfondissements 4</a:t>
            </a:r>
          </a:p>
          <a:p/>
          <a:p>
            <a:r>
              <a:t>DÉVELOPPEMENT ET CONSIGNES FORMATEUR</a:t>
            </a:r>
          </a:p>
          <a:p>
            <a:r>
              <a:t>Les identifiants de source présents dans les pieds de page renvoient à ces références. Les URL complètes, les dates et le statut des preuves sont également réunis dans la bibliographie jointe. Les résultats Novalia sont des calculs sur une simulation. Les pages de réglementation ont été vérifiées au 14 septembre 2026 et doivent être relues avant toute nouvelle session.</a:t>
            </a:r>
          </a:p>
          <a:p/>
          <a:p>
            <a:r>
              <a:t>MESSAGE À RETENIR</a:t>
            </a:r>
          </a:p>
          <a:p>
            <a:r>
              <a:t>Bibliographie complète et statut des preuves dans les annexes du kit.</a:t>
            </a:r>
          </a:p>
          <a:p/>
          <a:p>
            <a:r>
              <a:t>SOURCES</a:t>
            </a:r>
          </a:p>
          <a:p>
            <a:r>
              <a:t>[S25] Projet Jupyter : documentation</a:t>
            </a:r>
          </a:p>
          <a:p>
            <a:r>
              <a:t>https://docs.jupyter.org/en/latest/</a:t>
            </a:r>
          </a:p>
          <a:p>
            <a:r>
              <a:t>Notebooks interactifs.</a:t>
            </a:r>
          </a:p>
          <a:p>
            <a:r>
              <a:t>[S26] Microsoft : scripts Python dans Power BI Desktop</a:t>
            </a:r>
          </a:p>
          <a:p>
            <a:r>
              <a:t>https://learn.microsoft.com/fr-fr/power-bi/connect-data/desktop-python-scripts</a:t>
            </a:r>
          </a:p>
          <a:p>
            <a:r>
              <a:t>Documentation officielle ; interface non exécutée dans ce livrable.</a:t>
            </a:r>
          </a:p>
          <a:p>
            <a:r>
              <a:t>[S28] Sculley et al. : dette technique des systèmes ML</a:t>
            </a:r>
          </a:p>
          <a:p>
            <a:r>
              <a:t>https://research.google/pubs/hidden-technical-debt-in-machine-learning-systems/</a:t>
            </a:r>
          </a:p>
          <a:p>
            <a:r>
              <a:t>Article scientifique sur l’industrialisation.</a:t>
            </a:r>
          </a:p>
          <a:p>
            <a:r>
              <a:t>[S29] scikit-learn : validation croisée</a:t>
            </a:r>
          </a:p>
          <a:p>
            <a:r>
              <a:t>https://scikit-learn.org/stable/modules/cross_validation.html</a:t>
            </a:r>
          </a:p>
          <a:p>
            <a:r>
              <a:t>Séparation adaptée aux données et dépendances.</a:t>
            </a:r>
          </a:p>
          <a:p>
            <a:r>
              <a:t>[S30] scikit-learn : choix du seuil de décision</a:t>
            </a:r>
          </a:p>
          <a:p>
            <a:r>
              <a:t>https://scikit-learn.org/stable/modules/classification_threshold.html</a:t>
            </a:r>
          </a:p>
          <a:p>
            <a:r>
              <a:t>Séparer score, seuil et validation de la politique.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J2-083 | Jour 2 | ANNEXE | Séquence ANNEXE</a:t>
            </a:r>
          </a:p>
          <a:p>
            <a:r>
              <a:t>Modalité : Ressource. Budget de la séquence complète : 0 min (ne pas additionner ce temps à chaque diapositive).</a:t>
            </a:r>
          </a:p>
          <a:p/>
          <a:p>
            <a:r>
              <a:t>OBJECTIF</a:t>
            </a:r>
          </a:p>
          <a:p>
            <a:r>
              <a:t>Références et approfondissements 5</a:t>
            </a:r>
          </a:p>
          <a:p/>
          <a:p>
            <a:r>
              <a:t>DÉVELOPPEMENT ET CONSIGNES FORMATEUR</a:t>
            </a:r>
          </a:p>
          <a:p>
            <a:r>
              <a:t>Les identifiants de source présents dans les pieds de page renvoient à ces références. Les URL complètes, les dates et le statut des preuves sont également réunis dans la bibliographie jointe. Les résultats Novalia sont des calculs sur une simulation. Les pages de réglementation ont été vérifiées au 14 septembre 2026 et doivent être relues avant toute nouvelle session.</a:t>
            </a:r>
          </a:p>
          <a:p/>
          <a:p>
            <a:r>
              <a:t>MESSAGE À RETENIR</a:t>
            </a:r>
          </a:p>
          <a:p>
            <a:r>
              <a:t>Bibliographie complète et statut des preuves dans les annexes du kit.</a:t>
            </a:r>
          </a:p>
          <a:p/>
          <a:p>
            <a:r>
              <a:t>SOURCES</a:t>
            </a:r>
          </a:p>
          <a:p>
            <a:r>
              <a:t>[P01] Calculs reproductibles du TP Novalia</a:t>
            </a:r>
          </a:p>
          <a:p>
            <a:r>
              <a:t>travaux_pratiques/resultats_reference.json</a:t>
            </a:r>
          </a:p>
          <a:p>
            <a:r>
              <a:t>Simulation synthétique ; graine 4020 ; aucune performance réelle d’entreprise.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cikit-learn.org/stable/user_guide.html" TargetMode="External"/><Relationship Id="rId3" Type="http://schemas.openxmlformats.org/officeDocument/2006/relationships/hyperlink" Target="https://scikit-learn.org/1.8/common_pitfalls.html" TargetMode="External"/><Relationship Id="rId4" Type="http://schemas.openxmlformats.org/officeDocument/2006/relationships/hyperlink" Target="https://scikit-learn.org/stable/modules/model_evaluation.html" TargetMode="External"/><Relationship Id="rId5" Type="http://schemas.openxmlformats.org/officeDocument/2006/relationships/hyperlink" Target="https://www.nature.com/articles/nature14539" TargetMode="External"/><Relationship Id="rId6" Type="http://schemas.openxmlformats.org/officeDocument/2006/relationships/hyperlink" Target="https://arxiv.org/abs/1706.03762" TargetMode="External"/><Relationship Id="rId7"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45/2843948" TargetMode="External"/><Relationship Id="rId3" Type="http://schemas.openxmlformats.org/officeDocument/2006/relationships/hyperlink" Target="https://research.google/pubs/wide-deep-learning-for-recommender-systems/" TargetMode="External"/><Relationship Id="rId4" Type="http://schemas.openxmlformats.org/officeDocument/2006/relationships/hyperlink" Target="https://about.ups.com/us/en/newsroom/press-releases/innovation-driven/proof-over-promises--ups-s-bold-ai-initiatives-enhance-products-.html" TargetMode="External"/><Relationship Id="rId5" Type="http://schemas.openxmlformats.org/officeDocument/2006/relationships/hyperlink" Target="https://developer.deere.com/dev-docs/customer-linkage" TargetMode="External"/><Relationship Id="rId6" Type="http://schemas.openxmlformats.org/officeDocument/2006/relationships/hyperlink" Target="https://www.cnil.fr/fr/les-fiches-pratiques-ia" TargetMode="External"/><Relationship Id="rId7"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esservices.cyber.gouv.fr/guides/recommandations-de-securite-pour-un-systeme-dia-generative" TargetMode="External"/><Relationship Id="rId3" Type="http://schemas.openxmlformats.org/officeDocument/2006/relationships/hyperlink" Target="https://ai-act-service-desk.ec.europa.eu/en/ai-act/eu-ai-act-implementation-timeline" TargetMode="External"/><Relationship Id="rId4" Type="http://schemas.openxmlformats.org/officeDocument/2006/relationships/hyperlink" Target="https://digital-strategy.ec.europa.eu/en/policies/data-act" TargetMode="External"/><Relationship Id="rId5" Type="http://schemas.openxmlformats.org/officeDocument/2006/relationships/hyperlink" Target="https://digital-strategy.ec.europa.eu/en/policies/data-governance-act" TargetMode="External"/><Relationship Id="rId6" Type="http://schemas.openxmlformats.org/officeDocument/2006/relationships/hyperlink" Target="https://www.rfc-editor.org/rfc/rfc6749" TargetMode="External"/><Relationship Id="rId7"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jupyter.org/en/latest/" TargetMode="External"/><Relationship Id="rId3" Type="http://schemas.openxmlformats.org/officeDocument/2006/relationships/hyperlink" Target="https://learn.microsoft.com/fr-fr/power-bi/connect-data/desktop-python-scripts" TargetMode="External"/><Relationship Id="rId4" Type="http://schemas.openxmlformats.org/officeDocument/2006/relationships/hyperlink" Target="https://research.google/pubs/hidden-technical-debt-in-machine-learning-systems/" TargetMode="External"/><Relationship Id="rId5" Type="http://schemas.openxmlformats.org/officeDocument/2006/relationships/hyperlink" Target="https://scikit-learn.org/stable/modules/cross_validation.html" TargetMode="External"/><Relationship Id="rId6" Type="http://schemas.openxmlformats.org/officeDocument/2006/relationships/hyperlink" Target="https://scikit-learn.org/stable/modules/classification_threshold.html" TargetMode="External"/><Relationship Id="rId7"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443"/>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9144000" cy="320040"/>
          </a:xfrm>
          <a:prstGeom prst="rect">
            <a:avLst/>
          </a:prstGeom>
          <a:noFill/>
        </p:spPr>
        <p:txBody>
          <a:bodyPr wrap="square" lIns="22860" rIns="22860" tIns="22860" bIns="22860" anchor="ctr">
            <a:spAutoFit/>
          </a:bodyPr>
          <a:lstStyle/>
          <a:p>
            <a:pPr>
              <a:spcBef>
                <a:spcPts val="0"/>
              </a:spcBef>
              <a:spcAft>
                <a:spcPts val="300"/>
              </a:spcAft>
              <a:defRPr sz="1300" b="1">
                <a:solidFill>
                  <a:srgbClr val="FFFFFF"/>
                </a:solidFill>
                <a:latin typeface="Liberation Sans"/>
              </a:defRPr>
            </a:pPr>
            <a:r>
              <a:t>P2ENJOY  /  FORMATION 4-020</a:t>
            </a:r>
          </a:p>
        </p:txBody>
      </p:sp>
      <p:sp>
        <p:nvSpPr>
          <p:cNvPr id="4" name="TextBox 3"/>
          <p:cNvSpPr txBox="1"/>
          <p:nvPr/>
        </p:nvSpPr>
        <p:spPr>
          <a:xfrm>
            <a:off x="594360" y="1280160"/>
            <a:ext cx="7315200" cy="493776"/>
          </a:xfrm>
          <a:prstGeom prst="rect">
            <a:avLst/>
          </a:prstGeom>
          <a:noFill/>
        </p:spPr>
        <p:txBody>
          <a:bodyPr wrap="square" lIns="22860" rIns="22860" tIns="22860" bIns="22860" anchor="ctr">
            <a:spAutoFit/>
          </a:bodyPr>
          <a:lstStyle/>
          <a:p>
            <a:pPr>
              <a:spcBef>
                <a:spcPts val="0"/>
              </a:spcBef>
              <a:spcAft>
                <a:spcPts val="300"/>
              </a:spcAft>
              <a:defRPr sz="2000" b="1">
                <a:solidFill>
                  <a:srgbClr val="D9CF4A"/>
                </a:solidFill>
                <a:latin typeface="Liberation Sans"/>
              </a:defRPr>
            </a:pPr>
            <a:r>
              <a:t>JOUR 2</a:t>
            </a:r>
          </a:p>
        </p:txBody>
      </p:sp>
      <p:sp>
        <p:nvSpPr>
          <p:cNvPr id="5" name="TextBox 4"/>
          <p:cNvSpPr txBox="1"/>
          <p:nvPr/>
        </p:nvSpPr>
        <p:spPr>
          <a:xfrm>
            <a:off x="594360" y="1847088"/>
            <a:ext cx="8869680" cy="2011680"/>
          </a:xfrm>
          <a:prstGeom prst="rect">
            <a:avLst/>
          </a:prstGeom>
          <a:noFill/>
        </p:spPr>
        <p:txBody>
          <a:bodyPr wrap="square" lIns="22860" rIns="22860" tIns="22860" bIns="22860" anchor="ctr">
            <a:spAutoFit/>
          </a:bodyPr>
          <a:lstStyle/>
          <a:p>
            <a:pPr>
              <a:spcBef>
                <a:spcPts val="0"/>
              </a:spcBef>
              <a:spcAft>
                <a:spcPts val="300"/>
              </a:spcAft>
              <a:defRPr sz="4300" b="1">
                <a:solidFill>
                  <a:srgbClr val="FFFFFF"/>
                </a:solidFill>
                <a:latin typeface="Liberation Sans"/>
              </a:defRPr>
            </a:pPr>
            <a:r>
              <a:t>De la prédiction</a:t>
            </a:r>
          </a:p>
          <a:p>
            <a:pPr>
              <a:spcBef>
                <a:spcPts val="0"/>
              </a:spcBef>
              <a:spcAft>
                <a:spcPts val="300"/>
              </a:spcAft>
              <a:defRPr sz="4300" b="1">
                <a:solidFill>
                  <a:srgbClr val="FFFFFF"/>
                </a:solidFill>
                <a:latin typeface="Liberation Sans"/>
              </a:defRPr>
            </a:pPr>
            <a:r>
              <a:t>à un SI opérationnel</a:t>
            </a:r>
          </a:p>
        </p:txBody>
      </p:sp>
      <p:sp>
        <p:nvSpPr>
          <p:cNvPr id="6" name="TextBox 5"/>
          <p:cNvSpPr txBox="1"/>
          <p:nvPr/>
        </p:nvSpPr>
        <p:spPr>
          <a:xfrm>
            <a:off x="594360" y="4041648"/>
            <a:ext cx="9144000" cy="594360"/>
          </a:xfrm>
          <a:prstGeom prst="rect">
            <a:avLst/>
          </a:prstGeom>
          <a:noFill/>
        </p:spPr>
        <p:txBody>
          <a:bodyPr wrap="square" lIns="22860" rIns="22860" tIns="22860" bIns="22860" anchor="ctr">
            <a:spAutoFit/>
          </a:bodyPr>
          <a:lstStyle/>
          <a:p>
            <a:pPr>
              <a:spcBef>
                <a:spcPts val="0"/>
              </a:spcBef>
              <a:spcAft>
                <a:spcPts val="300"/>
              </a:spcAft>
              <a:defRPr sz="2500" b="0">
                <a:solidFill>
                  <a:srgbClr val="FFFFFF"/>
                </a:solidFill>
                <a:latin typeface="Liberation Sans"/>
              </a:defRPr>
            </a:pPr>
            <a:r>
              <a:t>Manipuler, mesurer, intégrer</a:t>
            </a:r>
          </a:p>
        </p:txBody>
      </p:sp>
      <p:sp>
        <p:nvSpPr>
          <p:cNvPr id="7" name="TextBox 6"/>
          <p:cNvSpPr txBox="1"/>
          <p:nvPr/>
        </p:nvSpPr>
        <p:spPr>
          <a:xfrm>
            <a:off x="594360" y="5010912"/>
            <a:ext cx="9875520" cy="640080"/>
          </a:xfrm>
          <a:prstGeom prst="rect">
            <a:avLst/>
          </a:prstGeom>
          <a:noFill/>
        </p:spPr>
        <p:txBody>
          <a:bodyPr wrap="square" lIns="22860" rIns="22860" tIns="22860" bIns="22860" anchor="ctr">
            <a:spAutoFit/>
          </a:bodyPr>
          <a:lstStyle/>
          <a:p>
            <a:pPr>
              <a:spcBef>
                <a:spcPts val="0"/>
              </a:spcBef>
              <a:spcAft>
                <a:spcPts val="300"/>
              </a:spcAft>
              <a:defRPr sz="2000" b="0">
                <a:solidFill>
                  <a:srgbClr val="D9CF4A"/>
                </a:solidFill>
                <a:latin typeface="Liberation Sans"/>
              </a:defRPr>
            </a:pPr>
            <a:r>
              <a:t>JOUR 2   ·   Machine Learning • Deep Learning • Ouverture du SI</a:t>
            </a:r>
          </a:p>
        </p:txBody>
      </p:sp>
      <p:sp>
        <p:nvSpPr>
          <p:cNvPr id="8" name="Hexagon 7"/>
          <p:cNvSpPr/>
          <p:nvPr/>
        </p:nvSpPr>
        <p:spPr>
          <a:xfrm>
            <a:off x="10241280" y="1234440"/>
            <a:ext cx="512064" cy="512064"/>
          </a:xfrm>
          <a:prstGeom prst="hexagon">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0497311" y="1490472"/>
            <a:ext cx="411481" cy="1097280"/>
          </a:xfrm>
          <a:prstGeom prst="line">
            <a:avLst/>
          </a:prstGeom>
          <a:ln w="38100">
            <a:solidFill>
              <a:srgbClr val="238C33"/>
            </a:solidFill>
          </a:ln>
        </p:spPr>
        <p:style>
          <a:lnRef idx="2">
            <a:schemeClr val="accent1"/>
          </a:lnRef>
          <a:fillRef idx="0">
            <a:schemeClr val="accent1"/>
          </a:fillRef>
          <a:effectRef idx="1">
            <a:schemeClr val="accent1"/>
          </a:effectRef>
          <a:fontRef idx="minor">
            <a:schemeClr val="tx1"/>
          </a:fontRef>
        </p:style>
      </p:cxnSp>
      <p:sp>
        <p:nvSpPr>
          <p:cNvPr id="10" name="Hexagon 9"/>
          <p:cNvSpPr/>
          <p:nvPr/>
        </p:nvSpPr>
        <p:spPr>
          <a:xfrm>
            <a:off x="10652760" y="2331720"/>
            <a:ext cx="512064" cy="512064"/>
          </a:xfrm>
          <a:prstGeom prst="hexag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H="1">
            <a:off x="10177272" y="2587752"/>
            <a:ext cx="731520" cy="1051560"/>
          </a:xfrm>
          <a:prstGeom prst="line">
            <a:avLst/>
          </a:prstGeom>
          <a:ln w="38100">
            <a:solidFill>
              <a:srgbClr val="238C33"/>
            </a:solidFill>
          </a:ln>
        </p:spPr>
        <p:style>
          <a:lnRef idx="2">
            <a:schemeClr val="accent1"/>
          </a:lnRef>
          <a:fillRef idx="0">
            <a:schemeClr val="accent1"/>
          </a:fillRef>
          <a:effectRef idx="1">
            <a:schemeClr val="accent1"/>
          </a:effectRef>
          <a:fontRef idx="minor">
            <a:schemeClr val="tx1"/>
          </a:fontRef>
        </p:style>
      </p:cxnSp>
      <p:sp>
        <p:nvSpPr>
          <p:cNvPr id="12" name="Hexagon 11"/>
          <p:cNvSpPr/>
          <p:nvPr/>
        </p:nvSpPr>
        <p:spPr>
          <a:xfrm>
            <a:off x="9921240" y="3383280"/>
            <a:ext cx="512064" cy="512064"/>
          </a:xfrm>
          <a:prstGeom prst="hexagon">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10177272" y="3639312"/>
            <a:ext cx="777239" cy="1051560"/>
          </a:xfrm>
          <a:prstGeom prst="line">
            <a:avLst/>
          </a:prstGeom>
          <a:ln w="38100">
            <a:solidFill>
              <a:srgbClr val="238C33"/>
            </a:solidFill>
          </a:ln>
        </p:spPr>
        <p:style>
          <a:lnRef idx="2">
            <a:schemeClr val="accent1"/>
          </a:lnRef>
          <a:fillRef idx="0">
            <a:schemeClr val="accent1"/>
          </a:fillRef>
          <a:effectRef idx="1">
            <a:schemeClr val="accent1"/>
          </a:effectRef>
          <a:fontRef idx="minor">
            <a:schemeClr val="tx1"/>
          </a:fontRef>
        </p:style>
      </p:cxnSp>
      <p:sp>
        <p:nvSpPr>
          <p:cNvPr id="14" name="Hexagon 13"/>
          <p:cNvSpPr/>
          <p:nvPr/>
        </p:nvSpPr>
        <p:spPr>
          <a:xfrm>
            <a:off x="10698480" y="4434840"/>
            <a:ext cx="512064" cy="512064"/>
          </a:xfrm>
          <a:prstGeom prst="hexag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6035040"/>
            <a:ext cx="10789920" cy="320040"/>
          </a:xfrm>
          <a:prstGeom prst="rect">
            <a:avLst/>
          </a:prstGeom>
          <a:noFill/>
        </p:spPr>
        <p:txBody>
          <a:bodyPr wrap="square" lIns="22860" rIns="22860" tIns="22860" bIns="22860" anchor="ctr">
            <a:spAutoFit/>
          </a:bodyPr>
          <a:lstStyle/>
          <a:p>
            <a:pPr>
              <a:spcBef>
                <a:spcPts val="0"/>
              </a:spcBef>
              <a:spcAft>
                <a:spcPts val="300"/>
              </a:spcAft>
              <a:defRPr sz="1400" b="0">
                <a:solidFill>
                  <a:srgbClr val="FFFFFF"/>
                </a:solidFill>
                <a:latin typeface="Liberation Sans"/>
              </a:defRPr>
            </a:pPr>
            <a:r>
              <a:t>Référence 4-020 • 6 heures pédagogiques hors pauses</a:t>
            </a:r>
          </a:p>
        </p:txBody>
      </p:sp>
      <p:sp>
        <p:nvSpPr>
          <p:cNvPr id="16" name="TextBox 15"/>
          <p:cNvSpPr txBox="1"/>
          <p:nvPr/>
        </p:nvSpPr>
        <p:spPr>
          <a:xfrm>
            <a:off x="594360" y="6501384"/>
            <a:ext cx="9144000" cy="201168"/>
          </a:xfrm>
          <a:prstGeom prst="rect">
            <a:avLst/>
          </a:prstGeom>
          <a:noFill/>
        </p:spPr>
        <p:txBody>
          <a:bodyPr wrap="square" lIns="22860" rIns="22860" tIns="22860" bIns="22860" anchor="ctr">
            <a:spAutoFit/>
          </a:bodyPr>
          <a:lstStyle/>
          <a:p>
            <a:pPr>
              <a:spcBef>
                <a:spcPts val="0"/>
              </a:spcBef>
              <a:spcAft>
                <a:spcPts val="300"/>
              </a:spcAft>
              <a:defRPr sz="1300" b="0">
                <a:solidFill>
                  <a:srgbClr val="FFFFFF"/>
                </a:solidFill>
                <a:latin typeface="Liberation Sans"/>
              </a:defRPr>
            </a:pPr>
            <a:r>
              <a:t>https://p2enjoy.studio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ÉVALUATION</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Rappel actif : reconstruire le système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Le vocabulaire de la veille devient un protocole de travail.</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J2-002</a:t>
            </a:r>
          </a:p>
        </p:txBody>
      </p:sp>
      <p:sp>
        <p:nvSpPr>
          <p:cNvPr id="12" name="Oval 11"/>
          <p:cNvSpPr/>
          <p:nvPr/>
        </p:nvSpPr>
        <p:spPr>
          <a:xfrm>
            <a:off x="713232" y="1856231"/>
            <a:ext cx="429768" cy="429768"/>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2376" y="1892807"/>
            <a:ext cx="411480" cy="274320"/>
          </a:xfrm>
          <a:prstGeom prst="rect">
            <a:avLst/>
          </a:prstGeom>
          <a:noFill/>
        </p:spPr>
        <p:txBody>
          <a:bodyPr wrap="square" lIns="22860" rIns="22860" tIns="22860" bIns="22860" anchor="ctr">
            <a:spAutoFit/>
          </a:bodyPr>
          <a:lstStyle/>
          <a:p>
            <a:pPr algn="ctr">
              <a:spcBef>
                <a:spcPts val="0"/>
              </a:spcBef>
              <a:spcAft>
                <a:spcPts val="300"/>
              </a:spcAft>
              <a:defRPr sz="1500" b="1">
                <a:solidFill>
                  <a:srgbClr val="FFFFFF"/>
                </a:solidFill>
                <a:latin typeface="Liberation Sans"/>
              </a:defRPr>
            </a:pPr>
            <a:r>
              <a:t>1</a:t>
            </a:r>
          </a:p>
        </p:txBody>
      </p:sp>
      <p:sp>
        <p:nvSpPr>
          <p:cNvPr id="14" name="TextBox 13"/>
          <p:cNvSpPr txBox="1"/>
          <p:nvPr/>
        </p:nvSpPr>
        <p:spPr>
          <a:xfrm>
            <a:off x="1344168" y="1828800"/>
            <a:ext cx="10131552" cy="809243"/>
          </a:xfrm>
          <a:prstGeom prst="rect">
            <a:avLst/>
          </a:prstGeom>
          <a:noFill/>
        </p:spPr>
        <p:txBody>
          <a:bodyPr wrap="square" lIns="22860" rIns="22860" tIns="22860" bIns="22860" anchor="ctr">
            <a:spAutoFit/>
          </a:bodyPr>
          <a:lstStyle/>
          <a:p>
            <a:pPr>
              <a:spcBef>
                <a:spcPts val="0"/>
              </a:spcBef>
              <a:spcAft>
                <a:spcPts val="300"/>
              </a:spcAft>
              <a:defRPr sz="2500" b="0">
                <a:solidFill>
                  <a:srgbClr val="0D0D0D"/>
                </a:solidFill>
                <a:latin typeface="Liberation Sans"/>
              </a:defRPr>
            </a:pPr>
            <a:r>
              <a:t>Qu’est-ce qui doit exister avant le score ?</a:t>
            </a:r>
          </a:p>
        </p:txBody>
      </p:sp>
      <p:sp>
        <p:nvSpPr>
          <p:cNvPr id="15" name="Oval 14"/>
          <p:cNvSpPr/>
          <p:nvPr/>
        </p:nvSpPr>
        <p:spPr>
          <a:xfrm>
            <a:off x="713232" y="2775203"/>
            <a:ext cx="429768" cy="429768"/>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 y="2811779"/>
            <a:ext cx="411480" cy="274320"/>
          </a:xfrm>
          <a:prstGeom prst="rect">
            <a:avLst/>
          </a:prstGeom>
          <a:noFill/>
        </p:spPr>
        <p:txBody>
          <a:bodyPr wrap="square" lIns="22860" rIns="22860" tIns="22860" bIns="22860" anchor="ctr">
            <a:spAutoFit/>
          </a:bodyPr>
          <a:lstStyle/>
          <a:p>
            <a:pPr algn="ctr">
              <a:spcBef>
                <a:spcPts val="0"/>
              </a:spcBef>
              <a:spcAft>
                <a:spcPts val="300"/>
              </a:spcAft>
              <a:defRPr sz="1500" b="1">
                <a:solidFill>
                  <a:srgbClr val="FFFFFF"/>
                </a:solidFill>
                <a:latin typeface="Liberation Sans"/>
              </a:defRPr>
            </a:pPr>
            <a:r>
              <a:t>2</a:t>
            </a:r>
          </a:p>
        </p:txBody>
      </p:sp>
      <p:sp>
        <p:nvSpPr>
          <p:cNvPr id="17" name="TextBox 16"/>
          <p:cNvSpPr txBox="1"/>
          <p:nvPr/>
        </p:nvSpPr>
        <p:spPr>
          <a:xfrm>
            <a:off x="1344168" y="2747772"/>
            <a:ext cx="10131552" cy="809243"/>
          </a:xfrm>
          <a:prstGeom prst="rect">
            <a:avLst/>
          </a:prstGeom>
          <a:noFill/>
        </p:spPr>
        <p:txBody>
          <a:bodyPr wrap="square" lIns="22860" rIns="22860" tIns="22860" bIns="22860" anchor="ctr">
            <a:spAutoFit/>
          </a:bodyPr>
          <a:lstStyle/>
          <a:p>
            <a:pPr>
              <a:spcBef>
                <a:spcPts val="0"/>
              </a:spcBef>
              <a:spcAft>
                <a:spcPts val="300"/>
              </a:spcAft>
              <a:defRPr sz="2500" b="0">
                <a:solidFill>
                  <a:srgbClr val="0D0D0D"/>
                </a:solidFill>
                <a:latin typeface="Liberation Sans"/>
              </a:defRPr>
            </a:pPr>
            <a:r>
              <a:t>Quelle différence entre entraînement et inférence ?</a:t>
            </a:r>
          </a:p>
        </p:txBody>
      </p:sp>
      <p:sp>
        <p:nvSpPr>
          <p:cNvPr id="18" name="Oval 17"/>
          <p:cNvSpPr/>
          <p:nvPr/>
        </p:nvSpPr>
        <p:spPr>
          <a:xfrm>
            <a:off x="713232" y="3694176"/>
            <a:ext cx="429768" cy="429768"/>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376" y="3730752"/>
            <a:ext cx="411480" cy="274320"/>
          </a:xfrm>
          <a:prstGeom prst="rect">
            <a:avLst/>
          </a:prstGeom>
          <a:noFill/>
        </p:spPr>
        <p:txBody>
          <a:bodyPr wrap="square" lIns="22860" rIns="22860" tIns="22860" bIns="22860" anchor="ctr">
            <a:spAutoFit/>
          </a:bodyPr>
          <a:lstStyle/>
          <a:p>
            <a:pPr algn="ctr">
              <a:spcBef>
                <a:spcPts val="0"/>
              </a:spcBef>
              <a:spcAft>
                <a:spcPts val="300"/>
              </a:spcAft>
              <a:defRPr sz="1500" b="1">
                <a:solidFill>
                  <a:srgbClr val="FFFFFF"/>
                </a:solidFill>
                <a:latin typeface="Liberation Sans"/>
              </a:defRPr>
            </a:pPr>
            <a:r>
              <a:t>3</a:t>
            </a:r>
          </a:p>
        </p:txBody>
      </p:sp>
      <p:sp>
        <p:nvSpPr>
          <p:cNvPr id="20" name="TextBox 19"/>
          <p:cNvSpPr txBox="1"/>
          <p:nvPr/>
        </p:nvSpPr>
        <p:spPr>
          <a:xfrm>
            <a:off x="1344168" y="3666744"/>
            <a:ext cx="10131552" cy="809243"/>
          </a:xfrm>
          <a:prstGeom prst="rect">
            <a:avLst/>
          </a:prstGeom>
          <a:noFill/>
        </p:spPr>
        <p:txBody>
          <a:bodyPr wrap="square" lIns="22860" rIns="22860" tIns="22860" bIns="22860" anchor="ctr">
            <a:spAutoFit/>
          </a:bodyPr>
          <a:lstStyle/>
          <a:p>
            <a:pPr>
              <a:spcBef>
                <a:spcPts val="0"/>
              </a:spcBef>
              <a:spcAft>
                <a:spcPts val="300"/>
              </a:spcAft>
              <a:defRPr sz="2500" b="0">
                <a:solidFill>
                  <a:srgbClr val="0D0D0D"/>
                </a:solidFill>
                <a:latin typeface="Liberation Sans"/>
              </a:defRPr>
            </a:pPr>
            <a:r>
              <a:t>Qui approuve le seuil ?</a:t>
            </a:r>
          </a:p>
        </p:txBody>
      </p:sp>
      <p:sp>
        <p:nvSpPr>
          <p:cNvPr id="21" name="Oval 20"/>
          <p:cNvSpPr/>
          <p:nvPr/>
        </p:nvSpPr>
        <p:spPr>
          <a:xfrm>
            <a:off x="713232" y="4613148"/>
            <a:ext cx="429768" cy="429768"/>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6" y="4649724"/>
            <a:ext cx="411480" cy="274320"/>
          </a:xfrm>
          <a:prstGeom prst="rect">
            <a:avLst/>
          </a:prstGeom>
          <a:noFill/>
        </p:spPr>
        <p:txBody>
          <a:bodyPr wrap="square" lIns="22860" rIns="22860" tIns="22860" bIns="22860" anchor="ctr">
            <a:spAutoFit/>
          </a:bodyPr>
          <a:lstStyle/>
          <a:p>
            <a:pPr algn="ctr">
              <a:spcBef>
                <a:spcPts val="0"/>
              </a:spcBef>
              <a:spcAft>
                <a:spcPts val="300"/>
              </a:spcAft>
              <a:defRPr sz="1500" b="1">
                <a:solidFill>
                  <a:srgbClr val="FFFFFF"/>
                </a:solidFill>
                <a:latin typeface="Liberation Sans"/>
              </a:defRPr>
            </a:pPr>
            <a:r>
              <a:t>4</a:t>
            </a:r>
          </a:p>
        </p:txBody>
      </p:sp>
      <p:sp>
        <p:nvSpPr>
          <p:cNvPr id="23" name="TextBox 22"/>
          <p:cNvSpPr txBox="1"/>
          <p:nvPr/>
        </p:nvSpPr>
        <p:spPr>
          <a:xfrm>
            <a:off x="1344168" y="4585716"/>
            <a:ext cx="10131552" cy="809243"/>
          </a:xfrm>
          <a:prstGeom prst="rect">
            <a:avLst/>
          </a:prstGeom>
          <a:noFill/>
        </p:spPr>
        <p:txBody>
          <a:bodyPr wrap="square" lIns="22860" rIns="22860" tIns="22860" bIns="22860" anchor="ctr">
            <a:spAutoFit/>
          </a:bodyPr>
          <a:lstStyle/>
          <a:p>
            <a:pPr>
              <a:spcBef>
                <a:spcPts val="0"/>
              </a:spcBef>
              <a:spcAft>
                <a:spcPts val="300"/>
              </a:spcAft>
              <a:defRPr sz="2500" b="0">
                <a:solidFill>
                  <a:srgbClr val="0D0D0D"/>
                </a:solidFill>
                <a:latin typeface="Liberation Sans"/>
              </a:defRPr>
            </a:pPr>
            <a:r>
              <a:t>Quel indicateur prouve une valeur métier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32443"/>
        </a:solidFill>
        <a:effectLst/>
      </p:bgPr>
    </p:bg>
    <p:spTree>
      <p:nvGrpSpPr>
        <p:cNvPr id="1" name=""/>
        <p:cNvGrpSpPr/>
        <p:nvPr/>
      </p:nvGrpSpPr>
      <p:grpSpPr/>
      <p:sp>
        <p:nvSpPr>
          <p:cNvPr id="2" name="TextBox 1"/>
          <p:cNvSpPr txBox="1"/>
          <p:nvPr/>
        </p:nvSpPr>
        <p:spPr>
          <a:xfrm>
            <a:off x="594360" y="457200"/>
            <a:ext cx="10058400" cy="365760"/>
          </a:xfrm>
          <a:prstGeom prst="rect">
            <a:avLst/>
          </a:prstGeom>
          <a:noFill/>
        </p:spPr>
        <p:txBody>
          <a:bodyPr wrap="square" lIns="22860" rIns="22860" tIns="22860" bIns="22860" anchor="ctr">
            <a:spAutoFit/>
          </a:bodyPr>
          <a:lstStyle/>
          <a:p>
            <a:pPr>
              <a:spcBef>
                <a:spcPts val="0"/>
              </a:spcBef>
              <a:spcAft>
                <a:spcPts val="300"/>
              </a:spcAft>
              <a:defRPr sz="1400" b="1">
                <a:solidFill>
                  <a:srgbClr val="FFFFFF"/>
                </a:solidFill>
                <a:latin typeface="Liberation Sans"/>
              </a:defRPr>
            </a:pPr>
            <a:r>
              <a:t>JOUR 2  /  B4  /  NIVEAU APPLICATION</a:t>
            </a:r>
          </a:p>
        </p:txBody>
      </p:sp>
      <p:sp>
        <p:nvSpPr>
          <p:cNvPr id="3" name="TextBox 2"/>
          <p:cNvSpPr txBox="1"/>
          <p:nvPr/>
        </p:nvSpPr>
        <p:spPr>
          <a:xfrm>
            <a:off x="594360" y="1353312"/>
            <a:ext cx="10607040" cy="1965960"/>
          </a:xfrm>
          <a:prstGeom prst="rect">
            <a:avLst/>
          </a:prstGeom>
          <a:noFill/>
        </p:spPr>
        <p:txBody>
          <a:bodyPr wrap="square" lIns="22860" rIns="22860" tIns="22860" bIns="22860" anchor="ctr">
            <a:spAutoFit/>
          </a:bodyPr>
          <a:lstStyle/>
          <a:p>
            <a:pPr>
              <a:spcBef>
                <a:spcPts val="0"/>
              </a:spcBef>
              <a:spcAft>
                <a:spcPts val="300"/>
              </a:spcAft>
              <a:defRPr sz="4200" b="1">
                <a:solidFill>
                  <a:srgbClr val="FFFFFF"/>
                </a:solidFill>
                <a:latin typeface="Liberation Sans"/>
              </a:defRPr>
            </a:pPr>
            <a:r>
              <a:t>04 • Choisir une méthode à partir du besoin</a:t>
            </a:r>
          </a:p>
        </p:txBody>
      </p:sp>
      <p:sp>
        <p:nvSpPr>
          <p:cNvPr id="4" name="TextBox 3"/>
          <p:cNvSpPr txBox="1"/>
          <p:nvPr/>
        </p:nvSpPr>
        <p:spPr>
          <a:xfrm>
            <a:off x="658368" y="3675887"/>
            <a:ext cx="10789920" cy="457200"/>
          </a:xfrm>
          <a:prstGeom prst="rect">
            <a:avLst/>
          </a:prstGeom>
          <a:noFill/>
        </p:spPr>
        <p:txBody>
          <a:bodyPr wrap="square" lIns="22860" rIns="22860" tIns="22860" bIns="22860" anchor="ctr">
            <a:spAutoFit/>
          </a:bodyPr>
          <a:lstStyle/>
          <a:p>
            <a:pPr>
              <a:spcBef>
                <a:spcPts val="0"/>
              </a:spcBef>
              <a:spcAft>
                <a:spcPts val="300"/>
              </a:spcAft>
              <a:defRPr sz="2400" b="0">
                <a:solidFill>
                  <a:srgbClr val="FFFFFF"/>
                </a:solidFill>
                <a:latin typeface="Liberation Sans"/>
              </a:defRPr>
            </a:pPr>
            <a:r>
              <a:t>01  Prédictions</a:t>
            </a:r>
          </a:p>
        </p:txBody>
      </p:sp>
      <p:sp>
        <p:nvSpPr>
          <p:cNvPr id="5" name="TextBox 4"/>
          <p:cNvSpPr txBox="1"/>
          <p:nvPr/>
        </p:nvSpPr>
        <p:spPr>
          <a:xfrm>
            <a:off x="658368" y="4224527"/>
            <a:ext cx="10789920" cy="457200"/>
          </a:xfrm>
          <a:prstGeom prst="rect">
            <a:avLst/>
          </a:prstGeom>
          <a:noFill/>
        </p:spPr>
        <p:txBody>
          <a:bodyPr wrap="square" lIns="22860" rIns="22860" tIns="22860" bIns="22860" anchor="ctr">
            <a:spAutoFit/>
          </a:bodyPr>
          <a:lstStyle/>
          <a:p>
            <a:pPr>
              <a:spcBef>
                <a:spcPts val="0"/>
              </a:spcBef>
              <a:spcAft>
                <a:spcPts val="300"/>
              </a:spcAft>
              <a:defRPr sz="2400" b="0">
                <a:solidFill>
                  <a:srgbClr val="FFFFFF"/>
                </a:solidFill>
                <a:latin typeface="Liberation Sans"/>
              </a:defRPr>
            </a:pPr>
            <a:r>
              <a:t>02  Recommandations</a:t>
            </a:r>
          </a:p>
        </p:txBody>
      </p:sp>
      <p:sp>
        <p:nvSpPr>
          <p:cNvPr id="6" name="TextBox 5"/>
          <p:cNvSpPr txBox="1"/>
          <p:nvPr/>
        </p:nvSpPr>
        <p:spPr>
          <a:xfrm>
            <a:off x="658368" y="4773168"/>
            <a:ext cx="10789920" cy="457200"/>
          </a:xfrm>
          <a:prstGeom prst="rect">
            <a:avLst/>
          </a:prstGeom>
          <a:noFill/>
        </p:spPr>
        <p:txBody>
          <a:bodyPr wrap="square" lIns="22860" rIns="22860" tIns="22860" bIns="22860" anchor="ctr">
            <a:spAutoFit/>
          </a:bodyPr>
          <a:lstStyle/>
          <a:p>
            <a:pPr>
              <a:spcBef>
                <a:spcPts val="0"/>
              </a:spcBef>
              <a:spcAft>
                <a:spcPts val="300"/>
              </a:spcAft>
              <a:defRPr sz="2400" b="0">
                <a:solidFill>
                  <a:srgbClr val="FFFFFF"/>
                </a:solidFill>
                <a:latin typeface="Liberation Sans"/>
              </a:defRPr>
            </a:pPr>
            <a:r>
              <a:t>03  Personnalisation</a:t>
            </a:r>
          </a:p>
        </p:txBody>
      </p:sp>
      <p:sp>
        <p:nvSpPr>
          <p:cNvPr id="7" name="TextBox 6"/>
          <p:cNvSpPr txBox="1"/>
          <p:nvPr/>
        </p:nvSpPr>
        <p:spPr>
          <a:xfrm>
            <a:off x="594360" y="6080760"/>
            <a:ext cx="10972800" cy="384048"/>
          </a:xfrm>
          <a:prstGeom prst="rect">
            <a:avLst/>
          </a:prstGeom>
          <a:noFill/>
        </p:spPr>
        <p:txBody>
          <a:bodyPr wrap="square" lIns="22860" rIns="22860" tIns="22860" bIns="22860" anchor="ctr">
            <a:spAutoFit/>
          </a:bodyPr>
          <a:lstStyle/>
          <a:p>
            <a:pPr>
              <a:spcBef>
                <a:spcPts val="0"/>
              </a:spcBef>
              <a:spcAft>
                <a:spcPts val="300"/>
              </a:spcAft>
              <a:defRPr sz="1800" b="1">
                <a:solidFill>
                  <a:srgbClr val="D9CF4A"/>
                </a:solidFill>
                <a:latin typeface="Liberation Sans"/>
              </a:defRPr>
            </a:pPr>
            <a:r>
              <a:t>3 heures • 110 minutes de TP • Python, Jupyter et Power BI</a:t>
            </a:r>
          </a:p>
        </p:txBody>
      </p:sp>
      <p:sp>
        <p:nvSpPr>
          <p:cNvPr id="8" name="TextBox 7"/>
          <p:cNvSpPr txBox="1"/>
          <p:nvPr/>
        </p:nvSpPr>
        <p:spPr>
          <a:xfrm>
            <a:off x="594360" y="6556248"/>
            <a:ext cx="9144000" cy="146304"/>
          </a:xfrm>
          <a:prstGeom prst="rect">
            <a:avLst/>
          </a:prstGeom>
          <a:noFill/>
        </p:spPr>
        <p:txBody>
          <a:bodyPr wrap="square" lIns="22860" rIns="22860" tIns="22860" bIns="22860" anchor="ctr">
            <a:spAutoFit/>
          </a:bodyPr>
          <a:lstStyle/>
          <a:p>
            <a:pPr>
              <a:spcBef>
                <a:spcPts val="0"/>
              </a:spcBef>
              <a:spcAft>
                <a:spcPts val="300"/>
              </a:spcAft>
              <a:defRPr sz="1300" b="0">
                <a:solidFill>
                  <a:srgbClr val="FFFFFF"/>
                </a:solidFill>
                <a:latin typeface="Liberation Sans"/>
              </a:defRPr>
            </a:pPr>
            <a:r>
              <a:t>https://p2enjoy.studio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Six décisions avant de choisir un algorithme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Un problème bien formulé rend les choix de modèle discutables et testables.</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J2-004</a:t>
            </a:r>
          </a:p>
        </p:txBody>
      </p:sp>
      <p:sp>
        <p:nvSpPr>
          <p:cNvPr id="12" name="Rounded Rectangle 11"/>
          <p:cNvSpPr/>
          <p:nvPr/>
        </p:nvSpPr>
        <p:spPr>
          <a:xfrm>
            <a:off x="594360" y="1993392"/>
            <a:ext cx="1597151"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01</a:t>
            </a:r>
          </a:p>
        </p:txBody>
      </p:sp>
      <p:sp>
        <p:nvSpPr>
          <p:cNvPr id="15" name="TextBox 14"/>
          <p:cNvSpPr txBox="1"/>
          <p:nvPr/>
        </p:nvSpPr>
        <p:spPr>
          <a:xfrm>
            <a:off x="768096" y="2514600"/>
            <a:ext cx="1249679"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Unité</a:t>
            </a:r>
          </a:p>
        </p:txBody>
      </p:sp>
      <p:sp>
        <p:nvSpPr>
          <p:cNvPr id="16" name="TextBox 15"/>
          <p:cNvSpPr txBox="1"/>
          <p:nvPr/>
        </p:nvSpPr>
        <p:spPr>
          <a:xfrm>
            <a:off x="758952" y="3300984"/>
            <a:ext cx="1267967"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 client actif</a:t>
            </a:r>
          </a:p>
        </p:txBody>
      </p:sp>
      <p:sp>
        <p:nvSpPr>
          <p:cNvPr id="17" name="Chevron 16"/>
          <p:cNvSpPr/>
          <p:nvPr/>
        </p:nvSpPr>
        <p:spPr>
          <a:xfrm>
            <a:off x="2241804"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474975" y="1993392"/>
            <a:ext cx="1597151"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474975"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48711"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02</a:t>
            </a:r>
          </a:p>
        </p:txBody>
      </p:sp>
      <p:sp>
        <p:nvSpPr>
          <p:cNvPr id="21" name="TextBox 20"/>
          <p:cNvSpPr txBox="1"/>
          <p:nvPr/>
        </p:nvSpPr>
        <p:spPr>
          <a:xfrm>
            <a:off x="2648711" y="2514600"/>
            <a:ext cx="1249679"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Cible</a:t>
            </a:r>
          </a:p>
        </p:txBody>
      </p:sp>
      <p:sp>
        <p:nvSpPr>
          <p:cNvPr id="22" name="TextBox 21"/>
          <p:cNvSpPr txBox="1"/>
          <p:nvPr/>
        </p:nvSpPr>
        <p:spPr>
          <a:xfrm>
            <a:off x="2639567" y="3300984"/>
            <a:ext cx="1267967"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Départ oui / non</a:t>
            </a:r>
          </a:p>
        </p:txBody>
      </p:sp>
      <p:sp>
        <p:nvSpPr>
          <p:cNvPr id="23" name="Chevron 22"/>
          <p:cNvSpPr/>
          <p:nvPr/>
        </p:nvSpPr>
        <p:spPr>
          <a:xfrm>
            <a:off x="4122419"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355591" y="1993392"/>
            <a:ext cx="1597151"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55591"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29328"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03</a:t>
            </a:r>
          </a:p>
        </p:txBody>
      </p:sp>
      <p:sp>
        <p:nvSpPr>
          <p:cNvPr id="27" name="TextBox 26"/>
          <p:cNvSpPr txBox="1"/>
          <p:nvPr/>
        </p:nvSpPr>
        <p:spPr>
          <a:xfrm>
            <a:off x="4529328" y="2514600"/>
            <a:ext cx="1249679"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Horizon</a:t>
            </a:r>
          </a:p>
        </p:txBody>
      </p:sp>
      <p:sp>
        <p:nvSpPr>
          <p:cNvPr id="28" name="TextBox 27"/>
          <p:cNvSpPr txBox="1"/>
          <p:nvPr/>
        </p:nvSpPr>
        <p:spPr>
          <a:xfrm>
            <a:off x="4520183" y="3300984"/>
            <a:ext cx="1267967"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Dans 30 jours</a:t>
            </a:r>
          </a:p>
        </p:txBody>
      </p:sp>
      <p:sp>
        <p:nvSpPr>
          <p:cNvPr id="29" name="Chevron 28"/>
          <p:cNvSpPr/>
          <p:nvPr/>
        </p:nvSpPr>
        <p:spPr>
          <a:xfrm>
            <a:off x="6003035"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236207" y="1993392"/>
            <a:ext cx="1597151"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36207"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9943"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04</a:t>
            </a:r>
          </a:p>
        </p:txBody>
      </p:sp>
      <p:sp>
        <p:nvSpPr>
          <p:cNvPr id="33" name="TextBox 32"/>
          <p:cNvSpPr txBox="1"/>
          <p:nvPr/>
        </p:nvSpPr>
        <p:spPr>
          <a:xfrm>
            <a:off x="6409943" y="2514600"/>
            <a:ext cx="1249679"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Entrées</a:t>
            </a:r>
          </a:p>
        </p:txBody>
      </p:sp>
      <p:sp>
        <p:nvSpPr>
          <p:cNvPr id="34" name="TextBox 33"/>
          <p:cNvSpPr txBox="1"/>
          <p:nvPr/>
        </p:nvSpPr>
        <p:spPr>
          <a:xfrm>
            <a:off x="6400799" y="3300984"/>
            <a:ext cx="1267967" cy="1508760"/>
          </a:xfrm>
          <a:prstGeom prst="rect">
            <a:avLst/>
          </a:prstGeom>
          <a:noFill/>
        </p:spPr>
        <p:txBody>
          <a:bodyPr wrap="square" lIns="22860" rIns="22860" tIns="22860" bIns="22860" anchor="t">
            <a:spAutoFit/>
          </a:bodyPr>
          <a:lstStyle/>
          <a:p>
            <a:pPr>
              <a:spcBef>
                <a:spcPts val="0"/>
              </a:spcBef>
              <a:spcAft>
                <a:spcPts val="300"/>
              </a:spcAft>
              <a:defRPr sz="1500" b="0">
                <a:solidFill>
                  <a:srgbClr val="0D0D0D"/>
                </a:solidFill>
                <a:latin typeface="Liberation Sans"/>
              </a:defRPr>
            </a:pPr>
            <a:r>
              <a:t>Disponibles à t₀</a:t>
            </a:r>
          </a:p>
        </p:txBody>
      </p:sp>
      <p:sp>
        <p:nvSpPr>
          <p:cNvPr id="35" name="Chevron 34"/>
          <p:cNvSpPr/>
          <p:nvPr/>
        </p:nvSpPr>
        <p:spPr>
          <a:xfrm>
            <a:off x="7883651"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116823" y="1993392"/>
            <a:ext cx="1597151"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16823"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90559"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05</a:t>
            </a:r>
          </a:p>
        </p:txBody>
      </p:sp>
      <p:sp>
        <p:nvSpPr>
          <p:cNvPr id="39" name="TextBox 38"/>
          <p:cNvSpPr txBox="1"/>
          <p:nvPr/>
        </p:nvSpPr>
        <p:spPr>
          <a:xfrm>
            <a:off x="8290559" y="2514600"/>
            <a:ext cx="1249679"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Action</a:t>
            </a:r>
          </a:p>
        </p:txBody>
      </p:sp>
      <p:sp>
        <p:nvSpPr>
          <p:cNvPr id="40" name="TextBox 39"/>
          <p:cNvSpPr txBox="1"/>
          <p:nvPr/>
        </p:nvSpPr>
        <p:spPr>
          <a:xfrm>
            <a:off x="8281415" y="3300984"/>
            <a:ext cx="1267967"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Contact possible</a:t>
            </a:r>
          </a:p>
        </p:txBody>
      </p:sp>
      <p:sp>
        <p:nvSpPr>
          <p:cNvPr id="41" name="Chevron 40"/>
          <p:cNvSpPr/>
          <p:nvPr/>
        </p:nvSpPr>
        <p:spPr>
          <a:xfrm>
            <a:off x="9764267"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9997439" y="1993392"/>
            <a:ext cx="1597151"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97439"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171175"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06</a:t>
            </a:r>
          </a:p>
        </p:txBody>
      </p:sp>
      <p:sp>
        <p:nvSpPr>
          <p:cNvPr id="45" name="TextBox 44"/>
          <p:cNvSpPr txBox="1"/>
          <p:nvPr/>
        </p:nvSpPr>
        <p:spPr>
          <a:xfrm>
            <a:off x="10171175" y="2514600"/>
            <a:ext cx="1249679"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Mesure</a:t>
            </a:r>
          </a:p>
        </p:txBody>
      </p:sp>
      <p:sp>
        <p:nvSpPr>
          <p:cNvPr id="46" name="TextBox 45"/>
          <p:cNvSpPr txBox="1"/>
          <p:nvPr/>
        </p:nvSpPr>
        <p:spPr>
          <a:xfrm>
            <a:off x="10162031" y="3300984"/>
            <a:ext cx="1267967"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Erreurs et valeur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2950" b="1">
                <a:solidFill>
                  <a:srgbClr val="132443"/>
                </a:solidFill>
                <a:latin typeface="Liberation Sans"/>
              </a:defRPr>
            </a:pPr>
            <a:r>
              <a:t>Régression et classification : deux sorties différentes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Le nom d’un algorithme ne suffit pas à expliquer ce qu’il produit.</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S02 · S04</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J2-005</a:t>
            </a:r>
          </a:p>
        </p:txBody>
      </p:sp>
      <p:sp>
        <p:nvSpPr>
          <p:cNvPr id="12" name="Rounded Rectangle 11"/>
          <p:cNvSpPr/>
          <p:nvPr/>
        </p:nvSpPr>
        <p:spPr>
          <a:xfrm>
            <a:off x="594360" y="1783080"/>
            <a:ext cx="5399531" cy="38862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38862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Régression</a:t>
            </a:r>
          </a:p>
        </p:txBody>
      </p:sp>
      <p:sp>
        <p:nvSpPr>
          <p:cNvPr id="15" name="TextBox 14"/>
          <p:cNvSpPr txBox="1"/>
          <p:nvPr/>
        </p:nvSpPr>
        <p:spPr>
          <a:xfrm>
            <a:off x="758952" y="2459736"/>
            <a:ext cx="5070347" cy="306324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Estimer une quantité.</a:t>
            </a:r>
          </a:p>
          <a:p>
            <a:pPr>
              <a:spcBef>
                <a:spcPts val="0"/>
              </a:spcBef>
              <a:spcAft>
                <a:spcPts val="300"/>
              </a:spcAft>
              <a:defRPr sz="2100" b="0">
                <a:solidFill>
                  <a:srgbClr val="0D0D0D"/>
                </a:solidFill>
                <a:latin typeface="Liberation Sans"/>
              </a:defRPr>
            </a:pPr>
            <a:r>
              <a:t>Exemple : 240 commandes demain.</a:t>
            </a:r>
          </a:p>
          <a:p>
            <a:pPr>
              <a:spcBef>
                <a:spcPts val="0"/>
              </a:spcBef>
              <a:spcAft>
                <a:spcPts val="300"/>
              </a:spcAft>
              <a:defRPr sz="2100" b="0">
                <a:solidFill>
                  <a:srgbClr val="0D0D0D"/>
                </a:solidFill>
                <a:latin typeface="Liberation Sans"/>
              </a:defRPr>
            </a:pPr>
            <a:r>
              <a:t>Erreur : écart au réel.</a:t>
            </a:r>
          </a:p>
        </p:txBody>
      </p:sp>
      <p:sp>
        <p:nvSpPr>
          <p:cNvPr id="16" name="Rounded Rectangle 15"/>
          <p:cNvSpPr/>
          <p:nvPr/>
        </p:nvSpPr>
        <p:spPr>
          <a:xfrm>
            <a:off x="6195059" y="1783080"/>
            <a:ext cx="5399531" cy="38862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38862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Classification</a:t>
            </a:r>
          </a:p>
        </p:txBody>
      </p:sp>
      <p:sp>
        <p:nvSpPr>
          <p:cNvPr id="19" name="TextBox 18"/>
          <p:cNvSpPr txBox="1"/>
          <p:nvPr/>
        </p:nvSpPr>
        <p:spPr>
          <a:xfrm>
            <a:off x="6359651" y="2459736"/>
            <a:ext cx="5070347" cy="306324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Estimer une classe ou un score.</a:t>
            </a:r>
          </a:p>
          <a:p>
            <a:pPr>
              <a:spcBef>
                <a:spcPts val="0"/>
              </a:spcBef>
              <a:spcAft>
                <a:spcPts val="300"/>
              </a:spcAft>
              <a:defRPr sz="2100" b="0">
                <a:solidFill>
                  <a:srgbClr val="0D0D0D"/>
                </a:solidFill>
                <a:latin typeface="Liberation Sans"/>
              </a:defRPr>
            </a:pPr>
            <a:r>
              <a:t>Exemple : risque de départ.</a:t>
            </a:r>
          </a:p>
          <a:p>
            <a:pPr>
              <a:spcBef>
                <a:spcPts val="0"/>
              </a:spcBef>
              <a:spcAft>
                <a:spcPts val="300"/>
              </a:spcAft>
              <a:defRPr sz="2100" b="0">
                <a:solidFill>
                  <a:srgbClr val="0D0D0D"/>
                </a:solidFill>
                <a:latin typeface="Liberation Sans"/>
              </a:defRPr>
            </a:pPr>
            <a:r>
              <a:t>Erreur : faux positif / faux négatif.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050" b="1">
                <a:solidFill>
                  <a:srgbClr val="132443"/>
                </a:solidFill>
                <a:latin typeface="Liberation Sans"/>
              </a:defRPr>
            </a:pPr>
            <a:r>
              <a:t>Une référence simple évite la sophistication gratuite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Toujours comparer à une solution crédible sans sophistication supplémentaire.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S04</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J2-006</a:t>
            </a:r>
          </a:p>
        </p:txBody>
      </p:sp>
      <p:sp>
        <p:nvSpPr>
          <p:cNvPr id="12" name="Rounded Rectangle 11"/>
          <p:cNvSpPr/>
          <p:nvPr/>
        </p:nvSpPr>
        <p:spPr>
          <a:xfrm>
            <a:off x="594360"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Règle actuelle</a:t>
            </a:r>
          </a:p>
        </p:txBody>
      </p:sp>
      <p:sp>
        <p:nvSpPr>
          <p:cNvPr id="15" name="TextBox 14"/>
          <p:cNvSpPr txBox="1"/>
          <p:nvPr/>
        </p:nvSpPr>
        <p:spPr>
          <a:xfrm>
            <a:off x="758952"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La méthode utilisée aujourd’hui.</a:t>
            </a:r>
          </a:p>
        </p:txBody>
      </p:sp>
      <p:sp>
        <p:nvSpPr>
          <p:cNvPr id="16" name="Rounded Rectangle 15"/>
          <p:cNvSpPr/>
          <p:nvPr/>
        </p:nvSpPr>
        <p:spPr>
          <a:xfrm>
            <a:off x="6195059"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Modèle trivial</a:t>
            </a:r>
          </a:p>
        </p:txBody>
      </p:sp>
      <p:sp>
        <p:nvSpPr>
          <p:cNvPr id="19" name="TextBox 18"/>
          <p:cNvSpPr txBox="1"/>
          <p:nvPr/>
        </p:nvSpPr>
        <p:spPr>
          <a:xfrm>
            <a:off x="6359651"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Classe majoritaire ou prévision naïve.</a:t>
            </a:r>
          </a:p>
        </p:txBody>
      </p:sp>
      <p:sp>
        <p:nvSpPr>
          <p:cNvPr id="20" name="Rounded Rectangle 19"/>
          <p:cNvSpPr/>
          <p:nvPr/>
        </p:nvSpPr>
        <p:spPr>
          <a:xfrm>
            <a:off x="594360"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Modèle simple</a:t>
            </a:r>
          </a:p>
        </p:txBody>
      </p:sp>
      <p:sp>
        <p:nvSpPr>
          <p:cNvPr id="23" name="TextBox 22"/>
          <p:cNvSpPr txBox="1"/>
          <p:nvPr/>
        </p:nvSpPr>
        <p:spPr>
          <a:xfrm>
            <a:off x="758952"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Une régression ou un petit arbre.</a:t>
            </a:r>
          </a:p>
        </p:txBody>
      </p:sp>
      <p:sp>
        <p:nvSpPr>
          <p:cNvPr id="24" name="Rounded Rectangle 23"/>
          <p:cNvSpPr/>
          <p:nvPr/>
        </p:nvSpPr>
        <p:spPr>
          <a:xfrm>
            <a:off x="6195059"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Modèle plus riche</a:t>
            </a:r>
          </a:p>
        </p:txBody>
      </p:sp>
      <p:sp>
        <p:nvSpPr>
          <p:cNvPr id="27" name="TextBox 26"/>
          <p:cNvSpPr txBox="1"/>
          <p:nvPr/>
        </p:nvSpPr>
        <p:spPr>
          <a:xfrm>
            <a:off x="6359651"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À retenir seulement s’il apporte une valeur utile.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Régression logistique : un score pour classer</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Le seuil de 0,5 est une convention, pas une décision métier obligatoire.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S02 · S30</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J2-007</a:t>
            </a:r>
          </a:p>
        </p:txBody>
      </p:sp>
      <p:cxnSp>
        <p:nvCxnSpPr>
          <p:cNvPr id="12" name="Connector 11"/>
          <p:cNvCxnSpPr/>
          <p:nvPr/>
        </p:nvCxnSpPr>
        <p:spPr>
          <a:xfrm>
            <a:off x="822960" y="5221224"/>
            <a:ext cx="6858000" cy="0"/>
          </a:xfrm>
          <a:prstGeom prst="line">
            <a:avLst/>
          </a:prstGeom>
          <a:ln w="13970">
            <a:solidFill>
              <a:srgbClr val="58677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22960" y="1901952"/>
            <a:ext cx="0" cy="3319272"/>
          </a:xfrm>
          <a:prstGeom prst="line">
            <a:avLst/>
          </a:prstGeom>
          <a:ln w="13970">
            <a:solidFill>
              <a:srgbClr val="586777"/>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822960" y="5196417"/>
            <a:ext cx="76200" cy="259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899160" y="5193526"/>
            <a:ext cx="76200" cy="289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975360" y="5190301"/>
            <a:ext cx="76200" cy="3225"/>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051560" y="5186705"/>
            <a:ext cx="76200" cy="3596"/>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127760" y="5182696"/>
            <a:ext cx="76200" cy="4009"/>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203960" y="5178227"/>
            <a:ext cx="76200" cy="4469"/>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1280160" y="5173247"/>
            <a:ext cx="76200" cy="498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356360" y="5167699"/>
            <a:ext cx="76200" cy="5548"/>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432560" y="5161522"/>
            <a:ext cx="76200" cy="6177"/>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508760" y="5154647"/>
            <a:ext cx="76200" cy="6875"/>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584960" y="5146998"/>
            <a:ext cx="76200" cy="7649"/>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661160" y="5138493"/>
            <a:ext cx="76200" cy="8505"/>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737360" y="5129040"/>
            <a:ext cx="76200" cy="9453"/>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813560" y="5118542"/>
            <a:ext cx="76200" cy="10498"/>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1889760" y="5106891"/>
            <a:ext cx="76200" cy="1165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965960" y="5093969"/>
            <a:ext cx="76200" cy="12922"/>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042160" y="5079652"/>
            <a:ext cx="76200" cy="14317"/>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118360" y="5063804"/>
            <a:ext cx="76200" cy="15848"/>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2194560" y="5046279"/>
            <a:ext cx="76200" cy="17525"/>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270760" y="5026924"/>
            <a:ext cx="76200" cy="19355"/>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2346960" y="5005573"/>
            <a:ext cx="76200" cy="2135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423160" y="4982056"/>
            <a:ext cx="76200" cy="23517"/>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2499360" y="4956194"/>
            <a:ext cx="76200" cy="25862"/>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2575560" y="4927801"/>
            <a:ext cx="76200" cy="28393"/>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651760" y="4896690"/>
            <a:ext cx="76200" cy="3111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727960" y="4862671"/>
            <a:ext cx="76200" cy="34019"/>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2804160" y="4825557"/>
            <a:ext cx="76200" cy="37114"/>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2880360" y="4785167"/>
            <a:ext cx="76200" cy="4039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2956560" y="4741331"/>
            <a:ext cx="76200" cy="43836"/>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032760" y="4693894"/>
            <a:ext cx="76200" cy="47437"/>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108960" y="4642723"/>
            <a:ext cx="76200" cy="5117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185160" y="4587714"/>
            <a:ext cx="76200" cy="55009"/>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261360" y="4528795"/>
            <a:ext cx="76200" cy="58919"/>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3337560" y="4465938"/>
            <a:ext cx="76199" cy="62857"/>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3413759" y="4399160"/>
            <a:ext cx="76201" cy="66778"/>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489960" y="4328534"/>
            <a:ext cx="76200" cy="70626"/>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3566160" y="4254190"/>
            <a:ext cx="76199" cy="74344"/>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3642359" y="4176320"/>
            <a:ext cx="76201" cy="7787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718560" y="4095182"/>
            <a:ext cx="76200" cy="81138"/>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794760" y="4011095"/>
            <a:ext cx="76200" cy="84087"/>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870960" y="3924442"/>
            <a:ext cx="76200" cy="86653"/>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3947160" y="3835660"/>
            <a:ext cx="76200" cy="88782"/>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4023360" y="3745236"/>
            <a:ext cx="76200" cy="90424"/>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099560" y="3653695"/>
            <a:ext cx="76200" cy="9154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175760" y="3561588"/>
            <a:ext cx="76200" cy="92107"/>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4251960" y="3469480"/>
            <a:ext cx="76200" cy="92108"/>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4328160" y="3377939"/>
            <a:ext cx="76200" cy="9154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404360" y="3287515"/>
            <a:ext cx="76200" cy="90424"/>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4480560" y="3198733"/>
            <a:ext cx="76200" cy="88782"/>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4556760" y="3112080"/>
            <a:ext cx="76200" cy="86653"/>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632960" y="3027993"/>
            <a:ext cx="76200" cy="84087"/>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709160" y="2946855"/>
            <a:ext cx="76200" cy="81138"/>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785360" y="2868985"/>
            <a:ext cx="76200" cy="7787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861560" y="2794641"/>
            <a:ext cx="76200" cy="74344"/>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4937760" y="2724015"/>
            <a:ext cx="76200" cy="70626"/>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5013960" y="2657237"/>
            <a:ext cx="76200" cy="66778"/>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5090160" y="2594380"/>
            <a:ext cx="76200" cy="62857"/>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5166360" y="2535461"/>
            <a:ext cx="76200" cy="58919"/>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5242560" y="2480452"/>
            <a:ext cx="76200" cy="55009"/>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5318760" y="2429281"/>
            <a:ext cx="76200" cy="5117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5394960" y="2381844"/>
            <a:ext cx="76200" cy="47437"/>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5471160" y="2338008"/>
            <a:ext cx="76200" cy="43836"/>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5547360" y="2297618"/>
            <a:ext cx="76200" cy="4039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5623560" y="2260504"/>
            <a:ext cx="76200" cy="37114"/>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5699760" y="2226485"/>
            <a:ext cx="76200" cy="34019"/>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5775960" y="2195374"/>
            <a:ext cx="76200" cy="3111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5852160" y="2166981"/>
            <a:ext cx="76200" cy="28393"/>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5928360" y="2141119"/>
            <a:ext cx="76200" cy="25862"/>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6004560" y="2117602"/>
            <a:ext cx="76200" cy="23517"/>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6080760" y="2096251"/>
            <a:ext cx="76200" cy="2135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6156960" y="2076896"/>
            <a:ext cx="76200" cy="19355"/>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6233160" y="2059371"/>
            <a:ext cx="76200" cy="17525"/>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6309360" y="2043523"/>
            <a:ext cx="76200" cy="15848"/>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6385560" y="2029206"/>
            <a:ext cx="76200" cy="14317"/>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6461760" y="2016284"/>
            <a:ext cx="76200" cy="12922"/>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6537960" y="2004633"/>
            <a:ext cx="76200" cy="1165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6614160" y="1994135"/>
            <a:ext cx="76200" cy="10498"/>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6690360" y="1984682"/>
            <a:ext cx="76200" cy="9453"/>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6766560" y="1976177"/>
            <a:ext cx="76200" cy="8505"/>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6842760" y="1968528"/>
            <a:ext cx="76200" cy="7649"/>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6918960" y="1961653"/>
            <a:ext cx="76200" cy="6875"/>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6995160" y="1955476"/>
            <a:ext cx="76200" cy="6177"/>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7071360" y="1949928"/>
            <a:ext cx="76200" cy="5548"/>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7147560" y="1944948"/>
            <a:ext cx="76200" cy="498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7223760" y="1940479"/>
            <a:ext cx="76200" cy="4469"/>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7299960" y="1936470"/>
            <a:ext cx="76200" cy="4009"/>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7376160" y="1932874"/>
            <a:ext cx="76200" cy="3596"/>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7452360" y="1929649"/>
            <a:ext cx="76199" cy="3225"/>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7528559" y="1926758"/>
            <a:ext cx="76201" cy="289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7604760" y="1924167"/>
            <a:ext cx="76200" cy="259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914400" y="5394960"/>
            <a:ext cx="6675120" cy="24688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Illustration conceptuelle, pas une mesure du TP</a:t>
            </a:r>
          </a:p>
        </p:txBody>
      </p:sp>
      <p:sp>
        <p:nvSpPr>
          <p:cNvPr id="105" name="Rounded Rectangle 104"/>
          <p:cNvSpPr/>
          <p:nvPr/>
        </p:nvSpPr>
        <p:spPr>
          <a:xfrm>
            <a:off x="8074152" y="1856231"/>
            <a:ext cx="3474720" cy="7772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8074152" y="1856231"/>
            <a:ext cx="54864" cy="77724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229600" y="1947672"/>
            <a:ext cx="3163824"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Entrées</a:t>
            </a:r>
          </a:p>
        </p:txBody>
      </p:sp>
      <p:sp>
        <p:nvSpPr>
          <p:cNvPr id="108" name="TextBox 107"/>
          <p:cNvSpPr txBox="1"/>
          <p:nvPr/>
        </p:nvSpPr>
        <p:spPr>
          <a:xfrm>
            <a:off x="8229600" y="2258568"/>
            <a:ext cx="3163824" cy="320040"/>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Caractéristiques du client</a:t>
            </a:r>
          </a:p>
        </p:txBody>
      </p:sp>
      <p:sp>
        <p:nvSpPr>
          <p:cNvPr id="109" name="Rounded Rectangle 108"/>
          <p:cNvSpPr/>
          <p:nvPr/>
        </p:nvSpPr>
        <p:spPr>
          <a:xfrm>
            <a:off x="8074152" y="2724911"/>
            <a:ext cx="3474720" cy="7772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8074152" y="2724911"/>
            <a:ext cx="54864" cy="77724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8229600" y="2816351"/>
            <a:ext cx="3163824"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8C33"/>
                </a:solidFill>
                <a:latin typeface="Liberation Sans"/>
              </a:defRPr>
            </a:pPr>
            <a:r>
              <a:t>Combinaison</a:t>
            </a:r>
          </a:p>
        </p:txBody>
      </p:sp>
      <p:sp>
        <p:nvSpPr>
          <p:cNvPr id="112" name="TextBox 111"/>
          <p:cNvSpPr txBox="1"/>
          <p:nvPr/>
        </p:nvSpPr>
        <p:spPr>
          <a:xfrm>
            <a:off x="8229600" y="3127247"/>
            <a:ext cx="3163824" cy="320040"/>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Paramètres appris</a:t>
            </a:r>
          </a:p>
        </p:txBody>
      </p:sp>
      <p:sp>
        <p:nvSpPr>
          <p:cNvPr id="113" name="Rounded Rectangle 112"/>
          <p:cNvSpPr/>
          <p:nvPr/>
        </p:nvSpPr>
        <p:spPr>
          <a:xfrm>
            <a:off x="8074152" y="3593591"/>
            <a:ext cx="3474720" cy="7772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8074152" y="3593591"/>
            <a:ext cx="54864" cy="77724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8229600" y="3685031"/>
            <a:ext cx="3163824"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Score</a:t>
            </a:r>
          </a:p>
        </p:txBody>
      </p:sp>
      <p:sp>
        <p:nvSpPr>
          <p:cNvPr id="116" name="TextBox 115"/>
          <p:cNvSpPr txBox="1"/>
          <p:nvPr/>
        </p:nvSpPr>
        <p:spPr>
          <a:xfrm>
            <a:off x="8229600" y="3995928"/>
            <a:ext cx="3163824" cy="320040"/>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Estimation entre 0 et 1</a:t>
            </a:r>
          </a:p>
        </p:txBody>
      </p:sp>
      <p:sp>
        <p:nvSpPr>
          <p:cNvPr id="117" name="Rounded Rectangle 116"/>
          <p:cNvSpPr/>
          <p:nvPr/>
        </p:nvSpPr>
        <p:spPr>
          <a:xfrm>
            <a:off x="8074152" y="4462271"/>
            <a:ext cx="3474720" cy="7772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8074152" y="4462271"/>
            <a:ext cx="54864" cy="77724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8229600" y="4553711"/>
            <a:ext cx="3163824"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8C33"/>
                </a:solidFill>
                <a:latin typeface="Liberation Sans"/>
              </a:defRPr>
            </a:pPr>
            <a:r>
              <a:t>Seuil</a:t>
            </a:r>
          </a:p>
        </p:txBody>
      </p:sp>
      <p:sp>
        <p:nvSpPr>
          <p:cNvPr id="120" name="TextBox 119"/>
          <p:cNvSpPr txBox="1"/>
          <p:nvPr/>
        </p:nvSpPr>
        <p:spPr>
          <a:xfrm>
            <a:off x="8229600" y="4864607"/>
            <a:ext cx="3163824" cy="320040"/>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Politique d’action séparée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150" b="1">
                <a:solidFill>
                  <a:srgbClr val="132443"/>
                </a:solidFill>
                <a:latin typeface="Liberation Sans"/>
              </a:defRPr>
            </a:pPr>
            <a:r>
              <a:t>Arbre de décision : une succession de séparations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Un arbre apprend des règles à partir d’exemples ; ses seuils ne sont pas des lois.</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S02</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J2-008</a:t>
            </a:r>
          </a:p>
        </p:txBody>
      </p:sp>
      <p:cxnSp>
        <p:nvCxnSpPr>
          <p:cNvPr id="12" name="Connector 11"/>
          <p:cNvCxnSpPr/>
          <p:nvPr/>
        </p:nvCxnSpPr>
        <p:spPr>
          <a:xfrm flipH="1">
            <a:off x="3291840" y="2514600"/>
            <a:ext cx="2743200" cy="704088"/>
          </a:xfrm>
          <a:prstGeom prst="line">
            <a:avLst/>
          </a:prstGeom>
          <a:ln w="25400">
            <a:solidFill>
              <a:srgbClr val="D9E1E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35040" y="2514600"/>
            <a:ext cx="3108960" cy="704088"/>
          </a:xfrm>
          <a:prstGeom prst="line">
            <a:avLst/>
          </a:prstGeom>
          <a:ln w="25400">
            <a:solidFill>
              <a:srgbClr val="D9E1E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2011680" y="3813048"/>
            <a:ext cx="1280160" cy="758952"/>
          </a:xfrm>
          <a:prstGeom prst="line">
            <a:avLst/>
          </a:prstGeom>
          <a:ln w="25400">
            <a:solidFill>
              <a:srgbClr val="D9E1E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291840" y="3813048"/>
            <a:ext cx="1920239" cy="758952"/>
          </a:xfrm>
          <a:prstGeom prst="line">
            <a:avLst/>
          </a:prstGeom>
          <a:ln w="25400">
            <a:solidFill>
              <a:srgbClr val="D9E1EB"/>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663440" y="1901952"/>
            <a:ext cx="2743200" cy="612648"/>
          </a:xfrm>
          <a:prstGeom prst="round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79" y="1947672"/>
            <a:ext cx="2560320" cy="521208"/>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FFFFFF"/>
                </a:solidFill>
                <a:latin typeface="Liberation Sans"/>
              </a:defRPr>
            </a:pPr>
            <a:r>
              <a:t>Satisfaction faible ?</a:t>
            </a:r>
          </a:p>
        </p:txBody>
      </p:sp>
      <p:sp>
        <p:nvSpPr>
          <p:cNvPr id="18" name="Rounded Rectangle 17"/>
          <p:cNvSpPr/>
          <p:nvPr/>
        </p:nvSpPr>
        <p:spPr>
          <a:xfrm>
            <a:off x="1920240" y="3218688"/>
            <a:ext cx="2743200" cy="594360"/>
          </a:xfrm>
          <a:prstGeom prst="round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11680" y="3264408"/>
            <a:ext cx="2560320" cy="502920"/>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FFFFFF"/>
                </a:solidFill>
                <a:latin typeface="Liberation Sans"/>
              </a:defRPr>
            </a:pPr>
            <a:r>
              <a:t>Tickets nombreux ?</a:t>
            </a:r>
          </a:p>
        </p:txBody>
      </p:sp>
      <p:sp>
        <p:nvSpPr>
          <p:cNvPr id="20" name="Rounded Rectangle 19"/>
          <p:cNvSpPr/>
          <p:nvPr/>
        </p:nvSpPr>
        <p:spPr>
          <a:xfrm>
            <a:off x="7772400" y="3218688"/>
            <a:ext cx="2743200" cy="59436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0" y="3264408"/>
            <a:ext cx="2560320" cy="502920"/>
          </a:xfrm>
          <a:prstGeom prst="rect">
            <a:avLst/>
          </a:prstGeom>
          <a:noFill/>
        </p:spPr>
        <p:txBody>
          <a:bodyPr wrap="square" lIns="22860" rIns="22860" tIns="22860" bIns="22860" anchor="ctr">
            <a:spAutoFit/>
          </a:bodyPr>
          <a:lstStyle/>
          <a:p>
            <a:pPr algn="ctr">
              <a:spcBef>
                <a:spcPts val="0"/>
              </a:spcBef>
              <a:spcAft>
                <a:spcPts val="300"/>
              </a:spcAft>
              <a:defRPr sz="2000" b="1">
                <a:solidFill>
                  <a:srgbClr val="238C33"/>
                </a:solidFill>
                <a:latin typeface="Liberation Sans"/>
              </a:defRPr>
            </a:pPr>
            <a:r>
              <a:t>Risque modéré</a:t>
            </a:r>
          </a:p>
        </p:txBody>
      </p:sp>
      <p:sp>
        <p:nvSpPr>
          <p:cNvPr id="22" name="Rounded Rectangle 21"/>
          <p:cNvSpPr/>
          <p:nvPr/>
        </p:nvSpPr>
        <p:spPr>
          <a:xfrm>
            <a:off x="731520" y="4572000"/>
            <a:ext cx="2560320" cy="62179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617720"/>
            <a:ext cx="2377439" cy="530352"/>
          </a:xfrm>
          <a:prstGeom prst="rect">
            <a:avLst/>
          </a:prstGeom>
          <a:noFill/>
        </p:spPr>
        <p:txBody>
          <a:bodyPr wrap="square" lIns="22860" rIns="22860" tIns="22860" bIns="22860" anchor="ctr">
            <a:spAutoFit/>
          </a:bodyPr>
          <a:lstStyle/>
          <a:p>
            <a:pPr algn="ctr">
              <a:spcBef>
                <a:spcPts val="0"/>
              </a:spcBef>
              <a:spcAft>
                <a:spcPts val="300"/>
              </a:spcAft>
              <a:defRPr sz="2000" b="1">
                <a:solidFill>
                  <a:srgbClr val="238C33"/>
                </a:solidFill>
                <a:latin typeface="Liberation Sans"/>
              </a:defRPr>
            </a:pPr>
            <a:r>
              <a:t>Risque élevé</a:t>
            </a:r>
          </a:p>
        </p:txBody>
      </p:sp>
      <p:sp>
        <p:nvSpPr>
          <p:cNvPr id="24" name="Rounded Rectangle 23"/>
          <p:cNvSpPr/>
          <p:nvPr/>
        </p:nvSpPr>
        <p:spPr>
          <a:xfrm>
            <a:off x="3931920" y="4572000"/>
            <a:ext cx="2560320" cy="62179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023359" y="4617720"/>
            <a:ext cx="2377439" cy="530352"/>
          </a:xfrm>
          <a:prstGeom prst="rect">
            <a:avLst/>
          </a:prstGeom>
          <a:noFill/>
        </p:spPr>
        <p:txBody>
          <a:bodyPr wrap="square" lIns="22860" rIns="22860" tIns="22860" bIns="22860" anchor="ctr">
            <a:spAutoFit/>
          </a:bodyPr>
          <a:lstStyle/>
          <a:p>
            <a:pPr algn="ctr">
              <a:spcBef>
                <a:spcPts val="0"/>
              </a:spcBef>
              <a:spcAft>
                <a:spcPts val="300"/>
              </a:spcAft>
              <a:defRPr sz="1850" b="1">
                <a:solidFill>
                  <a:srgbClr val="238C33"/>
                </a:solidFill>
                <a:latin typeface="Liberation Sans"/>
              </a:defRPr>
            </a:pPr>
            <a:r>
              <a:t>Risque à examiner</a:t>
            </a:r>
          </a:p>
        </p:txBody>
      </p:sp>
      <p:sp>
        <p:nvSpPr>
          <p:cNvPr id="26" name="TextBox 25"/>
          <p:cNvSpPr txBox="1"/>
          <p:nvPr/>
        </p:nvSpPr>
        <p:spPr>
          <a:xfrm>
            <a:off x="822960" y="5404104"/>
            <a:ext cx="10789920" cy="274320"/>
          </a:xfrm>
          <a:prstGeom prst="rect">
            <a:avLst/>
          </a:prstGeom>
          <a:noFill/>
        </p:spPr>
        <p:txBody>
          <a:bodyPr wrap="square" lIns="22860" rIns="22860" tIns="22860" bIns="22860" anchor="ctr">
            <a:spAutoFit/>
          </a:bodyPr>
          <a:lstStyle/>
          <a:p>
            <a:pPr algn="ctr">
              <a:spcBef>
                <a:spcPts val="0"/>
              </a:spcBef>
              <a:spcAft>
                <a:spcPts val="300"/>
              </a:spcAft>
              <a:defRPr sz="1400" b="0">
                <a:solidFill>
                  <a:srgbClr val="586777"/>
                </a:solidFill>
                <a:latin typeface="Liberation Sans"/>
              </a:defRPr>
            </a:pPr>
            <a:r>
              <a:t>Exemple schématique. Les seuils réels sont appris et validés.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Forêt et boosting : deux façons de combiner</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La comparaison empirique remplace le classement de prestige des algorithmes.</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S02</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J2-009</a:t>
            </a:r>
          </a:p>
        </p:txBody>
      </p:sp>
      <p:sp>
        <p:nvSpPr>
          <p:cNvPr id="12" name="Rounded Rectangle 11"/>
          <p:cNvSpPr/>
          <p:nvPr/>
        </p:nvSpPr>
        <p:spPr>
          <a:xfrm>
            <a:off x="594360" y="1783080"/>
            <a:ext cx="5399531" cy="38862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38862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Forêt aléatoire</a:t>
            </a:r>
          </a:p>
        </p:txBody>
      </p:sp>
      <p:sp>
        <p:nvSpPr>
          <p:cNvPr id="15" name="TextBox 14"/>
          <p:cNvSpPr txBox="1"/>
          <p:nvPr/>
        </p:nvSpPr>
        <p:spPr>
          <a:xfrm>
            <a:off x="758952" y="2459736"/>
            <a:ext cx="5070347" cy="306324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Plusieurs arbres variés contribuent à la prédiction.</a:t>
            </a:r>
          </a:p>
          <a:p>
            <a:pPr>
              <a:spcBef>
                <a:spcPts val="0"/>
              </a:spcBef>
              <a:spcAft>
                <a:spcPts val="300"/>
              </a:spcAft>
              <a:defRPr sz="2100" b="0">
                <a:solidFill>
                  <a:srgbClr val="0D0D0D"/>
                </a:solidFill>
                <a:latin typeface="Liberation Sans"/>
              </a:defRPr>
            </a:pPr>
            <a:r>
              <a:t>L’agrégation réduit certaines instabilités.</a:t>
            </a:r>
          </a:p>
        </p:txBody>
      </p:sp>
      <p:sp>
        <p:nvSpPr>
          <p:cNvPr id="16" name="Rounded Rectangle 15"/>
          <p:cNvSpPr/>
          <p:nvPr/>
        </p:nvSpPr>
        <p:spPr>
          <a:xfrm>
            <a:off x="6195059" y="1783080"/>
            <a:ext cx="5399531" cy="38862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38862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Boosting</a:t>
            </a:r>
          </a:p>
        </p:txBody>
      </p:sp>
      <p:sp>
        <p:nvSpPr>
          <p:cNvPr id="19" name="TextBox 18"/>
          <p:cNvSpPr txBox="1"/>
          <p:nvPr/>
        </p:nvSpPr>
        <p:spPr>
          <a:xfrm>
            <a:off x="6359651" y="2459736"/>
            <a:ext cx="5070347" cy="306324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Des modèles successifs améliorent progressivement un critère d’erreur.</a:t>
            </a:r>
          </a:p>
          <a:p>
            <a:pPr>
              <a:spcBef>
                <a:spcPts val="0"/>
              </a:spcBef>
              <a:spcAft>
                <a:spcPts val="300"/>
              </a:spcAft>
              <a:defRPr sz="2100" b="0">
                <a:solidFill>
                  <a:srgbClr val="0D0D0D"/>
                </a:solidFill>
                <a:latin typeface="Liberation Sans"/>
              </a:defRPr>
            </a:pPr>
            <a:r>
              <a:t>Les réglages et la validation restent essentiels.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2750" b="1">
                <a:solidFill>
                  <a:srgbClr val="132443"/>
                </a:solidFill>
                <a:latin typeface="Liberation Sans"/>
              </a:defRPr>
            </a:pPr>
            <a:r>
              <a:t>Regrouper, détecter, recommander : sans tout confondre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La sortie mathématique doit être interprétée avant de devenir une catégorie métier.</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S02</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J2-010</a:t>
            </a:r>
          </a:p>
        </p:txBody>
      </p:sp>
      <p:sp>
        <p:nvSpPr>
          <p:cNvPr id="12" name="Rounded Rectangle 11"/>
          <p:cNvSpPr/>
          <p:nvPr/>
        </p:nvSpPr>
        <p:spPr>
          <a:xfrm>
            <a:off x="594360"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Regroupement</a:t>
            </a:r>
          </a:p>
        </p:txBody>
      </p:sp>
      <p:sp>
        <p:nvSpPr>
          <p:cNvPr id="15" name="TextBox 14"/>
          <p:cNvSpPr txBox="1"/>
          <p:nvPr/>
        </p:nvSpPr>
        <p:spPr>
          <a:xfrm>
            <a:off x="758952" y="2459736"/>
            <a:ext cx="5070347" cy="1019556"/>
          </a:xfrm>
          <a:prstGeom prst="rect">
            <a:avLst/>
          </a:prstGeom>
          <a:noFill/>
        </p:spPr>
        <p:txBody>
          <a:bodyPr wrap="square" lIns="22860" rIns="22860" tIns="22860" bIns="22860" anchor="t">
            <a:spAutoFit/>
          </a:bodyPr>
          <a:lstStyle/>
          <a:p>
            <a:pPr>
              <a:spcBef>
                <a:spcPts val="0"/>
              </a:spcBef>
              <a:spcAft>
                <a:spcPts val="300"/>
              </a:spcAft>
              <a:defRPr sz="2050" b="0">
                <a:solidFill>
                  <a:srgbClr val="0D0D0D"/>
                </a:solidFill>
                <a:latin typeface="Liberation Sans"/>
              </a:defRPr>
            </a:pPr>
            <a:r>
              <a:t>Chercher des observations proches, puis interpréter les groupes.</a:t>
            </a:r>
          </a:p>
        </p:txBody>
      </p:sp>
      <p:sp>
        <p:nvSpPr>
          <p:cNvPr id="16" name="Rounded Rectangle 15"/>
          <p:cNvSpPr/>
          <p:nvPr/>
        </p:nvSpPr>
        <p:spPr>
          <a:xfrm>
            <a:off x="6195059"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Anomalie</a:t>
            </a:r>
          </a:p>
        </p:txBody>
      </p:sp>
      <p:sp>
        <p:nvSpPr>
          <p:cNvPr id="19" name="TextBox 18"/>
          <p:cNvSpPr txBox="1"/>
          <p:nvPr/>
        </p:nvSpPr>
        <p:spPr>
          <a:xfrm>
            <a:off x="6359651" y="2459736"/>
            <a:ext cx="5070347" cy="1019556"/>
          </a:xfrm>
          <a:prstGeom prst="rect">
            <a:avLst/>
          </a:prstGeom>
          <a:noFill/>
        </p:spPr>
        <p:txBody>
          <a:bodyPr wrap="square" lIns="22860" rIns="22860" tIns="22860" bIns="22860" anchor="t">
            <a:spAutoFit/>
          </a:bodyPr>
          <a:lstStyle/>
          <a:p>
            <a:pPr>
              <a:spcBef>
                <a:spcPts val="0"/>
              </a:spcBef>
              <a:spcAft>
                <a:spcPts val="300"/>
              </a:spcAft>
              <a:defRPr sz="2050" b="0">
                <a:solidFill>
                  <a:srgbClr val="0D0D0D"/>
                </a:solidFill>
                <a:latin typeface="Liberation Sans"/>
              </a:defRPr>
            </a:pPr>
            <a:r>
              <a:t>Repérer l’inhabituel, sans l’assimiler automatiquement à un défaut.</a:t>
            </a:r>
          </a:p>
        </p:txBody>
      </p:sp>
      <p:sp>
        <p:nvSpPr>
          <p:cNvPr id="20" name="Rounded Rectangle 19"/>
          <p:cNvSpPr/>
          <p:nvPr/>
        </p:nvSpPr>
        <p:spPr>
          <a:xfrm>
            <a:off x="594360"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Recommandation</a:t>
            </a:r>
          </a:p>
        </p:txBody>
      </p:sp>
      <p:sp>
        <p:nvSpPr>
          <p:cNvPr id="23" name="TextBox 22"/>
          <p:cNvSpPr txBox="1"/>
          <p:nvPr/>
        </p:nvSpPr>
        <p:spPr>
          <a:xfrm>
            <a:off x="758952"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Trier des possibilités pour un utilisateur et un contexte.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A08a • Ouvrir le laboratoire Novalia</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40 minutes • Notebook participant • Cahier A08</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J2-011</a:t>
            </a:r>
          </a:p>
        </p:txBody>
      </p:sp>
      <p:sp>
        <p:nvSpPr>
          <p:cNvPr id="12" name="Rounded Rectangle 11"/>
          <p:cNvSpPr/>
          <p:nvPr/>
        </p:nvSpPr>
        <p:spPr>
          <a:xfrm>
            <a:off x="594360" y="1965960"/>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65960"/>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0312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Fichier</a:t>
            </a:r>
          </a:p>
        </p:txBody>
      </p:sp>
      <p:sp>
        <p:nvSpPr>
          <p:cNvPr id="15" name="TextBox 14"/>
          <p:cNvSpPr txBox="1"/>
          <p:nvPr/>
        </p:nvSpPr>
        <p:spPr>
          <a:xfrm>
            <a:off x="758952" y="2642616"/>
            <a:ext cx="5070347" cy="768096"/>
          </a:xfrm>
          <a:prstGeom prst="rect">
            <a:avLst/>
          </a:prstGeom>
          <a:noFill/>
        </p:spPr>
        <p:txBody>
          <a:bodyPr wrap="square" lIns="22860" rIns="22860" tIns="22860" bIns="22860" anchor="t">
            <a:spAutoFit/>
          </a:bodyPr>
          <a:lstStyle/>
          <a:p>
            <a:pPr>
              <a:spcBef>
                <a:spcPts val="0"/>
              </a:spcBef>
              <a:spcAft>
                <a:spcPts val="300"/>
              </a:spcAft>
              <a:defRPr sz="1900" b="0">
                <a:solidFill>
                  <a:srgbClr val="0D0D0D"/>
                </a:solidFill>
                <a:latin typeface="Liberation Sans"/>
              </a:defRPr>
            </a:pPr>
            <a:r>
              <a:t>01_Atelier_Novalia_participant.ipynb</a:t>
            </a:r>
          </a:p>
        </p:txBody>
      </p:sp>
      <p:sp>
        <p:nvSpPr>
          <p:cNvPr id="16" name="Rounded Rectangle 15"/>
          <p:cNvSpPr/>
          <p:nvPr/>
        </p:nvSpPr>
        <p:spPr>
          <a:xfrm>
            <a:off x="6195059" y="1965960"/>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965960"/>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210312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Données</a:t>
            </a:r>
          </a:p>
        </p:txBody>
      </p:sp>
      <p:sp>
        <p:nvSpPr>
          <p:cNvPr id="19" name="TextBox 18"/>
          <p:cNvSpPr txBox="1"/>
          <p:nvPr/>
        </p:nvSpPr>
        <p:spPr>
          <a:xfrm>
            <a:off x="6359651" y="2642616"/>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5 000 clients fictifs, aucune donnée personnelle réelle.</a:t>
            </a:r>
          </a:p>
        </p:txBody>
      </p:sp>
      <p:sp>
        <p:nvSpPr>
          <p:cNvPr id="20" name="Rounded Rectangle 19"/>
          <p:cNvSpPr/>
          <p:nvPr/>
        </p:nvSpPr>
        <p:spPr>
          <a:xfrm>
            <a:off x="594360" y="3758183"/>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758183"/>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89534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Mission</a:t>
            </a:r>
          </a:p>
        </p:txBody>
      </p:sp>
      <p:sp>
        <p:nvSpPr>
          <p:cNvPr id="23" name="TextBox 22"/>
          <p:cNvSpPr txBox="1"/>
          <p:nvPr/>
        </p:nvSpPr>
        <p:spPr>
          <a:xfrm>
            <a:off x="758952" y="4434840"/>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Explorer, séparer et entraîner trois modèles.</a:t>
            </a:r>
          </a:p>
        </p:txBody>
      </p:sp>
      <p:sp>
        <p:nvSpPr>
          <p:cNvPr id="24" name="Rounded Rectangle 23"/>
          <p:cNvSpPr/>
          <p:nvPr/>
        </p:nvSpPr>
        <p:spPr>
          <a:xfrm>
            <a:off x="6195059" y="3758183"/>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758183"/>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89534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Livrable</a:t>
            </a:r>
          </a:p>
        </p:txBody>
      </p:sp>
      <p:sp>
        <p:nvSpPr>
          <p:cNvPr id="27" name="TextBox 26"/>
          <p:cNvSpPr txBox="1"/>
          <p:nvPr/>
        </p:nvSpPr>
        <p:spPr>
          <a:xfrm>
            <a:off x="6359651" y="4434840"/>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Réponses aux analyses 1 et 2 du notebook.</a:t>
            </a:r>
          </a:p>
        </p:txBody>
      </p:sp>
      <p:sp>
        <p:nvSpPr>
          <p:cNvPr id="28" name="TextBox 27"/>
          <p:cNvSpPr txBox="1"/>
          <p:nvPr/>
        </p:nvSpPr>
        <p:spPr>
          <a:xfrm>
            <a:off x="630936" y="1655064"/>
            <a:ext cx="10058400" cy="228600"/>
          </a:xfrm>
          <a:prstGeom prst="rect">
            <a:avLst/>
          </a:prstGeom>
          <a:noFill/>
        </p:spPr>
        <p:txBody>
          <a:bodyPr wrap="square" lIns="22860" rIns="22860" tIns="22860" bIns="22860" anchor="ctr">
            <a:spAutoFit/>
          </a:bodyPr>
          <a:lstStyle/>
          <a:p>
            <a:pPr>
              <a:spcBef>
                <a:spcPts val="0"/>
              </a:spcBef>
              <a:spcAft>
                <a:spcPts val="300"/>
              </a:spcAft>
              <a:defRPr sz="1300" b="1">
                <a:solidFill>
                  <a:srgbClr val="238C33"/>
                </a:solidFill>
                <a:latin typeface="Liberation Sans"/>
              </a:defRPr>
            </a:pPr>
            <a:r>
              <a:t>ATELIER  /  40 MINUTES POUR LA SÉQUENCE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Un notebook relie texte, calcul et résultat</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Avant livraison : redémarrer le noyau et tout réexécuter.</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S25</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J2-012</a:t>
            </a:r>
          </a:p>
        </p:txBody>
      </p:sp>
      <p:sp>
        <p:nvSpPr>
          <p:cNvPr id="12" name="Rounded Rectangle 11"/>
          <p:cNvSpPr/>
          <p:nvPr/>
        </p:nvSpPr>
        <p:spPr>
          <a:xfrm>
            <a:off x="594360"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Cellule texte</a:t>
            </a:r>
          </a:p>
        </p:txBody>
      </p:sp>
      <p:sp>
        <p:nvSpPr>
          <p:cNvPr id="15" name="TextBox 14"/>
          <p:cNvSpPr txBox="1"/>
          <p:nvPr/>
        </p:nvSpPr>
        <p:spPr>
          <a:xfrm>
            <a:off x="758952"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L’hypothèse et l’explication</a:t>
            </a:r>
          </a:p>
        </p:txBody>
      </p:sp>
      <p:sp>
        <p:nvSpPr>
          <p:cNvPr id="16" name="Rounded Rectangle 15"/>
          <p:cNvSpPr/>
          <p:nvPr/>
        </p:nvSpPr>
        <p:spPr>
          <a:xfrm>
            <a:off x="6195059"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Cellule code</a:t>
            </a:r>
          </a:p>
        </p:txBody>
      </p:sp>
      <p:sp>
        <p:nvSpPr>
          <p:cNvPr id="19" name="TextBox 18"/>
          <p:cNvSpPr txBox="1"/>
          <p:nvPr/>
        </p:nvSpPr>
        <p:spPr>
          <a:xfrm>
            <a:off x="6359651"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Le calcul reproductible</a:t>
            </a:r>
          </a:p>
        </p:txBody>
      </p:sp>
      <p:sp>
        <p:nvSpPr>
          <p:cNvPr id="20" name="Rounded Rectangle 19"/>
          <p:cNvSpPr/>
          <p:nvPr/>
        </p:nvSpPr>
        <p:spPr>
          <a:xfrm>
            <a:off x="594360"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Sortie</a:t>
            </a:r>
          </a:p>
        </p:txBody>
      </p:sp>
      <p:sp>
        <p:nvSpPr>
          <p:cNvPr id="23" name="TextBox 22"/>
          <p:cNvSpPr txBox="1"/>
          <p:nvPr/>
        </p:nvSpPr>
        <p:spPr>
          <a:xfrm>
            <a:off x="758952"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Le résultat à interpréter</a:t>
            </a:r>
          </a:p>
        </p:txBody>
      </p:sp>
      <p:sp>
        <p:nvSpPr>
          <p:cNvPr id="24" name="Rounded Rectangle 23"/>
          <p:cNvSpPr/>
          <p:nvPr/>
        </p:nvSpPr>
        <p:spPr>
          <a:xfrm>
            <a:off x="6195059"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Analyse</a:t>
            </a:r>
          </a:p>
        </p:txBody>
      </p:sp>
      <p:sp>
        <p:nvSpPr>
          <p:cNvPr id="27" name="TextBox 26"/>
          <p:cNvSpPr txBox="1"/>
          <p:nvPr/>
        </p:nvSpPr>
        <p:spPr>
          <a:xfrm>
            <a:off x="6359651"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Votre décision et sa justification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Le jeu de données : ce que signifie une ligne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Une ligne, une unité, une date de référence et une cible.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P01</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J2-013</a:t>
            </a:r>
          </a:p>
        </p:txBody>
      </p:sp>
      <p:sp>
        <p:nvSpPr>
          <p:cNvPr id="12" name="Rectangle 11"/>
          <p:cNvSpPr/>
          <p:nvPr/>
        </p:nvSpPr>
        <p:spPr>
          <a:xfrm>
            <a:off x="594360" y="1792224"/>
            <a:ext cx="3190067"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1833372"/>
            <a:ext cx="2970611"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Champ</a:t>
            </a:r>
          </a:p>
        </p:txBody>
      </p:sp>
      <p:sp>
        <p:nvSpPr>
          <p:cNvPr id="14" name="Rectangle 13"/>
          <p:cNvSpPr/>
          <p:nvPr/>
        </p:nvSpPr>
        <p:spPr>
          <a:xfrm>
            <a:off x="3784427" y="1792224"/>
            <a:ext cx="3850081"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94155" y="1833372"/>
            <a:ext cx="3630625"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Sens</a:t>
            </a:r>
          </a:p>
        </p:txBody>
      </p:sp>
      <p:sp>
        <p:nvSpPr>
          <p:cNvPr id="16" name="Rectangle 15"/>
          <p:cNvSpPr/>
          <p:nvPr/>
        </p:nvSpPr>
        <p:spPr>
          <a:xfrm>
            <a:off x="7634508" y="1792224"/>
            <a:ext cx="3960083"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44236" y="1833372"/>
            <a:ext cx="3740627"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Usage</a:t>
            </a:r>
          </a:p>
        </p:txBody>
      </p:sp>
      <p:cxnSp>
        <p:nvCxnSpPr>
          <p:cNvPr id="18" name="Connector 17"/>
          <p:cNvCxnSpPr/>
          <p:nvPr/>
        </p:nvCxnSpPr>
        <p:spPr>
          <a:xfrm>
            <a:off x="594360" y="244754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94360" y="2447544"/>
            <a:ext cx="3190067"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2488692"/>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customer_id</a:t>
            </a:r>
          </a:p>
        </p:txBody>
      </p:sp>
      <p:sp>
        <p:nvSpPr>
          <p:cNvPr id="21" name="Rectangle 20"/>
          <p:cNvSpPr/>
          <p:nvPr/>
        </p:nvSpPr>
        <p:spPr>
          <a:xfrm>
            <a:off x="3784427" y="2447544"/>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94155" y="2488692"/>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Identifiant fictif unique</a:t>
            </a:r>
          </a:p>
        </p:txBody>
      </p:sp>
      <p:sp>
        <p:nvSpPr>
          <p:cNvPr id="23" name="Rectangle 22"/>
          <p:cNvSpPr/>
          <p:nvPr/>
        </p:nvSpPr>
        <p:spPr>
          <a:xfrm>
            <a:off x="7634508" y="2447544"/>
            <a:ext cx="3960083"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44236" y="2488692"/>
            <a:ext cx="3740627" cy="573024"/>
          </a:xfrm>
          <a:prstGeom prst="rect">
            <a:avLst/>
          </a:prstGeom>
          <a:noFill/>
        </p:spPr>
        <p:txBody>
          <a:bodyPr wrap="square" lIns="22860" rIns="22860" tIns="22860" bIns="22860" anchor="ctr">
            <a:spAutoFit/>
          </a:bodyPr>
          <a:lstStyle/>
          <a:p>
            <a:pPr>
              <a:spcBef>
                <a:spcPts val="0"/>
              </a:spcBef>
              <a:spcAft>
                <a:spcPts val="300"/>
              </a:spcAft>
              <a:defRPr sz="2050" b="0">
                <a:solidFill>
                  <a:srgbClr val="0D0D0D"/>
                </a:solidFill>
                <a:latin typeface="Liberation Sans"/>
              </a:defRPr>
            </a:pPr>
            <a:r>
              <a:t>Traçabilité, pas prédicteur</a:t>
            </a:r>
          </a:p>
        </p:txBody>
      </p:sp>
      <p:cxnSp>
        <p:nvCxnSpPr>
          <p:cNvPr id="25" name="Connector 24"/>
          <p:cNvCxnSpPr/>
          <p:nvPr/>
        </p:nvCxnSpPr>
        <p:spPr>
          <a:xfrm>
            <a:off x="594360" y="310286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594360" y="3102864"/>
            <a:ext cx="3190067"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3144012"/>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tenure_months</a:t>
            </a:r>
          </a:p>
        </p:txBody>
      </p:sp>
      <p:sp>
        <p:nvSpPr>
          <p:cNvPr id="28" name="Rectangle 27"/>
          <p:cNvSpPr/>
          <p:nvPr/>
        </p:nvSpPr>
        <p:spPr>
          <a:xfrm>
            <a:off x="3784427" y="3102864"/>
            <a:ext cx="3850081"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94155" y="3144012"/>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Ancienneté en mois</a:t>
            </a:r>
          </a:p>
        </p:txBody>
      </p:sp>
      <p:sp>
        <p:nvSpPr>
          <p:cNvPr id="30" name="Rectangle 29"/>
          <p:cNvSpPr/>
          <p:nvPr/>
        </p:nvSpPr>
        <p:spPr>
          <a:xfrm>
            <a:off x="7634508" y="3102864"/>
            <a:ext cx="3960083"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44236" y="3144012"/>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Entrée numérique</a:t>
            </a:r>
          </a:p>
        </p:txBody>
      </p:sp>
      <p:cxnSp>
        <p:nvCxnSpPr>
          <p:cNvPr id="32" name="Connector 31"/>
          <p:cNvCxnSpPr/>
          <p:nvPr/>
        </p:nvCxnSpPr>
        <p:spPr>
          <a:xfrm>
            <a:off x="594360" y="3758183"/>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94360" y="3758183"/>
            <a:ext cx="3190067"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4088" y="3799331"/>
            <a:ext cx="2970611" cy="573024"/>
          </a:xfrm>
          <a:prstGeom prst="rect">
            <a:avLst/>
          </a:prstGeom>
          <a:noFill/>
        </p:spPr>
        <p:txBody>
          <a:bodyPr wrap="square" lIns="22860" rIns="22860" tIns="22860" bIns="22860" anchor="ctr">
            <a:spAutoFit/>
          </a:bodyPr>
          <a:lstStyle/>
          <a:p>
            <a:pPr>
              <a:spcBef>
                <a:spcPts val="0"/>
              </a:spcBef>
              <a:spcAft>
                <a:spcPts val="300"/>
              </a:spcAft>
              <a:defRPr sz="2050" b="0">
                <a:solidFill>
                  <a:srgbClr val="0D0D0D"/>
                </a:solidFill>
                <a:latin typeface="Liberation Sans"/>
              </a:defRPr>
            </a:pPr>
            <a:r>
              <a:t>support_tickets_90d</a:t>
            </a:r>
          </a:p>
        </p:txBody>
      </p:sp>
      <p:sp>
        <p:nvSpPr>
          <p:cNvPr id="35" name="Rectangle 34"/>
          <p:cNvSpPr/>
          <p:nvPr/>
        </p:nvSpPr>
        <p:spPr>
          <a:xfrm>
            <a:off x="3784427" y="3758183"/>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94155" y="3799331"/>
            <a:ext cx="3630625" cy="573024"/>
          </a:xfrm>
          <a:prstGeom prst="rect">
            <a:avLst/>
          </a:prstGeom>
          <a:noFill/>
        </p:spPr>
        <p:txBody>
          <a:bodyPr wrap="square" lIns="22860" rIns="22860" tIns="22860" bIns="22860" anchor="ctr">
            <a:spAutoFit/>
          </a:bodyPr>
          <a:lstStyle/>
          <a:p>
            <a:pPr>
              <a:spcBef>
                <a:spcPts val="0"/>
              </a:spcBef>
              <a:spcAft>
                <a:spcPts val="300"/>
              </a:spcAft>
              <a:defRPr sz="2050" b="0">
                <a:solidFill>
                  <a:srgbClr val="0D0D0D"/>
                </a:solidFill>
                <a:latin typeface="Liberation Sans"/>
              </a:defRPr>
            </a:pPr>
            <a:r>
              <a:t>Tickets avant la référence</a:t>
            </a:r>
          </a:p>
        </p:txBody>
      </p:sp>
      <p:sp>
        <p:nvSpPr>
          <p:cNvPr id="37" name="Rectangle 36"/>
          <p:cNvSpPr/>
          <p:nvPr/>
        </p:nvSpPr>
        <p:spPr>
          <a:xfrm>
            <a:off x="7634508" y="3758183"/>
            <a:ext cx="3960083"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44236" y="3799331"/>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Entrée numérique</a:t>
            </a:r>
          </a:p>
        </p:txBody>
      </p:sp>
      <p:cxnSp>
        <p:nvCxnSpPr>
          <p:cNvPr id="39" name="Connector 38"/>
          <p:cNvCxnSpPr/>
          <p:nvPr/>
        </p:nvCxnSpPr>
        <p:spPr>
          <a:xfrm>
            <a:off x="594360" y="441350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594360" y="4413504"/>
            <a:ext cx="3190067"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4088" y="4454651"/>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contract_type</a:t>
            </a:r>
          </a:p>
        </p:txBody>
      </p:sp>
      <p:sp>
        <p:nvSpPr>
          <p:cNvPr id="42" name="Rectangle 41"/>
          <p:cNvSpPr/>
          <p:nvPr/>
        </p:nvSpPr>
        <p:spPr>
          <a:xfrm>
            <a:off x="3784427" y="4413504"/>
            <a:ext cx="3850081"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894155" y="4454651"/>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Type de contrat</a:t>
            </a:r>
          </a:p>
        </p:txBody>
      </p:sp>
      <p:sp>
        <p:nvSpPr>
          <p:cNvPr id="44" name="Rectangle 43"/>
          <p:cNvSpPr/>
          <p:nvPr/>
        </p:nvSpPr>
        <p:spPr>
          <a:xfrm>
            <a:off x="7634508" y="4413504"/>
            <a:ext cx="3960083"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44236" y="4454651"/>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Entrée catégorielle</a:t>
            </a:r>
          </a:p>
        </p:txBody>
      </p:sp>
      <p:cxnSp>
        <p:nvCxnSpPr>
          <p:cNvPr id="46" name="Connector 45"/>
          <p:cNvCxnSpPr/>
          <p:nvPr/>
        </p:nvCxnSpPr>
        <p:spPr>
          <a:xfrm>
            <a:off x="594360" y="50688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594360" y="5068824"/>
            <a:ext cx="3190067"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04088" y="5109972"/>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churn</a:t>
            </a:r>
          </a:p>
        </p:txBody>
      </p:sp>
      <p:sp>
        <p:nvSpPr>
          <p:cNvPr id="49" name="Rectangle 48"/>
          <p:cNvSpPr/>
          <p:nvPr/>
        </p:nvSpPr>
        <p:spPr>
          <a:xfrm>
            <a:off x="3784427" y="5068824"/>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894155" y="5109972"/>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Départ dans les 30 jours</a:t>
            </a:r>
          </a:p>
        </p:txBody>
      </p:sp>
      <p:sp>
        <p:nvSpPr>
          <p:cNvPr id="51" name="Rectangle 50"/>
          <p:cNvSpPr/>
          <p:nvPr/>
        </p:nvSpPr>
        <p:spPr>
          <a:xfrm>
            <a:off x="7634508" y="5068824"/>
            <a:ext cx="3960083"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44236" y="5109972"/>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Cible binaire</a:t>
            </a:r>
          </a:p>
        </p:txBody>
      </p:sp>
      <p:cxnSp>
        <p:nvCxnSpPr>
          <p:cNvPr id="53" name="Connector 52"/>
          <p:cNvCxnSpPr/>
          <p:nvPr/>
        </p:nvCxnSpPr>
        <p:spPr>
          <a:xfrm>
            <a:off x="594360" y="572414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Avant d’entraîner : inspecter le déséquilibre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Les statistiques affichées sont calculées sur le fichier joint, pas inventées.</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P01</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J2-014</a:t>
            </a:r>
          </a:p>
        </p:txBody>
      </p:sp>
      <p:sp>
        <p:nvSpPr>
          <p:cNvPr id="12" name="TextBox 11"/>
          <p:cNvSpPr txBox="1"/>
          <p:nvPr/>
        </p:nvSpPr>
        <p:spPr>
          <a:xfrm>
            <a:off x="731520" y="1965960"/>
            <a:ext cx="5486400" cy="1508760"/>
          </a:xfrm>
          <a:prstGeom prst="rect">
            <a:avLst/>
          </a:prstGeom>
          <a:noFill/>
        </p:spPr>
        <p:txBody>
          <a:bodyPr wrap="square" lIns="22860" rIns="22860" tIns="22860" bIns="22860" anchor="ctr">
            <a:spAutoFit/>
          </a:bodyPr>
          <a:lstStyle/>
          <a:p>
            <a:pPr>
              <a:spcBef>
                <a:spcPts val="0"/>
              </a:spcBef>
              <a:spcAft>
                <a:spcPts val="300"/>
              </a:spcAft>
              <a:defRPr sz="9300" b="1">
                <a:solidFill>
                  <a:srgbClr val="23468C"/>
                </a:solidFill>
                <a:latin typeface="Liberation Sans"/>
              </a:defRPr>
            </a:pPr>
            <a:r>
              <a:t>17,48 %</a:t>
            </a:r>
          </a:p>
        </p:txBody>
      </p:sp>
      <p:sp>
        <p:nvSpPr>
          <p:cNvPr id="13" name="TextBox 12"/>
          <p:cNvSpPr txBox="1"/>
          <p:nvPr/>
        </p:nvSpPr>
        <p:spPr>
          <a:xfrm>
            <a:off x="822960" y="3584448"/>
            <a:ext cx="5120640" cy="1051560"/>
          </a:xfrm>
          <a:prstGeom prst="rect">
            <a:avLst/>
          </a:prstGeom>
          <a:noFill/>
        </p:spPr>
        <p:txBody>
          <a:bodyPr wrap="square" lIns="22860" rIns="22860" tIns="22860" bIns="22860" anchor="ctr">
            <a:spAutoFit/>
          </a:bodyPr>
          <a:lstStyle/>
          <a:p>
            <a:pPr>
              <a:spcBef>
                <a:spcPts val="0"/>
              </a:spcBef>
              <a:spcAft>
                <a:spcPts val="300"/>
              </a:spcAft>
              <a:defRPr sz="2800" b="1">
                <a:solidFill>
                  <a:srgbClr val="132443"/>
                </a:solidFill>
                <a:latin typeface="Liberation Sans"/>
              </a:defRPr>
            </a:pPr>
            <a:r>
              <a:t>de départs dans le jeu synthétique complet</a:t>
            </a:r>
          </a:p>
        </p:txBody>
      </p:sp>
      <p:sp>
        <p:nvSpPr>
          <p:cNvPr id="14" name="Rounded Rectangle 13"/>
          <p:cNvSpPr/>
          <p:nvPr/>
        </p:nvSpPr>
        <p:spPr>
          <a:xfrm>
            <a:off x="6583680" y="1865376"/>
            <a:ext cx="5010912" cy="106984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0" y="1865376"/>
            <a:ext cx="54864" cy="106984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39128" y="1956816"/>
            <a:ext cx="470001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5 000</a:t>
            </a:r>
          </a:p>
        </p:txBody>
      </p:sp>
      <p:sp>
        <p:nvSpPr>
          <p:cNvPr id="17" name="TextBox 16"/>
          <p:cNvSpPr txBox="1"/>
          <p:nvPr/>
        </p:nvSpPr>
        <p:spPr>
          <a:xfrm>
            <a:off x="6739128" y="2267712"/>
            <a:ext cx="4700016" cy="612647"/>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clients fictifs</a:t>
            </a:r>
          </a:p>
        </p:txBody>
      </p:sp>
      <p:sp>
        <p:nvSpPr>
          <p:cNvPr id="18" name="Rounded Rectangle 17"/>
          <p:cNvSpPr/>
          <p:nvPr/>
        </p:nvSpPr>
        <p:spPr>
          <a:xfrm>
            <a:off x="6583680" y="3054096"/>
            <a:ext cx="5010912" cy="106984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0" y="3054096"/>
            <a:ext cx="54864" cy="1069848"/>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39128" y="3145536"/>
            <a:ext cx="470001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8C33"/>
                </a:solidFill>
                <a:latin typeface="Liberation Sans"/>
              </a:defRPr>
            </a:pPr>
            <a:r>
              <a:t>2 %</a:t>
            </a:r>
          </a:p>
        </p:txBody>
      </p:sp>
      <p:sp>
        <p:nvSpPr>
          <p:cNvPr id="21" name="TextBox 20"/>
          <p:cNvSpPr txBox="1"/>
          <p:nvPr/>
        </p:nvSpPr>
        <p:spPr>
          <a:xfrm>
            <a:off x="6739128" y="3456432"/>
            <a:ext cx="4700016" cy="612647"/>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de valeurs manquantes ajoutées à certains champs</a:t>
            </a:r>
          </a:p>
        </p:txBody>
      </p:sp>
      <p:sp>
        <p:nvSpPr>
          <p:cNvPr id="22" name="Rounded Rectangle 21"/>
          <p:cNvSpPr/>
          <p:nvPr/>
        </p:nvSpPr>
        <p:spPr>
          <a:xfrm>
            <a:off x="6583680" y="4242816"/>
            <a:ext cx="5010912" cy="106984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0" y="4242816"/>
            <a:ext cx="54864" cy="106984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39128" y="4334256"/>
            <a:ext cx="470001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0</a:t>
            </a:r>
          </a:p>
        </p:txBody>
      </p:sp>
      <p:sp>
        <p:nvSpPr>
          <p:cNvPr id="25" name="TextBox 24"/>
          <p:cNvSpPr txBox="1"/>
          <p:nvPr/>
        </p:nvSpPr>
        <p:spPr>
          <a:xfrm>
            <a:off x="6739128" y="4645152"/>
            <a:ext cx="4700016" cy="612647"/>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client réel utilisé</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Trois jeux, trois fonctions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Choisir sur validation ; évaluer une fois sur test.</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S03 · S29</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J2-015</a:t>
            </a:r>
          </a:p>
        </p:txBody>
      </p:sp>
      <p:sp>
        <p:nvSpPr>
          <p:cNvPr id="12" name="Rectangle 11"/>
          <p:cNvSpPr/>
          <p:nvPr/>
        </p:nvSpPr>
        <p:spPr>
          <a:xfrm>
            <a:off x="594360" y="2103120"/>
            <a:ext cx="6537960" cy="109728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286000"/>
            <a:ext cx="6263640" cy="594360"/>
          </a:xfrm>
          <a:prstGeom prst="rect">
            <a:avLst/>
          </a:prstGeom>
          <a:noFill/>
        </p:spPr>
        <p:txBody>
          <a:bodyPr wrap="square" lIns="22860" rIns="22860" tIns="22860" bIns="22860" anchor="ctr">
            <a:spAutoFit/>
          </a:bodyPr>
          <a:lstStyle/>
          <a:p>
            <a:pPr algn="ctr">
              <a:spcBef>
                <a:spcPts val="0"/>
              </a:spcBef>
              <a:spcAft>
                <a:spcPts val="300"/>
              </a:spcAft>
              <a:defRPr sz="3500" b="1">
                <a:solidFill>
                  <a:srgbClr val="FFFFFF"/>
                </a:solidFill>
                <a:latin typeface="Liberation Sans"/>
              </a:defRPr>
            </a:pPr>
            <a:r>
              <a:t>60 %</a:t>
            </a:r>
          </a:p>
        </p:txBody>
      </p:sp>
      <p:sp>
        <p:nvSpPr>
          <p:cNvPr id="14" name="TextBox 13"/>
          <p:cNvSpPr txBox="1"/>
          <p:nvPr/>
        </p:nvSpPr>
        <p:spPr>
          <a:xfrm>
            <a:off x="685800" y="3474720"/>
            <a:ext cx="6355080" cy="1051560"/>
          </a:xfrm>
          <a:prstGeom prst="rect">
            <a:avLst/>
          </a:prstGeom>
          <a:noFill/>
        </p:spPr>
        <p:txBody>
          <a:bodyPr wrap="square" lIns="22860" rIns="22860" tIns="22860" bIns="22860" anchor="ctr">
            <a:spAutoFit/>
          </a:bodyPr>
          <a:lstStyle/>
          <a:p>
            <a:pPr algn="ctr">
              <a:spcBef>
                <a:spcPts val="0"/>
              </a:spcBef>
              <a:spcAft>
                <a:spcPts val="300"/>
              </a:spcAft>
              <a:defRPr sz="2600" b="1">
                <a:solidFill>
                  <a:srgbClr val="132443"/>
                </a:solidFill>
                <a:latin typeface="Liberation Sans"/>
              </a:defRPr>
            </a:pPr>
            <a:r>
              <a:t>Entraînement</a:t>
            </a:r>
          </a:p>
          <a:p>
            <a:pPr algn="ctr">
              <a:spcBef>
                <a:spcPts val="0"/>
              </a:spcBef>
              <a:spcAft>
                <a:spcPts val="300"/>
              </a:spcAft>
              <a:defRPr sz="2600" b="1">
                <a:solidFill>
                  <a:srgbClr val="132443"/>
                </a:solidFill>
                <a:latin typeface="Liberation Sans"/>
              </a:defRPr>
            </a:pPr>
            <a:r>
              <a:t>3 000 clients</a:t>
            </a:r>
          </a:p>
        </p:txBody>
      </p:sp>
      <p:sp>
        <p:nvSpPr>
          <p:cNvPr id="15" name="Rectangle 14"/>
          <p:cNvSpPr/>
          <p:nvPr/>
        </p:nvSpPr>
        <p:spPr>
          <a:xfrm>
            <a:off x="7214616" y="2103120"/>
            <a:ext cx="2157984" cy="109728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51776" y="2286000"/>
            <a:ext cx="1883664" cy="594360"/>
          </a:xfrm>
          <a:prstGeom prst="rect">
            <a:avLst/>
          </a:prstGeom>
          <a:noFill/>
        </p:spPr>
        <p:txBody>
          <a:bodyPr wrap="square" lIns="22860" rIns="22860" tIns="22860" bIns="22860" anchor="ctr">
            <a:spAutoFit/>
          </a:bodyPr>
          <a:lstStyle/>
          <a:p>
            <a:pPr algn="ctr">
              <a:spcBef>
                <a:spcPts val="0"/>
              </a:spcBef>
              <a:spcAft>
                <a:spcPts val="300"/>
              </a:spcAft>
              <a:defRPr sz="3500" b="1">
                <a:solidFill>
                  <a:srgbClr val="FFFFFF"/>
                </a:solidFill>
                <a:latin typeface="Liberation Sans"/>
              </a:defRPr>
            </a:pPr>
            <a:r>
              <a:t>20 %</a:t>
            </a:r>
          </a:p>
        </p:txBody>
      </p:sp>
      <p:sp>
        <p:nvSpPr>
          <p:cNvPr id="17" name="TextBox 16"/>
          <p:cNvSpPr txBox="1"/>
          <p:nvPr/>
        </p:nvSpPr>
        <p:spPr>
          <a:xfrm>
            <a:off x="7306056" y="3474720"/>
            <a:ext cx="1975103" cy="1051560"/>
          </a:xfrm>
          <a:prstGeom prst="rect">
            <a:avLst/>
          </a:prstGeom>
          <a:noFill/>
        </p:spPr>
        <p:txBody>
          <a:bodyPr wrap="square" lIns="22860" rIns="22860" tIns="22860" bIns="22860" anchor="ctr">
            <a:spAutoFit/>
          </a:bodyPr>
          <a:lstStyle/>
          <a:p>
            <a:pPr algn="ctr">
              <a:spcBef>
                <a:spcPts val="0"/>
              </a:spcBef>
              <a:spcAft>
                <a:spcPts val="300"/>
              </a:spcAft>
              <a:defRPr sz="2150" b="1">
                <a:solidFill>
                  <a:srgbClr val="132443"/>
                </a:solidFill>
                <a:latin typeface="Liberation Sans"/>
              </a:defRPr>
            </a:pPr>
            <a:r>
              <a:t>Validation</a:t>
            </a:r>
          </a:p>
          <a:p>
            <a:pPr algn="ctr">
              <a:spcBef>
                <a:spcPts val="0"/>
              </a:spcBef>
              <a:spcAft>
                <a:spcPts val="300"/>
              </a:spcAft>
              <a:defRPr sz="2150" b="1">
                <a:solidFill>
                  <a:srgbClr val="132443"/>
                </a:solidFill>
                <a:latin typeface="Liberation Sans"/>
              </a:defRPr>
            </a:pPr>
            <a:r>
              <a:t>1 000 clients</a:t>
            </a:r>
          </a:p>
        </p:txBody>
      </p:sp>
      <p:sp>
        <p:nvSpPr>
          <p:cNvPr id="18" name="Rectangle 17"/>
          <p:cNvSpPr/>
          <p:nvPr/>
        </p:nvSpPr>
        <p:spPr>
          <a:xfrm>
            <a:off x="9454896" y="2103120"/>
            <a:ext cx="2157984" cy="109728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92056" y="2286000"/>
            <a:ext cx="1883664" cy="594360"/>
          </a:xfrm>
          <a:prstGeom prst="rect">
            <a:avLst/>
          </a:prstGeom>
          <a:noFill/>
        </p:spPr>
        <p:txBody>
          <a:bodyPr wrap="square" lIns="22860" rIns="22860" tIns="22860" bIns="22860" anchor="ctr">
            <a:spAutoFit/>
          </a:bodyPr>
          <a:lstStyle/>
          <a:p>
            <a:pPr algn="ctr">
              <a:spcBef>
                <a:spcPts val="0"/>
              </a:spcBef>
              <a:spcAft>
                <a:spcPts val="300"/>
              </a:spcAft>
              <a:defRPr sz="3500" b="1">
                <a:solidFill>
                  <a:srgbClr val="FFFFFF"/>
                </a:solidFill>
                <a:latin typeface="Liberation Sans"/>
              </a:defRPr>
            </a:pPr>
            <a:r>
              <a:t>20 %</a:t>
            </a:r>
          </a:p>
        </p:txBody>
      </p:sp>
      <p:sp>
        <p:nvSpPr>
          <p:cNvPr id="20" name="TextBox 19"/>
          <p:cNvSpPr txBox="1"/>
          <p:nvPr/>
        </p:nvSpPr>
        <p:spPr>
          <a:xfrm>
            <a:off x="9546336" y="3474720"/>
            <a:ext cx="1975103" cy="1051560"/>
          </a:xfrm>
          <a:prstGeom prst="rect">
            <a:avLst/>
          </a:prstGeom>
          <a:noFill/>
        </p:spPr>
        <p:txBody>
          <a:bodyPr wrap="square" lIns="22860" rIns="22860" tIns="22860" bIns="22860" anchor="ctr">
            <a:spAutoFit/>
          </a:bodyPr>
          <a:lstStyle/>
          <a:p>
            <a:pPr algn="ctr">
              <a:spcBef>
                <a:spcPts val="0"/>
              </a:spcBef>
              <a:spcAft>
                <a:spcPts val="300"/>
              </a:spcAft>
              <a:defRPr sz="2150" b="1">
                <a:solidFill>
                  <a:srgbClr val="132443"/>
                </a:solidFill>
                <a:latin typeface="Liberation Sans"/>
              </a:defRPr>
            </a:pPr>
            <a:r>
              <a:t>Test</a:t>
            </a:r>
          </a:p>
          <a:p>
            <a:pPr algn="ctr">
              <a:spcBef>
                <a:spcPts val="0"/>
              </a:spcBef>
              <a:spcAft>
                <a:spcPts val="300"/>
              </a:spcAft>
              <a:defRPr sz="2150" b="1">
                <a:solidFill>
                  <a:srgbClr val="132443"/>
                </a:solidFill>
                <a:latin typeface="Liberation Sans"/>
              </a:defRPr>
            </a:pPr>
            <a:r>
              <a:t>1 000 clients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250" b="1">
                <a:solidFill>
                  <a:srgbClr val="132443"/>
                </a:solidFill>
                <a:latin typeface="Liberation Sans"/>
              </a:defRPr>
            </a:pPr>
            <a:r>
              <a:t>Prétraitement : apprendre sur le train seulement</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Même chaîne en expérimentation et en usage réel, avec paramètres appris correctement.</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S03</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J2-016</a:t>
            </a:r>
          </a:p>
        </p:txBody>
      </p:sp>
      <p:sp>
        <p:nvSpPr>
          <p:cNvPr id="12" name="Rounded Rectangle 11"/>
          <p:cNvSpPr/>
          <p:nvPr/>
        </p:nvSpPr>
        <p:spPr>
          <a:xfrm>
            <a:off x="594360"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01</a:t>
            </a:r>
          </a:p>
        </p:txBody>
      </p:sp>
      <p:sp>
        <p:nvSpPr>
          <p:cNvPr id="15" name="TextBox 14"/>
          <p:cNvSpPr txBox="1"/>
          <p:nvPr/>
        </p:nvSpPr>
        <p:spPr>
          <a:xfrm>
            <a:off x="768096"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Manquants</a:t>
            </a:r>
          </a:p>
        </p:txBody>
      </p:sp>
      <p:sp>
        <p:nvSpPr>
          <p:cNvPr id="16" name="TextBox 15"/>
          <p:cNvSpPr txBox="1"/>
          <p:nvPr/>
        </p:nvSpPr>
        <p:spPr>
          <a:xfrm>
            <a:off x="758952"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Médiane ou modalité fréquente</a:t>
            </a:r>
          </a:p>
        </p:txBody>
      </p:sp>
      <p:sp>
        <p:nvSpPr>
          <p:cNvPr id="17" name="Chevron 16"/>
          <p:cNvSpPr/>
          <p:nvPr/>
        </p:nvSpPr>
        <p:spPr>
          <a:xfrm>
            <a:off x="3182112"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415284"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15284"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89020"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02</a:t>
            </a:r>
          </a:p>
        </p:txBody>
      </p:sp>
      <p:sp>
        <p:nvSpPr>
          <p:cNvPr id="21" name="TextBox 20"/>
          <p:cNvSpPr txBox="1"/>
          <p:nvPr/>
        </p:nvSpPr>
        <p:spPr>
          <a:xfrm>
            <a:off x="3589020"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Catégories</a:t>
            </a:r>
          </a:p>
        </p:txBody>
      </p:sp>
      <p:sp>
        <p:nvSpPr>
          <p:cNvPr id="22" name="TextBox 21"/>
          <p:cNvSpPr txBox="1"/>
          <p:nvPr/>
        </p:nvSpPr>
        <p:spPr>
          <a:xfrm>
            <a:off x="3579876"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Encodage stable</a:t>
            </a:r>
          </a:p>
        </p:txBody>
      </p:sp>
      <p:sp>
        <p:nvSpPr>
          <p:cNvPr id="23" name="Chevron 22"/>
          <p:cNvSpPr/>
          <p:nvPr/>
        </p:nvSpPr>
        <p:spPr>
          <a:xfrm>
            <a:off x="6003036"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236208"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36208"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9944"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03</a:t>
            </a:r>
          </a:p>
        </p:txBody>
      </p:sp>
      <p:sp>
        <p:nvSpPr>
          <p:cNvPr id="27" name="TextBox 26"/>
          <p:cNvSpPr txBox="1"/>
          <p:nvPr/>
        </p:nvSpPr>
        <p:spPr>
          <a:xfrm>
            <a:off x="6409944"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Échelles</a:t>
            </a:r>
          </a:p>
        </p:txBody>
      </p:sp>
      <p:sp>
        <p:nvSpPr>
          <p:cNvPr id="28" name="TextBox 27"/>
          <p:cNvSpPr txBox="1"/>
          <p:nvPr/>
        </p:nvSpPr>
        <p:spPr>
          <a:xfrm>
            <a:off x="6400800"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Normalisation si utile</a:t>
            </a:r>
          </a:p>
        </p:txBody>
      </p:sp>
      <p:sp>
        <p:nvSpPr>
          <p:cNvPr id="29" name="Chevron 28"/>
          <p:cNvSpPr/>
          <p:nvPr/>
        </p:nvSpPr>
        <p:spPr>
          <a:xfrm>
            <a:off x="8823960"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057132"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057132"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30867"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04</a:t>
            </a:r>
          </a:p>
        </p:txBody>
      </p:sp>
      <p:sp>
        <p:nvSpPr>
          <p:cNvPr id="33" name="TextBox 32"/>
          <p:cNvSpPr txBox="1"/>
          <p:nvPr/>
        </p:nvSpPr>
        <p:spPr>
          <a:xfrm>
            <a:off x="9230867"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Modèle</a:t>
            </a:r>
          </a:p>
        </p:txBody>
      </p:sp>
      <p:sp>
        <p:nvSpPr>
          <p:cNvPr id="34" name="TextBox 33"/>
          <p:cNvSpPr txBox="1"/>
          <p:nvPr/>
        </p:nvSpPr>
        <p:spPr>
          <a:xfrm>
            <a:off x="9221724"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Apprentissage supervisé</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Lire le code par blocs fonctionnels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Extrait de lecture ; le notebook joint contient le programme complet.</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S02 · S03</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J2-017</a:t>
            </a:r>
          </a:p>
        </p:txBody>
      </p:sp>
      <p:sp>
        <p:nvSpPr>
          <p:cNvPr id="12" name="Rounded Rectangle 11"/>
          <p:cNvSpPr/>
          <p:nvPr/>
        </p:nvSpPr>
        <p:spPr>
          <a:xfrm>
            <a:off x="594360" y="1828800"/>
            <a:ext cx="7315200" cy="3840480"/>
          </a:xfrm>
          <a:prstGeom prst="round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2057400"/>
            <a:ext cx="6839712" cy="3383280"/>
          </a:xfrm>
          <a:prstGeom prst="rect">
            <a:avLst/>
          </a:prstGeom>
          <a:noFill/>
        </p:spPr>
        <p:txBody>
          <a:bodyPr wrap="square" lIns="22860" rIns="22860" tIns="22860" bIns="22860" anchor="ctr">
            <a:spAutoFit/>
          </a:bodyPr>
          <a:lstStyle/>
          <a:p>
            <a:pPr>
              <a:spcBef>
                <a:spcPts val="0"/>
              </a:spcBef>
              <a:spcAft>
                <a:spcPts val="300"/>
              </a:spcAft>
              <a:defRPr sz="2050" b="0">
                <a:solidFill>
                  <a:srgbClr val="FFFFFF"/>
                </a:solidFill>
                <a:latin typeface="Liberation Sans"/>
              </a:defRPr>
            </a:pPr>
            <a:r>
              <a:t>numerique = Pipeline([</a:t>
            </a:r>
          </a:p>
          <a:p>
            <a:pPr>
              <a:spcBef>
                <a:spcPts val="0"/>
              </a:spcBef>
              <a:spcAft>
                <a:spcPts val="300"/>
              </a:spcAft>
              <a:defRPr sz="2050" b="0">
                <a:solidFill>
                  <a:srgbClr val="FFFFFF"/>
                </a:solidFill>
                <a:latin typeface="Liberation Sans"/>
              </a:defRPr>
            </a:pPr>
            <a:r>
              <a:t>    ("imputer", SimpleImputer(strategy="median")),</a:t>
            </a:r>
          </a:p>
          <a:p>
            <a:pPr>
              <a:spcBef>
                <a:spcPts val="0"/>
              </a:spcBef>
              <a:spcAft>
                <a:spcPts val="300"/>
              </a:spcAft>
              <a:defRPr sz="2050" b="0">
                <a:solidFill>
                  <a:srgbClr val="FFFFFF"/>
                </a:solidFill>
                <a:latin typeface="Liberation Sans"/>
              </a:defRPr>
            </a:pPr>
            <a:r>
              <a:t>    ("normaliser", StandardScaler())</a:t>
            </a:r>
          </a:p>
          <a:p>
            <a:pPr>
              <a:spcBef>
                <a:spcPts val="0"/>
              </a:spcBef>
              <a:spcAft>
                <a:spcPts val="300"/>
              </a:spcAft>
              <a:defRPr sz="2050" b="0">
                <a:solidFill>
                  <a:srgbClr val="FFFFFF"/>
                </a:solidFill>
                <a:latin typeface="Liberation Sans"/>
              </a:defRPr>
            </a:pPr>
            <a:r>
              <a:t>])</a:t>
            </a:r>
          </a:p>
          <a:p>
            <a:pPr>
              <a:spcBef>
                <a:spcPts val="0"/>
              </a:spcBef>
              <a:spcAft>
                <a:spcPts val="300"/>
              </a:spcAft>
              <a:defRPr sz="2050" b="0">
                <a:solidFill>
                  <a:srgbClr val="FFFFFF"/>
                </a:solidFill>
                <a:latin typeface="Liberation Sans"/>
              </a:defRPr>
            </a:pPr>
          </a:p>
          <a:p>
            <a:pPr>
              <a:spcBef>
                <a:spcPts val="0"/>
              </a:spcBef>
              <a:spcAft>
                <a:spcPts val="300"/>
              </a:spcAft>
              <a:defRPr sz="2050" b="0">
                <a:solidFill>
                  <a:srgbClr val="FFFFFF"/>
                </a:solidFill>
                <a:latin typeface="Liberation Sans"/>
              </a:defRPr>
            </a:pPr>
            <a:r>
              <a:t>modele = Pipeline([</a:t>
            </a:r>
          </a:p>
          <a:p>
            <a:pPr>
              <a:spcBef>
                <a:spcPts val="0"/>
              </a:spcBef>
              <a:spcAft>
                <a:spcPts val="300"/>
              </a:spcAft>
              <a:defRPr sz="2050" b="0">
                <a:solidFill>
                  <a:srgbClr val="FFFFFF"/>
                </a:solidFill>
                <a:latin typeface="Liberation Sans"/>
              </a:defRPr>
            </a:pPr>
            <a:r>
              <a:t>    ("preparation", traitement),</a:t>
            </a:r>
          </a:p>
          <a:p>
            <a:pPr>
              <a:spcBef>
                <a:spcPts val="0"/>
              </a:spcBef>
              <a:spcAft>
                <a:spcPts val="300"/>
              </a:spcAft>
              <a:defRPr sz="2050" b="0">
                <a:solidFill>
                  <a:srgbClr val="FFFFFF"/>
                </a:solidFill>
                <a:latin typeface="Liberation Sans"/>
              </a:defRPr>
            </a:pPr>
            <a:r>
              <a:t>    ("modele", LogisticRegression(max_iter=1000))</a:t>
            </a:r>
          </a:p>
          <a:p>
            <a:pPr>
              <a:spcBef>
                <a:spcPts val="0"/>
              </a:spcBef>
              <a:spcAft>
                <a:spcPts val="300"/>
              </a:spcAft>
              <a:defRPr sz="2050" b="0">
                <a:solidFill>
                  <a:srgbClr val="FFFFFF"/>
                </a:solidFill>
                <a:latin typeface="Liberation Sans"/>
              </a:defRPr>
            </a:pPr>
            <a:r>
              <a:t>])</a:t>
            </a:r>
          </a:p>
        </p:txBody>
      </p:sp>
      <p:sp>
        <p:nvSpPr>
          <p:cNvPr id="14" name="Rounded Rectangle 13"/>
          <p:cNvSpPr/>
          <p:nvPr/>
        </p:nvSpPr>
        <p:spPr>
          <a:xfrm>
            <a:off x="8174736" y="1828800"/>
            <a:ext cx="3419856" cy="1792224"/>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74736" y="1828800"/>
            <a:ext cx="54864" cy="179222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48471" y="1965960"/>
            <a:ext cx="3072384"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Préparer</a:t>
            </a:r>
          </a:p>
        </p:txBody>
      </p:sp>
      <p:sp>
        <p:nvSpPr>
          <p:cNvPr id="17" name="TextBox 16"/>
          <p:cNvSpPr txBox="1"/>
          <p:nvPr/>
        </p:nvSpPr>
        <p:spPr>
          <a:xfrm>
            <a:off x="8339327" y="2505456"/>
            <a:ext cx="3090672" cy="969264"/>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Remplacer, coder, normaliser.</a:t>
            </a:r>
          </a:p>
        </p:txBody>
      </p:sp>
      <p:sp>
        <p:nvSpPr>
          <p:cNvPr id="18" name="Rounded Rectangle 17"/>
          <p:cNvSpPr/>
          <p:nvPr/>
        </p:nvSpPr>
        <p:spPr>
          <a:xfrm>
            <a:off x="8174736" y="3749039"/>
            <a:ext cx="3419856" cy="1792224"/>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74736" y="3749039"/>
            <a:ext cx="54864" cy="179222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48471" y="3886200"/>
            <a:ext cx="3072384"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Apprendre</a:t>
            </a:r>
          </a:p>
        </p:txBody>
      </p:sp>
      <p:sp>
        <p:nvSpPr>
          <p:cNvPr id="21" name="TextBox 20"/>
          <p:cNvSpPr txBox="1"/>
          <p:nvPr/>
        </p:nvSpPr>
        <p:spPr>
          <a:xfrm>
            <a:off x="8339327" y="4425696"/>
            <a:ext cx="3090672" cy="969264"/>
          </a:xfrm>
          <a:prstGeom prst="rect">
            <a:avLst/>
          </a:prstGeom>
          <a:noFill/>
        </p:spPr>
        <p:txBody>
          <a:bodyPr wrap="square" lIns="22860" rIns="22860" tIns="22860" bIns="22860" anchor="t">
            <a:spAutoFit/>
          </a:bodyPr>
          <a:lstStyle/>
          <a:p>
            <a:pPr>
              <a:spcBef>
                <a:spcPts val="0"/>
              </a:spcBef>
              <a:spcAft>
                <a:spcPts val="300"/>
              </a:spcAft>
              <a:defRPr sz="1950" b="0">
                <a:solidFill>
                  <a:srgbClr val="0D0D0D"/>
                </a:solidFill>
                <a:latin typeface="Liberation Sans"/>
              </a:defRPr>
            </a:pPr>
            <a:r>
              <a:t>Ajuster les paramètres du classifieur.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Trois modèles, une comparaison équitable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Le protocole de comparaison compte autant que le modèle choisi.</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P01</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J2-018</a:t>
            </a:r>
          </a:p>
        </p:txBody>
      </p:sp>
      <p:sp>
        <p:nvSpPr>
          <p:cNvPr id="12" name="Rounded Rectangle 11"/>
          <p:cNvSpPr/>
          <p:nvPr/>
        </p:nvSpPr>
        <p:spPr>
          <a:xfrm>
            <a:off x="594360"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Majoritaire</a:t>
            </a:r>
          </a:p>
        </p:txBody>
      </p:sp>
      <p:sp>
        <p:nvSpPr>
          <p:cNvPr id="15" name="TextBox 14"/>
          <p:cNvSpPr txBox="1"/>
          <p:nvPr/>
        </p:nvSpPr>
        <p:spPr>
          <a:xfrm>
            <a:off x="758952"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Une référence qui prédit la classe dominante.</a:t>
            </a:r>
          </a:p>
        </p:txBody>
      </p:sp>
      <p:sp>
        <p:nvSpPr>
          <p:cNvPr id="16" name="Rounded Rectangle 15"/>
          <p:cNvSpPr/>
          <p:nvPr/>
        </p:nvSpPr>
        <p:spPr>
          <a:xfrm>
            <a:off x="6195059"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Logistique</a:t>
            </a:r>
          </a:p>
        </p:txBody>
      </p:sp>
      <p:sp>
        <p:nvSpPr>
          <p:cNvPr id="19" name="TextBox 18"/>
          <p:cNvSpPr txBox="1"/>
          <p:nvPr/>
        </p:nvSpPr>
        <p:spPr>
          <a:xfrm>
            <a:off x="6359651"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Une relation paramétrée relativement simple.</a:t>
            </a:r>
          </a:p>
        </p:txBody>
      </p:sp>
      <p:sp>
        <p:nvSpPr>
          <p:cNvPr id="20" name="Rounded Rectangle 19"/>
          <p:cNvSpPr/>
          <p:nvPr/>
        </p:nvSpPr>
        <p:spPr>
          <a:xfrm>
            <a:off x="594360"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Forêt</a:t>
            </a:r>
          </a:p>
        </p:txBody>
      </p:sp>
      <p:sp>
        <p:nvSpPr>
          <p:cNvPr id="23" name="TextBox 22"/>
          <p:cNvSpPr txBox="1"/>
          <p:nvPr/>
        </p:nvSpPr>
        <p:spPr>
          <a:xfrm>
            <a:off x="758952"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 ensemble d’arbres aux réglages limités.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32443"/>
        </a:solidFill>
        <a:effectLst/>
      </p:bgPr>
    </p:bg>
    <p:spTree>
      <p:nvGrpSpPr>
        <p:cNvPr id="1" name=""/>
        <p:cNvGrpSpPr/>
        <p:nvPr/>
      </p:nvGrpSpPr>
      <p:grpSpPr/>
      <p:sp>
        <p:nvSpPr>
          <p:cNvPr id="2" name="TextBox 1"/>
          <p:cNvSpPr txBox="1"/>
          <p:nvPr/>
        </p:nvSpPr>
        <p:spPr>
          <a:xfrm>
            <a:off x="594360" y="457200"/>
            <a:ext cx="10058400" cy="365760"/>
          </a:xfrm>
          <a:prstGeom prst="rect">
            <a:avLst/>
          </a:prstGeom>
          <a:noFill/>
        </p:spPr>
        <p:txBody>
          <a:bodyPr wrap="square" lIns="22860" rIns="22860" tIns="22860" bIns="22860" anchor="ctr">
            <a:spAutoFit/>
          </a:bodyPr>
          <a:lstStyle/>
          <a:p>
            <a:pPr>
              <a:spcBef>
                <a:spcPts val="0"/>
              </a:spcBef>
              <a:spcAft>
                <a:spcPts val="300"/>
              </a:spcAft>
              <a:defRPr sz="1400" b="1">
                <a:solidFill>
                  <a:srgbClr val="FFFFFF"/>
                </a:solidFill>
                <a:latin typeface="Liberation Sans"/>
              </a:defRPr>
            </a:pPr>
            <a:r>
              <a:t>JOUR 2  /  B4  /  NIVEAU APPLICATION</a:t>
            </a:r>
          </a:p>
        </p:txBody>
      </p:sp>
      <p:sp>
        <p:nvSpPr>
          <p:cNvPr id="3" name="TextBox 2"/>
          <p:cNvSpPr txBox="1"/>
          <p:nvPr/>
        </p:nvSpPr>
        <p:spPr>
          <a:xfrm>
            <a:off x="594360" y="1353312"/>
            <a:ext cx="10607040" cy="1965960"/>
          </a:xfrm>
          <a:prstGeom prst="rect">
            <a:avLst/>
          </a:prstGeom>
          <a:noFill/>
        </p:spPr>
        <p:txBody>
          <a:bodyPr wrap="square" lIns="22860" rIns="22860" tIns="22860" bIns="22860" anchor="ctr">
            <a:spAutoFit/>
          </a:bodyPr>
          <a:lstStyle/>
          <a:p>
            <a:pPr>
              <a:spcBef>
                <a:spcPts val="0"/>
              </a:spcBef>
              <a:spcAft>
                <a:spcPts val="300"/>
              </a:spcAft>
              <a:defRPr sz="4200" b="1">
                <a:solidFill>
                  <a:srgbClr val="FFFFFF"/>
                </a:solidFill>
                <a:latin typeface="Liberation Sans"/>
              </a:defRPr>
            </a:pPr>
            <a:r>
              <a:t>Le modèle choisi doit servir la décision</a:t>
            </a:r>
          </a:p>
        </p:txBody>
      </p:sp>
      <p:sp>
        <p:nvSpPr>
          <p:cNvPr id="4" name="TextBox 3"/>
          <p:cNvSpPr txBox="1"/>
          <p:nvPr/>
        </p:nvSpPr>
        <p:spPr>
          <a:xfrm>
            <a:off x="658368" y="3675887"/>
            <a:ext cx="10789920" cy="457200"/>
          </a:xfrm>
          <a:prstGeom prst="rect">
            <a:avLst/>
          </a:prstGeom>
          <a:noFill/>
        </p:spPr>
        <p:txBody>
          <a:bodyPr wrap="square" lIns="22860" rIns="22860" tIns="22860" bIns="22860" anchor="ctr">
            <a:spAutoFit/>
          </a:bodyPr>
          <a:lstStyle/>
          <a:p>
            <a:pPr>
              <a:spcBef>
                <a:spcPts val="0"/>
              </a:spcBef>
              <a:spcAft>
                <a:spcPts val="300"/>
              </a:spcAft>
              <a:defRPr sz="2400" b="0">
                <a:solidFill>
                  <a:srgbClr val="FFFFFF"/>
                </a:solidFill>
                <a:latin typeface="Liberation Sans"/>
              </a:defRPr>
            </a:pPr>
            <a:r>
              <a:t>01  Métriques</a:t>
            </a:r>
          </a:p>
        </p:txBody>
      </p:sp>
      <p:sp>
        <p:nvSpPr>
          <p:cNvPr id="5" name="TextBox 4"/>
          <p:cNvSpPr txBox="1"/>
          <p:nvPr/>
        </p:nvSpPr>
        <p:spPr>
          <a:xfrm>
            <a:off x="658368" y="4224527"/>
            <a:ext cx="10789920" cy="457200"/>
          </a:xfrm>
          <a:prstGeom prst="rect">
            <a:avLst/>
          </a:prstGeom>
          <a:noFill/>
        </p:spPr>
        <p:txBody>
          <a:bodyPr wrap="square" lIns="22860" rIns="22860" tIns="22860" bIns="22860" anchor="ctr">
            <a:spAutoFit/>
          </a:bodyPr>
          <a:lstStyle/>
          <a:p>
            <a:pPr>
              <a:spcBef>
                <a:spcPts val="0"/>
              </a:spcBef>
              <a:spcAft>
                <a:spcPts val="300"/>
              </a:spcAft>
              <a:defRPr sz="2400" b="0">
                <a:solidFill>
                  <a:srgbClr val="FFFFFF"/>
                </a:solidFill>
                <a:latin typeface="Liberation Sans"/>
              </a:defRPr>
            </a:pPr>
            <a:r>
              <a:t>02  Seuil</a:t>
            </a:r>
          </a:p>
        </p:txBody>
      </p:sp>
      <p:sp>
        <p:nvSpPr>
          <p:cNvPr id="6" name="TextBox 5"/>
          <p:cNvSpPr txBox="1"/>
          <p:nvPr/>
        </p:nvSpPr>
        <p:spPr>
          <a:xfrm>
            <a:off x="658368" y="4773168"/>
            <a:ext cx="10789920" cy="457200"/>
          </a:xfrm>
          <a:prstGeom prst="rect">
            <a:avLst/>
          </a:prstGeom>
          <a:noFill/>
        </p:spPr>
        <p:txBody>
          <a:bodyPr wrap="square" lIns="22860" rIns="22860" tIns="22860" bIns="22860" anchor="ctr">
            <a:spAutoFit/>
          </a:bodyPr>
          <a:lstStyle/>
          <a:p>
            <a:pPr>
              <a:spcBef>
                <a:spcPts val="0"/>
              </a:spcBef>
              <a:spcAft>
                <a:spcPts val="300"/>
              </a:spcAft>
              <a:defRPr sz="2400" b="0">
                <a:solidFill>
                  <a:srgbClr val="FFFFFF"/>
                </a:solidFill>
                <a:latin typeface="Liberation Sans"/>
              </a:defRPr>
            </a:pPr>
            <a:r>
              <a:t>03  Coût des erreurs</a:t>
            </a:r>
          </a:p>
        </p:txBody>
      </p:sp>
      <p:sp>
        <p:nvSpPr>
          <p:cNvPr id="7" name="TextBox 6"/>
          <p:cNvSpPr txBox="1"/>
          <p:nvPr/>
        </p:nvSpPr>
        <p:spPr>
          <a:xfrm>
            <a:off x="594360" y="6080760"/>
            <a:ext cx="10972800" cy="384048"/>
          </a:xfrm>
          <a:prstGeom prst="rect">
            <a:avLst/>
          </a:prstGeom>
          <a:noFill/>
        </p:spPr>
        <p:txBody>
          <a:bodyPr wrap="square" lIns="22860" rIns="22860" tIns="22860" bIns="22860" anchor="ctr">
            <a:spAutoFit/>
          </a:bodyPr>
          <a:lstStyle/>
          <a:p>
            <a:pPr>
              <a:spcBef>
                <a:spcPts val="0"/>
              </a:spcBef>
              <a:spcAft>
                <a:spcPts val="300"/>
              </a:spcAft>
              <a:defRPr sz="1800" b="1">
                <a:solidFill>
                  <a:srgbClr val="D9CF4A"/>
                </a:solidFill>
                <a:latin typeface="Liberation Sans"/>
              </a:defRPr>
            </a:pPr>
            <a:r>
              <a:t>20 minutes d’apports entre les deux parties du TP</a:t>
            </a:r>
          </a:p>
        </p:txBody>
      </p:sp>
      <p:sp>
        <p:nvSpPr>
          <p:cNvPr id="8" name="TextBox 7"/>
          <p:cNvSpPr txBox="1"/>
          <p:nvPr/>
        </p:nvSpPr>
        <p:spPr>
          <a:xfrm>
            <a:off x="594360" y="6556248"/>
            <a:ext cx="9144000" cy="146304"/>
          </a:xfrm>
          <a:prstGeom prst="rect">
            <a:avLst/>
          </a:prstGeom>
          <a:noFill/>
        </p:spPr>
        <p:txBody>
          <a:bodyPr wrap="square" lIns="22860" rIns="22860" tIns="22860" bIns="22860" anchor="ctr">
            <a:spAutoFit/>
          </a:bodyPr>
          <a:lstStyle/>
          <a:p>
            <a:pPr>
              <a:spcBef>
                <a:spcPts val="0"/>
              </a:spcBef>
              <a:spcAft>
                <a:spcPts val="300"/>
              </a:spcAft>
              <a:defRPr sz="1300" b="0">
                <a:solidFill>
                  <a:srgbClr val="FFFFFF"/>
                </a:solidFill>
                <a:latin typeface="Liberation Sans"/>
              </a:defRPr>
            </a:pPr>
            <a:r>
              <a:t>https://p2enjoy.studio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Précision et rappel : deux dénominateurs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Le bon indicateur dépend de la question posée à la file de travail.</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S04</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J2-020</a:t>
            </a:r>
          </a:p>
        </p:txBody>
      </p:sp>
      <p:sp>
        <p:nvSpPr>
          <p:cNvPr id="12" name="Rounded Rectangle 11"/>
          <p:cNvSpPr/>
          <p:nvPr/>
        </p:nvSpPr>
        <p:spPr>
          <a:xfrm>
            <a:off x="594360" y="1783080"/>
            <a:ext cx="5399531" cy="38862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38862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Précision</a:t>
            </a:r>
          </a:p>
        </p:txBody>
      </p:sp>
      <p:sp>
        <p:nvSpPr>
          <p:cNvPr id="15" name="TextBox 14"/>
          <p:cNvSpPr txBox="1"/>
          <p:nvPr/>
        </p:nvSpPr>
        <p:spPr>
          <a:xfrm>
            <a:off x="758952" y="2459736"/>
            <a:ext cx="5070347" cy="306324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Vrais positifs / toutes les alertes.</a:t>
            </a:r>
          </a:p>
          <a:p>
            <a:pPr>
              <a:spcBef>
                <a:spcPts val="0"/>
              </a:spcBef>
              <a:spcAft>
                <a:spcPts val="300"/>
              </a:spcAft>
              <a:defRPr sz="2100" b="0">
                <a:solidFill>
                  <a:srgbClr val="0D0D0D"/>
                </a:solidFill>
                <a:latin typeface="Liberation Sans"/>
              </a:defRPr>
            </a:pPr>
            <a:r>
              <a:t>« Parmi les alertes, combien sont pertinentes ? »</a:t>
            </a:r>
          </a:p>
        </p:txBody>
      </p:sp>
      <p:sp>
        <p:nvSpPr>
          <p:cNvPr id="16" name="Rounded Rectangle 15"/>
          <p:cNvSpPr/>
          <p:nvPr/>
        </p:nvSpPr>
        <p:spPr>
          <a:xfrm>
            <a:off x="6195059" y="1783080"/>
            <a:ext cx="5399531" cy="38862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38862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Rappel</a:t>
            </a:r>
          </a:p>
        </p:txBody>
      </p:sp>
      <p:sp>
        <p:nvSpPr>
          <p:cNvPr id="19" name="TextBox 18"/>
          <p:cNvSpPr txBox="1"/>
          <p:nvPr/>
        </p:nvSpPr>
        <p:spPr>
          <a:xfrm>
            <a:off x="6359651" y="2459736"/>
            <a:ext cx="5070347" cy="306324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Vrais positifs / tous les départs réels.</a:t>
            </a:r>
          </a:p>
          <a:p>
            <a:pPr>
              <a:spcBef>
                <a:spcPts val="0"/>
              </a:spcBef>
              <a:spcAft>
                <a:spcPts val="300"/>
              </a:spcAft>
              <a:defRPr sz="2100" b="0">
                <a:solidFill>
                  <a:srgbClr val="0D0D0D"/>
                </a:solidFill>
                <a:latin typeface="Liberation Sans"/>
              </a:defRPr>
            </a:pPr>
            <a:r>
              <a:t>« Parmi les départs, combien sont repérés ?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150" b="1">
                <a:solidFill>
                  <a:srgbClr val="132443"/>
                </a:solidFill>
                <a:latin typeface="Liberation Sans"/>
              </a:defRPr>
            </a:pPr>
            <a:r>
              <a:t>Comparer un classement et une décision au seuil</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Ne pas traduire une métrique technique dans une unité qu’elle ne mesure pas.</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S04</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J2-021</a:t>
            </a:r>
          </a:p>
        </p:txBody>
      </p:sp>
      <p:sp>
        <p:nvSpPr>
          <p:cNvPr id="12" name="Rounded Rectangle 11"/>
          <p:cNvSpPr/>
          <p:nvPr/>
        </p:nvSpPr>
        <p:spPr>
          <a:xfrm>
            <a:off x="594360"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Score continu</a:t>
            </a:r>
          </a:p>
        </p:txBody>
      </p:sp>
      <p:sp>
        <p:nvSpPr>
          <p:cNvPr id="15" name="TextBox 14"/>
          <p:cNvSpPr txBox="1"/>
          <p:nvPr/>
        </p:nvSpPr>
        <p:spPr>
          <a:xfrm>
            <a:off x="758952"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Il permet d’ordonner les observations.</a:t>
            </a:r>
          </a:p>
        </p:txBody>
      </p:sp>
      <p:sp>
        <p:nvSpPr>
          <p:cNvPr id="16" name="Rounded Rectangle 15"/>
          <p:cNvSpPr/>
          <p:nvPr/>
        </p:nvSpPr>
        <p:spPr>
          <a:xfrm>
            <a:off x="6195059"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Average Precision</a:t>
            </a:r>
          </a:p>
        </p:txBody>
      </p:sp>
      <p:sp>
        <p:nvSpPr>
          <p:cNvPr id="19" name="TextBox 18"/>
          <p:cNvSpPr txBox="1"/>
          <p:nvPr/>
        </p:nvSpPr>
        <p:spPr>
          <a:xfrm>
            <a:off x="6359651"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Elle résume la courbe précision-rappel.</a:t>
            </a:r>
          </a:p>
        </p:txBody>
      </p:sp>
      <p:sp>
        <p:nvSpPr>
          <p:cNvPr id="20" name="Rounded Rectangle 19"/>
          <p:cNvSpPr/>
          <p:nvPr/>
        </p:nvSpPr>
        <p:spPr>
          <a:xfrm>
            <a:off x="594360"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Seuil choisi</a:t>
            </a:r>
          </a:p>
        </p:txBody>
      </p:sp>
      <p:sp>
        <p:nvSpPr>
          <p:cNvPr id="23" name="TextBox 22"/>
          <p:cNvSpPr txBox="1"/>
          <p:nvPr/>
        </p:nvSpPr>
        <p:spPr>
          <a:xfrm>
            <a:off x="758952"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Il transforme le score en alerte.</a:t>
            </a:r>
          </a:p>
        </p:txBody>
      </p:sp>
      <p:sp>
        <p:nvSpPr>
          <p:cNvPr id="24" name="Rounded Rectangle 23"/>
          <p:cNvSpPr/>
          <p:nvPr/>
        </p:nvSpPr>
        <p:spPr>
          <a:xfrm>
            <a:off x="6195059"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Coût métier</a:t>
            </a:r>
          </a:p>
        </p:txBody>
      </p:sp>
      <p:sp>
        <p:nvSpPr>
          <p:cNvPr id="27" name="TextBox 26"/>
          <p:cNvSpPr txBox="1"/>
          <p:nvPr/>
        </p:nvSpPr>
        <p:spPr>
          <a:xfrm>
            <a:off x="6359651"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Il juge les conséquences des alertes et des cas manqués.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Résultat de validation : la simplicité gagne ici</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Résultats de validation • Simulation synthétique • Seuil comparatif : 0,5</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P01</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J2-022</a:t>
            </a:r>
          </a:p>
        </p:txBody>
      </p:sp>
      <p:sp>
        <p:nvSpPr>
          <p:cNvPr id="12" name="Rectangle 11"/>
          <p:cNvSpPr/>
          <p:nvPr/>
        </p:nvSpPr>
        <p:spPr>
          <a:xfrm>
            <a:off x="594360" y="1792224"/>
            <a:ext cx="3410071" cy="685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1833372"/>
            <a:ext cx="3190615" cy="603504"/>
          </a:xfrm>
          <a:prstGeom prst="rect">
            <a:avLst/>
          </a:prstGeom>
          <a:noFill/>
        </p:spPr>
        <p:txBody>
          <a:bodyPr wrap="square" lIns="22860" rIns="22860" tIns="22860" bIns="22860" anchor="ctr">
            <a:spAutoFit/>
          </a:bodyPr>
          <a:lstStyle/>
          <a:p>
            <a:pPr>
              <a:spcBef>
                <a:spcPts val="0"/>
              </a:spcBef>
              <a:spcAft>
                <a:spcPts val="300"/>
              </a:spcAft>
              <a:defRPr sz="1800" b="1">
                <a:solidFill>
                  <a:srgbClr val="FFFFFF"/>
                </a:solidFill>
                <a:latin typeface="Liberation Sans"/>
              </a:defRPr>
            </a:pPr>
            <a:r>
              <a:t>Modèle</a:t>
            </a:r>
          </a:p>
        </p:txBody>
      </p:sp>
      <p:sp>
        <p:nvSpPr>
          <p:cNvPr id="14" name="Rectangle 13"/>
          <p:cNvSpPr/>
          <p:nvPr/>
        </p:nvSpPr>
        <p:spPr>
          <a:xfrm>
            <a:off x="4004431" y="1792224"/>
            <a:ext cx="2530053" cy="685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159" y="1833372"/>
            <a:ext cx="2310597" cy="603504"/>
          </a:xfrm>
          <a:prstGeom prst="rect">
            <a:avLst/>
          </a:prstGeom>
          <a:noFill/>
        </p:spPr>
        <p:txBody>
          <a:bodyPr wrap="square" lIns="22860" rIns="22860" tIns="22860" bIns="22860" anchor="ctr">
            <a:spAutoFit/>
          </a:bodyPr>
          <a:lstStyle/>
          <a:p>
            <a:pPr>
              <a:spcBef>
                <a:spcPts val="0"/>
              </a:spcBef>
              <a:spcAft>
                <a:spcPts val="300"/>
              </a:spcAft>
              <a:defRPr sz="1800" b="1">
                <a:solidFill>
                  <a:srgbClr val="FFFFFF"/>
                </a:solidFill>
                <a:latin typeface="Liberation Sans"/>
              </a:defRPr>
            </a:pPr>
            <a:r>
              <a:t>AP</a:t>
            </a:r>
          </a:p>
        </p:txBody>
      </p:sp>
      <p:sp>
        <p:nvSpPr>
          <p:cNvPr id="16" name="Rectangle 15"/>
          <p:cNvSpPr/>
          <p:nvPr/>
        </p:nvSpPr>
        <p:spPr>
          <a:xfrm>
            <a:off x="6534485" y="1792224"/>
            <a:ext cx="2530053" cy="685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44213" y="1833372"/>
            <a:ext cx="2310597" cy="603504"/>
          </a:xfrm>
          <a:prstGeom prst="rect">
            <a:avLst/>
          </a:prstGeom>
          <a:noFill/>
        </p:spPr>
        <p:txBody>
          <a:bodyPr wrap="square" lIns="22860" rIns="22860" tIns="22860" bIns="22860" anchor="ctr">
            <a:spAutoFit/>
          </a:bodyPr>
          <a:lstStyle/>
          <a:p>
            <a:pPr>
              <a:spcBef>
                <a:spcPts val="0"/>
              </a:spcBef>
              <a:spcAft>
                <a:spcPts val="300"/>
              </a:spcAft>
              <a:defRPr sz="1800" b="1">
                <a:solidFill>
                  <a:srgbClr val="FFFFFF"/>
                </a:solidFill>
                <a:latin typeface="Liberation Sans"/>
              </a:defRPr>
            </a:pPr>
            <a:r>
              <a:t>Rappel à 0,5</a:t>
            </a:r>
          </a:p>
        </p:txBody>
      </p:sp>
      <p:sp>
        <p:nvSpPr>
          <p:cNvPr id="18" name="Rectangle 17"/>
          <p:cNvSpPr/>
          <p:nvPr/>
        </p:nvSpPr>
        <p:spPr>
          <a:xfrm>
            <a:off x="9064538" y="1792224"/>
            <a:ext cx="2530053" cy="685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74266" y="1833372"/>
            <a:ext cx="2310597" cy="603504"/>
          </a:xfrm>
          <a:prstGeom prst="rect">
            <a:avLst/>
          </a:prstGeom>
          <a:noFill/>
        </p:spPr>
        <p:txBody>
          <a:bodyPr wrap="square" lIns="22860" rIns="22860" tIns="22860" bIns="22860" anchor="ctr">
            <a:spAutoFit/>
          </a:bodyPr>
          <a:lstStyle/>
          <a:p>
            <a:pPr>
              <a:spcBef>
                <a:spcPts val="0"/>
              </a:spcBef>
              <a:spcAft>
                <a:spcPts val="300"/>
              </a:spcAft>
              <a:defRPr sz="1800" b="1">
                <a:solidFill>
                  <a:srgbClr val="FFFFFF"/>
                </a:solidFill>
                <a:latin typeface="Liberation Sans"/>
              </a:defRPr>
            </a:pPr>
            <a:r>
              <a:t>Alertes</a:t>
            </a:r>
          </a:p>
        </p:txBody>
      </p:sp>
      <p:cxnSp>
        <p:nvCxnSpPr>
          <p:cNvPr id="20" name="Connector 19"/>
          <p:cNvCxnSpPr/>
          <p:nvPr/>
        </p:nvCxnSpPr>
        <p:spPr>
          <a:xfrm>
            <a:off x="594360" y="24780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94360" y="2478024"/>
            <a:ext cx="3410071"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 y="2519172"/>
            <a:ext cx="3190615"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Référence majoritaire</a:t>
            </a:r>
          </a:p>
        </p:txBody>
      </p:sp>
      <p:sp>
        <p:nvSpPr>
          <p:cNvPr id="23" name="Rectangle 22"/>
          <p:cNvSpPr/>
          <p:nvPr/>
        </p:nvSpPr>
        <p:spPr>
          <a:xfrm>
            <a:off x="4004431" y="2478024"/>
            <a:ext cx="2530053"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159" y="25191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0,175</a:t>
            </a:r>
          </a:p>
        </p:txBody>
      </p:sp>
      <p:sp>
        <p:nvSpPr>
          <p:cNvPr id="25" name="Rectangle 24"/>
          <p:cNvSpPr/>
          <p:nvPr/>
        </p:nvSpPr>
        <p:spPr>
          <a:xfrm>
            <a:off x="6534485" y="2478024"/>
            <a:ext cx="2530053"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44213" y="25191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0,0 %</a:t>
            </a:r>
          </a:p>
        </p:txBody>
      </p:sp>
      <p:sp>
        <p:nvSpPr>
          <p:cNvPr id="27" name="Rectangle 26"/>
          <p:cNvSpPr/>
          <p:nvPr/>
        </p:nvSpPr>
        <p:spPr>
          <a:xfrm>
            <a:off x="9064538" y="2478024"/>
            <a:ext cx="2530053"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74266" y="25191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0</a:t>
            </a:r>
          </a:p>
        </p:txBody>
      </p:sp>
      <p:cxnSp>
        <p:nvCxnSpPr>
          <p:cNvPr id="29" name="Connector 28"/>
          <p:cNvCxnSpPr/>
          <p:nvPr/>
        </p:nvCxnSpPr>
        <p:spPr>
          <a:xfrm>
            <a:off x="594360" y="31638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94360" y="3163824"/>
            <a:ext cx="3410071"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4088" y="3204972"/>
            <a:ext cx="3190615"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Régression logistique</a:t>
            </a:r>
          </a:p>
        </p:txBody>
      </p:sp>
      <p:sp>
        <p:nvSpPr>
          <p:cNvPr id="32" name="Rectangle 31"/>
          <p:cNvSpPr/>
          <p:nvPr/>
        </p:nvSpPr>
        <p:spPr>
          <a:xfrm>
            <a:off x="4004431" y="3163824"/>
            <a:ext cx="2530053"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14159" y="32049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0,486</a:t>
            </a:r>
          </a:p>
        </p:txBody>
      </p:sp>
      <p:sp>
        <p:nvSpPr>
          <p:cNvPr id="34" name="Rectangle 33"/>
          <p:cNvSpPr/>
          <p:nvPr/>
        </p:nvSpPr>
        <p:spPr>
          <a:xfrm>
            <a:off x="6534485" y="3163824"/>
            <a:ext cx="2530053"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44213" y="32049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18,9 %</a:t>
            </a:r>
          </a:p>
        </p:txBody>
      </p:sp>
      <p:sp>
        <p:nvSpPr>
          <p:cNvPr id="36" name="Rectangle 35"/>
          <p:cNvSpPr/>
          <p:nvPr/>
        </p:nvSpPr>
        <p:spPr>
          <a:xfrm>
            <a:off x="9064538" y="3163824"/>
            <a:ext cx="2530053"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74266" y="32049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59</a:t>
            </a:r>
          </a:p>
        </p:txBody>
      </p:sp>
      <p:cxnSp>
        <p:nvCxnSpPr>
          <p:cNvPr id="38" name="Connector 37"/>
          <p:cNvCxnSpPr/>
          <p:nvPr/>
        </p:nvCxnSpPr>
        <p:spPr>
          <a:xfrm>
            <a:off x="594360" y="38496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94360" y="3849624"/>
            <a:ext cx="3410071"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4088" y="3890772"/>
            <a:ext cx="3190615"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Forêt aléatoire</a:t>
            </a:r>
          </a:p>
        </p:txBody>
      </p:sp>
      <p:sp>
        <p:nvSpPr>
          <p:cNvPr id="41" name="Rectangle 40"/>
          <p:cNvSpPr/>
          <p:nvPr/>
        </p:nvSpPr>
        <p:spPr>
          <a:xfrm>
            <a:off x="4004431" y="3849624"/>
            <a:ext cx="2530053"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14159" y="38907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0,460</a:t>
            </a:r>
          </a:p>
        </p:txBody>
      </p:sp>
      <p:sp>
        <p:nvSpPr>
          <p:cNvPr id="43" name="Rectangle 42"/>
          <p:cNvSpPr/>
          <p:nvPr/>
        </p:nvSpPr>
        <p:spPr>
          <a:xfrm>
            <a:off x="6534485" y="3849624"/>
            <a:ext cx="2530053"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44213" y="38907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4,6 %</a:t>
            </a:r>
          </a:p>
        </p:txBody>
      </p:sp>
      <p:sp>
        <p:nvSpPr>
          <p:cNvPr id="45" name="Rectangle 44"/>
          <p:cNvSpPr/>
          <p:nvPr/>
        </p:nvSpPr>
        <p:spPr>
          <a:xfrm>
            <a:off x="9064538" y="3849624"/>
            <a:ext cx="2530053"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74266" y="38907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14</a:t>
            </a:r>
          </a:p>
        </p:txBody>
      </p:sp>
      <p:cxnSp>
        <p:nvCxnSpPr>
          <p:cNvPr id="47" name="Connector 46"/>
          <p:cNvCxnSpPr/>
          <p:nvPr/>
        </p:nvCxnSpPr>
        <p:spPr>
          <a:xfrm>
            <a:off x="594360" y="45354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Le seuil pilote la charge de travail</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Séparer le score, le seuil et la capacité réelle des équipes.</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S30</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J2-023</a:t>
            </a:r>
          </a:p>
        </p:txBody>
      </p:sp>
      <p:cxnSp>
        <p:nvCxnSpPr>
          <p:cNvPr id="12" name="Connector 11"/>
          <p:cNvCxnSpPr/>
          <p:nvPr/>
        </p:nvCxnSpPr>
        <p:spPr>
          <a:xfrm>
            <a:off x="822960" y="5221224"/>
            <a:ext cx="6858000" cy="0"/>
          </a:xfrm>
          <a:prstGeom prst="line">
            <a:avLst/>
          </a:prstGeom>
          <a:ln w="13970">
            <a:solidFill>
              <a:srgbClr val="58677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22960" y="1901952"/>
            <a:ext cx="0" cy="3319272"/>
          </a:xfrm>
          <a:prstGeom prst="line">
            <a:avLst/>
          </a:prstGeom>
          <a:ln w="13970">
            <a:solidFill>
              <a:srgbClr val="586777"/>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22960" y="1901952"/>
            <a:ext cx="76200" cy="3688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99160" y="1938832"/>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75360" y="1975713"/>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51560" y="2012594"/>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27760" y="2049475"/>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203960" y="2086356"/>
            <a:ext cx="76200" cy="3688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280160" y="2123236"/>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56360" y="2160117"/>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432560" y="2196998"/>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508760" y="2233879"/>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584960" y="2270760"/>
            <a:ext cx="76200" cy="3688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661160" y="2307640"/>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737360" y="2344521"/>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813560" y="2381402"/>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889760" y="2418283"/>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965960" y="2455164"/>
            <a:ext cx="76200" cy="3688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042160" y="2492044"/>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118360" y="2528925"/>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194560" y="2565806"/>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270760" y="2602687"/>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346960" y="2639568"/>
            <a:ext cx="76200" cy="3688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2423160" y="2676448"/>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2499360" y="2713329"/>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2575560" y="2750210"/>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2651760" y="2787091"/>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2727960" y="2823972"/>
            <a:ext cx="76200" cy="3688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2804160" y="2860852"/>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2880360" y="2897733"/>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2956560" y="2934614"/>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032760" y="2971495"/>
            <a:ext cx="76200" cy="3688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3108960" y="3008375"/>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3185160" y="3045256"/>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3261360" y="3082137"/>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3337560" y="3119018"/>
            <a:ext cx="76199"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413759" y="3155899"/>
            <a:ext cx="76201"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489960" y="3192780"/>
            <a:ext cx="76200" cy="3688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566160" y="3229660"/>
            <a:ext cx="76199"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3642359" y="3266541"/>
            <a:ext cx="76201"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3718560" y="3303422"/>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3794760" y="3340303"/>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3870960" y="3377184"/>
            <a:ext cx="76200" cy="3688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947160" y="3414064"/>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023360" y="3450945"/>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099560" y="3487826"/>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4175760" y="3524707"/>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4251960" y="3561588"/>
            <a:ext cx="76200" cy="3688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4328160" y="3598468"/>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4404360" y="3635349"/>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4480560" y="3672230"/>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4556760" y="3709111"/>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4632960" y="3745992"/>
            <a:ext cx="76200" cy="3688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4709160" y="3782872"/>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4785360" y="3819753"/>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4861560" y="3856634"/>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4937760" y="3893515"/>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013960" y="3930396"/>
            <a:ext cx="76200" cy="3688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5090160" y="3967276"/>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166360" y="4004157"/>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5242560" y="4041038"/>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5318760" y="4077919"/>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5394960" y="4114800"/>
            <a:ext cx="76200" cy="3688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5471160" y="4151680"/>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5547360" y="4188561"/>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5623560" y="4225442"/>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5699760" y="4262323"/>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5775960" y="4299204"/>
            <a:ext cx="76200" cy="3688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5852160" y="4336084"/>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5928360" y="4372965"/>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6004560" y="4409846"/>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6080760" y="4446727"/>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6156960" y="4483608"/>
            <a:ext cx="76200" cy="3688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6233160" y="4520488"/>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6309360" y="4557369"/>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6385560" y="4594250"/>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6461760" y="4631131"/>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6537960" y="4668012"/>
            <a:ext cx="76200" cy="3688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6614160" y="4704892"/>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6690360" y="4741773"/>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6766560" y="4778654"/>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6842760" y="4815535"/>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918960" y="4852416"/>
            <a:ext cx="76200" cy="3688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6995160" y="4889296"/>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7071360" y="4926177"/>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7147560" y="4963058"/>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7223760" y="4999939"/>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7299960" y="5036820"/>
            <a:ext cx="76200" cy="3688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7376160" y="5073700"/>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7452360" y="5110581"/>
            <a:ext cx="76199"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7528559" y="5147462"/>
            <a:ext cx="76201"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7604760" y="5184343"/>
            <a:ext cx="76200" cy="3688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822960" y="5184343"/>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899160" y="5147462"/>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975360" y="5110581"/>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1051560" y="5073700"/>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1127760" y="5036820"/>
            <a:ext cx="76200" cy="36880"/>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1203960" y="4999939"/>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1280160" y="4963058"/>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1356360" y="4926177"/>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1432560" y="4889296"/>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1508760" y="4852416"/>
            <a:ext cx="76200" cy="36880"/>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1584960" y="4815535"/>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1661160" y="4778654"/>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1737360" y="4741773"/>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1813560" y="4704892"/>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1889760" y="4668012"/>
            <a:ext cx="76200" cy="36880"/>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1965960" y="4631131"/>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2042160" y="4594250"/>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2118360" y="4557369"/>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2194560" y="4520488"/>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2270760" y="4483608"/>
            <a:ext cx="76200" cy="36880"/>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2346960" y="4446727"/>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2423160" y="4409846"/>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2499360" y="4372965"/>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2575560" y="4336084"/>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2651760" y="4299204"/>
            <a:ext cx="76200" cy="36880"/>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2727960" y="4262323"/>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2804160" y="4225442"/>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2880360" y="4188561"/>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2956560" y="4151680"/>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3032760" y="4114800"/>
            <a:ext cx="76200" cy="36880"/>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3108960" y="4077919"/>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3185160" y="4041038"/>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3261360" y="4004157"/>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3337560" y="3967276"/>
            <a:ext cx="76199"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3413759" y="3930396"/>
            <a:ext cx="76201" cy="36880"/>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3489960" y="3893515"/>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3566160" y="3856634"/>
            <a:ext cx="76199"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3642359" y="3819753"/>
            <a:ext cx="76201"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3718560" y="3782872"/>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3794760" y="3745992"/>
            <a:ext cx="76200" cy="36880"/>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3870960" y="3709111"/>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3947160" y="3672230"/>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023360" y="3635349"/>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099560" y="3598468"/>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175760" y="3561588"/>
            <a:ext cx="76200" cy="36880"/>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251960" y="3524707"/>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328160" y="3487826"/>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404360" y="3450945"/>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480560" y="3414064"/>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556760" y="3377184"/>
            <a:ext cx="76200" cy="36880"/>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632960" y="3340303"/>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709160" y="3303422"/>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785360" y="3266541"/>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61560" y="3229660"/>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937760" y="3192780"/>
            <a:ext cx="76200" cy="36880"/>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5013960" y="3155899"/>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5090160" y="3119018"/>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5166360" y="3082137"/>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5242560" y="3045256"/>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5318760" y="3008376"/>
            <a:ext cx="76200" cy="36880"/>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5394960" y="2971495"/>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5471160" y="2934614"/>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5547360" y="2897733"/>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5623560" y="2860852"/>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5699760" y="2823972"/>
            <a:ext cx="76200" cy="36880"/>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5775960" y="2787091"/>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5852160" y="2750210"/>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5928360" y="2713329"/>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6004560" y="2676448"/>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6080760" y="2639568"/>
            <a:ext cx="76200" cy="36880"/>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6156960" y="2602687"/>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6233160" y="2565806"/>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6309360" y="2528925"/>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6385560" y="2492044"/>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6461760" y="2455164"/>
            <a:ext cx="76200" cy="36880"/>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6537960" y="2418283"/>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6614160" y="2381402"/>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6690360" y="2344521"/>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6766560" y="2307640"/>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6842760" y="2270760"/>
            <a:ext cx="76200" cy="36880"/>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6918960" y="2233879"/>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6995160" y="2196998"/>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7071360" y="2160117"/>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7147560" y="2123236"/>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7223760" y="2086356"/>
            <a:ext cx="76200" cy="36880"/>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7299960" y="2049475"/>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7376160" y="2012594"/>
            <a:ext cx="76200"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7452360" y="1975713"/>
            <a:ext cx="76199"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7528559" y="1938832"/>
            <a:ext cx="76201" cy="36881"/>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7604760" y="1901952"/>
            <a:ext cx="76200" cy="36880"/>
          </a:xfrm>
          <a:prstGeom prst="line">
            <a:avLst/>
          </a:prstGeom>
          <a:ln w="33020">
            <a:solidFill>
              <a:srgbClr val="238C33"/>
            </a:solidFill>
          </a:ln>
        </p:spPr>
        <p:style>
          <a:lnRef idx="2">
            <a:schemeClr val="accent1"/>
          </a:lnRef>
          <a:fillRef idx="0">
            <a:schemeClr val="accent1"/>
          </a:fillRef>
          <a:effectRef idx="1">
            <a:schemeClr val="accent1"/>
          </a:effectRef>
          <a:fontRef idx="minor">
            <a:schemeClr val="tx1"/>
          </a:fontRef>
        </p:style>
      </p:cxnSp>
      <p:sp>
        <p:nvSpPr>
          <p:cNvPr id="194" name="TextBox 193"/>
          <p:cNvSpPr txBox="1"/>
          <p:nvPr/>
        </p:nvSpPr>
        <p:spPr>
          <a:xfrm>
            <a:off x="914400" y="5394960"/>
            <a:ext cx="6675120" cy="24688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Illustration conceptuelle, pas une mesure du TP</a:t>
            </a:r>
          </a:p>
        </p:txBody>
      </p:sp>
      <p:sp>
        <p:nvSpPr>
          <p:cNvPr id="195" name="Rounded Rectangle 194"/>
          <p:cNvSpPr/>
          <p:nvPr/>
        </p:nvSpPr>
        <p:spPr>
          <a:xfrm>
            <a:off x="8074152" y="1856231"/>
            <a:ext cx="3474720" cy="1066799"/>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8074152" y="1856231"/>
            <a:ext cx="54864" cy="1066799"/>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8229600" y="1947672"/>
            <a:ext cx="3163824"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Seuil bas</a:t>
            </a:r>
          </a:p>
        </p:txBody>
      </p:sp>
      <p:sp>
        <p:nvSpPr>
          <p:cNvPr id="198" name="TextBox 197"/>
          <p:cNvSpPr txBox="1"/>
          <p:nvPr/>
        </p:nvSpPr>
        <p:spPr>
          <a:xfrm>
            <a:off x="8229600" y="2258568"/>
            <a:ext cx="3163824" cy="609599"/>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Plus d’alertes, davantage de cas couverts.</a:t>
            </a:r>
          </a:p>
        </p:txBody>
      </p:sp>
      <p:sp>
        <p:nvSpPr>
          <p:cNvPr id="199" name="Rounded Rectangle 198"/>
          <p:cNvSpPr/>
          <p:nvPr/>
        </p:nvSpPr>
        <p:spPr>
          <a:xfrm>
            <a:off x="8074152" y="3014472"/>
            <a:ext cx="3474720" cy="1066799"/>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8074152" y="3014472"/>
            <a:ext cx="54864" cy="1066799"/>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8229600" y="3105912"/>
            <a:ext cx="3163824"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8C33"/>
                </a:solidFill>
                <a:latin typeface="Liberation Sans"/>
              </a:defRPr>
            </a:pPr>
            <a:r>
              <a:t>Seuil haut</a:t>
            </a:r>
          </a:p>
        </p:txBody>
      </p:sp>
      <p:sp>
        <p:nvSpPr>
          <p:cNvPr id="202" name="TextBox 201"/>
          <p:cNvSpPr txBox="1"/>
          <p:nvPr/>
        </p:nvSpPr>
        <p:spPr>
          <a:xfrm>
            <a:off x="8229600" y="3416807"/>
            <a:ext cx="3163824" cy="609599"/>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Moins d’alertes, davantage de cas manqués.</a:t>
            </a:r>
          </a:p>
        </p:txBody>
      </p:sp>
      <p:sp>
        <p:nvSpPr>
          <p:cNvPr id="203" name="Rounded Rectangle 202"/>
          <p:cNvSpPr/>
          <p:nvPr/>
        </p:nvSpPr>
        <p:spPr>
          <a:xfrm>
            <a:off x="8074152" y="4172711"/>
            <a:ext cx="3474720" cy="1066799"/>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Rectangle 203"/>
          <p:cNvSpPr/>
          <p:nvPr/>
        </p:nvSpPr>
        <p:spPr>
          <a:xfrm>
            <a:off x="8074152" y="4172711"/>
            <a:ext cx="54864" cy="1066799"/>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8229600" y="4264151"/>
            <a:ext cx="3163824"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Contrainte</a:t>
            </a:r>
          </a:p>
        </p:txBody>
      </p:sp>
      <p:sp>
        <p:nvSpPr>
          <p:cNvPr id="206" name="TextBox 205"/>
          <p:cNvSpPr txBox="1"/>
          <p:nvPr/>
        </p:nvSpPr>
        <p:spPr>
          <a:xfrm>
            <a:off x="8229600" y="4575048"/>
            <a:ext cx="3163824" cy="609599"/>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L’équipe peut traiter 10 % de la population.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100" b="1">
                <a:solidFill>
                  <a:srgbClr val="132443"/>
                </a:solidFill>
                <a:latin typeface="Liberation Sans"/>
              </a:defRPr>
            </a:pPr>
            <a:r>
              <a:t>Une bonne validation respecte la structure du réel</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Le découpage des données est une hypothèse sur le futur usage.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S29</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J2-024</a:t>
            </a:r>
          </a:p>
        </p:txBody>
      </p:sp>
      <p:sp>
        <p:nvSpPr>
          <p:cNvPr id="12" name="Rounded Rectangle 11"/>
          <p:cNvSpPr/>
          <p:nvPr/>
        </p:nvSpPr>
        <p:spPr>
          <a:xfrm>
            <a:off x="594360"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Clients indépendants</a:t>
            </a:r>
          </a:p>
        </p:txBody>
      </p:sp>
      <p:sp>
        <p:nvSpPr>
          <p:cNvPr id="15" name="TextBox 14"/>
          <p:cNvSpPr txBox="1"/>
          <p:nvPr/>
        </p:nvSpPr>
        <p:spPr>
          <a:xfrm>
            <a:off x="758952"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Séparation aléatoire possible dans la simulation.</a:t>
            </a:r>
          </a:p>
        </p:txBody>
      </p:sp>
      <p:sp>
        <p:nvSpPr>
          <p:cNvPr id="16" name="Rounded Rectangle 15"/>
          <p:cNvSpPr/>
          <p:nvPr/>
        </p:nvSpPr>
        <p:spPr>
          <a:xfrm>
            <a:off x="6195059"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Historique temporel</a:t>
            </a:r>
          </a:p>
        </p:txBody>
      </p:sp>
      <p:sp>
        <p:nvSpPr>
          <p:cNvPr id="19" name="TextBox 18"/>
          <p:cNvSpPr txBox="1"/>
          <p:nvPr/>
        </p:nvSpPr>
        <p:spPr>
          <a:xfrm>
            <a:off x="6359651"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Entraîner sur le passé, évaluer sur le futur.</a:t>
            </a:r>
          </a:p>
        </p:txBody>
      </p:sp>
      <p:sp>
        <p:nvSpPr>
          <p:cNvPr id="20" name="Rounded Rectangle 19"/>
          <p:cNvSpPr/>
          <p:nvPr/>
        </p:nvSpPr>
        <p:spPr>
          <a:xfrm>
            <a:off x="594360"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Lignes liées</a:t>
            </a:r>
          </a:p>
        </p:txBody>
      </p:sp>
      <p:sp>
        <p:nvSpPr>
          <p:cNvPr id="23" name="TextBox 22"/>
          <p:cNvSpPr txBox="1"/>
          <p:nvPr/>
        </p:nvSpPr>
        <p:spPr>
          <a:xfrm>
            <a:off x="758952"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Séparer par client, machine ou groupe.</a:t>
            </a:r>
          </a:p>
        </p:txBody>
      </p:sp>
      <p:sp>
        <p:nvSpPr>
          <p:cNvPr id="24" name="Rounded Rectangle 23"/>
          <p:cNvSpPr/>
          <p:nvPr/>
        </p:nvSpPr>
        <p:spPr>
          <a:xfrm>
            <a:off x="6195059"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Choix multiples</a:t>
            </a:r>
          </a:p>
        </p:txBody>
      </p:sp>
      <p:sp>
        <p:nvSpPr>
          <p:cNvPr id="27" name="TextBox 26"/>
          <p:cNvSpPr txBox="1"/>
          <p:nvPr/>
        </p:nvSpPr>
        <p:spPr>
          <a:xfrm>
            <a:off x="6359651"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Conserver une évaluation indépendante finale.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A08b • Choisir le seuil puis ouvrir le test</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35 minutes • Le test reste fermé tant que les choix ne sont pas écrits.</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J2-025</a:t>
            </a:r>
          </a:p>
        </p:txBody>
      </p:sp>
      <p:sp>
        <p:nvSpPr>
          <p:cNvPr id="12" name="Rounded Rectangle 11"/>
          <p:cNvSpPr/>
          <p:nvPr/>
        </p:nvSpPr>
        <p:spPr>
          <a:xfrm>
            <a:off x="594360" y="1965960"/>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65960"/>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0312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Sur validation</a:t>
            </a:r>
          </a:p>
        </p:txBody>
      </p:sp>
      <p:sp>
        <p:nvSpPr>
          <p:cNvPr id="15" name="TextBox 14"/>
          <p:cNvSpPr txBox="1"/>
          <p:nvPr/>
        </p:nvSpPr>
        <p:spPr>
          <a:xfrm>
            <a:off x="758952" y="2642616"/>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Comparer les seuils et fixer une politique.</a:t>
            </a:r>
          </a:p>
        </p:txBody>
      </p:sp>
      <p:sp>
        <p:nvSpPr>
          <p:cNvPr id="16" name="Rounded Rectangle 15"/>
          <p:cNvSpPr/>
          <p:nvPr/>
        </p:nvSpPr>
        <p:spPr>
          <a:xfrm>
            <a:off x="6195059" y="1965960"/>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965960"/>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210312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Décision</a:t>
            </a:r>
          </a:p>
        </p:txBody>
      </p:sp>
      <p:sp>
        <p:nvSpPr>
          <p:cNvPr id="19" name="TextBox 18"/>
          <p:cNvSpPr txBox="1"/>
          <p:nvPr/>
        </p:nvSpPr>
        <p:spPr>
          <a:xfrm>
            <a:off x="6359651" y="2642616"/>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Écrire modèle retenu, seuil et capacité.</a:t>
            </a:r>
          </a:p>
        </p:txBody>
      </p:sp>
      <p:sp>
        <p:nvSpPr>
          <p:cNvPr id="20" name="Rounded Rectangle 19"/>
          <p:cNvSpPr/>
          <p:nvPr/>
        </p:nvSpPr>
        <p:spPr>
          <a:xfrm>
            <a:off x="594360" y="3758183"/>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758183"/>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89534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Sur test</a:t>
            </a:r>
          </a:p>
        </p:txBody>
      </p:sp>
      <p:sp>
        <p:nvSpPr>
          <p:cNvPr id="23" name="TextBox 22"/>
          <p:cNvSpPr txBox="1"/>
          <p:nvPr/>
        </p:nvSpPr>
        <p:spPr>
          <a:xfrm>
            <a:off x="758952" y="4434840"/>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Évaluer une fois sans réajuster les choix.</a:t>
            </a:r>
          </a:p>
        </p:txBody>
      </p:sp>
      <p:sp>
        <p:nvSpPr>
          <p:cNvPr id="24" name="Rounded Rectangle 23"/>
          <p:cNvSpPr/>
          <p:nvPr/>
        </p:nvSpPr>
        <p:spPr>
          <a:xfrm>
            <a:off x="6195059" y="3758183"/>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758183"/>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89534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Livrable</a:t>
            </a:r>
          </a:p>
        </p:txBody>
      </p:sp>
      <p:sp>
        <p:nvSpPr>
          <p:cNvPr id="27" name="TextBox 26"/>
          <p:cNvSpPr txBox="1"/>
          <p:nvPr/>
        </p:nvSpPr>
        <p:spPr>
          <a:xfrm>
            <a:off x="6359651" y="4434840"/>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Matrice, coûts d’erreur et limites du résultat.</a:t>
            </a:r>
          </a:p>
        </p:txBody>
      </p:sp>
      <p:sp>
        <p:nvSpPr>
          <p:cNvPr id="28" name="TextBox 27"/>
          <p:cNvSpPr txBox="1"/>
          <p:nvPr/>
        </p:nvSpPr>
        <p:spPr>
          <a:xfrm>
            <a:off x="630936" y="1655064"/>
            <a:ext cx="10058400" cy="228600"/>
          </a:xfrm>
          <a:prstGeom prst="rect">
            <a:avLst/>
          </a:prstGeom>
          <a:noFill/>
        </p:spPr>
        <p:txBody>
          <a:bodyPr wrap="square" lIns="22860" rIns="22860" tIns="22860" bIns="22860" anchor="ctr">
            <a:spAutoFit/>
          </a:bodyPr>
          <a:lstStyle/>
          <a:p>
            <a:pPr>
              <a:spcBef>
                <a:spcPts val="0"/>
              </a:spcBef>
              <a:spcAft>
                <a:spcPts val="300"/>
              </a:spcAft>
              <a:defRPr sz="1300" b="1">
                <a:solidFill>
                  <a:srgbClr val="238C33"/>
                </a:solidFill>
                <a:latin typeface="Liberation Sans"/>
              </a:defRPr>
            </a:pPr>
            <a:r>
              <a:t>ATELIER  /  35 MINUTES POUR LA SÉQUENCE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Le seuil appris ne garantit pas le quota futur</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Une contrainte d’équipe doit être implémentée dans la politique, pas espérée du modèle.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P01</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J2-026</a:t>
            </a:r>
          </a:p>
        </p:txBody>
      </p:sp>
      <p:sp>
        <p:nvSpPr>
          <p:cNvPr id="12" name="TextBox 11"/>
          <p:cNvSpPr txBox="1"/>
          <p:nvPr/>
        </p:nvSpPr>
        <p:spPr>
          <a:xfrm>
            <a:off x="731520" y="1965960"/>
            <a:ext cx="5486400" cy="1508760"/>
          </a:xfrm>
          <a:prstGeom prst="rect">
            <a:avLst/>
          </a:prstGeom>
          <a:noFill/>
        </p:spPr>
        <p:txBody>
          <a:bodyPr wrap="square" lIns="22860" rIns="22860" tIns="22860" bIns="22860" anchor="ctr">
            <a:spAutoFit/>
          </a:bodyPr>
          <a:lstStyle/>
          <a:p>
            <a:pPr>
              <a:spcBef>
                <a:spcPts val="0"/>
              </a:spcBef>
              <a:spcAft>
                <a:spcPts val="300"/>
              </a:spcAft>
              <a:defRPr sz="9300" b="1">
                <a:solidFill>
                  <a:srgbClr val="23468C"/>
                </a:solidFill>
                <a:latin typeface="Liberation Sans"/>
              </a:defRPr>
            </a:pPr>
            <a:r>
              <a:t>105</a:t>
            </a:r>
          </a:p>
        </p:txBody>
      </p:sp>
      <p:sp>
        <p:nvSpPr>
          <p:cNvPr id="13" name="TextBox 12"/>
          <p:cNvSpPr txBox="1"/>
          <p:nvPr/>
        </p:nvSpPr>
        <p:spPr>
          <a:xfrm>
            <a:off x="822960" y="3584448"/>
            <a:ext cx="5120640" cy="1051560"/>
          </a:xfrm>
          <a:prstGeom prst="rect">
            <a:avLst/>
          </a:prstGeom>
          <a:noFill/>
        </p:spPr>
        <p:txBody>
          <a:bodyPr wrap="square" lIns="22860" rIns="22860" tIns="22860" bIns="22860" anchor="ctr">
            <a:spAutoFit/>
          </a:bodyPr>
          <a:lstStyle/>
          <a:p>
            <a:pPr>
              <a:spcBef>
                <a:spcPts val="0"/>
              </a:spcBef>
              <a:spcAft>
                <a:spcPts val="300"/>
              </a:spcAft>
              <a:defRPr sz="2800" b="1">
                <a:solidFill>
                  <a:srgbClr val="132443"/>
                </a:solidFill>
                <a:latin typeface="Liberation Sans"/>
              </a:defRPr>
            </a:pPr>
            <a:r>
              <a:t>alertes sur les 1 000 clients du test</a:t>
            </a:r>
          </a:p>
        </p:txBody>
      </p:sp>
      <p:sp>
        <p:nvSpPr>
          <p:cNvPr id="14" name="Rounded Rectangle 13"/>
          <p:cNvSpPr/>
          <p:nvPr/>
        </p:nvSpPr>
        <p:spPr>
          <a:xfrm>
            <a:off x="6583680" y="1865376"/>
            <a:ext cx="5010912" cy="106984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0" y="1865376"/>
            <a:ext cx="54864" cy="106984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39128" y="1956816"/>
            <a:ext cx="470001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Validation</a:t>
            </a:r>
          </a:p>
        </p:txBody>
      </p:sp>
      <p:sp>
        <p:nvSpPr>
          <p:cNvPr id="17" name="TextBox 16"/>
          <p:cNvSpPr txBox="1"/>
          <p:nvPr/>
        </p:nvSpPr>
        <p:spPr>
          <a:xfrm>
            <a:off x="6739128" y="2267712"/>
            <a:ext cx="4700016" cy="612647"/>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100 contacts visés sur 1 000.</a:t>
            </a:r>
          </a:p>
        </p:txBody>
      </p:sp>
      <p:sp>
        <p:nvSpPr>
          <p:cNvPr id="18" name="Rounded Rectangle 17"/>
          <p:cNvSpPr/>
          <p:nvPr/>
        </p:nvSpPr>
        <p:spPr>
          <a:xfrm>
            <a:off x="6583680" y="3054096"/>
            <a:ext cx="5010912" cy="106984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0" y="3054096"/>
            <a:ext cx="54864" cy="1069848"/>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39128" y="3145536"/>
            <a:ext cx="470001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8C33"/>
                </a:solidFill>
                <a:latin typeface="Liberation Sans"/>
              </a:defRPr>
            </a:pPr>
            <a:r>
              <a:t>Seuil gelé</a:t>
            </a:r>
          </a:p>
        </p:txBody>
      </p:sp>
      <p:sp>
        <p:nvSpPr>
          <p:cNvPr id="21" name="TextBox 20"/>
          <p:cNvSpPr txBox="1"/>
          <p:nvPr/>
        </p:nvSpPr>
        <p:spPr>
          <a:xfrm>
            <a:off x="6739128" y="3456432"/>
            <a:ext cx="4700016" cy="612647"/>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0,3836 dans la simulation.</a:t>
            </a:r>
          </a:p>
        </p:txBody>
      </p:sp>
      <p:sp>
        <p:nvSpPr>
          <p:cNvPr id="22" name="Rounded Rectangle 21"/>
          <p:cNvSpPr/>
          <p:nvPr/>
        </p:nvSpPr>
        <p:spPr>
          <a:xfrm>
            <a:off x="6583680" y="4242816"/>
            <a:ext cx="5010912" cy="106984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0" y="4242816"/>
            <a:ext cx="54864" cy="106984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39128" y="4334256"/>
            <a:ext cx="470001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Test</a:t>
            </a:r>
          </a:p>
        </p:txBody>
      </p:sp>
      <p:sp>
        <p:nvSpPr>
          <p:cNvPr id="25" name="TextBox 24"/>
          <p:cNvSpPr txBox="1"/>
          <p:nvPr/>
        </p:nvSpPr>
        <p:spPr>
          <a:xfrm>
            <a:off x="6739128" y="4645152"/>
            <a:ext cx="4700016" cy="612647"/>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105 alertes : prévoir la capacité et le repli.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Test indépendant : lire les quatre cases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Données de test synthétiques • 1 000 observations • Aucun résultat commercial réel.</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P01</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J2-027</a:t>
            </a:r>
          </a:p>
        </p:txBody>
      </p:sp>
      <p:sp>
        <p:nvSpPr>
          <p:cNvPr id="12" name="Rectangle 11"/>
          <p:cNvSpPr/>
          <p:nvPr/>
        </p:nvSpPr>
        <p:spPr>
          <a:xfrm>
            <a:off x="594360" y="1792224"/>
            <a:ext cx="3190067" cy="685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1833372"/>
            <a:ext cx="2970611" cy="60350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p>
        </p:txBody>
      </p:sp>
      <p:sp>
        <p:nvSpPr>
          <p:cNvPr id="14" name="Rectangle 13"/>
          <p:cNvSpPr/>
          <p:nvPr/>
        </p:nvSpPr>
        <p:spPr>
          <a:xfrm>
            <a:off x="3784427" y="1792224"/>
            <a:ext cx="3850081" cy="685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94155" y="1833372"/>
            <a:ext cx="3630625" cy="60350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Départ réel</a:t>
            </a:r>
          </a:p>
        </p:txBody>
      </p:sp>
      <p:sp>
        <p:nvSpPr>
          <p:cNvPr id="16" name="Rectangle 15"/>
          <p:cNvSpPr/>
          <p:nvPr/>
        </p:nvSpPr>
        <p:spPr>
          <a:xfrm>
            <a:off x="7634508" y="1792224"/>
            <a:ext cx="3960083" cy="685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44236" y="1833372"/>
            <a:ext cx="3740627" cy="60350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Reste réellement</a:t>
            </a:r>
          </a:p>
        </p:txBody>
      </p:sp>
      <p:cxnSp>
        <p:nvCxnSpPr>
          <p:cNvPr id="18" name="Connector 17"/>
          <p:cNvCxnSpPr/>
          <p:nvPr/>
        </p:nvCxnSpPr>
        <p:spPr>
          <a:xfrm>
            <a:off x="594360" y="24780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94360" y="2478024"/>
            <a:ext cx="3190067"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2519172"/>
            <a:ext cx="2970611" cy="60350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Alerte</a:t>
            </a:r>
          </a:p>
        </p:txBody>
      </p:sp>
      <p:sp>
        <p:nvSpPr>
          <p:cNvPr id="21" name="Rectangle 20"/>
          <p:cNvSpPr/>
          <p:nvPr/>
        </p:nvSpPr>
        <p:spPr>
          <a:xfrm>
            <a:off x="3784427" y="2478024"/>
            <a:ext cx="3850081"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94155" y="2519172"/>
            <a:ext cx="3630625" cy="603504"/>
          </a:xfrm>
          <a:prstGeom prst="rect">
            <a:avLst/>
          </a:prstGeom>
          <a:noFill/>
        </p:spPr>
        <p:txBody>
          <a:bodyPr wrap="square" lIns="22860" rIns="22860" tIns="22860" bIns="22860" anchor="ctr">
            <a:spAutoFit/>
          </a:bodyPr>
          <a:lstStyle/>
          <a:p>
            <a:pPr>
              <a:spcBef>
                <a:spcPts val="0"/>
              </a:spcBef>
              <a:spcAft>
                <a:spcPts val="300"/>
              </a:spcAft>
              <a:defRPr sz="1850" b="0">
                <a:solidFill>
                  <a:srgbClr val="0D0D0D"/>
                </a:solidFill>
                <a:latin typeface="Liberation Sans"/>
              </a:defRPr>
            </a:pPr>
            <a:r>
              <a:t>47</a:t>
            </a:r>
          </a:p>
          <a:p>
            <a:pPr>
              <a:spcBef>
                <a:spcPts val="0"/>
              </a:spcBef>
              <a:spcAft>
                <a:spcPts val="300"/>
              </a:spcAft>
              <a:defRPr sz="1850" b="0">
                <a:solidFill>
                  <a:srgbClr val="0D0D0D"/>
                </a:solidFill>
                <a:latin typeface="Liberation Sans"/>
              </a:defRPr>
            </a:pPr>
            <a:r>
              <a:t>Vrais positifs</a:t>
            </a:r>
          </a:p>
        </p:txBody>
      </p:sp>
      <p:sp>
        <p:nvSpPr>
          <p:cNvPr id="23" name="Rectangle 22"/>
          <p:cNvSpPr/>
          <p:nvPr/>
        </p:nvSpPr>
        <p:spPr>
          <a:xfrm>
            <a:off x="7634508" y="2478024"/>
            <a:ext cx="3960083"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44236" y="2519172"/>
            <a:ext cx="3740627" cy="603504"/>
          </a:xfrm>
          <a:prstGeom prst="rect">
            <a:avLst/>
          </a:prstGeom>
          <a:noFill/>
        </p:spPr>
        <p:txBody>
          <a:bodyPr wrap="square" lIns="22860" rIns="22860" tIns="22860" bIns="22860" anchor="ctr">
            <a:spAutoFit/>
          </a:bodyPr>
          <a:lstStyle/>
          <a:p>
            <a:pPr>
              <a:spcBef>
                <a:spcPts val="0"/>
              </a:spcBef>
              <a:spcAft>
                <a:spcPts val="300"/>
              </a:spcAft>
              <a:defRPr sz="1850" b="0">
                <a:solidFill>
                  <a:srgbClr val="0D0D0D"/>
                </a:solidFill>
                <a:latin typeface="Liberation Sans"/>
              </a:defRPr>
            </a:pPr>
            <a:r>
              <a:t>58</a:t>
            </a:r>
          </a:p>
          <a:p>
            <a:pPr>
              <a:spcBef>
                <a:spcPts val="0"/>
              </a:spcBef>
              <a:spcAft>
                <a:spcPts val="300"/>
              </a:spcAft>
              <a:defRPr sz="1850" b="0">
                <a:solidFill>
                  <a:srgbClr val="0D0D0D"/>
                </a:solidFill>
                <a:latin typeface="Liberation Sans"/>
              </a:defRPr>
            </a:pPr>
            <a:r>
              <a:t>Faux positifs</a:t>
            </a:r>
          </a:p>
        </p:txBody>
      </p:sp>
      <p:cxnSp>
        <p:nvCxnSpPr>
          <p:cNvPr id="25" name="Connector 24"/>
          <p:cNvCxnSpPr/>
          <p:nvPr/>
        </p:nvCxnSpPr>
        <p:spPr>
          <a:xfrm>
            <a:off x="594360" y="31638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594360" y="3163824"/>
            <a:ext cx="3190067"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3204972"/>
            <a:ext cx="2970611" cy="60350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Pas d’alerte</a:t>
            </a:r>
          </a:p>
        </p:txBody>
      </p:sp>
      <p:sp>
        <p:nvSpPr>
          <p:cNvPr id="28" name="Rectangle 27"/>
          <p:cNvSpPr/>
          <p:nvPr/>
        </p:nvSpPr>
        <p:spPr>
          <a:xfrm>
            <a:off x="3784427" y="3163824"/>
            <a:ext cx="3850081"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94155" y="3204972"/>
            <a:ext cx="3630625" cy="603504"/>
          </a:xfrm>
          <a:prstGeom prst="rect">
            <a:avLst/>
          </a:prstGeom>
          <a:noFill/>
        </p:spPr>
        <p:txBody>
          <a:bodyPr wrap="square" lIns="22860" rIns="22860" tIns="22860" bIns="22860" anchor="ctr">
            <a:spAutoFit/>
          </a:bodyPr>
          <a:lstStyle/>
          <a:p>
            <a:pPr>
              <a:spcBef>
                <a:spcPts val="0"/>
              </a:spcBef>
              <a:spcAft>
                <a:spcPts val="300"/>
              </a:spcAft>
              <a:defRPr sz="1850" b="0">
                <a:solidFill>
                  <a:srgbClr val="0D0D0D"/>
                </a:solidFill>
                <a:latin typeface="Liberation Sans"/>
              </a:defRPr>
            </a:pPr>
            <a:r>
              <a:t>128</a:t>
            </a:r>
          </a:p>
          <a:p>
            <a:pPr>
              <a:spcBef>
                <a:spcPts val="0"/>
              </a:spcBef>
              <a:spcAft>
                <a:spcPts val="300"/>
              </a:spcAft>
              <a:defRPr sz="1850" b="0">
                <a:solidFill>
                  <a:srgbClr val="0D0D0D"/>
                </a:solidFill>
                <a:latin typeface="Liberation Sans"/>
              </a:defRPr>
            </a:pPr>
            <a:r>
              <a:t>Faux négatifs</a:t>
            </a:r>
          </a:p>
        </p:txBody>
      </p:sp>
      <p:sp>
        <p:nvSpPr>
          <p:cNvPr id="30" name="Rectangle 29"/>
          <p:cNvSpPr/>
          <p:nvPr/>
        </p:nvSpPr>
        <p:spPr>
          <a:xfrm>
            <a:off x="7634508" y="3163824"/>
            <a:ext cx="3960083"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44236" y="3204972"/>
            <a:ext cx="3740627" cy="603504"/>
          </a:xfrm>
          <a:prstGeom prst="rect">
            <a:avLst/>
          </a:prstGeom>
          <a:noFill/>
        </p:spPr>
        <p:txBody>
          <a:bodyPr wrap="square" lIns="22860" rIns="22860" tIns="22860" bIns="22860" anchor="ctr">
            <a:spAutoFit/>
          </a:bodyPr>
          <a:lstStyle/>
          <a:p>
            <a:pPr>
              <a:spcBef>
                <a:spcPts val="0"/>
              </a:spcBef>
              <a:spcAft>
                <a:spcPts val="300"/>
              </a:spcAft>
              <a:defRPr sz="1850" b="0">
                <a:solidFill>
                  <a:srgbClr val="0D0D0D"/>
                </a:solidFill>
                <a:latin typeface="Liberation Sans"/>
              </a:defRPr>
            </a:pPr>
            <a:r>
              <a:t>767</a:t>
            </a:r>
          </a:p>
          <a:p>
            <a:pPr>
              <a:spcBef>
                <a:spcPts val="0"/>
              </a:spcBef>
              <a:spcAft>
                <a:spcPts val="300"/>
              </a:spcAft>
              <a:defRPr sz="1850" b="0">
                <a:solidFill>
                  <a:srgbClr val="0D0D0D"/>
                </a:solidFill>
                <a:latin typeface="Liberation Sans"/>
              </a:defRPr>
            </a:pPr>
            <a:r>
              <a:t>Vrais négatifs</a:t>
            </a:r>
          </a:p>
        </p:txBody>
      </p:sp>
      <p:cxnSp>
        <p:nvCxnSpPr>
          <p:cNvPr id="32" name="Connector 31"/>
          <p:cNvCxnSpPr/>
          <p:nvPr/>
        </p:nvCxnSpPr>
        <p:spPr>
          <a:xfrm>
            <a:off x="594360" y="38496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Interpréter sans masquer les limites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Présenter les faiblesses fait partie du résultat, pas d’une annexe cachée.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P01</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J2-028</a:t>
            </a:r>
          </a:p>
        </p:txBody>
      </p:sp>
      <p:sp>
        <p:nvSpPr>
          <p:cNvPr id="12" name="Rounded Rectangle 11"/>
          <p:cNvSpPr/>
          <p:nvPr/>
        </p:nvSpPr>
        <p:spPr>
          <a:xfrm>
            <a:off x="594360"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44,8 %</a:t>
            </a:r>
          </a:p>
        </p:txBody>
      </p:sp>
      <p:sp>
        <p:nvSpPr>
          <p:cNvPr id="15" name="TextBox 14"/>
          <p:cNvSpPr txBox="1"/>
          <p:nvPr/>
        </p:nvSpPr>
        <p:spPr>
          <a:xfrm>
            <a:off x="758952"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Précision des alertes au seuil gelé.</a:t>
            </a:r>
          </a:p>
        </p:txBody>
      </p:sp>
      <p:sp>
        <p:nvSpPr>
          <p:cNvPr id="16" name="Rounded Rectangle 15"/>
          <p:cNvSpPr/>
          <p:nvPr/>
        </p:nvSpPr>
        <p:spPr>
          <a:xfrm>
            <a:off x="6195059"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26,9 %</a:t>
            </a:r>
          </a:p>
        </p:txBody>
      </p:sp>
      <p:sp>
        <p:nvSpPr>
          <p:cNvPr id="19" name="TextBox 18"/>
          <p:cNvSpPr txBox="1"/>
          <p:nvPr/>
        </p:nvSpPr>
        <p:spPr>
          <a:xfrm>
            <a:off x="6359651"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Rappel des départs dans le test.</a:t>
            </a:r>
          </a:p>
        </p:txBody>
      </p:sp>
      <p:sp>
        <p:nvSpPr>
          <p:cNvPr id="20" name="Rounded Rectangle 19"/>
          <p:cNvSpPr/>
          <p:nvPr/>
        </p:nvSpPr>
        <p:spPr>
          <a:xfrm>
            <a:off x="594360"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81,4 %</a:t>
            </a:r>
          </a:p>
        </p:txBody>
      </p:sp>
      <p:sp>
        <p:nvSpPr>
          <p:cNvPr id="23" name="TextBox 22"/>
          <p:cNvSpPr txBox="1"/>
          <p:nvPr/>
        </p:nvSpPr>
        <p:spPr>
          <a:xfrm>
            <a:off x="758952"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Exactitude, inférieure à la règle majoritaire ici.</a:t>
            </a:r>
          </a:p>
        </p:txBody>
      </p:sp>
      <p:sp>
        <p:nvSpPr>
          <p:cNvPr id="24" name="Rounded Rectangle 23"/>
          <p:cNvSpPr/>
          <p:nvPr/>
        </p:nvSpPr>
        <p:spPr>
          <a:xfrm>
            <a:off x="6195059"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À mesurer</a:t>
            </a:r>
          </a:p>
        </p:txBody>
      </p:sp>
      <p:sp>
        <p:nvSpPr>
          <p:cNvPr id="27" name="TextBox 26"/>
          <p:cNvSpPr txBox="1"/>
          <p:nvPr/>
        </p:nvSpPr>
        <p:spPr>
          <a:xfrm>
            <a:off x="6359651"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Valeur de l’action, charge et impact par segment.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Deep Learning : apprendre des représentations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Une représentation apprise n’est pas une explication humaine garantie.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S05</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J2-029</a:t>
            </a:r>
          </a:p>
        </p:txBody>
      </p:sp>
      <p:cxnSp>
        <p:nvCxnSpPr>
          <p:cNvPr id="12" name="Connector 11"/>
          <p:cNvCxnSpPr/>
          <p:nvPr/>
        </p:nvCxnSpPr>
        <p:spPr>
          <a:xfrm>
            <a:off x="1371600" y="2331720"/>
            <a:ext cx="1920240" cy="0"/>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71600" y="2331720"/>
            <a:ext cx="1920240" cy="548640"/>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371600" y="2331720"/>
            <a:ext cx="1920240" cy="1097280"/>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371600" y="2331720"/>
            <a:ext cx="1920240" cy="1645919"/>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371600" y="2331720"/>
            <a:ext cx="1920240" cy="2194559"/>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371600" y="2331720"/>
            <a:ext cx="1920240" cy="731519"/>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371600" y="2880360"/>
            <a:ext cx="1920240" cy="182879"/>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371600" y="3063239"/>
            <a:ext cx="1920240" cy="365761"/>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71600" y="3063239"/>
            <a:ext cx="1920240" cy="914400"/>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71600" y="3063239"/>
            <a:ext cx="1920240" cy="1463040"/>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371600" y="2331720"/>
            <a:ext cx="1920240" cy="1463039"/>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371600" y="2880360"/>
            <a:ext cx="1920240" cy="914399"/>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371600" y="3429000"/>
            <a:ext cx="1920240" cy="365759"/>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371600" y="3794759"/>
            <a:ext cx="1920240" cy="182880"/>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371600" y="3794759"/>
            <a:ext cx="1920240" cy="731520"/>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371600" y="2331720"/>
            <a:ext cx="1920240" cy="2194559"/>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1371600" y="2880360"/>
            <a:ext cx="1920240" cy="1645919"/>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371600" y="3429000"/>
            <a:ext cx="1920240" cy="1097279"/>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1371600" y="3977639"/>
            <a:ext cx="1920240" cy="548640"/>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371600" y="4526279"/>
            <a:ext cx="1920240" cy="0"/>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291840" y="2331720"/>
            <a:ext cx="1920240" cy="0"/>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291840" y="2331720"/>
            <a:ext cx="1920240" cy="731519"/>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291840" y="2331720"/>
            <a:ext cx="1920240" cy="1463039"/>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291840" y="2331720"/>
            <a:ext cx="1920240" cy="2194559"/>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291840" y="2331720"/>
            <a:ext cx="1920240" cy="548640"/>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291840" y="2880360"/>
            <a:ext cx="1920240" cy="182879"/>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291840" y="2880360"/>
            <a:ext cx="1920240" cy="914399"/>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291840" y="2880360"/>
            <a:ext cx="1920240" cy="1645919"/>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291840" y="2331720"/>
            <a:ext cx="1920240" cy="1097280"/>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291840" y="3063239"/>
            <a:ext cx="1920240" cy="365761"/>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3291840" y="3429000"/>
            <a:ext cx="1920240" cy="365759"/>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291840" y="3429000"/>
            <a:ext cx="1920240" cy="1097279"/>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291840" y="2331720"/>
            <a:ext cx="1920240" cy="1645919"/>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291840" y="3063239"/>
            <a:ext cx="1920240" cy="914400"/>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291840" y="3794759"/>
            <a:ext cx="1920240" cy="182880"/>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3291840" y="3977639"/>
            <a:ext cx="1920240" cy="548640"/>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3291840" y="2331720"/>
            <a:ext cx="1920240" cy="2194559"/>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291840" y="3063239"/>
            <a:ext cx="1920240" cy="1463040"/>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3291840" y="3794759"/>
            <a:ext cx="1920240" cy="731520"/>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3291840" y="4526279"/>
            <a:ext cx="1920240" cy="0"/>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212080" y="2331720"/>
            <a:ext cx="1920240" cy="0"/>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5212080" y="2331720"/>
            <a:ext cx="1920240" cy="2194559"/>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5212080" y="2331720"/>
            <a:ext cx="1920240" cy="731519"/>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5212080" y="3063239"/>
            <a:ext cx="1920240" cy="1463040"/>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5212080" y="2331720"/>
            <a:ext cx="1920240" cy="1463039"/>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212080" y="3794759"/>
            <a:ext cx="1920240" cy="731520"/>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5212080" y="2331720"/>
            <a:ext cx="1920240" cy="2194559"/>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5212080" y="4526279"/>
            <a:ext cx="1920240" cy="0"/>
          </a:xfrm>
          <a:prstGeom prst="line">
            <a:avLst/>
          </a:prstGeom>
          <a:ln w="8890">
            <a:solidFill>
              <a:srgbClr val="CED9E9"/>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1234440" y="2194560"/>
            <a:ext cx="274320" cy="274320"/>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234440" y="2926079"/>
            <a:ext cx="274320" cy="274320"/>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234440" y="3657599"/>
            <a:ext cx="274320" cy="274320"/>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234440" y="4389119"/>
            <a:ext cx="274320" cy="274320"/>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3154680" y="2194560"/>
            <a:ext cx="274320" cy="274320"/>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3154680" y="2743200"/>
            <a:ext cx="274320" cy="274320"/>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3154680" y="3291840"/>
            <a:ext cx="274320" cy="274320"/>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3154680" y="3840479"/>
            <a:ext cx="274320" cy="274320"/>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3154680" y="4389119"/>
            <a:ext cx="274320" cy="274320"/>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5074920" y="2194560"/>
            <a:ext cx="274320" cy="274320"/>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5074920" y="2926079"/>
            <a:ext cx="274320" cy="274320"/>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5074920" y="3657599"/>
            <a:ext cx="274320" cy="274320"/>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5074920" y="4389119"/>
            <a:ext cx="274320" cy="274320"/>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6995159" y="2194560"/>
            <a:ext cx="274320" cy="274320"/>
          </a:xfrm>
          <a:prstGeom prst="ellipse">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6995159" y="4389119"/>
            <a:ext cx="274320" cy="274320"/>
          </a:xfrm>
          <a:prstGeom prst="ellipse">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31520" y="4800600"/>
            <a:ext cx="1371600" cy="365760"/>
          </a:xfrm>
          <a:prstGeom prst="rect">
            <a:avLst/>
          </a:prstGeom>
          <a:noFill/>
        </p:spPr>
        <p:txBody>
          <a:bodyPr wrap="square" lIns="22860" rIns="22860" tIns="22860" bIns="22860" anchor="ctr">
            <a:spAutoFit/>
          </a:bodyPr>
          <a:lstStyle/>
          <a:p>
            <a:pPr algn="ctr">
              <a:spcBef>
                <a:spcPts val="0"/>
              </a:spcBef>
              <a:spcAft>
                <a:spcPts val="300"/>
              </a:spcAft>
              <a:defRPr sz="1800" b="1">
                <a:solidFill>
                  <a:srgbClr val="23468C"/>
                </a:solidFill>
                <a:latin typeface="Liberation Sans"/>
              </a:defRPr>
            </a:pPr>
            <a:r>
              <a:t>Entrées</a:t>
            </a:r>
          </a:p>
        </p:txBody>
      </p:sp>
      <p:sp>
        <p:nvSpPr>
          <p:cNvPr id="76" name="TextBox 75"/>
          <p:cNvSpPr txBox="1"/>
          <p:nvPr/>
        </p:nvSpPr>
        <p:spPr>
          <a:xfrm>
            <a:off x="2468880" y="4800600"/>
            <a:ext cx="3840480" cy="365760"/>
          </a:xfrm>
          <a:prstGeom prst="rect">
            <a:avLst/>
          </a:prstGeom>
          <a:noFill/>
        </p:spPr>
        <p:txBody>
          <a:bodyPr wrap="square" lIns="22860" rIns="22860" tIns="22860" bIns="22860" anchor="ctr">
            <a:spAutoFit/>
          </a:bodyPr>
          <a:lstStyle/>
          <a:p>
            <a:pPr algn="ctr">
              <a:spcBef>
                <a:spcPts val="0"/>
              </a:spcBef>
              <a:spcAft>
                <a:spcPts val="300"/>
              </a:spcAft>
              <a:defRPr sz="1800" b="1">
                <a:solidFill>
                  <a:srgbClr val="23468C"/>
                </a:solidFill>
                <a:latin typeface="Liberation Sans"/>
              </a:defRPr>
            </a:pPr>
            <a:r>
              <a:t>Représentations apprises</a:t>
            </a:r>
          </a:p>
        </p:txBody>
      </p:sp>
      <p:sp>
        <p:nvSpPr>
          <p:cNvPr id="77" name="TextBox 76"/>
          <p:cNvSpPr txBox="1"/>
          <p:nvPr/>
        </p:nvSpPr>
        <p:spPr>
          <a:xfrm>
            <a:off x="6492240" y="4800600"/>
            <a:ext cx="1463040" cy="365760"/>
          </a:xfrm>
          <a:prstGeom prst="rect">
            <a:avLst/>
          </a:prstGeom>
          <a:noFill/>
        </p:spPr>
        <p:txBody>
          <a:bodyPr wrap="square" lIns="22860" rIns="22860" tIns="22860" bIns="22860" anchor="ctr">
            <a:spAutoFit/>
          </a:bodyPr>
          <a:lstStyle/>
          <a:p>
            <a:pPr algn="ctr">
              <a:spcBef>
                <a:spcPts val="0"/>
              </a:spcBef>
              <a:spcAft>
                <a:spcPts val="300"/>
              </a:spcAft>
              <a:defRPr sz="1800" b="1">
                <a:solidFill>
                  <a:srgbClr val="238C33"/>
                </a:solidFill>
                <a:latin typeface="Liberation Sans"/>
              </a:defRPr>
            </a:pPr>
            <a:r>
              <a:t>Sortie</a:t>
            </a:r>
          </a:p>
        </p:txBody>
      </p:sp>
      <p:sp>
        <p:nvSpPr>
          <p:cNvPr id="78" name="Rounded Rectangle 77"/>
          <p:cNvSpPr/>
          <p:nvPr/>
        </p:nvSpPr>
        <p:spPr>
          <a:xfrm>
            <a:off x="8229600" y="1874519"/>
            <a:ext cx="3364992" cy="1085087"/>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8229600" y="1874519"/>
            <a:ext cx="54864" cy="1085087"/>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385048" y="1965960"/>
            <a:ext cx="305409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Entrées</a:t>
            </a:r>
          </a:p>
        </p:txBody>
      </p:sp>
      <p:sp>
        <p:nvSpPr>
          <p:cNvPr id="81" name="TextBox 80"/>
          <p:cNvSpPr txBox="1"/>
          <p:nvPr/>
        </p:nvSpPr>
        <p:spPr>
          <a:xfrm>
            <a:off x="8385048" y="2276856"/>
            <a:ext cx="3054096" cy="627887"/>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Mesures, pixels ou tokens</a:t>
            </a:r>
          </a:p>
        </p:txBody>
      </p:sp>
      <p:sp>
        <p:nvSpPr>
          <p:cNvPr id="82" name="Rounded Rectangle 81"/>
          <p:cNvSpPr/>
          <p:nvPr/>
        </p:nvSpPr>
        <p:spPr>
          <a:xfrm>
            <a:off x="8229600" y="3078479"/>
            <a:ext cx="3364992" cy="1085087"/>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8229600" y="3078479"/>
            <a:ext cx="54864" cy="1085087"/>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385048" y="3169919"/>
            <a:ext cx="305409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8C33"/>
                </a:solidFill>
                <a:latin typeface="Liberation Sans"/>
              </a:defRPr>
            </a:pPr>
            <a:r>
              <a:t>Couches</a:t>
            </a:r>
          </a:p>
        </p:txBody>
      </p:sp>
      <p:sp>
        <p:nvSpPr>
          <p:cNvPr id="85" name="TextBox 84"/>
          <p:cNvSpPr txBox="1"/>
          <p:nvPr/>
        </p:nvSpPr>
        <p:spPr>
          <a:xfrm>
            <a:off x="8385048" y="3480815"/>
            <a:ext cx="3054096" cy="627887"/>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Transformations paramétrées</a:t>
            </a:r>
          </a:p>
        </p:txBody>
      </p:sp>
      <p:sp>
        <p:nvSpPr>
          <p:cNvPr id="86" name="Rounded Rectangle 85"/>
          <p:cNvSpPr/>
          <p:nvPr/>
        </p:nvSpPr>
        <p:spPr>
          <a:xfrm>
            <a:off x="8229600" y="4282440"/>
            <a:ext cx="3364992" cy="1085087"/>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8229600" y="4282440"/>
            <a:ext cx="54864" cy="1085087"/>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385048" y="4373880"/>
            <a:ext cx="305409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Sortie</a:t>
            </a:r>
          </a:p>
        </p:txBody>
      </p:sp>
      <p:sp>
        <p:nvSpPr>
          <p:cNvPr id="89" name="TextBox 88"/>
          <p:cNvSpPr txBox="1"/>
          <p:nvPr/>
        </p:nvSpPr>
        <p:spPr>
          <a:xfrm>
            <a:off x="8385048" y="4684776"/>
            <a:ext cx="3054096" cy="627887"/>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Prédiction ou représentation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2900" b="1">
                <a:solidFill>
                  <a:srgbClr val="132443"/>
                </a:solidFill>
                <a:latin typeface="Liberation Sans"/>
              </a:defRPr>
            </a:pPr>
            <a:r>
              <a:t>Image, séquence, langage : des structures différentes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L’architecture doit correspondre aux données et au besoin, pas à la tendance.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S05 · S06</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J2-030</a:t>
            </a:r>
          </a:p>
        </p:txBody>
      </p:sp>
      <p:sp>
        <p:nvSpPr>
          <p:cNvPr id="12" name="Rounded Rectangle 11"/>
          <p:cNvSpPr/>
          <p:nvPr/>
        </p:nvSpPr>
        <p:spPr>
          <a:xfrm>
            <a:off x="594360"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Convolution</a:t>
            </a:r>
          </a:p>
        </p:txBody>
      </p:sp>
      <p:sp>
        <p:nvSpPr>
          <p:cNvPr id="15" name="TextBox 14"/>
          <p:cNvSpPr txBox="1"/>
          <p:nvPr/>
        </p:nvSpPr>
        <p:spPr>
          <a:xfrm>
            <a:off x="758952"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Exploiter des motifs locaux, notamment en vision.</a:t>
            </a:r>
          </a:p>
        </p:txBody>
      </p:sp>
      <p:sp>
        <p:nvSpPr>
          <p:cNvPr id="16" name="Rounded Rectangle 15"/>
          <p:cNvSpPr/>
          <p:nvPr/>
        </p:nvSpPr>
        <p:spPr>
          <a:xfrm>
            <a:off x="6195059"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Récurrence</a:t>
            </a:r>
          </a:p>
        </p:txBody>
      </p:sp>
      <p:sp>
        <p:nvSpPr>
          <p:cNvPr id="19" name="TextBox 18"/>
          <p:cNvSpPr txBox="1"/>
          <p:nvPr/>
        </p:nvSpPr>
        <p:spPr>
          <a:xfrm>
            <a:off x="6359651"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Traiter une séquence en tenant compte d’un état.</a:t>
            </a:r>
          </a:p>
        </p:txBody>
      </p:sp>
      <p:sp>
        <p:nvSpPr>
          <p:cNvPr id="20" name="Rounded Rectangle 19"/>
          <p:cNvSpPr/>
          <p:nvPr/>
        </p:nvSpPr>
        <p:spPr>
          <a:xfrm>
            <a:off x="594360"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Attention</a:t>
            </a:r>
          </a:p>
        </p:txBody>
      </p:sp>
      <p:sp>
        <p:nvSpPr>
          <p:cNvPr id="23" name="TextBox 22"/>
          <p:cNvSpPr txBox="1"/>
          <p:nvPr/>
        </p:nvSpPr>
        <p:spPr>
          <a:xfrm>
            <a:off x="758952"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Pondérer des éléments selon leur relation au contexte.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L’attention relie des éléments d’un contexte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Illustration conceptuelle, pas visualisation d’un modèle exécuté.</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S06</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J2-031</a:t>
            </a:r>
          </a:p>
        </p:txBody>
      </p:sp>
      <p:sp>
        <p:nvSpPr>
          <p:cNvPr id="12" name="Rounded Rectangle 11"/>
          <p:cNvSpPr/>
          <p:nvPr/>
        </p:nvSpPr>
        <p:spPr>
          <a:xfrm>
            <a:off x="594360"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Phrase</a:t>
            </a:r>
          </a:p>
        </p:txBody>
      </p:sp>
      <p:sp>
        <p:nvSpPr>
          <p:cNvPr id="15" name="TextBox 14"/>
          <p:cNvSpPr txBox="1"/>
          <p:nvPr/>
        </p:nvSpPr>
        <p:spPr>
          <a:xfrm>
            <a:off x="758952"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Le client appelle car sa commande est en retard.</a:t>
            </a:r>
          </a:p>
        </p:txBody>
      </p:sp>
      <p:sp>
        <p:nvSpPr>
          <p:cNvPr id="16" name="Rounded Rectangle 15"/>
          <p:cNvSpPr/>
          <p:nvPr/>
        </p:nvSpPr>
        <p:spPr>
          <a:xfrm>
            <a:off x="6195059"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Contexte</a:t>
            </a:r>
          </a:p>
        </p:txBody>
      </p:sp>
      <p:sp>
        <p:nvSpPr>
          <p:cNvPr id="19" name="TextBox 18"/>
          <p:cNvSpPr txBox="1"/>
          <p:nvPr/>
        </p:nvSpPr>
        <p:spPr>
          <a:xfrm>
            <a:off x="6359651"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Les représentations combinent différentes positions.</a:t>
            </a:r>
          </a:p>
        </p:txBody>
      </p:sp>
      <p:sp>
        <p:nvSpPr>
          <p:cNvPr id="20" name="Rounded Rectangle 19"/>
          <p:cNvSpPr/>
          <p:nvPr/>
        </p:nvSpPr>
        <p:spPr>
          <a:xfrm>
            <a:off x="594360"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Prudence</a:t>
            </a:r>
          </a:p>
        </p:txBody>
      </p:sp>
      <p:sp>
        <p:nvSpPr>
          <p:cNvPr id="23" name="TextBox 22"/>
          <p:cNvSpPr txBox="1"/>
          <p:nvPr/>
        </p:nvSpPr>
        <p:spPr>
          <a:xfrm>
            <a:off x="758952"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 poids d’attention ne prouve pas une causalité.</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150" b="1">
                <a:solidFill>
                  <a:srgbClr val="132443"/>
                </a:solidFill>
                <a:latin typeface="Liberation Sans"/>
              </a:defRPr>
            </a:pPr>
            <a:r>
              <a:t>Générer, retrouver, agir : trois niveaux à contrôler</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Une réponse plausible ne vaut ni vérité ni autorisation.</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S16</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J2-032</a:t>
            </a:r>
          </a:p>
        </p:txBody>
      </p:sp>
      <p:sp>
        <p:nvSpPr>
          <p:cNvPr id="12" name="Rounded Rectangle 11"/>
          <p:cNvSpPr/>
          <p:nvPr/>
        </p:nvSpPr>
        <p:spPr>
          <a:xfrm>
            <a:off x="594360" y="1993392"/>
            <a:ext cx="3477768"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01</a:t>
            </a:r>
          </a:p>
        </p:txBody>
      </p:sp>
      <p:sp>
        <p:nvSpPr>
          <p:cNvPr id="15" name="TextBox 14"/>
          <p:cNvSpPr txBox="1"/>
          <p:nvPr/>
        </p:nvSpPr>
        <p:spPr>
          <a:xfrm>
            <a:off x="768096" y="2514600"/>
            <a:ext cx="3130296"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Retrouver</a:t>
            </a:r>
          </a:p>
        </p:txBody>
      </p:sp>
      <p:sp>
        <p:nvSpPr>
          <p:cNvPr id="16" name="TextBox 15"/>
          <p:cNvSpPr txBox="1"/>
          <p:nvPr/>
        </p:nvSpPr>
        <p:spPr>
          <a:xfrm>
            <a:off x="758952" y="3300984"/>
            <a:ext cx="3148584"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Accéder à des contenus autorisés</a:t>
            </a:r>
          </a:p>
        </p:txBody>
      </p:sp>
      <p:sp>
        <p:nvSpPr>
          <p:cNvPr id="17" name="Chevron 16"/>
          <p:cNvSpPr/>
          <p:nvPr/>
        </p:nvSpPr>
        <p:spPr>
          <a:xfrm>
            <a:off x="4122419"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355592" y="1993392"/>
            <a:ext cx="3477768"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55592"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29328"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02</a:t>
            </a:r>
          </a:p>
        </p:txBody>
      </p:sp>
      <p:sp>
        <p:nvSpPr>
          <p:cNvPr id="21" name="TextBox 20"/>
          <p:cNvSpPr txBox="1"/>
          <p:nvPr/>
        </p:nvSpPr>
        <p:spPr>
          <a:xfrm>
            <a:off x="4529328" y="2514600"/>
            <a:ext cx="3130296"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Générer</a:t>
            </a:r>
          </a:p>
        </p:txBody>
      </p:sp>
      <p:sp>
        <p:nvSpPr>
          <p:cNvPr id="22" name="TextBox 21"/>
          <p:cNvSpPr txBox="1"/>
          <p:nvPr/>
        </p:nvSpPr>
        <p:spPr>
          <a:xfrm>
            <a:off x="4520184" y="3300984"/>
            <a:ext cx="3148584"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Produire une réponse à vérifier</a:t>
            </a:r>
          </a:p>
        </p:txBody>
      </p:sp>
      <p:sp>
        <p:nvSpPr>
          <p:cNvPr id="23" name="Chevron 22"/>
          <p:cNvSpPr/>
          <p:nvPr/>
        </p:nvSpPr>
        <p:spPr>
          <a:xfrm>
            <a:off x="7883651"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116824" y="1993392"/>
            <a:ext cx="3477768"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16824"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90560"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03</a:t>
            </a:r>
          </a:p>
        </p:txBody>
      </p:sp>
      <p:sp>
        <p:nvSpPr>
          <p:cNvPr id="27" name="TextBox 26"/>
          <p:cNvSpPr txBox="1"/>
          <p:nvPr/>
        </p:nvSpPr>
        <p:spPr>
          <a:xfrm>
            <a:off x="8290560" y="2514600"/>
            <a:ext cx="3130296"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Agir</a:t>
            </a:r>
          </a:p>
        </p:txBody>
      </p:sp>
      <p:sp>
        <p:nvSpPr>
          <p:cNvPr id="28" name="TextBox 27"/>
          <p:cNvSpPr txBox="1"/>
          <p:nvPr/>
        </p:nvSpPr>
        <p:spPr>
          <a:xfrm>
            <a:off x="8281416" y="3300984"/>
            <a:ext cx="3148584"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Appeler un outil avec des droits limités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Du notebook au service exploité</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Un fichier modèle n’est pas un service prêt à exploiter.</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S28</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J2-033</a:t>
            </a:r>
          </a:p>
        </p:txBody>
      </p:sp>
      <p:sp>
        <p:nvSpPr>
          <p:cNvPr id="12" name="Rounded Rectangle 11"/>
          <p:cNvSpPr/>
          <p:nvPr/>
        </p:nvSpPr>
        <p:spPr>
          <a:xfrm>
            <a:off x="594360" y="1938528"/>
            <a:ext cx="3532632"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38528"/>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075688"/>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Données</a:t>
            </a:r>
          </a:p>
        </p:txBody>
      </p:sp>
      <p:sp>
        <p:nvSpPr>
          <p:cNvPr id="15" name="TextBox 14"/>
          <p:cNvSpPr txBox="1"/>
          <p:nvPr/>
        </p:nvSpPr>
        <p:spPr>
          <a:xfrm>
            <a:off x="758952" y="2615184"/>
            <a:ext cx="3203448" cy="768096"/>
          </a:xfrm>
          <a:prstGeom prst="rect">
            <a:avLst/>
          </a:prstGeom>
          <a:noFill/>
        </p:spPr>
        <p:txBody>
          <a:bodyPr wrap="square" lIns="22860" rIns="22860" tIns="22860" bIns="22860" anchor="t">
            <a:spAutoFit/>
          </a:bodyPr>
          <a:lstStyle/>
          <a:p>
            <a:pPr>
              <a:spcBef>
                <a:spcPts val="0"/>
              </a:spcBef>
              <a:spcAft>
                <a:spcPts val="300"/>
              </a:spcAft>
              <a:defRPr sz="1950" b="0">
                <a:solidFill>
                  <a:srgbClr val="0D0D0D"/>
                </a:solidFill>
                <a:latin typeface="Liberation Sans"/>
              </a:defRPr>
            </a:pPr>
            <a:r>
              <a:t>Schéma et préparation versionnés</a:t>
            </a:r>
          </a:p>
        </p:txBody>
      </p:sp>
      <p:sp>
        <p:nvSpPr>
          <p:cNvPr id="16" name="Rounded Rectangle 15"/>
          <p:cNvSpPr/>
          <p:nvPr/>
        </p:nvSpPr>
        <p:spPr>
          <a:xfrm>
            <a:off x="4328160" y="1938528"/>
            <a:ext cx="3532632"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8160" y="1938528"/>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1896" y="2075688"/>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Modèle</a:t>
            </a:r>
          </a:p>
        </p:txBody>
      </p:sp>
      <p:sp>
        <p:nvSpPr>
          <p:cNvPr id="19" name="TextBox 18"/>
          <p:cNvSpPr txBox="1"/>
          <p:nvPr/>
        </p:nvSpPr>
        <p:spPr>
          <a:xfrm>
            <a:off x="4492752" y="2615184"/>
            <a:ext cx="3203448"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Registre et validation</a:t>
            </a:r>
          </a:p>
        </p:txBody>
      </p:sp>
      <p:sp>
        <p:nvSpPr>
          <p:cNvPr id="20" name="Rounded Rectangle 19"/>
          <p:cNvSpPr/>
          <p:nvPr/>
        </p:nvSpPr>
        <p:spPr>
          <a:xfrm>
            <a:off x="8061960" y="1938528"/>
            <a:ext cx="3532632"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61960" y="1938528"/>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5695" y="2075688"/>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Service</a:t>
            </a:r>
          </a:p>
        </p:txBody>
      </p:sp>
      <p:sp>
        <p:nvSpPr>
          <p:cNvPr id="23" name="TextBox 22"/>
          <p:cNvSpPr txBox="1"/>
          <p:nvPr/>
        </p:nvSpPr>
        <p:spPr>
          <a:xfrm>
            <a:off x="8226551" y="2615184"/>
            <a:ext cx="3203448"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API ou calcul planifié</a:t>
            </a:r>
          </a:p>
        </p:txBody>
      </p:sp>
      <p:sp>
        <p:nvSpPr>
          <p:cNvPr id="24" name="Rounded Rectangle 23"/>
          <p:cNvSpPr/>
          <p:nvPr/>
        </p:nvSpPr>
        <p:spPr>
          <a:xfrm>
            <a:off x="594360" y="3730752"/>
            <a:ext cx="3532632"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4360" y="3730752"/>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867912"/>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Application</a:t>
            </a:r>
          </a:p>
        </p:txBody>
      </p:sp>
      <p:sp>
        <p:nvSpPr>
          <p:cNvPr id="27" name="TextBox 26"/>
          <p:cNvSpPr txBox="1"/>
          <p:nvPr/>
        </p:nvSpPr>
        <p:spPr>
          <a:xfrm>
            <a:off x="758952" y="4407408"/>
            <a:ext cx="3203448"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File et supervision</a:t>
            </a:r>
          </a:p>
        </p:txBody>
      </p:sp>
      <p:sp>
        <p:nvSpPr>
          <p:cNvPr id="28" name="Rounded Rectangle 27"/>
          <p:cNvSpPr/>
          <p:nvPr/>
        </p:nvSpPr>
        <p:spPr>
          <a:xfrm>
            <a:off x="4328160" y="3730752"/>
            <a:ext cx="3532632"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28160" y="3730752"/>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01896" y="3867912"/>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Exploitation</a:t>
            </a:r>
          </a:p>
        </p:txBody>
      </p:sp>
      <p:sp>
        <p:nvSpPr>
          <p:cNvPr id="31" name="TextBox 30"/>
          <p:cNvSpPr txBox="1"/>
          <p:nvPr/>
        </p:nvSpPr>
        <p:spPr>
          <a:xfrm>
            <a:off x="4492752" y="4407408"/>
            <a:ext cx="3203448"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Journaux, alertes et repli</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Le monde change après le déploiement</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Surveiller → diagnostiquer → décider → valider, plutôt que réentraîner aveuglément.</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S28</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J2-034</a:t>
            </a:r>
          </a:p>
        </p:txBody>
      </p:sp>
      <p:cxnSp>
        <p:nvCxnSpPr>
          <p:cNvPr id="12" name="Connector 11"/>
          <p:cNvCxnSpPr/>
          <p:nvPr/>
        </p:nvCxnSpPr>
        <p:spPr>
          <a:xfrm>
            <a:off x="822960" y="5221224"/>
            <a:ext cx="6858000" cy="0"/>
          </a:xfrm>
          <a:prstGeom prst="line">
            <a:avLst/>
          </a:prstGeom>
          <a:ln w="13970">
            <a:solidFill>
              <a:srgbClr val="58677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22960" y="1901952"/>
            <a:ext cx="0" cy="3319272"/>
          </a:xfrm>
          <a:prstGeom prst="line">
            <a:avLst/>
          </a:prstGeom>
          <a:ln w="13970">
            <a:solidFill>
              <a:srgbClr val="586777"/>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822960" y="2330369"/>
            <a:ext cx="76200" cy="69473"/>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899160" y="2325706"/>
            <a:ext cx="76200" cy="4663"/>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75360" y="2325706"/>
            <a:ext cx="76200" cy="65276"/>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51560" y="2390982"/>
            <a:ext cx="76200" cy="76584"/>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27760" y="2467566"/>
            <a:ext cx="76200" cy="19373"/>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203960" y="2433666"/>
            <a:ext cx="76200" cy="53273"/>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1280160" y="2359581"/>
            <a:ext cx="76200" cy="74085"/>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356360" y="2336118"/>
            <a:ext cx="76200" cy="23463"/>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432560" y="2336118"/>
            <a:ext cx="76200" cy="52509"/>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508760" y="2388627"/>
            <a:ext cx="76200" cy="84436"/>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584960" y="2473063"/>
            <a:ext cx="76200" cy="4341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661160" y="2484068"/>
            <a:ext cx="76200" cy="32406"/>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737360" y="2411197"/>
            <a:ext cx="76200" cy="7287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813560" y="2370849"/>
            <a:ext cx="76200" cy="40348"/>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889760" y="2370849"/>
            <a:ext cx="76200" cy="35693"/>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965960" y="2406542"/>
            <a:ext cx="76200" cy="85767"/>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042160" y="2492309"/>
            <a:ext cx="76200" cy="6426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118360" y="2547936"/>
            <a:ext cx="76200" cy="8633"/>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2194560" y="2482461"/>
            <a:ext cx="76200" cy="65475"/>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270760" y="2428870"/>
            <a:ext cx="76200" cy="5359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346960" y="2428870"/>
            <a:ext cx="76200" cy="16509"/>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2423160" y="2445379"/>
            <a:ext cx="76200" cy="80786"/>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2499360" y="2526165"/>
            <a:ext cx="76200" cy="80554"/>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2575560" y="2606719"/>
            <a:ext cx="76200" cy="16435"/>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651760" y="2570940"/>
            <a:ext cx="76200" cy="52214"/>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727960" y="2509066"/>
            <a:ext cx="76200" cy="61874"/>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2804160" y="2505806"/>
            <a:ext cx="76200" cy="326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2880360" y="2505806"/>
            <a:ext cx="76200" cy="7014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2956560" y="2575946"/>
            <a:ext cx="76200" cy="91242"/>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032760" y="2667188"/>
            <a:ext cx="76200" cy="41042"/>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108960" y="2674323"/>
            <a:ext cx="76200" cy="33907"/>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185160" y="2610019"/>
            <a:ext cx="76200" cy="64304"/>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261360" y="2588212"/>
            <a:ext cx="76200" cy="21807"/>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3337560" y="2588212"/>
            <a:ext cx="76199" cy="54906"/>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413759" y="2643118"/>
            <a:ext cx="76201" cy="95697"/>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489960" y="2738815"/>
            <a:ext cx="76200" cy="63452"/>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3566160" y="2790476"/>
            <a:ext cx="76199" cy="1179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3642359" y="2730008"/>
            <a:ext cx="76201" cy="60468"/>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718560" y="2692572"/>
            <a:ext cx="76200" cy="37436"/>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3794760" y="2692572"/>
            <a:ext cx="76200" cy="36513"/>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3870960" y="2729085"/>
            <a:ext cx="76200" cy="93779"/>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947160" y="2822864"/>
            <a:ext cx="76200" cy="82093"/>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023360" y="2904957"/>
            <a:ext cx="76200" cy="12586"/>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099560" y="2867084"/>
            <a:ext cx="76200" cy="50459"/>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175760" y="2818390"/>
            <a:ext cx="76200" cy="48694"/>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4251960" y="2818390"/>
            <a:ext cx="76200" cy="16637"/>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4328160" y="2835027"/>
            <a:ext cx="76200" cy="8585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4404360" y="2920877"/>
            <a:ext cx="76200" cy="95688"/>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4480560" y="3016565"/>
            <a:ext cx="76200" cy="37487"/>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4556760" y="3019183"/>
            <a:ext cx="76200" cy="34869"/>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632960" y="2964706"/>
            <a:ext cx="76200" cy="54477"/>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709160" y="2961770"/>
            <a:ext cx="76200" cy="2936"/>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4785360" y="2961770"/>
            <a:ext cx="76200" cy="72745"/>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4861560" y="3034515"/>
            <a:ext cx="76200" cy="103357"/>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4937760" y="3137872"/>
            <a:ext cx="76200" cy="6113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5013960" y="3184265"/>
            <a:ext cx="76200" cy="14738"/>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5090160" y="3130139"/>
            <a:ext cx="76200" cy="54126"/>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5166360" y="3109694"/>
            <a:ext cx="76200" cy="20445"/>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5242560" y="3109694"/>
            <a:ext cx="76200" cy="55707"/>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5318760" y="3165401"/>
            <a:ext cx="76200" cy="104687"/>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5394960" y="3270088"/>
            <a:ext cx="76200" cy="81834"/>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5471160" y="3351922"/>
            <a:ext cx="76200" cy="8527"/>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5547360" y="3312981"/>
            <a:ext cx="76200" cy="47468"/>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5623560" y="3278680"/>
            <a:ext cx="76200" cy="3430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5699760" y="3278680"/>
            <a:ext cx="76200" cy="3629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5775960" y="3314970"/>
            <a:ext cx="76200" cy="9977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5852160" y="3414740"/>
            <a:ext cx="76200" cy="9814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5928360" y="3512881"/>
            <a:ext cx="76200" cy="33268"/>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6004560" y="3511308"/>
            <a:ext cx="76200" cy="3484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6080760" y="3468105"/>
            <a:ext cx="76200" cy="43203"/>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6156960" y="3468105"/>
            <a:ext cx="76200" cy="16235"/>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6233160" y="3484340"/>
            <a:ext cx="76200" cy="89188"/>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6309360" y="3573528"/>
            <a:ext cx="76200" cy="108948"/>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6385560" y="3682476"/>
            <a:ext cx="76200" cy="57708"/>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6461760" y="3723125"/>
            <a:ext cx="76200" cy="17059"/>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6537960" y="3676874"/>
            <a:ext cx="76200" cy="4625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6614160" y="3674204"/>
            <a:ext cx="76200" cy="267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6690360" y="3674204"/>
            <a:ext cx="76200" cy="73979"/>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6766560" y="3748183"/>
            <a:ext cx="76200" cy="113583"/>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6842760" y="3861766"/>
            <a:ext cx="76200" cy="80090"/>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918960" y="3941856"/>
            <a:ext cx="76200" cy="4654"/>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6995160" y="3903497"/>
            <a:ext cx="76200" cy="43013"/>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7071360" y="3884770"/>
            <a:ext cx="76200" cy="18727"/>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7147560" y="3884770"/>
            <a:ext cx="76200" cy="5554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7223760" y="3940311"/>
            <a:ext cx="76200" cy="111866"/>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7299960" y="4052177"/>
            <a:ext cx="76200" cy="9882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7376160" y="4150998"/>
            <a:ext cx="76200" cy="28755"/>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7452360" y="4146195"/>
            <a:ext cx="76199" cy="33558"/>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7528559" y="4115724"/>
            <a:ext cx="76201" cy="30471"/>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7604760" y="4115724"/>
            <a:ext cx="76200" cy="35532"/>
          </a:xfrm>
          <a:prstGeom prst="line">
            <a:avLst/>
          </a:prstGeom>
          <a:ln w="33020">
            <a:solidFill>
              <a:srgbClr val="23468C"/>
            </a:solidFill>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914400" y="5394960"/>
            <a:ext cx="6675120" cy="24688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Illustration conceptuelle, pas une mesure du TP</a:t>
            </a:r>
          </a:p>
        </p:txBody>
      </p:sp>
      <p:sp>
        <p:nvSpPr>
          <p:cNvPr id="105" name="Rounded Rectangle 104"/>
          <p:cNvSpPr/>
          <p:nvPr/>
        </p:nvSpPr>
        <p:spPr>
          <a:xfrm>
            <a:off x="8074152" y="1856231"/>
            <a:ext cx="3474720" cy="1066799"/>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8074152" y="1856231"/>
            <a:ext cx="54864" cy="1066799"/>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229600" y="1947672"/>
            <a:ext cx="3163824"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Données</a:t>
            </a:r>
          </a:p>
        </p:txBody>
      </p:sp>
      <p:sp>
        <p:nvSpPr>
          <p:cNvPr id="108" name="TextBox 107"/>
          <p:cNvSpPr txBox="1"/>
          <p:nvPr/>
        </p:nvSpPr>
        <p:spPr>
          <a:xfrm>
            <a:off x="8229600" y="2258568"/>
            <a:ext cx="3163824" cy="609599"/>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Les entrées changent de distribution.</a:t>
            </a:r>
          </a:p>
        </p:txBody>
      </p:sp>
      <p:sp>
        <p:nvSpPr>
          <p:cNvPr id="109" name="Rounded Rectangle 108"/>
          <p:cNvSpPr/>
          <p:nvPr/>
        </p:nvSpPr>
        <p:spPr>
          <a:xfrm>
            <a:off x="8074152" y="3014472"/>
            <a:ext cx="3474720" cy="1066799"/>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8074152" y="3014472"/>
            <a:ext cx="54864" cy="1066799"/>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8229600" y="3105912"/>
            <a:ext cx="3163824"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8C33"/>
                </a:solidFill>
                <a:latin typeface="Liberation Sans"/>
              </a:defRPr>
            </a:pPr>
            <a:r>
              <a:t>Relation</a:t>
            </a:r>
          </a:p>
        </p:txBody>
      </p:sp>
      <p:sp>
        <p:nvSpPr>
          <p:cNvPr id="112" name="TextBox 111"/>
          <p:cNvSpPr txBox="1"/>
          <p:nvPr/>
        </p:nvSpPr>
        <p:spPr>
          <a:xfrm>
            <a:off x="8229600" y="3416807"/>
            <a:ext cx="3163824" cy="609599"/>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Le lien entre entrées et cible évolue.</a:t>
            </a:r>
          </a:p>
        </p:txBody>
      </p:sp>
      <p:sp>
        <p:nvSpPr>
          <p:cNvPr id="113" name="Rounded Rectangle 112"/>
          <p:cNvSpPr/>
          <p:nvPr/>
        </p:nvSpPr>
        <p:spPr>
          <a:xfrm>
            <a:off x="8074152" y="4172711"/>
            <a:ext cx="3474720" cy="1066799"/>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8074152" y="4172711"/>
            <a:ext cx="54864" cy="1066799"/>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8229600" y="4264151"/>
            <a:ext cx="3163824"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Performance</a:t>
            </a:r>
          </a:p>
        </p:txBody>
      </p:sp>
      <p:sp>
        <p:nvSpPr>
          <p:cNvPr id="116" name="TextBox 115"/>
          <p:cNvSpPr txBox="1"/>
          <p:nvPr/>
        </p:nvSpPr>
        <p:spPr>
          <a:xfrm>
            <a:off x="8229600" y="4575048"/>
            <a:ext cx="3163824" cy="609599"/>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Les métriques observées se dégradent.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250" b="1">
                <a:solidFill>
                  <a:srgbClr val="132443"/>
                </a:solidFill>
                <a:latin typeface="Liberation Sans"/>
              </a:defRPr>
            </a:pPr>
            <a:r>
              <a:t>A09 • Transformer les scores en vue de décision</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35 minutes • Cahier A09 • Les CSV de secours sont fournis.</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J2-035</a:t>
            </a:r>
          </a:p>
        </p:txBody>
      </p:sp>
      <p:sp>
        <p:nvSpPr>
          <p:cNvPr id="12" name="Rounded Rectangle 11"/>
          <p:cNvSpPr/>
          <p:nvPr/>
        </p:nvSpPr>
        <p:spPr>
          <a:xfrm>
            <a:off x="594360" y="1965960"/>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65960"/>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0312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Entrée</a:t>
            </a:r>
          </a:p>
        </p:txBody>
      </p:sp>
      <p:sp>
        <p:nvSpPr>
          <p:cNvPr id="15" name="TextBox 14"/>
          <p:cNvSpPr txBox="1"/>
          <p:nvPr/>
        </p:nvSpPr>
        <p:spPr>
          <a:xfrm>
            <a:off x="758952" y="2642616"/>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predictions_powerbi.csv</a:t>
            </a:r>
          </a:p>
        </p:txBody>
      </p:sp>
      <p:sp>
        <p:nvSpPr>
          <p:cNvPr id="16" name="Rounded Rectangle 15"/>
          <p:cNvSpPr/>
          <p:nvPr/>
        </p:nvSpPr>
        <p:spPr>
          <a:xfrm>
            <a:off x="6195059" y="1965960"/>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965960"/>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210312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Production</a:t>
            </a:r>
          </a:p>
        </p:txBody>
      </p:sp>
      <p:sp>
        <p:nvSpPr>
          <p:cNvPr id="19" name="TextBox 18"/>
          <p:cNvSpPr txBox="1"/>
          <p:nvPr/>
        </p:nvSpPr>
        <p:spPr>
          <a:xfrm>
            <a:off x="6359651" y="2642616"/>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Quatre indicateurs et trois vues lisibles.</a:t>
            </a:r>
          </a:p>
        </p:txBody>
      </p:sp>
      <p:sp>
        <p:nvSpPr>
          <p:cNvPr id="20" name="Rounded Rectangle 19"/>
          <p:cNvSpPr/>
          <p:nvPr/>
        </p:nvSpPr>
        <p:spPr>
          <a:xfrm>
            <a:off x="594360" y="3758183"/>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758183"/>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89534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Contexte</a:t>
            </a:r>
          </a:p>
        </p:txBody>
      </p:sp>
      <p:sp>
        <p:nvSpPr>
          <p:cNvPr id="23" name="TextBox 22"/>
          <p:cNvSpPr txBox="1"/>
          <p:nvPr/>
        </p:nvSpPr>
        <p:spPr>
          <a:xfrm>
            <a:off x="758952" y="4434840"/>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Cohorte synthétique, date, version et seuil.</a:t>
            </a:r>
          </a:p>
        </p:txBody>
      </p:sp>
      <p:sp>
        <p:nvSpPr>
          <p:cNvPr id="24" name="Rounded Rectangle 23"/>
          <p:cNvSpPr/>
          <p:nvPr/>
        </p:nvSpPr>
        <p:spPr>
          <a:xfrm>
            <a:off x="6195059" y="3758183"/>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758183"/>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89534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Action</a:t>
            </a:r>
          </a:p>
        </p:txBody>
      </p:sp>
      <p:sp>
        <p:nvSpPr>
          <p:cNvPr id="27" name="TextBox 26"/>
          <p:cNvSpPr txBox="1"/>
          <p:nvPr/>
        </p:nvSpPr>
        <p:spPr>
          <a:xfrm>
            <a:off x="6359651" y="4434840"/>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Décrire le geste métier et le repli.</a:t>
            </a:r>
          </a:p>
        </p:txBody>
      </p:sp>
      <p:sp>
        <p:nvSpPr>
          <p:cNvPr id="28" name="TextBox 27"/>
          <p:cNvSpPr txBox="1"/>
          <p:nvPr/>
        </p:nvSpPr>
        <p:spPr>
          <a:xfrm>
            <a:off x="630936" y="1655064"/>
            <a:ext cx="10058400" cy="228600"/>
          </a:xfrm>
          <a:prstGeom prst="rect">
            <a:avLst/>
          </a:prstGeom>
          <a:noFill/>
        </p:spPr>
        <p:txBody>
          <a:bodyPr wrap="square" lIns="22860" rIns="22860" tIns="22860" bIns="22860" anchor="ctr">
            <a:spAutoFit/>
          </a:bodyPr>
          <a:lstStyle/>
          <a:p>
            <a:pPr>
              <a:spcBef>
                <a:spcPts val="0"/>
              </a:spcBef>
              <a:spcAft>
                <a:spcPts val="300"/>
              </a:spcAft>
              <a:defRPr sz="1300" b="1">
                <a:solidFill>
                  <a:srgbClr val="238C33"/>
                </a:solidFill>
                <a:latin typeface="Liberation Sans"/>
              </a:defRPr>
            </a:pPr>
            <a:r>
              <a:t>ATELIER  /  35 MINUTES POUR LA SÉQUENCE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Importer sans altérer les chiffres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La qualité d’une visualisation commence à l’import.</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S26 · P01</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J2-036</a:t>
            </a:r>
          </a:p>
        </p:txBody>
      </p:sp>
      <p:sp>
        <p:nvSpPr>
          <p:cNvPr id="12" name="Rounded Rectangle 11"/>
          <p:cNvSpPr/>
          <p:nvPr/>
        </p:nvSpPr>
        <p:spPr>
          <a:xfrm>
            <a:off x="594360"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01</a:t>
            </a:r>
          </a:p>
        </p:txBody>
      </p:sp>
      <p:sp>
        <p:nvSpPr>
          <p:cNvPr id="15" name="TextBox 14"/>
          <p:cNvSpPr txBox="1"/>
          <p:nvPr/>
        </p:nvSpPr>
        <p:spPr>
          <a:xfrm>
            <a:off x="768096"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01</a:t>
            </a:r>
          </a:p>
        </p:txBody>
      </p:sp>
      <p:sp>
        <p:nvSpPr>
          <p:cNvPr id="16" name="TextBox 15"/>
          <p:cNvSpPr txBox="1"/>
          <p:nvPr/>
        </p:nvSpPr>
        <p:spPr>
          <a:xfrm>
            <a:off x="758952" y="3300984"/>
            <a:ext cx="1644091" cy="1508760"/>
          </a:xfrm>
          <a:prstGeom prst="rect">
            <a:avLst/>
          </a:prstGeom>
          <a:noFill/>
        </p:spPr>
        <p:txBody>
          <a:bodyPr wrap="square" lIns="22860" rIns="22860" tIns="22860" bIns="22860" anchor="t">
            <a:spAutoFit/>
          </a:bodyPr>
          <a:lstStyle/>
          <a:p>
            <a:pPr>
              <a:spcBef>
                <a:spcPts val="0"/>
              </a:spcBef>
              <a:spcAft>
                <a:spcPts val="300"/>
              </a:spcAft>
              <a:defRPr sz="1850" b="0">
                <a:solidFill>
                  <a:srgbClr val="0D0D0D"/>
                </a:solidFill>
                <a:latin typeface="Liberation Sans"/>
              </a:defRPr>
            </a:pPr>
            <a:r>
              <a:t>Importer le CSV UTF-8 avec séparateur virgule.</a:t>
            </a:r>
          </a:p>
        </p:txBody>
      </p:sp>
      <p:sp>
        <p:nvSpPr>
          <p:cNvPr id="17" name="Chevron 16"/>
          <p:cNvSpPr/>
          <p:nvPr/>
        </p:nvSpPr>
        <p:spPr>
          <a:xfrm>
            <a:off x="2617927"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851099"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851099"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24835"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02</a:t>
            </a:r>
          </a:p>
        </p:txBody>
      </p:sp>
      <p:sp>
        <p:nvSpPr>
          <p:cNvPr id="21" name="TextBox 20"/>
          <p:cNvSpPr txBox="1"/>
          <p:nvPr/>
        </p:nvSpPr>
        <p:spPr>
          <a:xfrm>
            <a:off x="3024835"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02</a:t>
            </a:r>
          </a:p>
        </p:txBody>
      </p:sp>
      <p:sp>
        <p:nvSpPr>
          <p:cNvPr id="22" name="TextBox 21"/>
          <p:cNvSpPr txBox="1"/>
          <p:nvPr/>
        </p:nvSpPr>
        <p:spPr>
          <a:xfrm>
            <a:off x="3015691" y="3300984"/>
            <a:ext cx="1644091" cy="1508760"/>
          </a:xfrm>
          <a:prstGeom prst="rect">
            <a:avLst/>
          </a:prstGeom>
          <a:noFill/>
        </p:spPr>
        <p:txBody>
          <a:bodyPr wrap="square" lIns="22860" rIns="22860" tIns="22860" bIns="22860" anchor="t">
            <a:spAutoFit/>
          </a:bodyPr>
          <a:lstStyle/>
          <a:p>
            <a:pPr>
              <a:spcBef>
                <a:spcPts val="0"/>
              </a:spcBef>
              <a:spcAft>
                <a:spcPts val="300"/>
              </a:spcAft>
              <a:defRPr sz="1550" b="0">
                <a:solidFill>
                  <a:srgbClr val="0D0D0D"/>
                </a:solidFill>
                <a:latin typeface="Liberation Sans"/>
              </a:defRPr>
            </a:pPr>
            <a:r>
              <a:t>Utiliser une locale compatible avec les points décimaux.</a:t>
            </a:r>
          </a:p>
        </p:txBody>
      </p:sp>
      <p:sp>
        <p:nvSpPr>
          <p:cNvPr id="23" name="Chevron 22"/>
          <p:cNvSpPr/>
          <p:nvPr/>
        </p:nvSpPr>
        <p:spPr>
          <a:xfrm>
            <a:off x="4874666"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107838"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7838"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81574"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03</a:t>
            </a:r>
          </a:p>
        </p:txBody>
      </p:sp>
      <p:sp>
        <p:nvSpPr>
          <p:cNvPr id="27" name="TextBox 26"/>
          <p:cNvSpPr txBox="1"/>
          <p:nvPr/>
        </p:nvSpPr>
        <p:spPr>
          <a:xfrm>
            <a:off x="5281574"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03</a:t>
            </a:r>
          </a:p>
        </p:txBody>
      </p:sp>
      <p:sp>
        <p:nvSpPr>
          <p:cNvPr id="28" name="TextBox 27"/>
          <p:cNvSpPr txBox="1"/>
          <p:nvPr/>
        </p:nvSpPr>
        <p:spPr>
          <a:xfrm>
            <a:off x="5272430" y="3300984"/>
            <a:ext cx="1644091" cy="1508760"/>
          </a:xfrm>
          <a:prstGeom prst="rect">
            <a:avLst/>
          </a:prstGeom>
          <a:noFill/>
        </p:spPr>
        <p:txBody>
          <a:bodyPr wrap="square" lIns="22860" rIns="22860" tIns="22860" bIns="22860" anchor="t">
            <a:spAutoFit/>
          </a:bodyPr>
          <a:lstStyle/>
          <a:p>
            <a:pPr>
              <a:spcBef>
                <a:spcPts val="0"/>
              </a:spcBef>
              <a:spcAft>
                <a:spcPts val="300"/>
              </a:spcAft>
              <a:defRPr sz="1850" b="0">
                <a:solidFill>
                  <a:srgbClr val="0D0D0D"/>
                </a:solidFill>
                <a:latin typeface="Liberation Sans"/>
              </a:defRPr>
            </a:pPr>
            <a:r>
              <a:t>Définir score : décimal ; alerte et cible : entier.</a:t>
            </a:r>
          </a:p>
        </p:txBody>
      </p:sp>
      <p:sp>
        <p:nvSpPr>
          <p:cNvPr id="29" name="Chevron 28"/>
          <p:cNvSpPr/>
          <p:nvPr/>
        </p:nvSpPr>
        <p:spPr>
          <a:xfrm>
            <a:off x="7131405"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364577"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4577"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38313"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04</a:t>
            </a:r>
          </a:p>
        </p:txBody>
      </p:sp>
      <p:sp>
        <p:nvSpPr>
          <p:cNvPr id="33" name="TextBox 32"/>
          <p:cNvSpPr txBox="1"/>
          <p:nvPr/>
        </p:nvSpPr>
        <p:spPr>
          <a:xfrm>
            <a:off x="7538313"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04</a:t>
            </a:r>
          </a:p>
        </p:txBody>
      </p:sp>
      <p:sp>
        <p:nvSpPr>
          <p:cNvPr id="34" name="TextBox 33"/>
          <p:cNvSpPr txBox="1"/>
          <p:nvPr/>
        </p:nvSpPr>
        <p:spPr>
          <a:xfrm>
            <a:off x="7529169" y="3300984"/>
            <a:ext cx="1644091" cy="1508760"/>
          </a:xfrm>
          <a:prstGeom prst="rect">
            <a:avLst/>
          </a:prstGeom>
          <a:noFill/>
        </p:spPr>
        <p:txBody>
          <a:bodyPr wrap="square" lIns="22860" rIns="22860" tIns="22860" bIns="22860" anchor="t">
            <a:spAutoFit/>
          </a:bodyPr>
          <a:lstStyle/>
          <a:p>
            <a:pPr>
              <a:spcBef>
                <a:spcPts val="0"/>
              </a:spcBef>
              <a:spcAft>
                <a:spcPts val="300"/>
              </a:spcAft>
              <a:defRPr sz="1850" b="0">
                <a:solidFill>
                  <a:srgbClr val="0D0D0D"/>
                </a:solidFill>
                <a:latin typeface="Liberation Sans"/>
              </a:defRPr>
            </a:pPr>
            <a:r>
              <a:t>Nommer la table Predictions et vérifier 1 000 lignes.</a:t>
            </a:r>
          </a:p>
        </p:txBody>
      </p:sp>
      <p:sp>
        <p:nvSpPr>
          <p:cNvPr id="35" name="Chevron 34"/>
          <p:cNvSpPr/>
          <p:nvPr/>
        </p:nvSpPr>
        <p:spPr>
          <a:xfrm>
            <a:off x="9388144"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621316"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21316"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95052"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05</a:t>
            </a:r>
          </a:p>
        </p:txBody>
      </p:sp>
      <p:sp>
        <p:nvSpPr>
          <p:cNvPr id="39" name="TextBox 38"/>
          <p:cNvSpPr txBox="1"/>
          <p:nvPr/>
        </p:nvSpPr>
        <p:spPr>
          <a:xfrm>
            <a:off x="9795052"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05</a:t>
            </a:r>
          </a:p>
        </p:txBody>
      </p:sp>
      <p:sp>
        <p:nvSpPr>
          <p:cNvPr id="40" name="TextBox 39"/>
          <p:cNvSpPr txBox="1"/>
          <p:nvPr/>
        </p:nvSpPr>
        <p:spPr>
          <a:xfrm>
            <a:off x="9785908"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Contrôler les totaux avant tout graphique.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Maquette décisionnelle Novalia</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Maquette pédagogique alimentée par les fichiers joints, pas fichier PBIX.</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P01</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J2-037</a:t>
            </a:r>
          </a:p>
        </p:txBody>
      </p:sp>
      <p:sp>
        <p:nvSpPr>
          <p:cNvPr id="12" name="Rounded Rectangle 11"/>
          <p:cNvSpPr/>
          <p:nvPr/>
        </p:nvSpPr>
        <p:spPr>
          <a:xfrm>
            <a:off x="594360" y="1828800"/>
            <a:ext cx="2587752" cy="1042415"/>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828800"/>
            <a:ext cx="54864" cy="1042415"/>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1920240"/>
            <a:ext cx="227685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Population</a:t>
            </a:r>
          </a:p>
        </p:txBody>
      </p:sp>
      <p:sp>
        <p:nvSpPr>
          <p:cNvPr id="15" name="TextBox 14"/>
          <p:cNvSpPr txBox="1"/>
          <p:nvPr/>
        </p:nvSpPr>
        <p:spPr>
          <a:xfrm>
            <a:off x="749808" y="2231136"/>
            <a:ext cx="2276856" cy="585215"/>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Test indépendant</a:t>
            </a:r>
          </a:p>
        </p:txBody>
      </p:sp>
      <p:sp>
        <p:nvSpPr>
          <p:cNvPr id="16" name="Rounded Rectangle 15"/>
          <p:cNvSpPr/>
          <p:nvPr/>
        </p:nvSpPr>
        <p:spPr>
          <a:xfrm>
            <a:off x="3392424" y="1828800"/>
            <a:ext cx="2587752" cy="1042415"/>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2424" y="1828800"/>
            <a:ext cx="54864" cy="1042415"/>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47872" y="1920240"/>
            <a:ext cx="227685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8C33"/>
                </a:solidFill>
                <a:latin typeface="Liberation Sans"/>
              </a:defRPr>
            </a:pPr>
            <a:r>
              <a:t>Scores</a:t>
            </a:r>
          </a:p>
        </p:txBody>
      </p:sp>
      <p:sp>
        <p:nvSpPr>
          <p:cNvPr id="19" name="TextBox 18"/>
          <p:cNvSpPr txBox="1"/>
          <p:nvPr/>
        </p:nvSpPr>
        <p:spPr>
          <a:xfrm>
            <a:off x="3547872" y="2231136"/>
            <a:ext cx="2276856" cy="585215"/>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Répartition du risque</a:t>
            </a:r>
          </a:p>
        </p:txBody>
      </p:sp>
      <p:sp>
        <p:nvSpPr>
          <p:cNvPr id="20" name="Rounded Rectangle 19"/>
          <p:cNvSpPr/>
          <p:nvPr/>
        </p:nvSpPr>
        <p:spPr>
          <a:xfrm>
            <a:off x="6190488" y="1828800"/>
            <a:ext cx="2587752" cy="1042415"/>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1828800"/>
            <a:ext cx="54864" cy="1042415"/>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20240"/>
            <a:ext cx="227685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Segments</a:t>
            </a:r>
          </a:p>
        </p:txBody>
      </p:sp>
      <p:sp>
        <p:nvSpPr>
          <p:cNvPr id="23" name="TextBox 22"/>
          <p:cNvSpPr txBox="1"/>
          <p:nvPr/>
        </p:nvSpPr>
        <p:spPr>
          <a:xfrm>
            <a:off x="6345936" y="2231136"/>
            <a:ext cx="2276856" cy="585215"/>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Contrats et alertes</a:t>
            </a:r>
          </a:p>
        </p:txBody>
      </p:sp>
      <p:sp>
        <p:nvSpPr>
          <p:cNvPr id="24" name="Rounded Rectangle 23"/>
          <p:cNvSpPr/>
          <p:nvPr/>
        </p:nvSpPr>
        <p:spPr>
          <a:xfrm>
            <a:off x="8988552" y="1828800"/>
            <a:ext cx="2587752" cy="1042415"/>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88552" y="1828800"/>
            <a:ext cx="54864" cy="1042415"/>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1920240"/>
            <a:ext cx="227685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8C33"/>
                </a:solidFill>
                <a:latin typeface="Liberation Sans"/>
              </a:defRPr>
            </a:pPr>
            <a:r>
              <a:t>Traçabilité</a:t>
            </a:r>
          </a:p>
        </p:txBody>
      </p:sp>
      <p:sp>
        <p:nvSpPr>
          <p:cNvPr id="27" name="TextBox 26"/>
          <p:cNvSpPr txBox="1"/>
          <p:nvPr/>
        </p:nvSpPr>
        <p:spPr>
          <a:xfrm>
            <a:off x="9144000" y="2231136"/>
            <a:ext cx="2276856" cy="585215"/>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Date et modèle</a:t>
            </a:r>
          </a:p>
        </p:txBody>
      </p:sp>
      <p:sp>
        <p:nvSpPr>
          <p:cNvPr id="28" name="Rounded Rectangle 27"/>
          <p:cNvSpPr/>
          <p:nvPr/>
        </p:nvSpPr>
        <p:spPr>
          <a:xfrm>
            <a:off x="594360" y="3090672"/>
            <a:ext cx="5394960" cy="235915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8952" y="3227832"/>
            <a:ext cx="5065776" cy="320040"/>
          </a:xfrm>
          <a:prstGeom prst="rect">
            <a:avLst/>
          </a:prstGeom>
          <a:noFill/>
        </p:spPr>
        <p:txBody>
          <a:bodyPr wrap="square" lIns="22860" rIns="22860" tIns="22860" bIns="22860" anchor="ctr">
            <a:spAutoFit/>
          </a:bodyPr>
          <a:lstStyle/>
          <a:p>
            <a:pPr>
              <a:spcBef>
                <a:spcPts val="0"/>
              </a:spcBef>
              <a:spcAft>
                <a:spcPts val="300"/>
              </a:spcAft>
              <a:defRPr sz="1950" b="1">
                <a:solidFill>
                  <a:srgbClr val="23468C"/>
                </a:solidFill>
                <a:latin typeface="Liberation Sans"/>
              </a:defRPr>
            </a:pPr>
            <a:r>
              <a:t>Répartition des scores</a:t>
            </a:r>
          </a:p>
        </p:txBody>
      </p:sp>
      <p:sp>
        <p:nvSpPr>
          <p:cNvPr id="30" name="Rectangle 29"/>
          <p:cNvSpPr/>
          <p:nvPr/>
        </p:nvSpPr>
        <p:spPr>
          <a:xfrm>
            <a:off x="1005840" y="4690872"/>
            <a:ext cx="393192" cy="3566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591056" y="4393692"/>
            <a:ext cx="393192" cy="65379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176272" y="3977639"/>
            <a:ext cx="393192" cy="106984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761488" y="4191609"/>
            <a:ext cx="393192" cy="85587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346704" y="4631436"/>
            <a:ext cx="393192" cy="416051"/>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931920" y="4809744"/>
            <a:ext cx="393192" cy="23774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517136" y="4928616"/>
            <a:ext cx="393192" cy="118872"/>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190488" y="3090672"/>
            <a:ext cx="5404104" cy="235915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55079" y="3227832"/>
            <a:ext cx="5074920" cy="320040"/>
          </a:xfrm>
          <a:prstGeom prst="rect">
            <a:avLst/>
          </a:prstGeom>
          <a:noFill/>
        </p:spPr>
        <p:txBody>
          <a:bodyPr wrap="square" lIns="22860" rIns="22860" tIns="22860" bIns="22860" anchor="ctr">
            <a:spAutoFit/>
          </a:bodyPr>
          <a:lstStyle/>
          <a:p>
            <a:pPr>
              <a:spcBef>
                <a:spcPts val="0"/>
              </a:spcBef>
              <a:spcAft>
                <a:spcPts val="300"/>
              </a:spcAft>
              <a:defRPr sz="1950" b="1">
                <a:solidFill>
                  <a:srgbClr val="23468C"/>
                </a:solidFill>
                <a:latin typeface="Liberation Sans"/>
              </a:defRPr>
            </a:pPr>
            <a:r>
              <a:t>Alertes par segment</a:t>
            </a:r>
          </a:p>
        </p:txBody>
      </p:sp>
      <p:sp>
        <p:nvSpPr>
          <p:cNvPr id="39" name="Rectangle 38"/>
          <p:cNvSpPr/>
          <p:nvPr/>
        </p:nvSpPr>
        <p:spPr>
          <a:xfrm>
            <a:off x="6601968" y="4690872"/>
            <a:ext cx="393192" cy="3566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187183" y="4393692"/>
            <a:ext cx="393192" cy="65379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0" y="3977639"/>
            <a:ext cx="393192" cy="1069848"/>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357616" y="4191609"/>
            <a:ext cx="393192" cy="855878"/>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942832" y="4631436"/>
            <a:ext cx="393192" cy="416051"/>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528048" y="4809744"/>
            <a:ext cx="393192" cy="23774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113263" y="4928616"/>
            <a:ext cx="393192" cy="118872"/>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 y="5541264"/>
            <a:ext cx="10607040" cy="219456"/>
          </a:xfrm>
          <a:prstGeom prst="rect">
            <a:avLst/>
          </a:prstGeom>
          <a:noFill/>
        </p:spPr>
        <p:txBody>
          <a:bodyPr wrap="square" lIns="22860" rIns="22860" tIns="22860" bIns="22860" anchor="ctr">
            <a:spAutoFit/>
          </a:bodyPr>
          <a:lstStyle/>
          <a:p>
            <a:pPr algn="ctr">
              <a:spcBef>
                <a:spcPts val="0"/>
              </a:spcBef>
              <a:spcAft>
                <a:spcPts val="300"/>
              </a:spcAft>
              <a:defRPr sz="1300" b="0">
                <a:solidFill>
                  <a:srgbClr val="586777"/>
                </a:solidFill>
                <a:latin typeface="Liberation Sans"/>
              </a:defRPr>
            </a:pPr>
            <a:r>
              <a:t>Maquette illustrative. Les valeurs du tableau réel proviennent du fichier CSV.</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Des mesures DAX simples et explicites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Fichier de mesures fourni • Vérifier les chiffres sur votre poste.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S26 · P01</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J2-038</a:t>
            </a:r>
          </a:p>
        </p:txBody>
      </p:sp>
      <p:sp>
        <p:nvSpPr>
          <p:cNvPr id="12" name="Rounded Rectangle 11"/>
          <p:cNvSpPr/>
          <p:nvPr/>
        </p:nvSpPr>
        <p:spPr>
          <a:xfrm>
            <a:off x="594360" y="1828800"/>
            <a:ext cx="7315200" cy="3840480"/>
          </a:xfrm>
          <a:prstGeom prst="round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2057400"/>
            <a:ext cx="6839712" cy="3383280"/>
          </a:xfrm>
          <a:prstGeom prst="rect">
            <a:avLst/>
          </a:prstGeom>
          <a:noFill/>
        </p:spPr>
        <p:txBody>
          <a:bodyPr wrap="square" lIns="22860" rIns="22860" tIns="22860" bIns="22860" anchor="ctr">
            <a:spAutoFit/>
          </a:bodyPr>
          <a:lstStyle/>
          <a:p>
            <a:pPr>
              <a:spcBef>
                <a:spcPts val="0"/>
              </a:spcBef>
              <a:spcAft>
                <a:spcPts val="300"/>
              </a:spcAft>
              <a:defRPr sz="2100" b="0">
                <a:solidFill>
                  <a:srgbClr val="FFFFFF"/>
                </a:solidFill>
                <a:latin typeface="Liberation Sans"/>
              </a:defRPr>
            </a:pPr>
            <a:r>
              <a:t>Clients testés = COUNTROWS(Predictions)</a:t>
            </a:r>
          </a:p>
          <a:p>
            <a:pPr>
              <a:spcBef>
                <a:spcPts val="0"/>
              </a:spcBef>
              <a:spcAft>
                <a:spcPts val="300"/>
              </a:spcAft>
              <a:defRPr sz="2100" b="0">
                <a:solidFill>
                  <a:srgbClr val="FFFFFF"/>
                </a:solidFill>
                <a:latin typeface="Liberation Sans"/>
              </a:defRPr>
            </a:pPr>
          </a:p>
          <a:p>
            <a:pPr>
              <a:spcBef>
                <a:spcPts val="0"/>
              </a:spcBef>
              <a:spcAft>
                <a:spcPts val="300"/>
              </a:spcAft>
              <a:defRPr sz="2100" b="0">
                <a:solidFill>
                  <a:srgbClr val="FFFFFF"/>
                </a:solidFill>
                <a:latin typeface="Liberation Sans"/>
              </a:defRPr>
            </a:pPr>
            <a:r>
              <a:t>Alertes = SUM(Predictions[alerte])</a:t>
            </a:r>
          </a:p>
          <a:p>
            <a:pPr>
              <a:spcBef>
                <a:spcPts val="0"/>
              </a:spcBef>
              <a:spcAft>
                <a:spcPts val="300"/>
              </a:spcAft>
              <a:defRPr sz="2100" b="0">
                <a:solidFill>
                  <a:srgbClr val="FFFFFF"/>
                </a:solidFill>
                <a:latin typeface="Liberation Sans"/>
              </a:defRPr>
            </a:pPr>
          </a:p>
          <a:p>
            <a:pPr>
              <a:spcBef>
                <a:spcPts val="0"/>
              </a:spcBef>
              <a:spcAft>
                <a:spcPts val="300"/>
              </a:spcAft>
              <a:defRPr sz="2100" b="0">
                <a:solidFill>
                  <a:srgbClr val="FFFFFF"/>
                </a:solidFill>
                <a:latin typeface="Liberation Sans"/>
              </a:defRPr>
            </a:pPr>
            <a:r>
              <a:t>Taux d’alerte =</a:t>
            </a:r>
          </a:p>
          <a:p>
            <a:pPr>
              <a:spcBef>
                <a:spcPts val="0"/>
              </a:spcBef>
              <a:spcAft>
                <a:spcPts val="300"/>
              </a:spcAft>
              <a:defRPr sz="2100" b="0">
                <a:solidFill>
                  <a:srgbClr val="FFFFFF"/>
                </a:solidFill>
                <a:latin typeface="Liberation Sans"/>
              </a:defRPr>
            </a:pPr>
            <a:r>
              <a:t>    DIVIDE([Alertes], [Clients testés])</a:t>
            </a:r>
          </a:p>
          <a:p>
            <a:pPr>
              <a:spcBef>
                <a:spcPts val="0"/>
              </a:spcBef>
              <a:spcAft>
                <a:spcPts val="300"/>
              </a:spcAft>
              <a:defRPr sz="2100" b="0">
                <a:solidFill>
                  <a:srgbClr val="FFFFFF"/>
                </a:solidFill>
                <a:latin typeface="Liberation Sans"/>
              </a:defRPr>
            </a:pPr>
          </a:p>
          <a:p>
            <a:pPr>
              <a:spcBef>
                <a:spcPts val="0"/>
              </a:spcBef>
              <a:spcAft>
                <a:spcPts val="300"/>
              </a:spcAft>
              <a:defRPr sz="2100" b="0">
                <a:solidFill>
                  <a:srgbClr val="FFFFFF"/>
                </a:solidFill>
                <a:latin typeface="Liberation Sans"/>
              </a:defRPr>
            </a:pPr>
            <a:r>
              <a:t>Exposition estimée =</a:t>
            </a:r>
          </a:p>
          <a:p>
            <a:pPr>
              <a:spcBef>
                <a:spcPts val="0"/>
              </a:spcBef>
              <a:spcAft>
                <a:spcPts val="300"/>
              </a:spcAft>
              <a:defRPr sz="2100" b="0">
                <a:solidFill>
                  <a:srgbClr val="FFFFFF"/>
                </a:solidFill>
                <a:latin typeface="Liberation Sans"/>
              </a:defRPr>
            </a:pPr>
            <a:r>
              <a:t>    SUM(Predictions[revenu_expose_estime])</a:t>
            </a:r>
          </a:p>
        </p:txBody>
      </p:sp>
      <p:sp>
        <p:nvSpPr>
          <p:cNvPr id="14" name="Rounded Rectangle 13"/>
          <p:cNvSpPr/>
          <p:nvPr/>
        </p:nvSpPr>
        <p:spPr>
          <a:xfrm>
            <a:off x="8174736" y="1828800"/>
            <a:ext cx="3419856" cy="1792224"/>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74736" y="1828800"/>
            <a:ext cx="54864" cy="179222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48471" y="1965960"/>
            <a:ext cx="3072384"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Comparer</a:t>
            </a:r>
          </a:p>
        </p:txBody>
      </p:sp>
      <p:sp>
        <p:nvSpPr>
          <p:cNvPr id="17" name="TextBox 16"/>
          <p:cNvSpPr txBox="1"/>
          <p:nvPr/>
        </p:nvSpPr>
        <p:spPr>
          <a:xfrm>
            <a:off x="8339327" y="2505456"/>
            <a:ext cx="3090672" cy="969264"/>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Même périmètre de filtre.</a:t>
            </a:r>
          </a:p>
        </p:txBody>
      </p:sp>
      <p:sp>
        <p:nvSpPr>
          <p:cNvPr id="18" name="Rounded Rectangle 17"/>
          <p:cNvSpPr/>
          <p:nvPr/>
        </p:nvSpPr>
        <p:spPr>
          <a:xfrm>
            <a:off x="8174736" y="3749039"/>
            <a:ext cx="3419856" cy="1792224"/>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74736" y="3749039"/>
            <a:ext cx="54864" cy="179222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48471" y="3886200"/>
            <a:ext cx="3072384"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Documenter</a:t>
            </a:r>
          </a:p>
        </p:txBody>
      </p:sp>
      <p:sp>
        <p:nvSpPr>
          <p:cNvPr id="21" name="TextBox 20"/>
          <p:cNvSpPr txBox="1"/>
          <p:nvPr/>
        </p:nvSpPr>
        <p:spPr>
          <a:xfrm>
            <a:off x="8339327" y="4425696"/>
            <a:ext cx="3090672" cy="969264"/>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Unité, date et signification.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B4</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Le dashboard n’est pas l’action</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La restitution devient utile lorsqu’elle déclenche une décision maîtrisée.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J2-039</a:t>
            </a:r>
          </a:p>
        </p:txBody>
      </p:sp>
      <p:sp>
        <p:nvSpPr>
          <p:cNvPr id="12" name="Rounded Rectangle 11"/>
          <p:cNvSpPr/>
          <p:nvPr/>
        </p:nvSpPr>
        <p:spPr>
          <a:xfrm>
            <a:off x="594360"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01</a:t>
            </a:r>
          </a:p>
        </p:txBody>
      </p:sp>
      <p:sp>
        <p:nvSpPr>
          <p:cNvPr id="15" name="TextBox 14"/>
          <p:cNvSpPr txBox="1"/>
          <p:nvPr/>
        </p:nvSpPr>
        <p:spPr>
          <a:xfrm>
            <a:off x="768096"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Voir</a:t>
            </a:r>
          </a:p>
        </p:txBody>
      </p:sp>
      <p:sp>
        <p:nvSpPr>
          <p:cNvPr id="16" name="TextBox 15"/>
          <p:cNvSpPr txBox="1"/>
          <p:nvPr/>
        </p:nvSpPr>
        <p:spPr>
          <a:xfrm>
            <a:off x="758952"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 risque par segment</a:t>
            </a:r>
          </a:p>
        </p:txBody>
      </p:sp>
      <p:sp>
        <p:nvSpPr>
          <p:cNvPr id="17" name="Chevron 16"/>
          <p:cNvSpPr/>
          <p:nvPr/>
        </p:nvSpPr>
        <p:spPr>
          <a:xfrm>
            <a:off x="2617927"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851099"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851099"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24835"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02</a:t>
            </a:r>
          </a:p>
        </p:txBody>
      </p:sp>
      <p:sp>
        <p:nvSpPr>
          <p:cNvPr id="21" name="TextBox 20"/>
          <p:cNvSpPr txBox="1"/>
          <p:nvPr/>
        </p:nvSpPr>
        <p:spPr>
          <a:xfrm>
            <a:off x="3024835" y="2514600"/>
            <a:ext cx="1625803" cy="704088"/>
          </a:xfrm>
          <a:prstGeom prst="rect">
            <a:avLst/>
          </a:prstGeom>
          <a:noFill/>
        </p:spPr>
        <p:txBody>
          <a:bodyPr wrap="square" lIns="22860" rIns="22860" tIns="22860" bIns="22860" anchor="ctr">
            <a:spAutoFit/>
          </a:bodyPr>
          <a:lstStyle/>
          <a:p>
            <a:pPr>
              <a:spcBef>
                <a:spcPts val="0"/>
              </a:spcBef>
              <a:spcAft>
                <a:spcPts val="300"/>
              </a:spcAft>
              <a:defRPr sz="1850" b="1">
                <a:solidFill>
                  <a:srgbClr val="238C33"/>
                </a:solidFill>
                <a:latin typeface="Liberation Sans"/>
              </a:defRPr>
            </a:pPr>
            <a:r>
              <a:t>Comprendre</a:t>
            </a:r>
          </a:p>
        </p:txBody>
      </p:sp>
      <p:sp>
        <p:nvSpPr>
          <p:cNvPr id="22" name="TextBox 21"/>
          <p:cNvSpPr txBox="1"/>
          <p:nvPr/>
        </p:nvSpPr>
        <p:spPr>
          <a:xfrm>
            <a:off x="3015691"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Sa fraîcheur et ses limites</a:t>
            </a:r>
          </a:p>
        </p:txBody>
      </p:sp>
      <p:sp>
        <p:nvSpPr>
          <p:cNvPr id="23" name="Chevron 22"/>
          <p:cNvSpPr/>
          <p:nvPr/>
        </p:nvSpPr>
        <p:spPr>
          <a:xfrm>
            <a:off x="4874666"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107838"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7838"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81574"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03</a:t>
            </a:r>
          </a:p>
        </p:txBody>
      </p:sp>
      <p:sp>
        <p:nvSpPr>
          <p:cNvPr id="27" name="TextBox 26"/>
          <p:cNvSpPr txBox="1"/>
          <p:nvPr/>
        </p:nvSpPr>
        <p:spPr>
          <a:xfrm>
            <a:off x="5281574"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Décider</a:t>
            </a:r>
          </a:p>
        </p:txBody>
      </p:sp>
      <p:sp>
        <p:nvSpPr>
          <p:cNvPr id="28" name="TextBox 27"/>
          <p:cNvSpPr txBox="1"/>
          <p:nvPr/>
        </p:nvSpPr>
        <p:spPr>
          <a:xfrm>
            <a:off x="5272430"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Une politique de contact</a:t>
            </a:r>
          </a:p>
        </p:txBody>
      </p:sp>
      <p:sp>
        <p:nvSpPr>
          <p:cNvPr id="29" name="Chevron 28"/>
          <p:cNvSpPr/>
          <p:nvPr/>
        </p:nvSpPr>
        <p:spPr>
          <a:xfrm>
            <a:off x="7131405"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364577"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4577"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38313"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04</a:t>
            </a:r>
          </a:p>
        </p:txBody>
      </p:sp>
      <p:sp>
        <p:nvSpPr>
          <p:cNvPr id="33" name="TextBox 32"/>
          <p:cNvSpPr txBox="1"/>
          <p:nvPr/>
        </p:nvSpPr>
        <p:spPr>
          <a:xfrm>
            <a:off x="7538313"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Agir</a:t>
            </a:r>
          </a:p>
        </p:txBody>
      </p:sp>
      <p:sp>
        <p:nvSpPr>
          <p:cNvPr id="34" name="TextBox 33"/>
          <p:cNvSpPr txBox="1"/>
          <p:nvPr/>
        </p:nvSpPr>
        <p:spPr>
          <a:xfrm>
            <a:off x="7529169" y="3300984"/>
            <a:ext cx="1644091" cy="1508760"/>
          </a:xfrm>
          <a:prstGeom prst="rect">
            <a:avLst/>
          </a:prstGeom>
          <a:noFill/>
        </p:spPr>
        <p:txBody>
          <a:bodyPr wrap="square" lIns="22860" rIns="22860" tIns="22860" bIns="22860" anchor="t">
            <a:spAutoFit/>
          </a:bodyPr>
          <a:lstStyle/>
          <a:p>
            <a:pPr>
              <a:spcBef>
                <a:spcPts val="0"/>
              </a:spcBef>
              <a:spcAft>
                <a:spcPts val="300"/>
              </a:spcAft>
              <a:defRPr sz="1900" b="0">
                <a:solidFill>
                  <a:srgbClr val="0D0D0D"/>
                </a:solidFill>
                <a:latin typeface="Liberation Sans"/>
              </a:defRPr>
            </a:pPr>
            <a:r>
              <a:t>Une file avec un responsable</a:t>
            </a:r>
          </a:p>
        </p:txBody>
      </p:sp>
      <p:sp>
        <p:nvSpPr>
          <p:cNvPr id="35" name="Chevron 34"/>
          <p:cNvSpPr/>
          <p:nvPr/>
        </p:nvSpPr>
        <p:spPr>
          <a:xfrm>
            <a:off x="9388144"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621316"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21316"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95052"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05</a:t>
            </a:r>
          </a:p>
        </p:txBody>
      </p:sp>
      <p:sp>
        <p:nvSpPr>
          <p:cNvPr id="39" name="TextBox 38"/>
          <p:cNvSpPr txBox="1"/>
          <p:nvPr/>
        </p:nvSpPr>
        <p:spPr>
          <a:xfrm>
            <a:off x="9795052"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Vérifier</a:t>
            </a:r>
          </a:p>
        </p:txBody>
      </p:sp>
      <p:sp>
        <p:nvSpPr>
          <p:cNvPr id="40" name="TextBox 39"/>
          <p:cNvSpPr txBox="1"/>
          <p:nvPr/>
        </p:nvSpPr>
        <p:spPr>
          <a:xfrm>
            <a:off x="9785908"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 effet réellement observé</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32443"/>
        </a:solidFill>
        <a:effectLst/>
      </p:bgPr>
    </p:bg>
    <p:spTree>
      <p:nvGrpSpPr>
        <p:cNvPr id="1" name=""/>
        <p:cNvGrpSpPr/>
        <p:nvPr/>
      </p:nvGrpSpPr>
      <p:grpSpPr/>
      <p:sp>
        <p:nvSpPr>
          <p:cNvPr id="2" name="TextBox 1"/>
          <p:cNvSpPr txBox="1"/>
          <p:nvPr/>
        </p:nvSpPr>
        <p:spPr>
          <a:xfrm>
            <a:off x="594360" y="457200"/>
            <a:ext cx="10058400" cy="365760"/>
          </a:xfrm>
          <a:prstGeom prst="rect">
            <a:avLst/>
          </a:prstGeom>
          <a:noFill/>
        </p:spPr>
        <p:txBody>
          <a:bodyPr wrap="square" lIns="22860" rIns="22860" tIns="22860" bIns="22860" anchor="ctr">
            <a:spAutoFit/>
          </a:bodyPr>
          <a:lstStyle/>
          <a:p>
            <a:pPr>
              <a:spcBef>
                <a:spcPts val="0"/>
              </a:spcBef>
              <a:spcAft>
                <a:spcPts val="300"/>
              </a:spcAft>
              <a:defRPr sz="1400" b="1">
                <a:solidFill>
                  <a:srgbClr val="FFFFFF"/>
                </a:solidFill>
                <a:latin typeface="Liberation Sans"/>
              </a:defRPr>
            </a:pPr>
            <a:r>
              <a:t>JOUR 2  /  B5  /  NIVEAU APPLICATION</a:t>
            </a:r>
          </a:p>
        </p:txBody>
      </p:sp>
      <p:sp>
        <p:nvSpPr>
          <p:cNvPr id="3" name="TextBox 2"/>
          <p:cNvSpPr txBox="1"/>
          <p:nvPr/>
        </p:nvSpPr>
        <p:spPr>
          <a:xfrm>
            <a:off x="594360" y="1353312"/>
            <a:ext cx="10607040" cy="1965960"/>
          </a:xfrm>
          <a:prstGeom prst="rect">
            <a:avLst/>
          </a:prstGeom>
          <a:noFill/>
        </p:spPr>
        <p:txBody>
          <a:bodyPr wrap="square" lIns="22860" rIns="22860" tIns="22860" bIns="22860" anchor="ctr">
            <a:spAutoFit/>
          </a:bodyPr>
          <a:lstStyle/>
          <a:p>
            <a:pPr>
              <a:spcBef>
                <a:spcPts val="0"/>
              </a:spcBef>
              <a:spcAft>
                <a:spcPts val="300"/>
              </a:spcAft>
              <a:defRPr sz="4200" b="1">
                <a:solidFill>
                  <a:srgbClr val="FFFFFF"/>
                </a:solidFill>
                <a:latin typeface="Liberation Sans"/>
              </a:defRPr>
            </a:pPr>
            <a:r>
              <a:t>05 • Ouvrir le SI sans perdre la maîtrise</a:t>
            </a:r>
          </a:p>
        </p:txBody>
      </p:sp>
      <p:sp>
        <p:nvSpPr>
          <p:cNvPr id="4" name="TextBox 3"/>
          <p:cNvSpPr txBox="1"/>
          <p:nvPr/>
        </p:nvSpPr>
        <p:spPr>
          <a:xfrm>
            <a:off x="658368" y="3675887"/>
            <a:ext cx="10789920" cy="457200"/>
          </a:xfrm>
          <a:prstGeom prst="rect">
            <a:avLst/>
          </a:prstGeom>
          <a:noFill/>
        </p:spPr>
        <p:txBody>
          <a:bodyPr wrap="square" lIns="22860" rIns="22860" tIns="22860" bIns="22860" anchor="ctr">
            <a:spAutoFit/>
          </a:bodyPr>
          <a:lstStyle/>
          <a:p>
            <a:pPr>
              <a:spcBef>
                <a:spcPts val="0"/>
              </a:spcBef>
              <a:spcAft>
                <a:spcPts val="300"/>
              </a:spcAft>
              <a:defRPr sz="2400" b="0">
                <a:solidFill>
                  <a:srgbClr val="FFFFFF"/>
                </a:solidFill>
                <a:latin typeface="Liberation Sans"/>
              </a:defRPr>
            </a:pPr>
            <a:r>
              <a:t>01  Collecter</a:t>
            </a:r>
          </a:p>
        </p:txBody>
      </p:sp>
      <p:sp>
        <p:nvSpPr>
          <p:cNvPr id="5" name="TextBox 4"/>
          <p:cNvSpPr txBox="1"/>
          <p:nvPr/>
        </p:nvSpPr>
        <p:spPr>
          <a:xfrm>
            <a:off x="658368" y="4224527"/>
            <a:ext cx="10789920" cy="457200"/>
          </a:xfrm>
          <a:prstGeom prst="rect">
            <a:avLst/>
          </a:prstGeom>
          <a:noFill/>
        </p:spPr>
        <p:txBody>
          <a:bodyPr wrap="square" lIns="22860" rIns="22860" tIns="22860" bIns="22860" anchor="ctr">
            <a:spAutoFit/>
          </a:bodyPr>
          <a:lstStyle/>
          <a:p>
            <a:pPr>
              <a:spcBef>
                <a:spcPts val="0"/>
              </a:spcBef>
              <a:spcAft>
                <a:spcPts val="300"/>
              </a:spcAft>
              <a:defRPr sz="2400" b="0">
                <a:solidFill>
                  <a:srgbClr val="FFFFFF"/>
                </a:solidFill>
                <a:latin typeface="Liberation Sans"/>
              </a:defRPr>
            </a:pPr>
            <a:r>
              <a:t>02  Fournir</a:t>
            </a:r>
          </a:p>
        </p:txBody>
      </p:sp>
      <p:sp>
        <p:nvSpPr>
          <p:cNvPr id="6" name="TextBox 5"/>
          <p:cNvSpPr txBox="1"/>
          <p:nvPr/>
        </p:nvSpPr>
        <p:spPr>
          <a:xfrm>
            <a:off x="658368" y="4773168"/>
            <a:ext cx="10789920" cy="457200"/>
          </a:xfrm>
          <a:prstGeom prst="rect">
            <a:avLst/>
          </a:prstGeom>
          <a:noFill/>
        </p:spPr>
        <p:txBody>
          <a:bodyPr wrap="square" lIns="22860" rIns="22860" tIns="22860" bIns="22860" anchor="ctr">
            <a:spAutoFit/>
          </a:bodyPr>
          <a:lstStyle/>
          <a:p>
            <a:pPr>
              <a:spcBef>
                <a:spcPts val="0"/>
              </a:spcBef>
              <a:spcAft>
                <a:spcPts val="300"/>
              </a:spcAft>
              <a:defRPr sz="2400" b="0">
                <a:solidFill>
                  <a:srgbClr val="FFFFFF"/>
                </a:solidFill>
                <a:latin typeface="Liberation Sans"/>
              </a:defRPr>
            </a:pPr>
            <a:r>
              <a:t>03  Contrôler</a:t>
            </a:r>
          </a:p>
        </p:txBody>
      </p:sp>
      <p:sp>
        <p:nvSpPr>
          <p:cNvPr id="7" name="TextBox 6"/>
          <p:cNvSpPr txBox="1"/>
          <p:nvPr/>
        </p:nvSpPr>
        <p:spPr>
          <a:xfrm>
            <a:off x="594360" y="6080760"/>
            <a:ext cx="10972800" cy="384048"/>
          </a:xfrm>
          <a:prstGeom prst="rect">
            <a:avLst/>
          </a:prstGeom>
          <a:noFill/>
        </p:spPr>
        <p:txBody>
          <a:bodyPr wrap="square" lIns="22860" rIns="22860" tIns="22860" bIns="22860" anchor="ctr">
            <a:spAutoFit/>
          </a:bodyPr>
          <a:lstStyle/>
          <a:p>
            <a:pPr>
              <a:spcBef>
                <a:spcPts val="0"/>
              </a:spcBef>
              <a:spcAft>
                <a:spcPts val="300"/>
              </a:spcAft>
              <a:defRPr sz="1800" b="1">
                <a:solidFill>
                  <a:srgbClr val="D9CF4A"/>
                </a:solidFill>
                <a:latin typeface="Liberation Sans"/>
              </a:defRPr>
            </a:pPr>
            <a:r>
              <a:t>3 heures • 110 minutes de TP • 30 minutes d’évaluation</a:t>
            </a:r>
          </a:p>
        </p:txBody>
      </p:sp>
      <p:sp>
        <p:nvSpPr>
          <p:cNvPr id="8" name="TextBox 7"/>
          <p:cNvSpPr txBox="1"/>
          <p:nvPr/>
        </p:nvSpPr>
        <p:spPr>
          <a:xfrm>
            <a:off x="594360" y="6556248"/>
            <a:ext cx="9144000" cy="146304"/>
          </a:xfrm>
          <a:prstGeom prst="rect">
            <a:avLst/>
          </a:prstGeom>
          <a:noFill/>
        </p:spPr>
        <p:txBody>
          <a:bodyPr wrap="square" lIns="22860" rIns="22860" tIns="22860" bIns="22860" anchor="ctr">
            <a:spAutoFit/>
          </a:bodyPr>
          <a:lstStyle/>
          <a:p>
            <a:pPr>
              <a:spcBef>
                <a:spcPts val="0"/>
              </a:spcBef>
              <a:spcAft>
                <a:spcPts val="300"/>
              </a:spcAft>
              <a:defRPr sz="1300" b="0">
                <a:solidFill>
                  <a:srgbClr val="FFFFFF"/>
                </a:solidFill>
                <a:latin typeface="Liberation Sans"/>
              </a:defRPr>
            </a:pPr>
            <a:r>
              <a:t>https://p2enjoy.studio</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B5</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L’ouverture est bidirectionnelle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Ouvrir une capacité de service, pas toute la base de données.</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J2-041</a:t>
            </a:r>
          </a:p>
        </p:txBody>
      </p:sp>
      <p:sp>
        <p:nvSpPr>
          <p:cNvPr id="12" name="Rounded Rectangle 11"/>
          <p:cNvSpPr/>
          <p:nvPr/>
        </p:nvSpPr>
        <p:spPr>
          <a:xfrm>
            <a:off x="594360" y="1993392"/>
            <a:ext cx="3477768"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01</a:t>
            </a:r>
          </a:p>
        </p:txBody>
      </p:sp>
      <p:sp>
        <p:nvSpPr>
          <p:cNvPr id="15" name="TextBox 14"/>
          <p:cNvSpPr txBox="1"/>
          <p:nvPr/>
        </p:nvSpPr>
        <p:spPr>
          <a:xfrm>
            <a:off x="768096" y="2514600"/>
            <a:ext cx="3130296"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Entrées</a:t>
            </a:r>
          </a:p>
        </p:txBody>
      </p:sp>
      <p:sp>
        <p:nvSpPr>
          <p:cNvPr id="16" name="TextBox 15"/>
          <p:cNvSpPr txBox="1"/>
          <p:nvPr/>
        </p:nvSpPr>
        <p:spPr>
          <a:xfrm>
            <a:off x="758952" y="3300984"/>
            <a:ext cx="3148584"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Météo, paiement, transport, capteurs</a:t>
            </a:r>
          </a:p>
        </p:txBody>
      </p:sp>
      <p:sp>
        <p:nvSpPr>
          <p:cNvPr id="17" name="Chevron 16"/>
          <p:cNvSpPr/>
          <p:nvPr/>
        </p:nvSpPr>
        <p:spPr>
          <a:xfrm>
            <a:off x="4122419"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355592" y="1993392"/>
            <a:ext cx="3477768"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55592"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29328"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02</a:t>
            </a:r>
          </a:p>
        </p:txBody>
      </p:sp>
      <p:sp>
        <p:nvSpPr>
          <p:cNvPr id="21" name="TextBox 20"/>
          <p:cNvSpPr txBox="1"/>
          <p:nvPr/>
        </p:nvSpPr>
        <p:spPr>
          <a:xfrm>
            <a:off x="4529328" y="2514600"/>
            <a:ext cx="3130296"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SI interne</a:t>
            </a:r>
          </a:p>
        </p:txBody>
      </p:sp>
      <p:sp>
        <p:nvSpPr>
          <p:cNvPr id="22" name="TextBox 21"/>
          <p:cNvSpPr txBox="1"/>
          <p:nvPr/>
        </p:nvSpPr>
        <p:spPr>
          <a:xfrm>
            <a:off x="4520184" y="3300984"/>
            <a:ext cx="3148584"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Validation, données et modèles</a:t>
            </a:r>
          </a:p>
        </p:txBody>
      </p:sp>
      <p:sp>
        <p:nvSpPr>
          <p:cNvPr id="23" name="Chevron 22"/>
          <p:cNvSpPr/>
          <p:nvPr/>
        </p:nvSpPr>
        <p:spPr>
          <a:xfrm>
            <a:off x="7883651"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116824" y="1993392"/>
            <a:ext cx="3477768"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16824"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90560"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03</a:t>
            </a:r>
          </a:p>
        </p:txBody>
      </p:sp>
      <p:sp>
        <p:nvSpPr>
          <p:cNvPr id="27" name="TextBox 26"/>
          <p:cNvSpPr txBox="1"/>
          <p:nvPr/>
        </p:nvSpPr>
        <p:spPr>
          <a:xfrm>
            <a:off x="8290560" y="2514600"/>
            <a:ext cx="3130296"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Sorties</a:t>
            </a:r>
          </a:p>
        </p:txBody>
      </p:sp>
      <p:sp>
        <p:nvSpPr>
          <p:cNvPr id="28" name="TextBox 27"/>
          <p:cNvSpPr txBox="1"/>
          <p:nvPr/>
        </p:nvSpPr>
        <p:spPr>
          <a:xfrm>
            <a:off x="8281416" y="3300984"/>
            <a:ext cx="3148584"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Prévisions agrégées, statuts et services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B5</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Quatre modes d’échange à savoir choisir</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La fréquence de décision justifie la fréquence de circulation.</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J2-042</a:t>
            </a:r>
          </a:p>
        </p:txBody>
      </p:sp>
      <p:sp>
        <p:nvSpPr>
          <p:cNvPr id="12" name="Rectangle 11"/>
          <p:cNvSpPr/>
          <p:nvPr/>
        </p:nvSpPr>
        <p:spPr>
          <a:xfrm>
            <a:off x="594360" y="1792224"/>
            <a:ext cx="3190067" cy="685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1833372"/>
            <a:ext cx="2970611" cy="60350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Mode</a:t>
            </a:r>
          </a:p>
        </p:txBody>
      </p:sp>
      <p:sp>
        <p:nvSpPr>
          <p:cNvPr id="14" name="Rectangle 13"/>
          <p:cNvSpPr/>
          <p:nvPr/>
        </p:nvSpPr>
        <p:spPr>
          <a:xfrm>
            <a:off x="3784427" y="1792224"/>
            <a:ext cx="3850081" cy="685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94155" y="1833372"/>
            <a:ext cx="3630625" cy="60350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Déclenchement</a:t>
            </a:r>
          </a:p>
        </p:txBody>
      </p:sp>
      <p:sp>
        <p:nvSpPr>
          <p:cNvPr id="16" name="Rectangle 15"/>
          <p:cNvSpPr/>
          <p:nvPr/>
        </p:nvSpPr>
        <p:spPr>
          <a:xfrm>
            <a:off x="7634508" y="1792224"/>
            <a:ext cx="3960083" cy="685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44236" y="1833372"/>
            <a:ext cx="3740627" cy="60350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Usage typique</a:t>
            </a:r>
          </a:p>
        </p:txBody>
      </p:sp>
      <p:cxnSp>
        <p:nvCxnSpPr>
          <p:cNvPr id="18" name="Connector 17"/>
          <p:cNvCxnSpPr/>
          <p:nvPr/>
        </p:nvCxnSpPr>
        <p:spPr>
          <a:xfrm>
            <a:off x="594360" y="24780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94360" y="2478024"/>
            <a:ext cx="3190067"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2519172"/>
            <a:ext cx="2970611" cy="60350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Fichier batch</a:t>
            </a:r>
          </a:p>
        </p:txBody>
      </p:sp>
      <p:sp>
        <p:nvSpPr>
          <p:cNvPr id="21" name="Rectangle 20"/>
          <p:cNvSpPr/>
          <p:nvPr/>
        </p:nvSpPr>
        <p:spPr>
          <a:xfrm>
            <a:off x="3784427" y="2478024"/>
            <a:ext cx="3850081"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94155" y="2519172"/>
            <a:ext cx="3630625" cy="60350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À heure planifiée</a:t>
            </a:r>
          </a:p>
        </p:txBody>
      </p:sp>
      <p:sp>
        <p:nvSpPr>
          <p:cNvPr id="23" name="Rectangle 22"/>
          <p:cNvSpPr/>
          <p:nvPr/>
        </p:nvSpPr>
        <p:spPr>
          <a:xfrm>
            <a:off x="7634508" y="2478024"/>
            <a:ext cx="3960083"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44236" y="2519172"/>
            <a:ext cx="3740627" cy="60350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Prévisions quotidiennes</a:t>
            </a:r>
          </a:p>
        </p:txBody>
      </p:sp>
      <p:cxnSp>
        <p:nvCxnSpPr>
          <p:cNvPr id="25" name="Connector 24"/>
          <p:cNvCxnSpPr/>
          <p:nvPr/>
        </p:nvCxnSpPr>
        <p:spPr>
          <a:xfrm>
            <a:off x="594360" y="31638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594360" y="3163824"/>
            <a:ext cx="3190067"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3204972"/>
            <a:ext cx="2970611" cy="60350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API</a:t>
            </a:r>
          </a:p>
        </p:txBody>
      </p:sp>
      <p:sp>
        <p:nvSpPr>
          <p:cNvPr id="28" name="Rectangle 27"/>
          <p:cNvSpPr/>
          <p:nvPr/>
        </p:nvSpPr>
        <p:spPr>
          <a:xfrm>
            <a:off x="3784427" y="3163824"/>
            <a:ext cx="3850081"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94155" y="3204972"/>
            <a:ext cx="3630625" cy="60350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À la demande</a:t>
            </a:r>
          </a:p>
        </p:txBody>
      </p:sp>
      <p:sp>
        <p:nvSpPr>
          <p:cNvPr id="30" name="Rectangle 29"/>
          <p:cNvSpPr/>
          <p:nvPr/>
        </p:nvSpPr>
        <p:spPr>
          <a:xfrm>
            <a:off x="7634508" y="3163824"/>
            <a:ext cx="3960083"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44236" y="3204972"/>
            <a:ext cx="3740627" cy="60350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Consulter un statut</a:t>
            </a:r>
          </a:p>
        </p:txBody>
      </p:sp>
      <p:cxnSp>
        <p:nvCxnSpPr>
          <p:cNvPr id="32" name="Connector 31"/>
          <p:cNvCxnSpPr/>
          <p:nvPr/>
        </p:nvCxnSpPr>
        <p:spPr>
          <a:xfrm>
            <a:off x="594360" y="38496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94360" y="3849624"/>
            <a:ext cx="3190067"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4088" y="3890772"/>
            <a:ext cx="2970611" cy="60350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Webhook</a:t>
            </a:r>
          </a:p>
        </p:txBody>
      </p:sp>
      <p:sp>
        <p:nvSpPr>
          <p:cNvPr id="35" name="Rectangle 34"/>
          <p:cNvSpPr/>
          <p:nvPr/>
        </p:nvSpPr>
        <p:spPr>
          <a:xfrm>
            <a:off x="3784427" y="3849624"/>
            <a:ext cx="3850081"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94155" y="3890772"/>
            <a:ext cx="3630625" cy="60350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À la survenue d’un fait</a:t>
            </a:r>
          </a:p>
        </p:txBody>
      </p:sp>
      <p:sp>
        <p:nvSpPr>
          <p:cNvPr id="37" name="Rectangle 36"/>
          <p:cNvSpPr/>
          <p:nvPr/>
        </p:nvSpPr>
        <p:spPr>
          <a:xfrm>
            <a:off x="7634508" y="3849624"/>
            <a:ext cx="3960083"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44236" y="3890772"/>
            <a:ext cx="3740627" cy="60350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Livraison effectuée</a:t>
            </a:r>
          </a:p>
        </p:txBody>
      </p:sp>
      <p:cxnSp>
        <p:nvCxnSpPr>
          <p:cNvPr id="39" name="Connector 38"/>
          <p:cNvCxnSpPr/>
          <p:nvPr/>
        </p:nvCxnSpPr>
        <p:spPr>
          <a:xfrm>
            <a:off x="594360" y="45354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594360" y="4535424"/>
            <a:ext cx="3190067"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4088" y="4576572"/>
            <a:ext cx="2970611" cy="60350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Flux d’événements</a:t>
            </a:r>
          </a:p>
        </p:txBody>
      </p:sp>
      <p:sp>
        <p:nvSpPr>
          <p:cNvPr id="42" name="Rectangle 41"/>
          <p:cNvSpPr/>
          <p:nvPr/>
        </p:nvSpPr>
        <p:spPr>
          <a:xfrm>
            <a:off x="3784427" y="4535424"/>
            <a:ext cx="3850081"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894155" y="4576572"/>
            <a:ext cx="3630625" cy="60350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En continu</a:t>
            </a:r>
          </a:p>
        </p:txBody>
      </p:sp>
      <p:sp>
        <p:nvSpPr>
          <p:cNvPr id="44" name="Rectangle 43"/>
          <p:cNvSpPr/>
          <p:nvPr/>
        </p:nvSpPr>
        <p:spPr>
          <a:xfrm>
            <a:off x="7634508" y="4535424"/>
            <a:ext cx="3960083"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44236" y="4576572"/>
            <a:ext cx="3740627" cy="603504"/>
          </a:xfrm>
          <a:prstGeom prst="rect">
            <a:avLst/>
          </a:prstGeom>
          <a:noFill/>
        </p:spPr>
        <p:txBody>
          <a:bodyPr wrap="square" lIns="22860" rIns="22860" tIns="22860" bIns="22860" anchor="ctr">
            <a:spAutoFit/>
          </a:bodyPr>
          <a:lstStyle/>
          <a:p>
            <a:pPr>
              <a:spcBef>
                <a:spcPts val="0"/>
              </a:spcBef>
              <a:spcAft>
                <a:spcPts val="300"/>
              </a:spcAft>
              <a:defRPr sz="1850" b="0">
                <a:solidFill>
                  <a:srgbClr val="0D0D0D"/>
                </a:solidFill>
                <a:latin typeface="Liberation Sans"/>
              </a:defRPr>
            </a:pPr>
            <a:r>
              <a:t>Télémétrie et traitements réactifs</a:t>
            </a:r>
          </a:p>
        </p:txBody>
      </p:sp>
      <p:cxnSp>
        <p:nvCxnSpPr>
          <p:cNvPr id="46" name="Connector 45"/>
          <p:cNvCxnSpPr/>
          <p:nvPr/>
        </p:nvCxnSpPr>
        <p:spPr>
          <a:xfrm>
            <a:off x="594360" y="52212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B5</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La latence utile dépend du métier</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Une prédiction utile doit arriver avant que la décision ne soit devenue irréversible.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J2-043</a:t>
            </a:r>
          </a:p>
        </p:txBody>
      </p:sp>
      <p:sp>
        <p:nvSpPr>
          <p:cNvPr id="12" name="Rounded Rectangle 11"/>
          <p:cNvSpPr/>
          <p:nvPr/>
        </p:nvSpPr>
        <p:spPr>
          <a:xfrm>
            <a:off x="594360"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01</a:t>
            </a:r>
          </a:p>
        </p:txBody>
      </p:sp>
      <p:sp>
        <p:nvSpPr>
          <p:cNvPr id="15" name="TextBox 14"/>
          <p:cNvSpPr txBox="1"/>
          <p:nvPr/>
        </p:nvSpPr>
        <p:spPr>
          <a:xfrm>
            <a:off x="768096"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Jour</a:t>
            </a:r>
          </a:p>
        </p:txBody>
      </p:sp>
      <p:sp>
        <p:nvSpPr>
          <p:cNvPr id="16" name="TextBox 15"/>
          <p:cNvSpPr txBox="1"/>
          <p:nvPr/>
        </p:nvSpPr>
        <p:spPr>
          <a:xfrm>
            <a:off x="758952"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Prévision de stock</a:t>
            </a:r>
          </a:p>
        </p:txBody>
      </p:sp>
      <p:sp>
        <p:nvSpPr>
          <p:cNvPr id="17" name="Chevron 16"/>
          <p:cNvSpPr/>
          <p:nvPr/>
        </p:nvSpPr>
        <p:spPr>
          <a:xfrm>
            <a:off x="2617927"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851099"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851099"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24835"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02</a:t>
            </a:r>
          </a:p>
        </p:txBody>
      </p:sp>
      <p:sp>
        <p:nvSpPr>
          <p:cNvPr id="21" name="TextBox 20"/>
          <p:cNvSpPr txBox="1"/>
          <p:nvPr/>
        </p:nvSpPr>
        <p:spPr>
          <a:xfrm>
            <a:off x="3024835"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Heure</a:t>
            </a:r>
          </a:p>
        </p:txBody>
      </p:sp>
      <p:sp>
        <p:nvSpPr>
          <p:cNvPr id="22" name="TextBox 21"/>
          <p:cNvSpPr txBox="1"/>
          <p:nvPr/>
        </p:nvSpPr>
        <p:spPr>
          <a:xfrm>
            <a:off x="3015691" y="3300984"/>
            <a:ext cx="1644091" cy="1508760"/>
          </a:xfrm>
          <a:prstGeom prst="rect">
            <a:avLst/>
          </a:prstGeom>
          <a:noFill/>
        </p:spPr>
        <p:txBody>
          <a:bodyPr wrap="square" lIns="22860" rIns="22860" tIns="22860" bIns="22860" anchor="t">
            <a:spAutoFit/>
          </a:bodyPr>
          <a:lstStyle/>
          <a:p>
            <a:pPr>
              <a:spcBef>
                <a:spcPts val="0"/>
              </a:spcBef>
              <a:spcAft>
                <a:spcPts val="300"/>
              </a:spcAft>
              <a:defRPr sz="1850" b="0">
                <a:solidFill>
                  <a:srgbClr val="0D0D0D"/>
                </a:solidFill>
                <a:latin typeface="Liberation Sans"/>
              </a:defRPr>
            </a:pPr>
            <a:r>
              <a:t>Planification</a:t>
            </a:r>
          </a:p>
        </p:txBody>
      </p:sp>
      <p:sp>
        <p:nvSpPr>
          <p:cNvPr id="23" name="Chevron 22"/>
          <p:cNvSpPr/>
          <p:nvPr/>
        </p:nvSpPr>
        <p:spPr>
          <a:xfrm>
            <a:off x="4874666"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107838"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7838"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81574"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03</a:t>
            </a:r>
          </a:p>
        </p:txBody>
      </p:sp>
      <p:sp>
        <p:nvSpPr>
          <p:cNvPr id="27" name="TextBox 26"/>
          <p:cNvSpPr txBox="1"/>
          <p:nvPr/>
        </p:nvSpPr>
        <p:spPr>
          <a:xfrm>
            <a:off x="5281574"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Minute</a:t>
            </a:r>
          </a:p>
        </p:txBody>
      </p:sp>
      <p:sp>
        <p:nvSpPr>
          <p:cNvPr id="28" name="TextBox 27"/>
          <p:cNvSpPr txBox="1"/>
          <p:nvPr/>
        </p:nvSpPr>
        <p:spPr>
          <a:xfrm>
            <a:off x="5272430" y="3300984"/>
            <a:ext cx="1644091" cy="1508760"/>
          </a:xfrm>
          <a:prstGeom prst="rect">
            <a:avLst/>
          </a:prstGeom>
          <a:noFill/>
        </p:spPr>
        <p:txBody>
          <a:bodyPr wrap="square" lIns="22860" rIns="22860" tIns="22860" bIns="22860" anchor="t">
            <a:spAutoFit/>
          </a:bodyPr>
          <a:lstStyle/>
          <a:p>
            <a:pPr>
              <a:spcBef>
                <a:spcPts val="0"/>
              </a:spcBef>
              <a:spcAft>
                <a:spcPts val="300"/>
              </a:spcAft>
              <a:defRPr sz="1850" b="0">
                <a:solidFill>
                  <a:srgbClr val="0D0D0D"/>
                </a:solidFill>
                <a:latin typeface="Liberation Sans"/>
              </a:defRPr>
            </a:pPr>
            <a:r>
              <a:t>Suivi opérationnel</a:t>
            </a:r>
          </a:p>
        </p:txBody>
      </p:sp>
      <p:sp>
        <p:nvSpPr>
          <p:cNvPr id="29" name="Chevron 28"/>
          <p:cNvSpPr/>
          <p:nvPr/>
        </p:nvSpPr>
        <p:spPr>
          <a:xfrm>
            <a:off x="7131405"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364577"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4577"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38313"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04</a:t>
            </a:r>
          </a:p>
        </p:txBody>
      </p:sp>
      <p:sp>
        <p:nvSpPr>
          <p:cNvPr id="33" name="TextBox 32"/>
          <p:cNvSpPr txBox="1"/>
          <p:nvPr/>
        </p:nvSpPr>
        <p:spPr>
          <a:xfrm>
            <a:off x="7538313"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Seconde</a:t>
            </a:r>
          </a:p>
        </p:txBody>
      </p:sp>
      <p:sp>
        <p:nvSpPr>
          <p:cNvPr id="34" name="TextBox 33"/>
          <p:cNvSpPr txBox="1"/>
          <p:nvPr/>
        </p:nvSpPr>
        <p:spPr>
          <a:xfrm>
            <a:off x="7529169"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Interaction client</a:t>
            </a:r>
          </a:p>
        </p:txBody>
      </p:sp>
      <p:sp>
        <p:nvSpPr>
          <p:cNvPr id="35" name="Chevron 34"/>
          <p:cNvSpPr/>
          <p:nvPr/>
        </p:nvSpPr>
        <p:spPr>
          <a:xfrm>
            <a:off x="9388144"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621316"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21316"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95052"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05</a:t>
            </a:r>
          </a:p>
        </p:txBody>
      </p:sp>
      <p:sp>
        <p:nvSpPr>
          <p:cNvPr id="39" name="TextBox 38"/>
          <p:cNvSpPr txBox="1"/>
          <p:nvPr/>
        </p:nvSpPr>
        <p:spPr>
          <a:xfrm>
            <a:off x="9795052" y="2514600"/>
            <a:ext cx="1625803" cy="704088"/>
          </a:xfrm>
          <a:prstGeom prst="rect">
            <a:avLst/>
          </a:prstGeom>
          <a:noFill/>
        </p:spPr>
        <p:txBody>
          <a:bodyPr wrap="square" lIns="22860" rIns="22860" tIns="22860" bIns="22860" anchor="ctr">
            <a:spAutoFit/>
          </a:bodyPr>
          <a:lstStyle/>
          <a:p>
            <a:pPr>
              <a:spcBef>
                <a:spcPts val="0"/>
              </a:spcBef>
              <a:spcAft>
                <a:spcPts val="300"/>
              </a:spcAft>
              <a:defRPr sz="1850" b="1">
                <a:solidFill>
                  <a:srgbClr val="23468C"/>
                </a:solidFill>
                <a:latin typeface="Liberation Sans"/>
              </a:defRPr>
            </a:pPr>
            <a:r>
              <a:t>Milliseconde</a:t>
            </a:r>
          </a:p>
        </p:txBody>
      </p:sp>
      <p:sp>
        <p:nvSpPr>
          <p:cNvPr id="40" name="TextBox 39"/>
          <p:cNvSpPr txBox="1"/>
          <p:nvPr/>
        </p:nvSpPr>
        <p:spPr>
          <a:xfrm>
            <a:off x="9785908"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Certains contrôles de paiement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B5</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2900" b="1">
                <a:solidFill>
                  <a:srgbClr val="132443"/>
                </a:solidFill>
                <a:latin typeface="Liberation Sans"/>
              </a:defRPr>
            </a:pPr>
            <a:r>
              <a:t>UPS : le réseau logistique comme système de données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Cas documenté • UPS, 18 juin 2026 • Architecture schématique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S12</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J2-044</a:t>
            </a:r>
          </a:p>
        </p:txBody>
      </p:sp>
      <p:sp>
        <p:nvSpPr>
          <p:cNvPr id="12" name="Rounded Rectangle 11"/>
          <p:cNvSpPr/>
          <p:nvPr/>
        </p:nvSpPr>
        <p:spPr>
          <a:xfrm>
            <a:off x="594360"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Données</a:t>
            </a:r>
          </a:p>
        </p:txBody>
      </p:sp>
      <p:sp>
        <p:nvSpPr>
          <p:cNvPr id="15" name="TextBox 14"/>
          <p:cNvSpPr txBox="1"/>
          <p:nvPr/>
        </p:nvSpPr>
        <p:spPr>
          <a:xfrm>
            <a:off x="758952"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Flux de colis, installations et modes de transport.</a:t>
            </a:r>
          </a:p>
        </p:txBody>
      </p:sp>
      <p:sp>
        <p:nvSpPr>
          <p:cNvPr id="16" name="Rounded Rectangle 15"/>
          <p:cNvSpPr/>
          <p:nvPr/>
        </p:nvSpPr>
        <p:spPr>
          <a:xfrm>
            <a:off x="6195059"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Contexte</a:t>
            </a:r>
          </a:p>
        </p:txBody>
      </p:sp>
      <p:sp>
        <p:nvSpPr>
          <p:cNvPr id="19" name="TextBox 18"/>
          <p:cNvSpPr txBox="1"/>
          <p:nvPr/>
        </p:nvSpPr>
        <p:spPr>
          <a:xfrm>
            <a:off x="6359651"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Météo, volumes et retards.</a:t>
            </a:r>
          </a:p>
        </p:txBody>
      </p:sp>
      <p:sp>
        <p:nvSpPr>
          <p:cNvPr id="20" name="Rounded Rectangle 19"/>
          <p:cNvSpPr/>
          <p:nvPr/>
        </p:nvSpPr>
        <p:spPr>
          <a:xfrm>
            <a:off x="594360"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Simulation</a:t>
            </a:r>
          </a:p>
        </p:txBody>
      </p:sp>
      <p:sp>
        <p:nvSpPr>
          <p:cNvPr id="23" name="TextBox 22"/>
          <p:cNvSpPr txBox="1"/>
          <p:nvPr/>
        </p:nvSpPr>
        <p:spPr>
          <a:xfrm>
            <a:off x="758952"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Explorer des scénarios avant la perturbation.</a:t>
            </a:r>
          </a:p>
        </p:txBody>
      </p:sp>
      <p:sp>
        <p:nvSpPr>
          <p:cNvPr id="24" name="Rounded Rectangle 23"/>
          <p:cNvSpPr/>
          <p:nvPr/>
        </p:nvSpPr>
        <p:spPr>
          <a:xfrm>
            <a:off x="6195059"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Décision</a:t>
            </a:r>
          </a:p>
        </p:txBody>
      </p:sp>
      <p:sp>
        <p:nvSpPr>
          <p:cNvPr id="27" name="TextBox 26"/>
          <p:cNvSpPr txBox="1"/>
          <p:nvPr/>
        </p:nvSpPr>
        <p:spPr>
          <a:xfrm>
            <a:off x="6359651"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Adapter l’organisation du réseau.</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B5</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2900" b="1">
                <a:solidFill>
                  <a:srgbClr val="132443"/>
                </a:solidFill>
                <a:latin typeface="Liberation Sans"/>
              </a:defRPr>
            </a:pPr>
            <a:r>
              <a:t>Un jumeau numérique n’est pas une simple image 3D</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Le jumeau vaut par sa relation au réel et à la décision qu’il permet d’évaluer.</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S12</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J2-045</a:t>
            </a:r>
          </a:p>
        </p:txBody>
      </p:sp>
      <p:sp>
        <p:nvSpPr>
          <p:cNvPr id="12" name="Rounded Rectangle 11"/>
          <p:cNvSpPr/>
          <p:nvPr/>
        </p:nvSpPr>
        <p:spPr>
          <a:xfrm>
            <a:off x="594360"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01</a:t>
            </a:r>
          </a:p>
        </p:txBody>
      </p:sp>
      <p:sp>
        <p:nvSpPr>
          <p:cNvPr id="15" name="TextBox 14"/>
          <p:cNvSpPr txBox="1"/>
          <p:nvPr/>
        </p:nvSpPr>
        <p:spPr>
          <a:xfrm>
            <a:off x="768096"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Système réel</a:t>
            </a:r>
          </a:p>
        </p:txBody>
      </p:sp>
      <p:sp>
        <p:nvSpPr>
          <p:cNvPr id="16" name="TextBox 15"/>
          <p:cNvSpPr txBox="1"/>
          <p:nvPr/>
        </p:nvSpPr>
        <p:spPr>
          <a:xfrm>
            <a:off x="758952"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Dépôts, véhicules et colis</a:t>
            </a:r>
          </a:p>
        </p:txBody>
      </p:sp>
      <p:sp>
        <p:nvSpPr>
          <p:cNvPr id="17" name="Chevron 16"/>
          <p:cNvSpPr/>
          <p:nvPr/>
        </p:nvSpPr>
        <p:spPr>
          <a:xfrm>
            <a:off x="3182112"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415284"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15284"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89020"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02</a:t>
            </a:r>
          </a:p>
        </p:txBody>
      </p:sp>
      <p:sp>
        <p:nvSpPr>
          <p:cNvPr id="21" name="TextBox 20"/>
          <p:cNvSpPr txBox="1"/>
          <p:nvPr/>
        </p:nvSpPr>
        <p:spPr>
          <a:xfrm>
            <a:off x="3589020"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État observé</a:t>
            </a:r>
          </a:p>
        </p:txBody>
      </p:sp>
      <p:sp>
        <p:nvSpPr>
          <p:cNvPr id="22" name="TextBox 21"/>
          <p:cNvSpPr txBox="1"/>
          <p:nvPr/>
        </p:nvSpPr>
        <p:spPr>
          <a:xfrm>
            <a:off x="3579876"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Mesures et événements</a:t>
            </a:r>
          </a:p>
        </p:txBody>
      </p:sp>
      <p:sp>
        <p:nvSpPr>
          <p:cNvPr id="23" name="Chevron 22"/>
          <p:cNvSpPr/>
          <p:nvPr/>
        </p:nvSpPr>
        <p:spPr>
          <a:xfrm>
            <a:off x="6003036"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236208"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36208"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9944"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03</a:t>
            </a:r>
          </a:p>
        </p:txBody>
      </p:sp>
      <p:sp>
        <p:nvSpPr>
          <p:cNvPr id="27" name="TextBox 26"/>
          <p:cNvSpPr txBox="1"/>
          <p:nvPr/>
        </p:nvSpPr>
        <p:spPr>
          <a:xfrm>
            <a:off x="6409944" y="2514600"/>
            <a:ext cx="2189988" cy="704088"/>
          </a:xfrm>
          <a:prstGeom prst="rect">
            <a:avLst/>
          </a:prstGeom>
          <a:noFill/>
        </p:spPr>
        <p:txBody>
          <a:bodyPr wrap="square" lIns="22860" rIns="22860" tIns="22860" bIns="22860" anchor="ctr">
            <a:spAutoFit/>
          </a:bodyPr>
          <a:lstStyle/>
          <a:p>
            <a:pPr>
              <a:spcBef>
                <a:spcPts val="0"/>
              </a:spcBef>
              <a:spcAft>
                <a:spcPts val="300"/>
              </a:spcAft>
              <a:defRPr sz="1950" b="1">
                <a:solidFill>
                  <a:srgbClr val="23468C"/>
                </a:solidFill>
                <a:latin typeface="Liberation Sans"/>
              </a:defRPr>
            </a:pPr>
            <a:r>
              <a:t>Représentation</a:t>
            </a:r>
          </a:p>
        </p:txBody>
      </p:sp>
      <p:sp>
        <p:nvSpPr>
          <p:cNvPr id="28" name="TextBox 27"/>
          <p:cNvSpPr txBox="1"/>
          <p:nvPr/>
        </p:nvSpPr>
        <p:spPr>
          <a:xfrm>
            <a:off x="6400800"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Modèle numérique du réseau</a:t>
            </a:r>
          </a:p>
        </p:txBody>
      </p:sp>
      <p:sp>
        <p:nvSpPr>
          <p:cNvPr id="29" name="Chevron 28"/>
          <p:cNvSpPr/>
          <p:nvPr/>
        </p:nvSpPr>
        <p:spPr>
          <a:xfrm>
            <a:off x="8823960"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057132"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057132"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30867"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04</a:t>
            </a:r>
          </a:p>
        </p:txBody>
      </p:sp>
      <p:sp>
        <p:nvSpPr>
          <p:cNvPr id="33" name="TextBox 32"/>
          <p:cNvSpPr txBox="1"/>
          <p:nvPr/>
        </p:nvSpPr>
        <p:spPr>
          <a:xfrm>
            <a:off x="9230867"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Scénarios</a:t>
            </a:r>
          </a:p>
        </p:txBody>
      </p:sp>
      <p:sp>
        <p:nvSpPr>
          <p:cNvPr id="34" name="TextBox 33"/>
          <p:cNvSpPr txBox="1"/>
          <p:nvPr/>
        </p:nvSpPr>
        <p:spPr>
          <a:xfrm>
            <a:off x="9221724"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Conséquences de décisions possibles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B5</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Le fournisseur externe devient une dépendance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L’absence de donnée n’est pas une valeur métier.</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J2-046</a:t>
            </a:r>
          </a:p>
        </p:txBody>
      </p:sp>
      <p:sp>
        <p:nvSpPr>
          <p:cNvPr id="12" name="Rounded Rectangle 11"/>
          <p:cNvSpPr/>
          <p:nvPr/>
        </p:nvSpPr>
        <p:spPr>
          <a:xfrm>
            <a:off x="594360" y="1783080"/>
            <a:ext cx="5399531" cy="38862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38862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Service nominal</a:t>
            </a:r>
          </a:p>
        </p:txBody>
      </p:sp>
      <p:sp>
        <p:nvSpPr>
          <p:cNvPr id="15" name="TextBox 14"/>
          <p:cNvSpPr txBox="1"/>
          <p:nvPr/>
        </p:nvSpPr>
        <p:spPr>
          <a:xfrm>
            <a:off x="758952" y="2459736"/>
            <a:ext cx="5070347" cy="306324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Donnée fraîche, schéma valide et accès autorisé.</a:t>
            </a:r>
          </a:p>
        </p:txBody>
      </p:sp>
      <p:sp>
        <p:nvSpPr>
          <p:cNvPr id="16" name="Rounded Rectangle 15"/>
          <p:cNvSpPr/>
          <p:nvPr/>
        </p:nvSpPr>
        <p:spPr>
          <a:xfrm>
            <a:off x="6195059" y="1783080"/>
            <a:ext cx="5399531" cy="38862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38862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Service dégradé</a:t>
            </a:r>
          </a:p>
        </p:txBody>
      </p:sp>
      <p:sp>
        <p:nvSpPr>
          <p:cNvPr id="19" name="TextBox 18"/>
          <p:cNvSpPr txBox="1"/>
          <p:nvPr/>
        </p:nvSpPr>
        <p:spPr>
          <a:xfrm>
            <a:off x="6359651" y="2459736"/>
            <a:ext cx="5070347" cy="306324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Source absente, retardée ou incohérente.</a:t>
            </a:r>
          </a:p>
          <a:p>
            <a:pPr>
              <a:spcBef>
                <a:spcPts val="0"/>
              </a:spcBef>
              <a:spcAft>
                <a:spcPts val="300"/>
              </a:spcAft>
              <a:defRPr sz="2100" b="0">
                <a:solidFill>
                  <a:srgbClr val="0D0D0D"/>
                </a:solidFill>
                <a:latin typeface="Liberation Sans"/>
              </a:defRPr>
            </a:pPr>
            <a:r>
              <a:t>La décision doit rester explicite.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B5</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A10 • Concevoir le SI ouvert de Novalia</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45 minutes • Cahier A10 • Un flux entrant et un flux sortant justifiés</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J2-047</a:t>
            </a:r>
          </a:p>
        </p:txBody>
      </p:sp>
      <p:sp>
        <p:nvSpPr>
          <p:cNvPr id="12" name="Rounded Rectangle 11"/>
          <p:cNvSpPr/>
          <p:nvPr/>
        </p:nvSpPr>
        <p:spPr>
          <a:xfrm>
            <a:off x="594360" y="1965960"/>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65960"/>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0312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Besoin</a:t>
            </a:r>
          </a:p>
        </p:txBody>
      </p:sp>
      <p:sp>
        <p:nvSpPr>
          <p:cNvPr id="15" name="TextBox 14"/>
          <p:cNvSpPr txBox="1"/>
          <p:nvPr/>
        </p:nvSpPr>
        <p:spPr>
          <a:xfrm>
            <a:off x="758952" y="2642616"/>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Mieux prévoir la demande et les livraisons.</a:t>
            </a:r>
          </a:p>
        </p:txBody>
      </p:sp>
      <p:sp>
        <p:nvSpPr>
          <p:cNvPr id="16" name="Rounded Rectangle 15"/>
          <p:cNvSpPr/>
          <p:nvPr/>
        </p:nvSpPr>
        <p:spPr>
          <a:xfrm>
            <a:off x="6195059" y="1965960"/>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965960"/>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210312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Entrées</a:t>
            </a:r>
          </a:p>
        </p:txBody>
      </p:sp>
      <p:sp>
        <p:nvSpPr>
          <p:cNvPr id="19" name="TextBox 18"/>
          <p:cNvSpPr txBox="1"/>
          <p:nvPr/>
        </p:nvSpPr>
        <p:spPr>
          <a:xfrm>
            <a:off x="6359651" y="2642616"/>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Commandes, stocks, météo et transporteurs.</a:t>
            </a:r>
          </a:p>
        </p:txBody>
      </p:sp>
      <p:sp>
        <p:nvSpPr>
          <p:cNvPr id="20" name="Rounded Rectangle 19"/>
          <p:cNvSpPr/>
          <p:nvPr/>
        </p:nvSpPr>
        <p:spPr>
          <a:xfrm>
            <a:off x="594360" y="3758183"/>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758183"/>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89534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Sorties</a:t>
            </a:r>
          </a:p>
        </p:txBody>
      </p:sp>
      <p:sp>
        <p:nvSpPr>
          <p:cNvPr id="23" name="TextBox 22"/>
          <p:cNvSpPr txBox="1"/>
          <p:nvPr/>
        </p:nvSpPr>
        <p:spPr>
          <a:xfrm>
            <a:off x="758952" y="4434840"/>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Prévisions agrégées pour les fournisseurs.</a:t>
            </a:r>
          </a:p>
        </p:txBody>
      </p:sp>
      <p:sp>
        <p:nvSpPr>
          <p:cNvPr id="24" name="Rounded Rectangle 23"/>
          <p:cNvSpPr/>
          <p:nvPr/>
        </p:nvSpPr>
        <p:spPr>
          <a:xfrm>
            <a:off x="6195059" y="3758183"/>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758183"/>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89534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Livrable</a:t>
            </a:r>
          </a:p>
        </p:txBody>
      </p:sp>
      <p:sp>
        <p:nvSpPr>
          <p:cNvPr id="27" name="TextBox 26"/>
          <p:cNvSpPr txBox="1"/>
          <p:nvPr/>
        </p:nvSpPr>
        <p:spPr>
          <a:xfrm>
            <a:off x="6359651" y="4434840"/>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Architecture, fréquences, droits et mode dégradé.</a:t>
            </a:r>
          </a:p>
        </p:txBody>
      </p:sp>
      <p:sp>
        <p:nvSpPr>
          <p:cNvPr id="28" name="TextBox 27"/>
          <p:cNvSpPr txBox="1"/>
          <p:nvPr/>
        </p:nvSpPr>
        <p:spPr>
          <a:xfrm>
            <a:off x="630936" y="1655064"/>
            <a:ext cx="10058400" cy="228600"/>
          </a:xfrm>
          <a:prstGeom prst="rect">
            <a:avLst/>
          </a:prstGeom>
          <a:noFill/>
        </p:spPr>
        <p:txBody>
          <a:bodyPr wrap="square" lIns="22860" rIns="22860" tIns="22860" bIns="22860" anchor="ctr">
            <a:spAutoFit/>
          </a:bodyPr>
          <a:lstStyle/>
          <a:p>
            <a:pPr>
              <a:spcBef>
                <a:spcPts val="0"/>
              </a:spcBef>
              <a:spcAft>
                <a:spcPts val="300"/>
              </a:spcAft>
              <a:defRPr sz="1300" b="1">
                <a:solidFill>
                  <a:srgbClr val="238C33"/>
                </a:solidFill>
                <a:latin typeface="Liberation Sans"/>
              </a:defRPr>
            </a:pPr>
            <a:r>
              <a:t>ATELIER  /  45 MINUTES POUR LA SÉQUENCE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B5</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Architecture cible : des frontières visibles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Architecture pédagogique • Chaque frontière correspond à un contrôle à définir.</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J2-048</a:t>
            </a:r>
          </a:p>
        </p:txBody>
      </p:sp>
      <p:sp>
        <p:nvSpPr>
          <p:cNvPr id="12" name="Rounded Rectangle 11"/>
          <p:cNvSpPr/>
          <p:nvPr/>
        </p:nvSpPr>
        <p:spPr>
          <a:xfrm>
            <a:off x="594360" y="2240280"/>
            <a:ext cx="1597151" cy="265176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2240280"/>
            <a:ext cx="54864" cy="265176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368296"/>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01</a:t>
            </a:r>
          </a:p>
        </p:txBody>
      </p:sp>
      <p:sp>
        <p:nvSpPr>
          <p:cNvPr id="15" name="TextBox 14"/>
          <p:cNvSpPr txBox="1"/>
          <p:nvPr/>
        </p:nvSpPr>
        <p:spPr>
          <a:xfrm>
            <a:off x="768096" y="2761488"/>
            <a:ext cx="1249679"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Externe</a:t>
            </a:r>
          </a:p>
        </p:txBody>
      </p:sp>
      <p:sp>
        <p:nvSpPr>
          <p:cNvPr id="16" name="TextBox 15"/>
          <p:cNvSpPr txBox="1"/>
          <p:nvPr/>
        </p:nvSpPr>
        <p:spPr>
          <a:xfrm>
            <a:off x="758952" y="3547872"/>
            <a:ext cx="1267967" cy="1188719"/>
          </a:xfrm>
          <a:prstGeom prst="rect">
            <a:avLst/>
          </a:prstGeom>
          <a:noFill/>
        </p:spPr>
        <p:txBody>
          <a:bodyPr wrap="square" lIns="22860" rIns="22860" tIns="22860" bIns="22860" anchor="t">
            <a:spAutoFit/>
          </a:bodyPr>
          <a:lstStyle/>
          <a:p>
            <a:pPr>
              <a:spcBef>
                <a:spcPts val="0"/>
              </a:spcBef>
              <a:spcAft>
                <a:spcPts val="300"/>
              </a:spcAft>
              <a:defRPr sz="1550" b="0">
                <a:solidFill>
                  <a:srgbClr val="0D0D0D"/>
                </a:solidFill>
                <a:latin typeface="Liberation Sans"/>
              </a:defRPr>
            </a:pPr>
            <a:r>
              <a:t>Sources et partenaires</a:t>
            </a:r>
          </a:p>
        </p:txBody>
      </p:sp>
      <p:sp>
        <p:nvSpPr>
          <p:cNvPr id="17" name="Chevron 16"/>
          <p:cNvSpPr/>
          <p:nvPr/>
        </p:nvSpPr>
        <p:spPr>
          <a:xfrm>
            <a:off x="2241804" y="3447288"/>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474975" y="2240280"/>
            <a:ext cx="1597151" cy="265176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474975" y="2240280"/>
            <a:ext cx="54864" cy="265176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48711" y="2368296"/>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02</a:t>
            </a:r>
          </a:p>
        </p:txBody>
      </p:sp>
      <p:sp>
        <p:nvSpPr>
          <p:cNvPr id="21" name="TextBox 20"/>
          <p:cNvSpPr txBox="1"/>
          <p:nvPr/>
        </p:nvSpPr>
        <p:spPr>
          <a:xfrm>
            <a:off x="2648711" y="2761488"/>
            <a:ext cx="1249679" cy="704088"/>
          </a:xfrm>
          <a:prstGeom prst="rect">
            <a:avLst/>
          </a:prstGeom>
          <a:noFill/>
        </p:spPr>
        <p:txBody>
          <a:bodyPr wrap="square" lIns="22860" rIns="22860" tIns="22860" bIns="22860" anchor="ctr">
            <a:spAutoFit/>
          </a:bodyPr>
          <a:lstStyle/>
          <a:p>
            <a:pPr>
              <a:spcBef>
                <a:spcPts val="0"/>
              </a:spcBef>
              <a:spcAft>
                <a:spcPts val="300"/>
              </a:spcAft>
              <a:defRPr sz="1850" b="1">
                <a:solidFill>
                  <a:srgbClr val="238C33"/>
                </a:solidFill>
                <a:latin typeface="Liberation Sans"/>
              </a:defRPr>
            </a:pPr>
            <a:r>
              <a:t>Entrée contrôlée</a:t>
            </a:r>
          </a:p>
        </p:txBody>
      </p:sp>
      <p:sp>
        <p:nvSpPr>
          <p:cNvPr id="22" name="TextBox 21"/>
          <p:cNvSpPr txBox="1"/>
          <p:nvPr/>
        </p:nvSpPr>
        <p:spPr>
          <a:xfrm>
            <a:off x="2639567" y="3547872"/>
            <a:ext cx="1267967" cy="1188719"/>
          </a:xfrm>
          <a:prstGeom prst="rect">
            <a:avLst/>
          </a:prstGeom>
          <a:noFill/>
        </p:spPr>
        <p:txBody>
          <a:bodyPr wrap="square" lIns="22860" rIns="22860" tIns="22860" bIns="22860" anchor="t">
            <a:spAutoFit/>
          </a:bodyPr>
          <a:lstStyle/>
          <a:p>
            <a:pPr>
              <a:spcBef>
                <a:spcPts val="0"/>
              </a:spcBef>
              <a:spcAft>
                <a:spcPts val="300"/>
              </a:spcAft>
              <a:defRPr sz="1650" b="0">
                <a:solidFill>
                  <a:srgbClr val="0D0D0D"/>
                </a:solidFill>
                <a:latin typeface="Liberation Sans"/>
              </a:defRPr>
            </a:pPr>
            <a:r>
              <a:t>Passerelle, identité et validation</a:t>
            </a:r>
          </a:p>
        </p:txBody>
      </p:sp>
      <p:sp>
        <p:nvSpPr>
          <p:cNvPr id="23" name="Chevron 22"/>
          <p:cNvSpPr/>
          <p:nvPr/>
        </p:nvSpPr>
        <p:spPr>
          <a:xfrm>
            <a:off x="4122419" y="3447288"/>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355591" y="2240280"/>
            <a:ext cx="1597151" cy="265176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55591" y="2240280"/>
            <a:ext cx="54864" cy="265176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29328" y="2368296"/>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03</a:t>
            </a:r>
          </a:p>
        </p:txBody>
      </p:sp>
      <p:sp>
        <p:nvSpPr>
          <p:cNvPr id="27" name="TextBox 26"/>
          <p:cNvSpPr txBox="1"/>
          <p:nvPr/>
        </p:nvSpPr>
        <p:spPr>
          <a:xfrm>
            <a:off x="4529328" y="2761488"/>
            <a:ext cx="1249679" cy="704088"/>
          </a:xfrm>
          <a:prstGeom prst="rect">
            <a:avLst/>
          </a:prstGeom>
          <a:noFill/>
        </p:spPr>
        <p:txBody>
          <a:bodyPr wrap="square" lIns="22860" rIns="22860" tIns="22860" bIns="22860" anchor="ctr">
            <a:spAutoFit/>
          </a:bodyPr>
          <a:lstStyle/>
          <a:p>
            <a:pPr>
              <a:spcBef>
                <a:spcPts val="0"/>
              </a:spcBef>
              <a:spcAft>
                <a:spcPts val="300"/>
              </a:spcAft>
              <a:defRPr sz="1950" b="1">
                <a:solidFill>
                  <a:srgbClr val="23468C"/>
                </a:solidFill>
                <a:latin typeface="Liberation Sans"/>
              </a:defRPr>
            </a:pPr>
            <a:r>
              <a:t>Données</a:t>
            </a:r>
          </a:p>
        </p:txBody>
      </p:sp>
      <p:sp>
        <p:nvSpPr>
          <p:cNvPr id="28" name="TextBox 27"/>
          <p:cNvSpPr txBox="1"/>
          <p:nvPr/>
        </p:nvSpPr>
        <p:spPr>
          <a:xfrm>
            <a:off x="4520183" y="3547872"/>
            <a:ext cx="1267967" cy="1188719"/>
          </a:xfrm>
          <a:prstGeom prst="rect">
            <a:avLst/>
          </a:prstGeom>
          <a:noFill/>
        </p:spPr>
        <p:txBody>
          <a:bodyPr wrap="square" lIns="22860" rIns="22860" tIns="22860" bIns="22860" anchor="t">
            <a:spAutoFit/>
          </a:bodyPr>
          <a:lstStyle/>
          <a:p>
            <a:pPr>
              <a:spcBef>
                <a:spcPts val="0"/>
              </a:spcBef>
              <a:spcAft>
                <a:spcPts val="300"/>
              </a:spcAft>
              <a:defRPr sz="1300" b="0">
                <a:solidFill>
                  <a:srgbClr val="0D0D0D"/>
                </a:solidFill>
                <a:latin typeface="Liberation Sans"/>
              </a:defRPr>
            </a:pPr>
            <a:r>
              <a:t>Stockage, qualité et transformations</a:t>
            </a:r>
          </a:p>
        </p:txBody>
      </p:sp>
      <p:sp>
        <p:nvSpPr>
          <p:cNvPr id="29" name="Chevron 28"/>
          <p:cNvSpPr/>
          <p:nvPr/>
        </p:nvSpPr>
        <p:spPr>
          <a:xfrm>
            <a:off x="6003035" y="3447288"/>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236207" y="2240280"/>
            <a:ext cx="1597151" cy="265176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36207" y="2240280"/>
            <a:ext cx="54864" cy="265176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9943" y="2368296"/>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04</a:t>
            </a:r>
          </a:p>
        </p:txBody>
      </p:sp>
      <p:sp>
        <p:nvSpPr>
          <p:cNvPr id="33" name="TextBox 32"/>
          <p:cNvSpPr txBox="1"/>
          <p:nvPr/>
        </p:nvSpPr>
        <p:spPr>
          <a:xfrm>
            <a:off x="6409943" y="2761488"/>
            <a:ext cx="1249679"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Modèle</a:t>
            </a:r>
          </a:p>
        </p:txBody>
      </p:sp>
      <p:sp>
        <p:nvSpPr>
          <p:cNvPr id="34" name="TextBox 33"/>
          <p:cNvSpPr txBox="1"/>
          <p:nvPr/>
        </p:nvSpPr>
        <p:spPr>
          <a:xfrm>
            <a:off x="6400799" y="3547872"/>
            <a:ext cx="1267967" cy="1188719"/>
          </a:xfrm>
          <a:prstGeom prst="rect">
            <a:avLst/>
          </a:prstGeom>
          <a:noFill/>
        </p:spPr>
        <p:txBody>
          <a:bodyPr wrap="square" lIns="22860" rIns="22860" tIns="22860" bIns="22860" anchor="t">
            <a:spAutoFit/>
          </a:bodyPr>
          <a:lstStyle/>
          <a:p>
            <a:pPr>
              <a:spcBef>
                <a:spcPts val="0"/>
              </a:spcBef>
              <a:spcAft>
                <a:spcPts val="300"/>
              </a:spcAft>
              <a:defRPr sz="1800" b="0">
                <a:solidFill>
                  <a:srgbClr val="0D0D0D"/>
                </a:solidFill>
                <a:latin typeface="Liberation Sans"/>
              </a:defRPr>
            </a:pPr>
            <a:r>
              <a:t>Calcul planifié ou inférence</a:t>
            </a:r>
          </a:p>
        </p:txBody>
      </p:sp>
      <p:sp>
        <p:nvSpPr>
          <p:cNvPr id="35" name="Chevron 34"/>
          <p:cNvSpPr/>
          <p:nvPr/>
        </p:nvSpPr>
        <p:spPr>
          <a:xfrm>
            <a:off x="7883651" y="3447288"/>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116823" y="2240280"/>
            <a:ext cx="1597151" cy="265176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16823" y="2240280"/>
            <a:ext cx="54864" cy="265176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90559" y="2368296"/>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05</a:t>
            </a:r>
          </a:p>
        </p:txBody>
      </p:sp>
      <p:sp>
        <p:nvSpPr>
          <p:cNvPr id="39" name="TextBox 38"/>
          <p:cNvSpPr txBox="1"/>
          <p:nvPr/>
        </p:nvSpPr>
        <p:spPr>
          <a:xfrm>
            <a:off x="8290559" y="2761488"/>
            <a:ext cx="1249679"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Métier</a:t>
            </a:r>
          </a:p>
        </p:txBody>
      </p:sp>
      <p:sp>
        <p:nvSpPr>
          <p:cNvPr id="40" name="TextBox 39"/>
          <p:cNvSpPr txBox="1"/>
          <p:nvPr/>
        </p:nvSpPr>
        <p:spPr>
          <a:xfrm>
            <a:off x="8281415" y="3547872"/>
            <a:ext cx="1267967" cy="1188719"/>
          </a:xfrm>
          <a:prstGeom prst="rect">
            <a:avLst/>
          </a:prstGeom>
          <a:noFill/>
        </p:spPr>
        <p:txBody>
          <a:bodyPr wrap="square" lIns="22860" rIns="22860" tIns="22860" bIns="22860" anchor="t">
            <a:spAutoFit/>
          </a:bodyPr>
          <a:lstStyle/>
          <a:p>
            <a:pPr>
              <a:spcBef>
                <a:spcPts val="0"/>
              </a:spcBef>
              <a:spcAft>
                <a:spcPts val="300"/>
              </a:spcAft>
              <a:defRPr sz="1500" b="0">
                <a:solidFill>
                  <a:srgbClr val="0D0D0D"/>
                </a:solidFill>
                <a:latin typeface="Liberation Sans"/>
              </a:defRPr>
            </a:pPr>
            <a:r>
              <a:t>Application et supervision</a:t>
            </a:r>
          </a:p>
        </p:txBody>
      </p:sp>
      <p:sp>
        <p:nvSpPr>
          <p:cNvPr id="41" name="Chevron 40"/>
          <p:cNvSpPr/>
          <p:nvPr/>
        </p:nvSpPr>
        <p:spPr>
          <a:xfrm>
            <a:off x="9764267" y="3447288"/>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9997439" y="2240280"/>
            <a:ext cx="1597151" cy="265176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97439" y="2240280"/>
            <a:ext cx="54864" cy="265176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171175" y="2368296"/>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06</a:t>
            </a:r>
          </a:p>
        </p:txBody>
      </p:sp>
      <p:sp>
        <p:nvSpPr>
          <p:cNvPr id="45" name="TextBox 44"/>
          <p:cNvSpPr txBox="1"/>
          <p:nvPr/>
        </p:nvSpPr>
        <p:spPr>
          <a:xfrm>
            <a:off x="10171175" y="2761488"/>
            <a:ext cx="1249679" cy="704088"/>
          </a:xfrm>
          <a:prstGeom prst="rect">
            <a:avLst/>
          </a:prstGeom>
          <a:noFill/>
        </p:spPr>
        <p:txBody>
          <a:bodyPr wrap="square" lIns="22860" rIns="22860" tIns="22860" bIns="22860" anchor="ctr">
            <a:spAutoFit/>
          </a:bodyPr>
          <a:lstStyle/>
          <a:p>
            <a:pPr>
              <a:spcBef>
                <a:spcPts val="0"/>
              </a:spcBef>
              <a:spcAft>
                <a:spcPts val="300"/>
              </a:spcAft>
              <a:defRPr sz="1850" b="1">
                <a:solidFill>
                  <a:srgbClr val="238C33"/>
                </a:solidFill>
                <a:latin typeface="Liberation Sans"/>
              </a:defRPr>
            </a:pPr>
            <a:r>
              <a:t>Sortie contrôlée</a:t>
            </a:r>
          </a:p>
        </p:txBody>
      </p:sp>
      <p:sp>
        <p:nvSpPr>
          <p:cNvPr id="46" name="TextBox 45"/>
          <p:cNvSpPr txBox="1"/>
          <p:nvPr/>
        </p:nvSpPr>
        <p:spPr>
          <a:xfrm>
            <a:off x="10162031" y="3547872"/>
            <a:ext cx="1267967" cy="1188719"/>
          </a:xfrm>
          <a:prstGeom prst="rect">
            <a:avLst/>
          </a:prstGeom>
          <a:noFill/>
        </p:spPr>
        <p:txBody>
          <a:bodyPr wrap="square" lIns="22860" rIns="22860" tIns="22860" bIns="22860" anchor="t">
            <a:spAutoFit/>
          </a:bodyPr>
          <a:lstStyle/>
          <a:p>
            <a:pPr>
              <a:spcBef>
                <a:spcPts val="0"/>
              </a:spcBef>
              <a:spcAft>
                <a:spcPts val="300"/>
              </a:spcAft>
              <a:defRPr sz="1800" b="0">
                <a:solidFill>
                  <a:srgbClr val="0D0D0D"/>
                </a:solidFill>
                <a:latin typeface="Liberation Sans"/>
              </a:defRPr>
            </a:pPr>
            <a:r>
              <a:t>Agrégats et services autorisés</a:t>
            </a:r>
          </a:p>
        </p:txBody>
      </p:sp>
      <p:cxnSp>
        <p:nvCxnSpPr>
          <p:cNvPr id="47" name="Connector 46"/>
          <p:cNvCxnSpPr/>
          <p:nvPr/>
        </p:nvCxnSpPr>
        <p:spPr>
          <a:xfrm>
            <a:off x="1417320" y="5257800"/>
            <a:ext cx="9372600" cy="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828800" y="5303520"/>
            <a:ext cx="8686800" cy="301752"/>
          </a:xfrm>
          <a:prstGeom prst="rect">
            <a:avLst/>
          </a:prstGeom>
          <a:noFill/>
        </p:spPr>
        <p:txBody>
          <a:bodyPr wrap="square" lIns="22860" rIns="22860" tIns="22860" bIns="22860" anchor="ctr">
            <a:spAutoFit/>
          </a:bodyPr>
          <a:lstStyle/>
          <a:p>
            <a:pPr algn="ctr">
              <a:spcBef>
                <a:spcPts val="0"/>
              </a:spcBef>
              <a:spcAft>
                <a:spcPts val="300"/>
              </a:spcAft>
              <a:defRPr sz="1700" b="1">
                <a:solidFill>
                  <a:srgbClr val="238C33"/>
                </a:solidFill>
                <a:latin typeface="Liberation Sans"/>
              </a:defRPr>
            </a:pPr>
            <a:r>
              <a:t>Identités  •  Contrôles  •  Observabilité  •  Responsabilités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B5</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Décrire chaque flèche comme un contrat</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Nommer les données qui circulent révèle les risques cachés derrière une flèche.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J2-049</a:t>
            </a:r>
          </a:p>
        </p:txBody>
      </p:sp>
      <p:sp>
        <p:nvSpPr>
          <p:cNvPr id="12" name="Rectangle 11"/>
          <p:cNvSpPr/>
          <p:nvPr/>
        </p:nvSpPr>
        <p:spPr>
          <a:xfrm>
            <a:off x="594360" y="1792224"/>
            <a:ext cx="3410071" cy="685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1833372"/>
            <a:ext cx="3190615" cy="603504"/>
          </a:xfrm>
          <a:prstGeom prst="rect">
            <a:avLst/>
          </a:prstGeom>
          <a:noFill/>
        </p:spPr>
        <p:txBody>
          <a:bodyPr wrap="square" lIns="22860" rIns="22860" tIns="22860" bIns="22860" anchor="ctr">
            <a:spAutoFit/>
          </a:bodyPr>
          <a:lstStyle/>
          <a:p>
            <a:pPr>
              <a:spcBef>
                <a:spcPts val="0"/>
              </a:spcBef>
              <a:spcAft>
                <a:spcPts val="300"/>
              </a:spcAft>
              <a:defRPr sz="1800" b="1">
                <a:solidFill>
                  <a:srgbClr val="FFFFFF"/>
                </a:solidFill>
                <a:latin typeface="Liberation Sans"/>
              </a:defRPr>
            </a:pPr>
            <a:r>
              <a:t>Flux</a:t>
            </a:r>
          </a:p>
        </p:txBody>
      </p:sp>
      <p:sp>
        <p:nvSpPr>
          <p:cNvPr id="14" name="Rectangle 13"/>
          <p:cNvSpPr/>
          <p:nvPr/>
        </p:nvSpPr>
        <p:spPr>
          <a:xfrm>
            <a:off x="4004431" y="1792224"/>
            <a:ext cx="2530053" cy="685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159" y="1833372"/>
            <a:ext cx="2310597" cy="603504"/>
          </a:xfrm>
          <a:prstGeom prst="rect">
            <a:avLst/>
          </a:prstGeom>
          <a:noFill/>
        </p:spPr>
        <p:txBody>
          <a:bodyPr wrap="square" lIns="22860" rIns="22860" tIns="22860" bIns="22860" anchor="ctr">
            <a:spAutoFit/>
          </a:bodyPr>
          <a:lstStyle/>
          <a:p>
            <a:pPr>
              <a:spcBef>
                <a:spcPts val="0"/>
              </a:spcBef>
              <a:spcAft>
                <a:spcPts val="300"/>
              </a:spcAft>
              <a:defRPr sz="1800" b="1">
                <a:solidFill>
                  <a:srgbClr val="FFFFFF"/>
                </a:solidFill>
                <a:latin typeface="Liberation Sans"/>
              </a:defRPr>
            </a:pPr>
            <a:r>
              <a:t>Fréquence</a:t>
            </a:r>
          </a:p>
        </p:txBody>
      </p:sp>
      <p:sp>
        <p:nvSpPr>
          <p:cNvPr id="16" name="Rectangle 15"/>
          <p:cNvSpPr/>
          <p:nvPr/>
        </p:nvSpPr>
        <p:spPr>
          <a:xfrm>
            <a:off x="6534485" y="1792224"/>
            <a:ext cx="2530053" cy="685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44213" y="1833372"/>
            <a:ext cx="2310597" cy="603504"/>
          </a:xfrm>
          <a:prstGeom prst="rect">
            <a:avLst/>
          </a:prstGeom>
          <a:noFill/>
        </p:spPr>
        <p:txBody>
          <a:bodyPr wrap="square" lIns="22860" rIns="22860" tIns="22860" bIns="22860" anchor="ctr">
            <a:spAutoFit/>
          </a:bodyPr>
          <a:lstStyle/>
          <a:p>
            <a:pPr>
              <a:spcBef>
                <a:spcPts val="0"/>
              </a:spcBef>
              <a:spcAft>
                <a:spcPts val="300"/>
              </a:spcAft>
              <a:defRPr sz="1800" b="1">
                <a:solidFill>
                  <a:srgbClr val="FFFFFF"/>
                </a:solidFill>
                <a:latin typeface="Liberation Sans"/>
              </a:defRPr>
            </a:pPr>
            <a:r>
              <a:t>Donnée minimale</a:t>
            </a:r>
          </a:p>
        </p:txBody>
      </p:sp>
      <p:sp>
        <p:nvSpPr>
          <p:cNvPr id="18" name="Rectangle 17"/>
          <p:cNvSpPr/>
          <p:nvPr/>
        </p:nvSpPr>
        <p:spPr>
          <a:xfrm>
            <a:off x="9064538" y="1792224"/>
            <a:ext cx="2530053" cy="685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74266" y="1833372"/>
            <a:ext cx="2310597" cy="603504"/>
          </a:xfrm>
          <a:prstGeom prst="rect">
            <a:avLst/>
          </a:prstGeom>
          <a:noFill/>
        </p:spPr>
        <p:txBody>
          <a:bodyPr wrap="square" lIns="22860" rIns="22860" tIns="22860" bIns="22860" anchor="ctr">
            <a:spAutoFit/>
          </a:bodyPr>
          <a:lstStyle/>
          <a:p>
            <a:pPr>
              <a:spcBef>
                <a:spcPts val="0"/>
              </a:spcBef>
              <a:spcAft>
                <a:spcPts val="300"/>
              </a:spcAft>
              <a:defRPr sz="1800" b="1">
                <a:solidFill>
                  <a:srgbClr val="FFFFFF"/>
                </a:solidFill>
                <a:latin typeface="Liberation Sans"/>
              </a:defRPr>
            </a:pPr>
            <a:r>
              <a:t>Responsable</a:t>
            </a:r>
          </a:p>
        </p:txBody>
      </p:sp>
      <p:cxnSp>
        <p:nvCxnSpPr>
          <p:cNvPr id="20" name="Connector 19"/>
          <p:cNvCxnSpPr/>
          <p:nvPr/>
        </p:nvCxnSpPr>
        <p:spPr>
          <a:xfrm>
            <a:off x="594360" y="24780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94360" y="2478024"/>
            <a:ext cx="3410071"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 y="2519172"/>
            <a:ext cx="3190615"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Transporteur → Novalia</a:t>
            </a:r>
          </a:p>
        </p:txBody>
      </p:sp>
      <p:sp>
        <p:nvSpPr>
          <p:cNvPr id="23" name="Rectangle 22"/>
          <p:cNvSpPr/>
          <p:nvPr/>
        </p:nvSpPr>
        <p:spPr>
          <a:xfrm>
            <a:off x="4004431" y="2478024"/>
            <a:ext cx="2530053"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159" y="25191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Événement</a:t>
            </a:r>
          </a:p>
        </p:txBody>
      </p:sp>
      <p:sp>
        <p:nvSpPr>
          <p:cNvPr id="25" name="Rectangle 24"/>
          <p:cNvSpPr/>
          <p:nvPr/>
        </p:nvSpPr>
        <p:spPr>
          <a:xfrm>
            <a:off x="6534485" y="2478024"/>
            <a:ext cx="2530053"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44213" y="25191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Statut et identifiant utile</a:t>
            </a:r>
          </a:p>
        </p:txBody>
      </p:sp>
      <p:sp>
        <p:nvSpPr>
          <p:cNvPr id="27" name="Rectangle 26"/>
          <p:cNvSpPr/>
          <p:nvPr/>
        </p:nvSpPr>
        <p:spPr>
          <a:xfrm>
            <a:off x="9064538" y="2478024"/>
            <a:ext cx="2530053"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74266" y="25191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Service logistique</a:t>
            </a:r>
          </a:p>
        </p:txBody>
      </p:sp>
      <p:cxnSp>
        <p:nvCxnSpPr>
          <p:cNvPr id="29" name="Connector 28"/>
          <p:cNvCxnSpPr/>
          <p:nvPr/>
        </p:nvCxnSpPr>
        <p:spPr>
          <a:xfrm>
            <a:off x="594360" y="31638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94360" y="3163824"/>
            <a:ext cx="3410071"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4088" y="3204972"/>
            <a:ext cx="3190615"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Météo → Novalia</a:t>
            </a:r>
          </a:p>
        </p:txBody>
      </p:sp>
      <p:sp>
        <p:nvSpPr>
          <p:cNvPr id="32" name="Rectangle 31"/>
          <p:cNvSpPr/>
          <p:nvPr/>
        </p:nvSpPr>
        <p:spPr>
          <a:xfrm>
            <a:off x="4004431" y="3163824"/>
            <a:ext cx="2530053"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14159" y="32049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Périodique</a:t>
            </a:r>
          </a:p>
        </p:txBody>
      </p:sp>
      <p:sp>
        <p:nvSpPr>
          <p:cNvPr id="34" name="Rectangle 33"/>
          <p:cNvSpPr/>
          <p:nvPr/>
        </p:nvSpPr>
        <p:spPr>
          <a:xfrm>
            <a:off x="6534485" y="3163824"/>
            <a:ext cx="2530053"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44213" y="32049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Zone, prévision, date</a:t>
            </a:r>
          </a:p>
        </p:txBody>
      </p:sp>
      <p:sp>
        <p:nvSpPr>
          <p:cNvPr id="36" name="Rectangle 35"/>
          <p:cNvSpPr/>
          <p:nvPr/>
        </p:nvSpPr>
        <p:spPr>
          <a:xfrm>
            <a:off x="9064538" y="3163824"/>
            <a:ext cx="2530053"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74266" y="32049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Propriétaire du flux</a:t>
            </a:r>
          </a:p>
        </p:txBody>
      </p:sp>
      <p:cxnSp>
        <p:nvCxnSpPr>
          <p:cNvPr id="38" name="Connector 37"/>
          <p:cNvCxnSpPr/>
          <p:nvPr/>
        </p:nvCxnSpPr>
        <p:spPr>
          <a:xfrm>
            <a:off x="594360" y="38496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94360" y="3849624"/>
            <a:ext cx="3410071"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4088" y="3890772"/>
            <a:ext cx="3190615"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Novalia → fournisseur</a:t>
            </a:r>
          </a:p>
        </p:txBody>
      </p:sp>
      <p:sp>
        <p:nvSpPr>
          <p:cNvPr id="41" name="Rectangle 40"/>
          <p:cNvSpPr/>
          <p:nvPr/>
        </p:nvSpPr>
        <p:spPr>
          <a:xfrm>
            <a:off x="4004431" y="3849624"/>
            <a:ext cx="2530053"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14159" y="38907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Quotidien</a:t>
            </a:r>
          </a:p>
        </p:txBody>
      </p:sp>
      <p:sp>
        <p:nvSpPr>
          <p:cNvPr id="43" name="Rectangle 42"/>
          <p:cNvSpPr/>
          <p:nvPr/>
        </p:nvSpPr>
        <p:spPr>
          <a:xfrm>
            <a:off x="6534485" y="3849624"/>
            <a:ext cx="2530053"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44213" y="38907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Produit, semaine, quantité</a:t>
            </a:r>
          </a:p>
        </p:txBody>
      </p:sp>
      <p:sp>
        <p:nvSpPr>
          <p:cNvPr id="45" name="Rectangle 44"/>
          <p:cNvSpPr/>
          <p:nvPr/>
        </p:nvSpPr>
        <p:spPr>
          <a:xfrm>
            <a:off x="9064538" y="3849624"/>
            <a:ext cx="2530053"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74266" y="38907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Achats / SI</a:t>
            </a:r>
          </a:p>
        </p:txBody>
      </p:sp>
      <p:cxnSp>
        <p:nvCxnSpPr>
          <p:cNvPr id="47" name="Connector 46"/>
          <p:cNvCxnSpPr/>
          <p:nvPr/>
        </p:nvCxnSpPr>
        <p:spPr>
          <a:xfrm>
            <a:off x="594360" y="45354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594360" y="4535424"/>
            <a:ext cx="3410071"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04088" y="4576572"/>
            <a:ext cx="3190615"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Modèle → application</a:t>
            </a:r>
          </a:p>
        </p:txBody>
      </p:sp>
      <p:sp>
        <p:nvSpPr>
          <p:cNvPr id="50" name="Rectangle 49"/>
          <p:cNvSpPr/>
          <p:nvPr/>
        </p:nvSpPr>
        <p:spPr>
          <a:xfrm>
            <a:off x="4004431" y="4535424"/>
            <a:ext cx="2530053"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114159" y="45765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Selon besoin</a:t>
            </a:r>
          </a:p>
        </p:txBody>
      </p:sp>
      <p:sp>
        <p:nvSpPr>
          <p:cNvPr id="52" name="Rectangle 51"/>
          <p:cNvSpPr/>
          <p:nvPr/>
        </p:nvSpPr>
        <p:spPr>
          <a:xfrm>
            <a:off x="6534485" y="4535424"/>
            <a:ext cx="2530053"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44213" y="45765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Score, date, version</a:t>
            </a:r>
          </a:p>
        </p:txBody>
      </p:sp>
      <p:sp>
        <p:nvSpPr>
          <p:cNvPr id="54" name="Rectangle 53"/>
          <p:cNvSpPr/>
          <p:nvPr/>
        </p:nvSpPr>
        <p:spPr>
          <a:xfrm>
            <a:off x="9064538" y="4535424"/>
            <a:ext cx="2530053"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74266" y="45765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Propriétaire du service</a:t>
            </a:r>
          </a:p>
        </p:txBody>
      </p:sp>
      <p:cxnSp>
        <p:nvCxnSpPr>
          <p:cNvPr id="56" name="Connector 55"/>
          <p:cNvCxnSpPr/>
          <p:nvPr/>
        </p:nvCxnSpPr>
        <p:spPr>
          <a:xfrm>
            <a:off x="594360" y="52212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B5</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2900" b="1">
                <a:solidFill>
                  <a:srgbClr val="132443"/>
                </a:solidFill>
                <a:latin typeface="Liberation Sans"/>
              </a:defRPr>
            </a:pPr>
            <a:r>
              <a:t>Revue croisée : suivre un événement de bout en bout</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Une architecture se vérifie en racontant un parcours précis.</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J2-050</a:t>
            </a:r>
          </a:p>
        </p:txBody>
      </p:sp>
      <p:sp>
        <p:nvSpPr>
          <p:cNvPr id="12" name="Rounded Rectangle 11"/>
          <p:cNvSpPr/>
          <p:nvPr/>
        </p:nvSpPr>
        <p:spPr>
          <a:xfrm>
            <a:off x="594360"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01</a:t>
            </a:r>
          </a:p>
        </p:txBody>
      </p:sp>
      <p:sp>
        <p:nvSpPr>
          <p:cNvPr id="15" name="TextBox 14"/>
          <p:cNvSpPr txBox="1"/>
          <p:nvPr/>
        </p:nvSpPr>
        <p:spPr>
          <a:xfrm>
            <a:off x="768096"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01</a:t>
            </a:r>
          </a:p>
        </p:txBody>
      </p:sp>
      <p:sp>
        <p:nvSpPr>
          <p:cNvPr id="16" name="TextBox 15"/>
          <p:cNvSpPr txBox="1"/>
          <p:nvPr/>
        </p:nvSpPr>
        <p:spPr>
          <a:xfrm>
            <a:off x="758952" y="3300984"/>
            <a:ext cx="1644091" cy="1508760"/>
          </a:xfrm>
          <a:prstGeom prst="rect">
            <a:avLst/>
          </a:prstGeom>
          <a:noFill/>
        </p:spPr>
        <p:txBody>
          <a:bodyPr wrap="square" lIns="22860" rIns="22860" tIns="22860" bIns="22860" anchor="t">
            <a:spAutoFit/>
          </a:bodyPr>
          <a:lstStyle/>
          <a:p>
            <a:pPr>
              <a:spcBef>
                <a:spcPts val="0"/>
              </a:spcBef>
              <a:spcAft>
                <a:spcPts val="300"/>
              </a:spcAft>
              <a:defRPr sz="1850" b="0">
                <a:solidFill>
                  <a:srgbClr val="0D0D0D"/>
                </a:solidFill>
                <a:latin typeface="Liberation Sans"/>
              </a:defRPr>
            </a:pPr>
            <a:r>
              <a:t>Un transporteur signale un retard.</a:t>
            </a:r>
          </a:p>
        </p:txBody>
      </p:sp>
      <p:sp>
        <p:nvSpPr>
          <p:cNvPr id="17" name="Chevron 16"/>
          <p:cNvSpPr/>
          <p:nvPr/>
        </p:nvSpPr>
        <p:spPr>
          <a:xfrm>
            <a:off x="2617927"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851099"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851099"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24835"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02</a:t>
            </a:r>
          </a:p>
        </p:txBody>
      </p:sp>
      <p:sp>
        <p:nvSpPr>
          <p:cNvPr id="21" name="TextBox 20"/>
          <p:cNvSpPr txBox="1"/>
          <p:nvPr/>
        </p:nvSpPr>
        <p:spPr>
          <a:xfrm>
            <a:off x="3024835"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02</a:t>
            </a:r>
          </a:p>
        </p:txBody>
      </p:sp>
      <p:sp>
        <p:nvSpPr>
          <p:cNvPr id="22" name="TextBox 21"/>
          <p:cNvSpPr txBox="1"/>
          <p:nvPr/>
        </p:nvSpPr>
        <p:spPr>
          <a:xfrm>
            <a:off x="3015691" y="3300984"/>
            <a:ext cx="1644091" cy="1508760"/>
          </a:xfrm>
          <a:prstGeom prst="rect">
            <a:avLst/>
          </a:prstGeom>
          <a:noFill/>
        </p:spPr>
        <p:txBody>
          <a:bodyPr wrap="square" lIns="22860" rIns="22860" tIns="22860" bIns="22860" anchor="t">
            <a:spAutoFit/>
          </a:bodyPr>
          <a:lstStyle/>
          <a:p>
            <a:pPr>
              <a:spcBef>
                <a:spcPts val="0"/>
              </a:spcBef>
              <a:spcAft>
                <a:spcPts val="300"/>
              </a:spcAft>
              <a:defRPr sz="1650" b="0">
                <a:solidFill>
                  <a:srgbClr val="0D0D0D"/>
                </a:solidFill>
                <a:latin typeface="Liberation Sans"/>
              </a:defRPr>
            </a:pPr>
            <a:r>
              <a:t>Novalia valide le schéma et l’autorisation.</a:t>
            </a:r>
          </a:p>
        </p:txBody>
      </p:sp>
      <p:sp>
        <p:nvSpPr>
          <p:cNvPr id="23" name="Chevron 22"/>
          <p:cNvSpPr/>
          <p:nvPr/>
        </p:nvSpPr>
        <p:spPr>
          <a:xfrm>
            <a:off x="4874666"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107838"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7838"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81574"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03</a:t>
            </a:r>
          </a:p>
        </p:txBody>
      </p:sp>
      <p:sp>
        <p:nvSpPr>
          <p:cNvPr id="27" name="TextBox 26"/>
          <p:cNvSpPr txBox="1"/>
          <p:nvPr/>
        </p:nvSpPr>
        <p:spPr>
          <a:xfrm>
            <a:off x="5281574"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03</a:t>
            </a:r>
          </a:p>
        </p:txBody>
      </p:sp>
      <p:sp>
        <p:nvSpPr>
          <p:cNvPr id="28" name="TextBox 27"/>
          <p:cNvSpPr txBox="1"/>
          <p:nvPr/>
        </p:nvSpPr>
        <p:spPr>
          <a:xfrm>
            <a:off x="5272430" y="3300984"/>
            <a:ext cx="1644091" cy="1508760"/>
          </a:xfrm>
          <a:prstGeom prst="rect">
            <a:avLst/>
          </a:prstGeom>
          <a:noFill/>
        </p:spPr>
        <p:txBody>
          <a:bodyPr wrap="square" lIns="22860" rIns="22860" tIns="22860" bIns="22860" anchor="t">
            <a:spAutoFit/>
          </a:bodyPr>
          <a:lstStyle/>
          <a:p>
            <a:pPr>
              <a:spcBef>
                <a:spcPts val="0"/>
              </a:spcBef>
              <a:spcAft>
                <a:spcPts val="300"/>
              </a:spcAft>
              <a:defRPr sz="1900" b="0">
                <a:solidFill>
                  <a:srgbClr val="0D0D0D"/>
                </a:solidFill>
                <a:latin typeface="Liberation Sans"/>
              </a:defRPr>
            </a:pPr>
            <a:r>
              <a:t>Les données utiles sont mises à jour.</a:t>
            </a:r>
          </a:p>
        </p:txBody>
      </p:sp>
      <p:sp>
        <p:nvSpPr>
          <p:cNvPr id="29" name="Chevron 28"/>
          <p:cNvSpPr/>
          <p:nvPr/>
        </p:nvSpPr>
        <p:spPr>
          <a:xfrm>
            <a:off x="7131405"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364577"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4577"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38313"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04</a:t>
            </a:r>
          </a:p>
        </p:txBody>
      </p:sp>
      <p:sp>
        <p:nvSpPr>
          <p:cNvPr id="33" name="TextBox 32"/>
          <p:cNvSpPr txBox="1"/>
          <p:nvPr/>
        </p:nvSpPr>
        <p:spPr>
          <a:xfrm>
            <a:off x="7538313"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04</a:t>
            </a:r>
          </a:p>
        </p:txBody>
      </p:sp>
      <p:sp>
        <p:nvSpPr>
          <p:cNvPr id="34" name="TextBox 33"/>
          <p:cNvSpPr txBox="1"/>
          <p:nvPr/>
        </p:nvSpPr>
        <p:spPr>
          <a:xfrm>
            <a:off x="7529169" y="3300984"/>
            <a:ext cx="1644091" cy="1508760"/>
          </a:xfrm>
          <a:prstGeom prst="rect">
            <a:avLst/>
          </a:prstGeom>
          <a:noFill/>
        </p:spPr>
        <p:txBody>
          <a:bodyPr wrap="square" lIns="22860" rIns="22860" tIns="22860" bIns="22860" anchor="t">
            <a:spAutoFit/>
          </a:bodyPr>
          <a:lstStyle/>
          <a:p>
            <a:pPr>
              <a:spcBef>
                <a:spcPts val="0"/>
              </a:spcBef>
              <a:spcAft>
                <a:spcPts val="300"/>
              </a:spcAft>
              <a:defRPr sz="1850" b="0">
                <a:solidFill>
                  <a:srgbClr val="0D0D0D"/>
                </a:solidFill>
                <a:latin typeface="Liberation Sans"/>
              </a:defRPr>
            </a:pPr>
            <a:r>
              <a:t>Une estimation est recalculée si nécessaire.</a:t>
            </a:r>
          </a:p>
        </p:txBody>
      </p:sp>
      <p:sp>
        <p:nvSpPr>
          <p:cNvPr id="35" name="Chevron 34"/>
          <p:cNvSpPr/>
          <p:nvPr/>
        </p:nvSpPr>
        <p:spPr>
          <a:xfrm>
            <a:off x="9388144"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621316"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21316"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95052"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05</a:t>
            </a:r>
          </a:p>
        </p:txBody>
      </p:sp>
      <p:sp>
        <p:nvSpPr>
          <p:cNvPr id="39" name="TextBox 38"/>
          <p:cNvSpPr txBox="1"/>
          <p:nvPr/>
        </p:nvSpPr>
        <p:spPr>
          <a:xfrm>
            <a:off x="9795052"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05</a:t>
            </a:r>
          </a:p>
        </p:txBody>
      </p:sp>
      <p:sp>
        <p:nvSpPr>
          <p:cNvPr id="40" name="TextBox 39"/>
          <p:cNvSpPr txBox="1"/>
          <p:nvPr/>
        </p:nvSpPr>
        <p:spPr>
          <a:xfrm>
            <a:off x="9785908" y="3300984"/>
            <a:ext cx="1644091" cy="1508760"/>
          </a:xfrm>
          <a:prstGeom prst="rect">
            <a:avLst/>
          </a:prstGeom>
          <a:noFill/>
        </p:spPr>
        <p:txBody>
          <a:bodyPr wrap="square" lIns="22860" rIns="22860" tIns="22860" bIns="22860" anchor="t">
            <a:spAutoFit/>
          </a:bodyPr>
          <a:lstStyle/>
          <a:p>
            <a:pPr>
              <a:spcBef>
                <a:spcPts val="0"/>
              </a:spcBef>
              <a:spcAft>
                <a:spcPts val="300"/>
              </a:spcAft>
              <a:defRPr sz="1850" b="0">
                <a:solidFill>
                  <a:srgbClr val="0D0D0D"/>
                </a:solidFill>
                <a:latin typeface="Liberation Sans"/>
              </a:defRPr>
            </a:pPr>
            <a:r>
              <a:t>Une personne reçoit un dossier exploitable.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B5</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250" b="1">
                <a:solidFill>
                  <a:srgbClr val="132443"/>
                </a:solidFill>
                <a:latin typeface="Liberation Sans"/>
              </a:defRPr>
            </a:pPr>
            <a:r>
              <a:t>Une API expose un service, pas un mot de passe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Authentifier une identité et autoriser une action sont deux questions différentes.</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S24</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J2-051</a:t>
            </a:r>
          </a:p>
        </p:txBody>
      </p:sp>
      <p:sp>
        <p:nvSpPr>
          <p:cNvPr id="12" name="Rounded Rectangle 11"/>
          <p:cNvSpPr/>
          <p:nvPr/>
        </p:nvSpPr>
        <p:spPr>
          <a:xfrm>
            <a:off x="594360"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01</a:t>
            </a:r>
          </a:p>
        </p:txBody>
      </p:sp>
      <p:sp>
        <p:nvSpPr>
          <p:cNvPr id="15" name="TextBox 14"/>
          <p:cNvSpPr txBox="1"/>
          <p:nvPr/>
        </p:nvSpPr>
        <p:spPr>
          <a:xfrm>
            <a:off x="768096" y="2514600"/>
            <a:ext cx="1625803" cy="704088"/>
          </a:xfrm>
          <a:prstGeom prst="rect">
            <a:avLst/>
          </a:prstGeom>
          <a:noFill/>
        </p:spPr>
        <p:txBody>
          <a:bodyPr wrap="square" lIns="22860" rIns="22860" tIns="22860" bIns="22860" anchor="ctr">
            <a:spAutoFit/>
          </a:bodyPr>
          <a:lstStyle/>
          <a:p>
            <a:pPr>
              <a:spcBef>
                <a:spcPts val="0"/>
              </a:spcBef>
              <a:spcAft>
                <a:spcPts val="300"/>
              </a:spcAft>
              <a:defRPr sz="2050" b="1">
                <a:solidFill>
                  <a:srgbClr val="23468C"/>
                </a:solidFill>
                <a:latin typeface="Liberation Sans"/>
              </a:defRPr>
            </a:pPr>
            <a:r>
              <a:t>Application</a:t>
            </a:r>
          </a:p>
        </p:txBody>
      </p:sp>
      <p:sp>
        <p:nvSpPr>
          <p:cNvPr id="16" name="TextBox 15"/>
          <p:cNvSpPr txBox="1"/>
          <p:nvPr/>
        </p:nvSpPr>
        <p:spPr>
          <a:xfrm>
            <a:off x="758952"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Demande une capacité</a:t>
            </a:r>
          </a:p>
        </p:txBody>
      </p:sp>
      <p:sp>
        <p:nvSpPr>
          <p:cNvPr id="17" name="Chevron 16"/>
          <p:cNvSpPr/>
          <p:nvPr/>
        </p:nvSpPr>
        <p:spPr>
          <a:xfrm>
            <a:off x="2617927"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851099"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851099"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24835"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02</a:t>
            </a:r>
          </a:p>
        </p:txBody>
      </p:sp>
      <p:sp>
        <p:nvSpPr>
          <p:cNvPr id="21" name="TextBox 20"/>
          <p:cNvSpPr txBox="1"/>
          <p:nvPr/>
        </p:nvSpPr>
        <p:spPr>
          <a:xfrm>
            <a:off x="3024835" y="2514600"/>
            <a:ext cx="1625803" cy="704088"/>
          </a:xfrm>
          <a:prstGeom prst="rect">
            <a:avLst/>
          </a:prstGeom>
          <a:noFill/>
        </p:spPr>
        <p:txBody>
          <a:bodyPr wrap="square" lIns="22860" rIns="22860" tIns="22860" bIns="22860" anchor="ctr">
            <a:spAutoFit/>
          </a:bodyPr>
          <a:lstStyle/>
          <a:p>
            <a:pPr>
              <a:spcBef>
                <a:spcPts val="0"/>
              </a:spcBef>
              <a:spcAft>
                <a:spcPts val="300"/>
              </a:spcAft>
              <a:defRPr sz="1850" b="1">
                <a:solidFill>
                  <a:srgbClr val="238C33"/>
                </a:solidFill>
                <a:latin typeface="Liberation Sans"/>
              </a:defRPr>
            </a:pPr>
            <a:r>
              <a:t>Autorisation</a:t>
            </a:r>
          </a:p>
        </p:txBody>
      </p:sp>
      <p:sp>
        <p:nvSpPr>
          <p:cNvPr id="22" name="TextBox 21"/>
          <p:cNvSpPr txBox="1"/>
          <p:nvPr/>
        </p:nvSpPr>
        <p:spPr>
          <a:xfrm>
            <a:off x="3015691"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Reçoit des droits limités</a:t>
            </a:r>
          </a:p>
        </p:txBody>
      </p:sp>
      <p:sp>
        <p:nvSpPr>
          <p:cNvPr id="23" name="Chevron 22"/>
          <p:cNvSpPr/>
          <p:nvPr/>
        </p:nvSpPr>
        <p:spPr>
          <a:xfrm>
            <a:off x="4874666"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107838"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7838"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81574"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03</a:t>
            </a:r>
          </a:p>
        </p:txBody>
      </p:sp>
      <p:sp>
        <p:nvSpPr>
          <p:cNvPr id="27" name="TextBox 26"/>
          <p:cNvSpPr txBox="1"/>
          <p:nvPr/>
        </p:nvSpPr>
        <p:spPr>
          <a:xfrm>
            <a:off x="5281574"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Passerelle</a:t>
            </a:r>
          </a:p>
        </p:txBody>
      </p:sp>
      <p:sp>
        <p:nvSpPr>
          <p:cNvPr id="28" name="TextBox 27"/>
          <p:cNvSpPr txBox="1"/>
          <p:nvPr/>
        </p:nvSpPr>
        <p:spPr>
          <a:xfrm>
            <a:off x="5272430"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Contrôle accès et volume</a:t>
            </a:r>
          </a:p>
        </p:txBody>
      </p:sp>
      <p:sp>
        <p:nvSpPr>
          <p:cNvPr id="29" name="Chevron 28"/>
          <p:cNvSpPr/>
          <p:nvPr/>
        </p:nvSpPr>
        <p:spPr>
          <a:xfrm>
            <a:off x="7131405"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364577"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4577"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38313"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04</a:t>
            </a:r>
          </a:p>
        </p:txBody>
      </p:sp>
      <p:sp>
        <p:nvSpPr>
          <p:cNvPr id="33" name="TextBox 32"/>
          <p:cNvSpPr txBox="1"/>
          <p:nvPr/>
        </p:nvSpPr>
        <p:spPr>
          <a:xfrm>
            <a:off x="7538313"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Service</a:t>
            </a:r>
          </a:p>
        </p:txBody>
      </p:sp>
      <p:sp>
        <p:nvSpPr>
          <p:cNvPr id="34" name="TextBox 33"/>
          <p:cNvSpPr txBox="1"/>
          <p:nvPr/>
        </p:nvSpPr>
        <p:spPr>
          <a:xfrm>
            <a:off x="7529169"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Vérifie le périmètre</a:t>
            </a:r>
          </a:p>
        </p:txBody>
      </p:sp>
      <p:sp>
        <p:nvSpPr>
          <p:cNvPr id="35" name="Chevron 34"/>
          <p:cNvSpPr/>
          <p:nvPr/>
        </p:nvSpPr>
        <p:spPr>
          <a:xfrm>
            <a:off x="9388144"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621316"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21316"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95052"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05</a:t>
            </a:r>
          </a:p>
        </p:txBody>
      </p:sp>
      <p:sp>
        <p:nvSpPr>
          <p:cNvPr id="39" name="TextBox 38"/>
          <p:cNvSpPr txBox="1"/>
          <p:nvPr/>
        </p:nvSpPr>
        <p:spPr>
          <a:xfrm>
            <a:off x="9795052"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Réponse</a:t>
            </a:r>
          </a:p>
        </p:txBody>
      </p:sp>
      <p:sp>
        <p:nvSpPr>
          <p:cNvPr id="40" name="TextBox 39"/>
          <p:cNvSpPr txBox="1"/>
          <p:nvPr/>
        </p:nvSpPr>
        <p:spPr>
          <a:xfrm>
            <a:off x="9785908"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Retourne le minimum utile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B5</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John Deere : un exemple d’écosystème contrôlé</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Micro-cas d’API documenté, pas preuve d’un bénéfice ML.</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S14 · S24</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J2-052</a:t>
            </a:r>
          </a:p>
        </p:txBody>
      </p:sp>
      <p:sp>
        <p:nvSpPr>
          <p:cNvPr id="12" name="Rounded Rectangle 11"/>
          <p:cNvSpPr/>
          <p:nvPr/>
        </p:nvSpPr>
        <p:spPr>
          <a:xfrm>
            <a:off x="594360"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Principe</a:t>
            </a:r>
          </a:p>
        </p:txBody>
      </p:sp>
      <p:sp>
        <p:nvSpPr>
          <p:cNvPr id="15" name="TextBox 14"/>
          <p:cNvSpPr txBox="1"/>
          <p:nvPr/>
        </p:nvSpPr>
        <p:spPr>
          <a:xfrm>
            <a:off x="758952"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Des applications accèdent à des services documentés.</a:t>
            </a:r>
          </a:p>
        </p:txBody>
      </p:sp>
      <p:sp>
        <p:nvSpPr>
          <p:cNvPr id="16" name="Rounded Rectangle 15"/>
          <p:cNvSpPr/>
          <p:nvPr/>
        </p:nvSpPr>
        <p:spPr>
          <a:xfrm>
            <a:off x="6195059"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Mécanisme</a:t>
            </a:r>
          </a:p>
        </p:txBody>
      </p:sp>
      <p:sp>
        <p:nvSpPr>
          <p:cNvPr id="19" name="TextBox 18"/>
          <p:cNvSpPr txBox="1"/>
          <p:nvPr/>
        </p:nvSpPr>
        <p:spPr>
          <a:xfrm>
            <a:off x="6359651"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API, clés d’application et OAuth 2 selon le flux.</a:t>
            </a:r>
          </a:p>
        </p:txBody>
      </p:sp>
      <p:sp>
        <p:nvSpPr>
          <p:cNvPr id="20" name="Rounded Rectangle 19"/>
          <p:cNvSpPr/>
          <p:nvPr/>
        </p:nvSpPr>
        <p:spPr>
          <a:xfrm>
            <a:off x="594360"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Contrôle</a:t>
            </a:r>
          </a:p>
        </p:txBody>
      </p:sp>
      <p:sp>
        <p:nvSpPr>
          <p:cNvPr id="23" name="TextBox 22"/>
          <p:cNvSpPr txBox="1"/>
          <p:nvPr/>
        </p:nvSpPr>
        <p:spPr>
          <a:xfrm>
            <a:off x="758952"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Périmètre d’autorisation et révocation.</a:t>
            </a:r>
          </a:p>
        </p:txBody>
      </p:sp>
      <p:sp>
        <p:nvSpPr>
          <p:cNvPr id="24" name="Rounded Rectangle 23"/>
          <p:cNvSpPr/>
          <p:nvPr/>
        </p:nvSpPr>
        <p:spPr>
          <a:xfrm>
            <a:off x="6195059"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Leçon</a:t>
            </a:r>
          </a:p>
        </p:txBody>
      </p:sp>
      <p:sp>
        <p:nvSpPr>
          <p:cNvPr id="27" name="TextBox 26"/>
          <p:cNvSpPr txBox="1"/>
          <p:nvPr/>
        </p:nvSpPr>
        <p:spPr>
          <a:xfrm>
            <a:off x="6359651"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L’ouverture utile peut rester strictement limitée.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B5</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La partie visible d’une API est la plus petite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 Nous avons une API » ne signifie pas « nous maîtrisons l’échange ».</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S22 · S24</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J2-053</a:t>
            </a:r>
          </a:p>
        </p:txBody>
      </p:sp>
      <p:sp>
        <p:nvSpPr>
          <p:cNvPr id="12" name="Rounded Rectangle 11"/>
          <p:cNvSpPr/>
          <p:nvPr/>
        </p:nvSpPr>
        <p:spPr>
          <a:xfrm>
            <a:off x="594360"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Visible</a:t>
            </a:r>
          </a:p>
        </p:txBody>
      </p:sp>
      <p:sp>
        <p:nvSpPr>
          <p:cNvPr id="15" name="TextBox 14"/>
          <p:cNvSpPr txBox="1"/>
          <p:nvPr/>
        </p:nvSpPr>
        <p:spPr>
          <a:xfrm>
            <a:off x="758952"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Endpoint, requête, réponse</a:t>
            </a:r>
          </a:p>
        </p:txBody>
      </p:sp>
      <p:sp>
        <p:nvSpPr>
          <p:cNvPr id="16" name="Rounded Rectangle 15"/>
          <p:cNvSpPr/>
          <p:nvPr/>
        </p:nvSpPr>
        <p:spPr>
          <a:xfrm>
            <a:off x="6195059"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Invisible</a:t>
            </a:r>
          </a:p>
        </p:txBody>
      </p:sp>
      <p:sp>
        <p:nvSpPr>
          <p:cNvPr id="19" name="TextBox 18"/>
          <p:cNvSpPr txBox="1"/>
          <p:nvPr/>
        </p:nvSpPr>
        <p:spPr>
          <a:xfrm>
            <a:off x="6359651"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Qualité, contrat, droits, sécurité</a:t>
            </a:r>
          </a:p>
        </p:txBody>
      </p:sp>
      <p:sp>
        <p:nvSpPr>
          <p:cNvPr id="20" name="Rounded Rectangle 19"/>
          <p:cNvSpPr/>
          <p:nvPr/>
        </p:nvSpPr>
        <p:spPr>
          <a:xfrm>
            <a:off x="594360"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Exploitation</a:t>
            </a:r>
          </a:p>
        </p:txBody>
      </p:sp>
      <p:sp>
        <p:nvSpPr>
          <p:cNvPr id="23" name="TextBox 22"/>
          <p:cNvSpPr txBox="1"/>
          <p:nvPr/>
        </p:nvSpPr>
        <p:spPr>
          <a:xfrm>
            <a:off x="758952"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Quotas, versions, incidents, réversibilité</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B5</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250" b="1">
                <a:solidFill>
                  <a:srgbClr val="132443"/>
                </a:solidFill>
                <a:latin typeface="Liberation Sans"/>
              </a:defRPr>
            </a:pPr>
            <a:r>
              <a:t>Un contrat de données comporte quatre couches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Un schéma valide n’est pas encore une donnée correcte.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J2-054</a:t>
            </a:r>
          </a:p>
        </p:txBody>
      </p:sp>
      <p:sp>
        <p:nvSpPr>
          <p:cNvPr id="12" name="Rounded Rectangle 11"/>
          <p:cNvSpPr/>
          <p:nvPr/>
        </p:nvSpPr>
        <p:spPr>
          <a:xfrm>
            <a:off x="594360"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Sens</a:t>
            </a:r>
          </a:p>
        </p:txBody>
      </p:sp>
      <p:sp>
        <p:nvSpPr>
          <p:cNvPr id="15" name="TextBox 14"/>
          <p:cNvSpPr txBox="1"/>
          <p:nvPr/>
        </p:nvSpPr>
        <p:spPr>
          <a:xfrm>
            <a:off x="758952"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Définition, unité, finalité, propriétaire.</a:t>
            </a:r>
          </a:p>
        </p:txBody>
      </p:sp>
      <p:sp>
        <p:nvSpPr>
          <p:cNvPr id="16" name="Rounded Rectangle 15"/>
          <p:cNvSpPr/>
          <p:nvPr/>
        </p:nvSpPr>
        <p:spPr>
          <a:xfrm>
            <a:off x="6195059"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Structure</a:t>
            </a:r>
          </a:p>
        </p:txBody>
      </p:sp>
      <p:sp>
        <p:nvSpPr>
          <p:cNvPr id="19" name="TextBox 18"/>
          <p:cNvSpPr txBox="1"/>
          <p:nvPr/>
        </p:nvSpPr>
        <p:spPr>
          <a:xfrm>
            <a:off x="6359651"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Schéma, types, identifiants et versions.</a:t>
            </a:r>
          </a:p>
        </p:txBody>
      </p:sp>
      <p:sp>
        <p:nvSpPr>
          <p:cNvPr id="20" name="Rounded Rectangle 19"/>
          <p:cNvSpPr/>
          <p:nvPr/>
        </p:nvSpPr>
        <p:spPr>
          <a:xfrm>
            <a:off x="594360"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Service</a:t>
            </a:r>
          </a:p>
        </p:txBody>
      </p:sp>
      <p:sp>
        <p:nvSpPr>
          <p:cNvPr id="23" name="TextBox 22"/>
          <p:cNvSpPr txBox="1"/>
          <p:nvPr/>
        </p:nvSpPr>
        <p:spPr>
          <a:xfrm>
            <a:off x="758952"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Fraîcheur, disponibilité, quotas et incidents.</a:t>
            </a:r>
          </a:p>
        </p:txBody>
      </p:sp>
      <p:sp>
        <p:nvSpPr>
          <p:cNvPr id="24" name="Rounded Rectangle 23"/>
          <p:cNvSpPr/>
          <p:nvPr/>
        </p:nvSpPr>
        <p:spPr>
          <a:xfrm>
            <a:off x="6195059"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Droits</a:t>
            </a:r>
          </a:p>
        </p:txBody>
      </p:sp>
      <p:sp>
        <p:nvSpPr>
          <p:cNvPr id="27" name="TextBox 26"/>
          <p:cNvSpPr txBox="1"/>
          <p:nvPr/>
        </p:nvSpPr>
        <p:spPr>
          <a:xfrm>
            <a:off x="6359651"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Accès, conservation, réutilisation et sortie.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B5</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Data Act et gouvernance du partage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Sensibilisation au 14 septembre 2026, à faire qualifier selon le cas réel.</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S22 · S23</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J2-055</a:t>
            </a:r>
          </a:p>
        </p:txBody>
      </p:sp>
      <p:sp>
        <p:nvSpPr>
          <p:cNvPr id="12" name="Rounded Rectangle 11"/>
          <p:cNvSpPr/>
          <p:nvPr/>
        </p:nvSpPr>
        <p:spPr>
          <a:xfrm>
            <a:off x="594360" y="1783080"/>
            <a:ext cx="5399531" cy="38862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38862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Data Act</a:t>
            </a:r>
          </a:p>
        </p:txBody>
      </p:sp>
      <p:sp>
        <p:nvSpPr>
          <p:cNvPr id="15" name="TextBox 14"/>
          <p:cNvSpPr txBox="1"/>
          <p:nvPr/>
        </p:nvSpPr>
        <p:spPr>
          <a:xfrm>
            <a:off x="758952" y="2459736"/>
            <a:ext cx="5070347" cy="306324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Accès et usage de certaines données, notamment de produits connectés.</a:t>
            </a:r>
          </a:p>
          <a:p>
            <a:pPr>
              <a:spcBef>
                <a:spcPts val="0"/>
              </a:spcBef>
              <a:spcAft>
                <a:spcPts val="300"/>
              </a:spcAft>
              <a:defRPr sz="2100" b="0">
                <a:solidFill>
                  <a:srgbClr val="0D0D0D"/>
                </a:solidFill>
                <a:latin typeface="Liberation Sans"/>
              </a:defRPr>
            </a:pPr>
            <a:r>
              <a:t>Application depuis le 12 septembre 2025, selon dispositions.</a:t>
            </a:r>
          </a:p>
        </p:txBody>
      </p:sp>
      <p:sp>
        <p:nvSpPr>
          <p:cNvPr id="16" name="Rounded Rectangle 15"/>
          <p:cNvSpPr/>
          <p:nvPr/>
        </p:nvSpPr>
        <p:spPr>
          <a:xfrm>
            <a:off x="6195059" y="1783080"/>
            <a:ext cx="5399531" cy="38862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38862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Data Governance Act</a:t>
            </a:r>
          </a:p>
        </p:txBody>
      </p:sp>
      <p:sp>
        <p:nvSpPr>
          <p:cNvPr id="19" name="TextBox 18"/>
          <p:cNvSpPr txBox="1"/>
          <p:nvPr/>
        </p:nvSpPr>
        <p:spPr>
          <a:xfrm>
            <a:off x="6359651" y="2459736"/>
            <a:ext cx="5070347" cy="306324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Cadre facilitant certaines formes de partage et de réutilisation.</a:t>
            </a:r>
          </a:p>
          <a:p>
            <a:pPr>
              <a:spcBef>
                <a:spcPts val="0"/>
              </a:spcBef>
              <a:spcAft>
                <a:spcPts val="300"/>
              </a:spcAft>
              <a:defRPr sz="2100" b="0">
                <a:solidFill>
                  <a:srgbClr val="0D0D0D"/>
                </a:solidFill>
                <a:latin typeface="Liberation Sans"/>
              </a:defRPr>
            </a:pPr>
            <a:r>
              <a:t>Ne remplace pas les droits et obligations existants.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B5</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Huit contrôles avant d’exposer un service IA</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La sécurité de l’interface ne dépend pas de la bonne volonté du modèle.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S16 · S24</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J2-056</a:t>
            </a:r>
          </a:p>
        </p:txBody>
      </p:sp>
      <p:sp>
        <p:nvSpPr>
          <p:cNvPr id="12" name="Rounded Rectangle 11"/>
          <p:cNvSpPr/>
          <p:nvPr/>
        </p:nvSpPr>
        <p:spPr>
          <a:xfrm>
            <a:off x="594360" y="1783080"/>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Accès</a:t>
            </a:r>
          </a:p>
        </p:txBody>
      </p:sp>
      <p:sp>
        <p:nvSpPr>
          <p:cNvPr id="15" name="TextBox 14"/>
          <p:cNvSpPr txBox="1"/>
          <p:nvPr/>
        </p:nvSpPr>
        <p:spPr>
          <a:xfrm>
            <a:off x="758952" y="2459736"/>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Identité, droits et isolation.</a:t>
            </a:r>
          </a:p>
        </p:txBody>
      </p:sp>
      <p:sp>
        <p:nvSpPr>
          <p:cNvPr id="16" name="Rounded Rectangle 15"/>
          <p:cNvSpPr/>
          <p:nvPr/>
        </p:nvSpPr>
        <p:spPr>
          <a:xfrm>
            <a:off x="4328160" y="1783080"/>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8160"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1896" y="1920240"/>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Entrées</a:t>
            </a:r>
          </a:p>
        </p:txBody>
      </p:sp>
      <p:sp>
        <p:nvSpPr>
          <p:cNvPr id="19" name="TextBox 18"/>
          <p:cNvSpPr txBox="1"/>
          <p:nvPr/>
        </p:nvSpPr>
        <p:spPr>
          <a:xfrm>
            <a:off x="4492752" y="2459736"/>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Schéma, taille et limites.</a:t>
            </a:r>
          </a:p>
        </p:txBody>
      </p:sp>
      <p:sp>
        <p:nvSpPr>
          <p:cNvPr id="20" name="Rounded Rectangle 19"/>
          <p:cNvSpPr/>
          <p:nvPr/>
        </p:nvSpPr>
        <p:spPr>
          <a:xfrm>
            <a:off x="8061960" y="1783080"/>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619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5695" y="1920240"/>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Secrets</a:t>
            </a:r>
          </a:p>
        </p:txBody>
      </p:sp>
      <p:sp>
        <p:nvSpPr>
          <p:cNvPr id="23" name="TextBox 22"/>
          <p:cNvSpPr txBox="1"/>
          <p:nvPr/>
        </p:nvSpPr>
        <p:spPr>
          <a:xfrm>
            <a:off x="8226551" y="2459736"/>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Stockage adapté et rotation.</a:t>
            </a:r>
          </a:p>
        </p:txBody>
      </p:sp>
      <p:sp>
        <p:nvSpPr>
          <p:cNvPr id="24" name="Rounded Rectangle 23"/>
          <p:cNvSpPr/>
          <p:nvPr/>
        </p:nvSpPr>
        <p:spPr>
          <a:xfrm>
            <a:off x="594360" y="3826764"/>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4360"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963924"/>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Volume</a:t>
            </a:r>
          </a:p>
        </p:txBody>
      </p:sp>
      <p:sp>
        <p:nvSpPr>
          <p:cNvPr id="27" name="TextBox 26"/>
          <p:cNvSpPr txBox="1"/>
          <p:nvPr/>
        </p:nvSpPr>
        <p:spPr>
          <a:xfrm>
            <a:off x="758952" y="4503420"/>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Quotas et limitation de débit.</a:t>
            </a:r>
          </a:p>
        </p:txBody>
      </p:sp>
      <p:sp>
        <p:nvSpPr>
          <p:cNvPr id="28" name="Rounded Rectangle 27"/>
          <p:cNvSpPr/>
          <p:nvPr/>
        </p:nvSpPr>
        <p:spPr>
          <a:xfrm>
            <a:off x="4328160" y="3826764"/>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281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01896" y="3963924"/>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Sorties</a:t>
            </a:r>
          </a:p>
        </p:txBody>
      </p:sp>
      <p:sp>
        <p:nvSpPr>
          <p:cNvPr id="31" name="TextBox 30"/>
          <p:cNvSpPr txBox="1"/>
          <p:nvPr/>
        </p:nvSpPr>
        <p:spPr>
          <a:xfrm>
            <a:off x="4492752" y="4503420"/>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Minimisation et validation.</a:t>
            </a:r>
          </a:p>
        </p:txBody>
      </p:sp>
      <p:sp>
        <p:nvSpPr>
          <p:cNvPr id="32" name="Rounded Rectangle 31"/>
          <p:cNvSpPr/>
          <p:nvPr/>
        </p:nvSpPr>
        <p:spPr>
          <a:xfrm>
            <a:off x="8061960" y="3826764"/>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61960"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35695" y="3963924"/>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Suivi</a:t>
            </a:r>
          </a:p>
        </p:txBody>
      </p:sp>
      <p:sp>
        <p:nvSpPr>
          <p:cNvPr id="35" name="TextBox 34"/>
          <p:cNvSpPr txBox="1"/>
          <p:nvPr/>
        </p:nvSpPr>
        <p:spPr>
          <a:xfrm>
            <a:off x="8226551" y="4503420"/>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Traces, alertes et révocation.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B5</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A11 • Écrire le contrat avant de brancher</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35 minutes • Cahier A11 • Simulation locale facultative incluse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J2-057</a:t>
            </a:r>
          </a:p>
        </p:txBody>
      </p:sp>
      <p:sp>
        <p:nvSpPr>
          <p:cNvPr id="12" name="Rounded Rectangle 11"/>
          <p:cNvSpPr/>
          <p:nvPr/>
        </p:nvSpPr>
        <p:spPr>
          <a:xfrm>
            <a:off x="594360" y="1965960"/>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65960"/>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0312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Objet</a:t>
            </a:r>
          </a:p>
        </p:txBody>
      </p:sp>
      <p:sp>
        <p:nvSpPr>
          <p:cNvPr id="15" name="TextBox 14"/>
          <p:cNvSpPr txBox="1"/>
          <p:nvPr/>
        </p:nvSpPr>
        <p:spPr>
          <a:xfrm>
            <a:off x="758952" y="2642616"/>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Prévision météo entrante ou prévision fournisseur sortante.</a:t>
            </a:r>
          </a:p>
        </p:txBody>
      </p:sp>
      <p:sp>
        <p:nvSpPr>
          <p:cNvPr id="16" name="Rounded Rectangle 15"/>
          <p:cNvSpPr/>
          <p:nvPr/>
        </p:nvSpPr>
        <p:spPr>
          <a:xfrm>
            <a:off x="6195059" y="1965960"/>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965960"/>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210312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À préciser</a:t>
            </a:r>
          </a:p>
        </p:txBody>
      </p:sp>
      <p:sp>
        <p:nvSpPr>
          <p:cNvPr id="19" name="TextBox 18"/>
          <p:cNvSpPr txBox="1"/>
          <p:nvPr/>
        </p:nvSpPr>
        <p:spPr>
          <a:xfrm>
            <a:off x="6359651" y="2642616"/>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Schéma, unité, fraîcheur, droits et disponibilité.</a:t>
            </a:r>
          </a:p>
        </p:txBody>
      </p:sp>
      <p:sp>
        <p:nvSpPr>
          <p:cNvPr id="20" name="Rounded Rectangle 19"/>
          <p:cNvSpPr/>
          <p:nvPr/>
        </p:nvSpPr>
        <p:spPr>
          <a:xfrm>
            <a:off x="594360" y="3758183"/>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758183"/>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89534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À tester</a:t>
            </a:r>
          </a:p>
        </p:txBody>
      </p:sp>
      <p:sp>
        <p:nvSpPr>
          <p:cNvPr id="23" name="TextBox 22"/>
          <p:cNvSpPr txBox="1"/>
          <p:nvPr/>
        </p:nvSpPr>
        <p:spPr>
          <a:xfrm>
            <a:off x="758952" y="4434840"/>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Champ absent, version changée, donnée trop ancienne.</a:t>
            </a:r>
          </a:p>
        </p:txBody>
      </p:sp>
      <p:sp>
        <p:nvSpPr>
          <p:cNvPr id="24" name="Rounded Rectangle 23"/>
          <p:cNvSpPr/>
          <p:nvPr/>
        </p:nvSpPr>
        <p:spPr>
          <a:xfrm>
            <a:off x="6195059" y="3758183"/>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758183"/>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89534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Livrable</a:t>
            </a:r>
          </a:p>
        </p:txBody>
      </p:sp>
      <p:sp>
        <p:nvSpPr>
          <p:cNvPr id="27" name="TextBox 26"/>
          <p:cNvSpPr txBox="1"/>
          <p:nvPr/>
        </p:nvSpPr>
        <p:spPr>
          <a:xfrm>
            <a:off x="6359651" y="4434840"/>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Une page de contrat et trois tests d’acceptation.</a:t>
            </a:r>
          </a:p>
        </p:txBody>
      </p:sp>
      <p:sp>
        <p:nvSpPr>
          <p:cNvPr id="28" name="TextBox 27"/>
          <p:cNvSpPr txBox="1"/>
          <p:nvPr/>
        </p:nvSpPr>
        <p:spPr>
          <a:xfrm>
            <a:off x="630936" y="1655064"/>
            <a:ext cx="10058400" cy="228600"/>
          </a:xfrm>
          <a:prstGeom prst="rect">
            <a:avLst/>
          </a:prstGeom>
          <a:noFill/>
        </p:spPr>
        <p:txBody>
          <a:bodyPr wrap="square" lIns="22860" rIns="22860" tIns="22860" bIns="22860" anchor="ctr">
            <a:spAutoFit/>
          </a:bodyPr>
          <a:lstStyle/>
          <a:p>
            <a:pPr>
              <a:spcBef>
                <a:spcPts val="0"/>
              </a:spcBef>
              <a:spcAft>
                <a:spcPts val="300"/>
              </a:spcAft>
              <a:defRPr sz="1300" b="1">
                <a:solidFill>
                  <a:srgbClr val="238C33"/>
                </a:solidFill>
                <a:latin typeface="Liberation Sans"/>
              </a:defRPr>
            </a:pPr>
            <a:r>
              <a:t>ATELIER  /  35 MINUTES POUR LA SÉQUENCE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B5</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Exemple : un message minimal et vérifiable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Exemple minimal de laboratoire, à compléter avant un usage réel.</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J2-058</a:t>
            </a:r>
          </a:p>
        </p:txBody>
      </p:sp>
      <p:sp>
        <p:nvSpPr>
          <p:cNvPr id="12" name="Rounded Rectangle 11"/>
          <p:cNvSpPr/>
          <p:nvPr/>
        </p:nvSpPr>
        <p:spPr>
          <a:xfrm>
            <a:off x="594360" y="1828800"/>
            <a:ext cx="7315200" cy="3840480"/>
          </a:xfrm>
          <a:prstGeom prst="round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2057400"/>
            <a:ext cx="6839712" cy="3383280"/>
          </a:xfrm>
          <a:prstGeom prst="rect">
            <a:avLst/>
          </a:prstGeom>
          <a:noFill/>
        </p:spPr>
        <p:txBody>
          <a:bodyPr wrap="square" lIns="22860" rIns="22860" tIns="22860" bIns="22860" anchor="ctr">
            <a:spAutoFit/>
          </a:bodyPr>
          <a:lstStyle/>
          <a:p>
            <a:pPr>
              <a:spcBef>
                <a:spcPts val="0"/>
              </a:spcBef>
              <a:spcAft>
                <a:spcPts val="300"/>
              </a:spcAft>
              <a:defRPr sz="2100" b="0">
                <a:solidFill>
                  <a:srgbClr val="FFFFFF"/>
                </a:solidFill>
                <a:latin typeface="Liberation Sans"/>
              </a:defRPr>
            </a:pPr>
            <a:r>
              <a:t>{</a:t>
            </a:r>
          </a:p>
          <a:p>
            <a:pPr>
              <a:spcBef>
                <a:spcPts val="0"/>
              </a:spcBef>
              <a:spcAft>
                <a:spcPts val="300"/>
              </a:spcAft>
              <a:defRPr sz="2100" b="0">
                <a:solidFill>
                  <a:srgbClr val="FFFFFF"/>
                </a:solidFill>
                <a:latin typeface="Liberation Sans"/>
              </a:defRPr>
            </a:pPr>
            <a:r>
              <a:t>  "schema_version": "1.0",</a:t>
            </a:r>
          </a:p>
          <a:p>
            <a:pPr>
              <a:spcBef>
                <a:spcPts val="0"/>
              </a:spcBef>
              <a:spcAft>
                <a:spcPts val="300"/>
              </a:spcAft>
              <a:defRPr sz="2100" b="0">
                <a:solidFill>
                  <a:srgbClr val="FFFFFF"/>
                </a:solidFill>
                <a:latin typeface="Liberation Sans"/>
              </a:defRPr>
            </a:pPr>
            <a:r>
              <a:t>  "zone": "Z1",</a:t>
            </a:r>
          </a:p>
          <a:p>
            <a:pPr>
              <a:spcBef>
                <a:spcPts val="0"/>
              </a:spcBef>
              <a:spcAft>
                <a:spcPts val="300"/>
              </a:spcAft>
              <a:defRPr sz="2100" b="0">
                <a:solidFill>
                  <a:srgbClr val="FFFFFF"/>
                </a:solidFill>
                <a:latin typeface="Liberation Sans"/>
              </a:defRPr>
            </a:pPr>
            <a:r>
              <a:t>  "generated_at": "2026-02-01T11:00:00Z",</a:t>
            </a:r>
          </a:p>
          <a:p>
            <a:pPr>
              <a:spcBef>
                <a:spcPts val="0"/>
              </a:spcBef>
              <a:spcAft>
                <a:spcPts val="300"/>
              </a:spcAft>
              <a:defRPr sz="2100" b="0">
                <a:solidFill>
                  <a:srgbClr val="FFFFFF"/>
                </a:solidFill>
                <a:latin typeface="Liberation Sans"/>
              </a:defRPr>
            </a:pPr>
            <a:r>
              <a:t>  "rain_mm": 4.2</a:t>
            </a:r>
          </a:p>
          <a:p>
            <a:pPr>
              <a:spcBef>
                <a:spcPts val="0"/>
              </a:spcBef>
              <a:spcAft>
                <a:spcPts val="300"/>
              </a:spcAft>
              <a:defRPr sz="2100" b="0">
                <a:solidFill>
                  <a:srgbClr val="FFFFFF"/>
                </a:solidFill>
                <a:latin typeface="Liberation Sans"/>
              </a:defRPr>
            </a:pPr>
            <a:r>
              <a:t>}</a:t>
            </a:r>
          </a:p>
        </p:txBody>
      </p:sp>
      <p:sp>
        <p:nvSpPr>
          <p:cNvPr id="14" name="Rounded Rectangle 13"/>
          <p:cNvSpPr/>
          <p:nvPr/>
        </p:nvSpPr>
        <p:spPr>
          <a:xfrm>
            <a:off x="8174736" y="1828800"/>
            <a:ext cx="3419856" cy="1792224"/>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74736" y="1828800"/>
            <a:ext cx="54864" cy="179222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48471" y="1965960"/>
            <a:ext cx="3072384"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Sens</a:t>
            </a:r>
          </a:p>
        </p:txBody>
      </p:sp>
      <p:sp>
        <p:nvSpPr>
          <p:cNvPr id="17" name="TextBox 16"/>
          <p:cNvSpPr txBox="1"/>
          <p:nvPr/>
        </p:nvSpPr>
        <p:spPr>
          <a:xfrm>
            <a:off x="8339327" y="2505456"/>
            <a:ext cx="3090672" cy="969264"/>
          </a:xfrm>
          <a:prstGeom prst="rect">
            <a:avLst/>
          </a:prstGeom>
          <a:noFill/>
        </p:spPr>
        <p:txBody>
          <a:bodyPr wrap="square" lIns="22860" rIns="22860" tIns="22860" bIns="22860" anchor="t">
            <a:spAutoFit/>
          </a:bodyPr>
          <a:lstStyle/>
          <a:p>
            <a:pPr>
              <a:spcBef>
                <a:spcPts val="0"/>
              </a:spcBef>
              <a:spcAft>
                <a:spcPts val="300"/>
              </a:spcAft>
              <a:defRPr sz="1950" b="0">
                <a:solidFill>
                  <a:srgbClr val="0D0D0D"/>
                </a:solidFill>
                <a:latin typeface="Liberation Sans"/>
              </a:defRPr>
            </a:pPr>
            <a:r>
              <a:t>Précipitation prévue, zone et unité explicites.</a:t>
            </a:r>
          </a:p>
        </p:txBody>
      </p:sp>
      <p:sp>
        <p:nvSpPr>
          <p:cNvPr id="18" name="Rounded Rectangle 17"/>
          <p:cNvSpPr/>
          <p:nvPr/>
        </p:nvSpPr>
        <p:spPr>
          <a:xfrm>
            <a:off x="8174736" y="3749039"/>
            <a:ext cx="3419856" cy="1792224"/>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74736" y="3749039"/>
            <a:ext cx="54864" cy="179222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48471" y="3886200"/>
            <a:ext cx="3072384"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Contrôle</a:t>
            </a:r>
          </a:p>
        </p:txBody>
      </p:sp>
      <p:sp>
        <p:nvSpPr>
          <p:cNvPr id="21" name="TextBox 20"/>
          <p:cNvSpPr txBox="1"/>
          <p:nvPr/>
        </p:nvSpPr>
        <p:spPr>
          <a:xfrm>
            <a:off x="8339327" y="4425696"/>
            <a:ext cx="3090672" cy="969264"/>
          </a:xfrm>
          <a:prstGeom prst="rect">
            <a:avLst/>
          </a:prstGeom>
          <a:noFill/>
        </p:spPr>
        <p:txBody>
          <a:bodyPr wrap="square" lIns="22860" rIns="22860" tIns="22860" bIns="22860" anchor="t">
            <a:spAutoFit/>
          </a:bodyPr>
          <a:lstStyle/>
          <a:p>
            <a:pPr>
              <a:spcBef>
                <a:spcPts val="0"/>
              </a:spcBef>
              <a:spcAft>
                <a:spcPts val="300"/>
              </a:spcAft>
              <a:defRPr sz="1950" b="0">
                <a:solidFill>
                  <a:srgbClr val="0D0D0D"/>
                </a:solidFill>
                <a:latin typeface="Liberation Sans"/>
              </a:defRPr>
            </a:pPr>
            <a:r>
              <a:t>Version, horodatage et domaine de valeurs.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B5</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100" b="1">
                <a:solidFill>
                  <a:srgbClr val="132443"/>
                </a:solidFill>
                <a:latin typeface="Liberation Sans"/>
              </a:defRPr>
            </a:pPr>
            <a:r>
              <a:t>Quatre tests de contrat, quatre décisions explicites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Simulation exécutable locale • Aucun réseau ni secret réel</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P01</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J2-059</a:t>
            </a:r>
          </a:p>
        </p:txBody>
      </p:sp>
      <p:sp>
        <p:nvSpPr>
          <p:cNvPr id="12" name="Rectangle 11"/>
          <p:cNvSpPr/>
          <p:nvPr/>
        </p:nvSpPr>
        <p:spPr>
          <a:xfrm>
            <a:off x="594360" y="1792224"/>
            <a:ext cx="3190067" cy="685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1833372"/>
            <a:ext cx="2970611" cy="60350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Entrée</a:t>
            </a:r>
          </a:p>
        </p:txBody>
      </p:sp>
      <p:sp>
        <p:nvSpPr>
          <p:cNvPr id="14" name="Rectangle 13"/>
          <p:cNvSpPr/>
          <p:nvPr/>
        </p:nvSpPr>
        <p:spPr>
          <a:xfrm>
            <a:off x="3784427" y="1792224"/>
            <a:ext cx="3850081" cy="685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94155" y="1833372"/>
            <a:ext cx="3630625" cy="60350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Statut attendu</a:t>
            </a:r>
          </a:p>
        </p:txBody>
      </p:sp>
      <p:sp>
        <p:nvSpPr>
          <p:cNvPr id="16" name="Rectangle 15"/>
          <p:cNvSpPr/>
          <p:nvPr/>
        </p:nvSpPr>
        <p:spPr>
          <a:xfrm>
            <a:off x="7634508" y="1792224"/>
            <a:ext cx="3960083" cy="685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44236" y="1833372"/>
            <a:ext cx="3740627" cy="60350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Décision</a:t>
            </a:r>
          </a:p>
        </p:txBody>
      </p:sp>
      <p:cxnSp>
        <p:nvCxnSpPr>
          <p:cNvPr id="18" name="Connector 17"/>
          <p:cNvCxnSpPr/>
          <p:nvPr/>
        </p:nvCxnSpPr>
        <p:spPr>
          <a:xfrm>
            <a:off x="594360" y="24780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94360" y="2478024"/>
            <a:ext cx="3190067"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2519172"/>
            <a:ext cx="2970611" cy="60350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Valide et fraîche</a:t>
            </a:r>
          </a:p>
        </p:txBody>
      </p:sp>
      <p:sp>
        <p:nvSpPr>
          <p:cNvPr id="21" name="Rectangle 20"/>
          <p:cNvSpPr/>
          <p:nvPr/>
        </p:nvSpPr>
        <p:spPr>
          <a:xfrm>
            <a:off x="3784427" y="2478024"/>
            <a:ext cx="3850081"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94155" y="2519172"/>
            <a:ext cx="3630625" cy="60350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ACCEPTE</a:t>
            </a:r>
          </a:p>
        </p:txBody>
      </p:sp>
      <p:sp>
        <p:nvSpPr>
          <p:cNvPr id="23" name="Rectangle 22"/>
          <p:cNvSpPr/>
          <p:nvPr/>
        </p:nvSpPr>
        <p:spPr>
          <a:xfrm>
            <a:off x="7634508" y="2478024"/>
            <a:ext cx="3960083"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44236" y="2519172"/>
            <a:ext cx="3740627" cy="60350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Utiliser la donnée</a:t>
            </a:r>
          </a:p>
        </p:txBody>
      </p:sp>
      <p:cxnSp>
        <p:nvCxnSpPr>
          <p:cNvPr id="25" name="Connector 24"/>
          <p:cNvCxnSpPr/>
          <p:nvPr/>
        </p:nvCxnSpPr>
        <p:spPr>
          <a:xfrm>
            <a:off x="594360" y="31638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594360" y="3163824"/>
            <a:ext cx="3190067"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3204972"/>
            <a:ext cx="2970611" cy="603504"/>
          </a:xfrm>
          <a:prstGeom prst="rect">
            <a:avLst/>
          </a:prstGeom>
          <a:noFill/>
        </p:spPr>
        <p:txBody>
          <a:bodyPr wrap="square" lIns="22860" rIns="22860" tIns="22860" bIns="22860" anchor="ctr">
            <a:spAutoFit/>
          </a:bodyPr>
          <a:lstStyle/>
          <a:p>
            <a:pPr>
              <a:spcBef>
                <a:spcPts val="0"/>
              </a:spcBef>
              <a:spcAft>
                <a:spcPts val="300"/>
              </a:spcAft>
              <a:defRPr sz="2050" b="0">
                <a:solidFill>
                  <a:srgbClr val="0D0D0D"/>
                </a:solidFill>
                <a:latin typeface="Liberation Sans"/>
              </a:defRPr>
            </a:pPr>
            <a:r>
              <a:t>Version 2 inattendue</a:t>
            </a:r>
          </a:p>
        </p:txBody>
      </p:sp>
      <p:sp>
        <p:nvSpPr>
          <p:cNvPr id="28" name="Rectangle 27"/>
          <p:cNvSpPr/>
          <p:nvPr/>
        </p:nvSpPr>
        <p:spPr>
          <a:xfrm>
            <a:off x="3784427" y="3163824"/>
            <a:ext cx="3850081"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94155" y="3204972"/>
            <a:ext cx="3630625" cy="603504"/>
          </a:xfrm>
          <a:prstGeom prst="rect">
            <a:avLst/>
          </a:prstGeom>
          <a:noFill/>
        </p:spPr>
        <p:txBody>
          <a:bodyPr wrap="square" lIns="22860" rIns="22860" tIns="22860" bIns="22860" anchor="ctr">
            <a:spAutoFit/>
          </a:bodyPr>
          <a:lstStyle/>
          <a:p>
            <a:pPr>
              <a:spcBef>
                <a:spcPts val="0"/>
              </a:spcBef>
              <a:spcAft>
                <a:spcPts val="300"/>
              </a:spcAft>
              <a:defRPr sz="2050" b="0">
                <a:solidFill>
                  <a:srgbClr val="0D0D0D"/>
                </a:solidFill>
                <a:latin typeface="Liberation Sans"/>
              </a:defRPr>
            </a:pPr>
            <a:r>
              <a:t>VERSION_INCOMPATIBLE</a:t>
            </a:r>
          </a:p>
        </p:txBody>
      </p:sp>
      <p:sp>
        <p:nvSpPr>
          <p:cNvPr id="30" name="Rectangle 29"/>
          <p:cNvSpPr/>
          <p:nvPr/>
        </p:nvSpPr>
        <p:spPr>
          <a:xfrm>
            <a:off x="7634508" y="3163824"/>
            <a:ext cx="3960083"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44236" y="3204972"/>
            <a:ext cx="3740627" cy="60350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Repli et signalement</a:t>
            </a:r>
          </a:p>
        </p:txBody>
      </p:sp>
      <p:cxnSp>
        <p:nvCxnSpPr>
          <p:cNvPr id="32" name="Connector 31"/>
          <p:cNvCxnSpPr/>
          <p:nvPr/>
        </p:nvCxnSpPr>
        <p:spPr>
          <a:xfrm>
            <a:off x="594360" y="38496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94360" y="3849624"/>
            <a:ext cx="3190067"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4088" y="3890772"/>
            <a:ext cx="2970611" cy="60350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Date ancienne</a:t>
            </a:r>
          </a:p>
        </p:txBody>
      </p:sp>
      <p:sp>
        <p:nvSpPr>
          <p:cNvPr id="35" name="Rectangle 34"/>
          <p:cNvSpPr/>
          <p:nvPr/>
        </p:nvSpPr>
        <p:spPr>
          <a:xfrm>
            <a:off x="3784427" y="3849624"/>
            <a:ext cx="3850081"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94155" y="3890772"/>
            <a:ext cx="3630625" cy="60350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DONNEE_NON_FRAICHE</a:t>
            </a:r>
          </a:p>
        </p:txBody>
      </p:sp>
      <p:sp>
        <p:nvSpPr>
          <p:cNvPr id="37" name="Rectangle 36"/>
          <p:cNvSpPr/>
          <p:nvPr/>
        </p:nvSpPr>
        <p:spPr>
          <a:xfrm>
            <a:off x="7634508" y="3849624"/>
            <a:ext cx="3960083"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44236" y="3890772"/>
            <a:ext cx="3740627" cy="60350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Repli et signalement</a:t>
            </a:r>
          </a:p>
        </p:txBody>
      </p:sp>
      <p:cxnSp>
        <p:nvCxnSpPr>
          <p:cNvPr id="39" name="Connector 38"/>
          <p:cNvCxnSpPr/>
          <p:nvPr/>
        </p:nvCxnSpPr>
        <p:spPr>
          <a:xfrm>
            <a:off x="594360" y="45354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594360" y="4535424"/>
            <a:ext cx="3190067"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4088" y="4576572"/>
            <a:ext cx="2970611" cy="60350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Pluie négative</a:t>
            </a:r>
          </a:p>
        </p:txBody>
      </p:sp>
      <p:sp>
        <p:nvSpPr>
          <p:cNvPr id="42" name="Rectangle 41"/>
          <p:cNvSpPr/>
          <p:nvPr/>
        </p:nvSpPr>
        <p:spPr>
          <a:xfrm>
            <a:off x="3784427" y="4535424"/>
            <a:ext cx="3850081"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894155" y="4576572"/>
            <a:ext cx="3630625" cy="603504"/>
          </a:xfrm>
          <a:prstGeom prst="rect">
            <a:avLst/>
          </a:prstGeom>
          <a:noFill/>
        </p:spPr>
        <p:txBody>
          <a:bodyPr wrap="square" lIns="22860" rIns="22860" tIns="22860" bIns="22860" anchor="ctr">
            <a:spAutoFit/>
          </a:bodyPr>
          <a:lstStyle/>
          <a:p>
            <a:pPr>
              <a:spcBef>
                <a:spcPts val="0"/>
              </a:spcBef>
              <a:spcAft>
                <a:spcPts val="300"/>
              </a:spcAft>
              <a:defRPr sz="2050" b="0">
                <a:solidFill>
                  <a:srgbClr val="0D0D0D"/>
                </a:solidFill>
                <a:latin typeface="Liberation Sans"/>
              </a:defRPr>
            </a:pPr>
            <a:r>
              <a:t>VALEUR_HORS_DOMAINE</a:t>
            </a:r>
          </a:p>
        </p:txBody>
      </p:sp>
      <p:sp>
        <p:nvSpPr>
          <p:cNvPr id="44" name="Rectangle 43"/>
          <p:cNvSpPr/>
          <p:nvPr/>
        </p:nvSpPr>
        <p:spPr>
          <a:xfrm>
            <a:off x="7634508" y="4535424"/>
            <a:ext cx="3960083"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44236" y="4576572"/>
            <a:ext cx="3740627" cy="60350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Rejet et diagnostic</a:t>
            </a:r>
          </a:p>
        </p:txBody>
      </p:sp>
      <p:cxnSp>
        <p:nvCxnSpPr>
          <p:cNvPr id="46" name="Connector 45"/>
          <p:cNvCxnSpPr/>
          <p:nvPr/>
        </p:nvCxnSpPr>
        <p:spPr>
          <a:xfrm>
            <a:off x="594360" y="52212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B5</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Partager moins peut créer autant de valeur</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La donnée fournie doit répondre au besoin, pas à la curiosité du destinataire.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S15 · S22</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J2-060</a:t>
            </a:r>
          </a:p>
        </p:txBody>
      </p:sp>
      <p:sp>
        <p:nvSpPr>
          <p:cNvPr id="12" name="Rounded Rectangle 11"/>
          <p:cNvSpPr/>
          <p:nvPr/>
        </p:nvSpPr>
        <p:spPr>
          <a:xfrm>
            <a:off x="594360" y="1783080"/>
            <a:ext cx="5399531" cy="38862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38862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Partage excessif</a:t>
            </a:r>
          </a:p>
        </p:txBody>
      </p:sp>
      <p:sp>
        <p:nvSpPr>
          <p:cNvPr id="15" name="TextBox 14"/>
          <p:cNvSpPr txBox="1"/>
          <p:nvPr/>
        </p:nvSpPr>
        <p:spPr>
          <a:xfrm>
            <a:off x="758952" y="2459736"/>
            <a:ext cx="5070347" cy="306324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Tous les clients, toutes les commandes, tous les historiques.</a:t>
            </a:r>
          </a:p>
        </p:txBody>
      </p:sp>
      <p:sp>
        <p:nvSpPr>
          <p:cNvPr id="16" name="Rounded Rectangle 15"/>
          <p:cNvSpPr/>
          <p:nvPr/>
        </p:nvSpPr>
        <p:spPr>
          <a:xfrm>
            <a:off x="6195059" y="1783080"/>
            <a:ext cx="5399531" cy="38862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38862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Partage ciblé</a:t>
            </a:r>
          </a:p>
        </p:txBody>
      </p:sp>
      <p:sp>
        <p:nvSpPr>
          <p:cNvPr id="19" name="TextBox 18"/>
          <p:cNvSpPr txBox="1"/>
          <p:nvPr/>
        </p:nvSpPr>
        <p:spPr>
          <a:xfrm>
            <a:off x="6359651" y="2459736"/>
            <a:ext cx="5070347" cy="306324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Quantité attendue par produit et semaine, périmètre contractuel et contrôles.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B5</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A12 • Votre architecture reçoit un incident</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30 minutes • Cahier A12 • Cartes incident imprimables fournies</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J2-061</a:t>
            </a:r>
          </a:p>
        </p:txBody>
      </p:sp>
      <p:sp>
        <p:nvSpPr>
          <p:cNvPr id="12" name="Rounded Rectangle 11"/>
          <p:cNvSpPr/>
          <p:nvPr/>
        </p:nvSpPr>
        <p:spPr>
          <a:xfrm>
            <a:off x="594360" y="1965960"/>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65960"/>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0312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Déclencheur</a:t>
            </a:r>
          </a:p>
        </p:txBody>
      </p:sp>
      <p:sp>
        <p:nvSpPr>
          <p:cNvPr id="15" name="TextBox 14"/>
          <p:cNvSpPr txBox="1"/>
          <p:nvPr/>
        </p:nvSpPr>
        <p:spPr>
          <a:xfrm>
            <a:off x="758952" y="2642616"/>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Une carte incident par groupe.</a:t>
            </a:r>
          </a:p>
        </p:txBody>
      </p:sp>
      <p:sp>
        <p:nvSpPr>
          <p:cNvPr id="16" name="Rounded Rectangle 15"/>
          <p:cNvSpPr/>
          <p:nvPr/>
        </p:nvSpPr>
        <p:spPr>
          <a:xfrm>
            <a:off x="6195059" y="1965960"/>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965960"/>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210312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Réponse</a:t>
            </a:r>
          </a:p>
        </p:txBody>
      </p:sp>
      <p:sp>
        <p:nvSpPr>
          <p:cNvPr id="19" name="TextBox 18"/>
          <p:cNvSpPr txBox="1"/>
          <p:nvPr/>
        </p:nvSpPr>
        <p:spPr>
          <a:xfrm>
            <a:off x="6359651" y="2642616"/>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Impact → détection → repli → responsable.</a:t>
            </a:r>
          </a:p>
        </p:txBody>
      </p:sp>
      <p:sp>
        <p:nvSpPr>
          <p:cNvPr id="20" name="Rounded Rectangle 19"/>
          <p:cNvSpPr/>
          <p:nvPr/>
        </p:nvSpPr>
        <p:spPr>
          <a:xfrm>
            <a:off x="594360" y="3758183"/>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758183"/>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89534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Contrôle</a:t>
            </a:r>
          </a:p>
        </p:txBody>
      </p:sp>
      <p:sp>
        <p:nvSpPr>
          <p:cNvPr id="23" name="TextBox 22"/>
          <p:cNvSpPr txBox="1"/>
          <p:nvPr/>
        </p:nvSpPr>
        <p:spPr>
          <a:xfrm>
            <a:off x="758952" y="4434840"/>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Vérifier les traces et le retour au service nominal.</a:t>
            </a:r>
          </a:p>
        </p:txBody>
      </p:sp>
      <p:sp>
        <p:nvSpPr>
          <p:cNvPr id="24" name="Rounded Rectangle 23"/>
          <p:cNvSpPr/>
          <p:nvPr/>
        </p:nvSpPr>
        <p:spPr>
          <a:xfrm>
            <a:off x="6195059" y="3758183"/>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758183"/>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89534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Livrable</a:t>
            </a:r>
          </a:p>
        </p:txBody>
      </p:sp>
      <p:sp>
        <p:nvSpPr>
          <p:cNvPr id="27" name="TextBox 26"/>
          <p:cNvSpPr txBox="1"/>
          <p:nvPr/>
        </p:nvSpPr>
        <p:spPr>
          <a:xfrm>
            <a:off x="6359651" y="4434840"/>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Une fiche de réponse utilisable par un opérateur.</a:t>
            </a:r>
          </a:p>
        </p:txBody>
      </p:sp>
      <p:sp>
        <p:nvSpPr>
          <p:cNvPr id="28" name="TextBox 27"/>
          <p:cNvSpPr txBox="1"/>
          <p:nvPr/>
        </p:nvSpPr>
        <p:spPr>
          <a:xfrm>
            <a:off x="630936" y="1655064"/>
            <a:ext cx="10058400" cy="228600"/>
          </a:xfrm>
          <a:prstGeom prst="rect">
            <a:avLst/>
          </a:prstGeom>
          <a:noFill/>
        </p:spPr>
        <p:txBody>
          <a:bodyPr wrap="square" lIns="22860" rIns="22860" tIns="22860" bIns="22860" anchor="ctr">
            <a:spAutoFit/>
          </a:bodyPr>
          <a:lstStyle/>
          <a:p>
            <a:pPr>
              <a:spcBef>
                <a:spcPts val="0"/>
              </a:spcBef>
              <a:spcAft>
                <a:spcPts val="300"/>
              </a:spcAft>
              <a:defRPr sz="1300" b="1">
                <a:solidFill>
                  <a:srgbClr val="238C33"/>
                </a:solidFill>
                <a:latin typeface="Liberation Sans"/>
              </a:defRPr>
            </a:pPr>
            <a:r>
              <a:t>ATELIER  /  30 MINUTES POUR LA SÉQUENCE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B5</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Sept situations de rupture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L’incident révèle ce que le diagramme nominal ne montrait pas.</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J2-062</a:t>
            </a:r>
          </a:p>
        </p:txBody>
      </p:sp>
      <p:sp>
        <p:nvSpPr>
          <p:cNvPr id="12" name="Rounded Rectangle 11"/>
          <p:cNvSpPr/>
          <p:nvPr/>
        </p:nvSpPr>
        <p:spPr>
          <a:xfrm>
            <a:off x="594360" y="1783080"/>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Source</a:t>
            </a:r>
          </a:p>
        </p:txBody>
      </p:sp>
      <p:sp>
        <p:nvSpPr>
          <p:cNvPr id="15" name="TextBox 14"/>
          <p:cNvSpPr txBox="1"/>
          <p:nvPr/>
        </p:nvSpPr>
        <p:spPr>
          <a:xfrm>
            <a:off x="758952" y="2459736"/>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API indisponible ou schéma changé.</a:t>
            </a:r>
          </a:p>
        </p:txBody>
      </p:sp>
      <p:sp>
        <p:nvSpPr>
          <p:cNvPr id="16" name="Rounded Rectangle 15"/>
          <p:cNvSpPr/>
          <p:nvPr/>
        </p:nvSpPr>
        <p:spPr>
          <a:xfrm>
            <a:off x="4328160" y="1783080"/>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8160"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1896" y="1920240"/>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Charge</a:t>
            </a:r>
          </a:p>
        </p:txBody>
      </p:sp>
      <p:sp>
        <p:nvSpPr>
          <p:cNvPr id="19" name="TextBox 18"/>
          <p:cNvSpPr txBox="1"/>
          <p:nvPr/>
        </p:nvSpPr>
        <p:spPr>
          <a:xfrm>
            <a:off x="4492752" y="2459736"/>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Volume multiplié par dix.</a:t>
            </a:r>
          </a:p>
        </p:txBody>
      </p:sp>
      <p:sp>
        <p:nvSpPr>
          <p:cNvPr id="20" name="Rounded Rectangle 19"/>
          <p:cNvSpPr/>
          <p:nvPr/>
        </p:nvSpPr>
        <p:spPr>
          <a:xfrm>
            <a:off x="8061960" y="1783080"/>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619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5695" y="1920240"/>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Données</a:t>
            </a:r>
          </a:p>
        </p:txBody>
      </p:sp>
      <p:sp>
        <p:nvSpPr>
          <p:cNvPr id="23" name="TextBox 22"/>
          <p:cNvSpPr txBox="1"/>
          <p:nvPr/>
        </p:nvSpPr>
        <p:spPr>
          <a:xfrm>
            <a:off x="8226551" y="2459736"/>
            <a:ext cx="3203448" cy="1019556"/>
          </a:xfrm>
          <a:prstGeom prst="rect">
            <a:avLst/>
          </a:prstGeom>
          <a:noFill/>
        </p:spPr>
        <p:txBody>
          <a:bodyPr wrap="square" lIns="22860" rIns="22860" tIns="22860" bIns="22860" anchor="t">
            <a:spAutoFit/>
          </a:bodyPr>
          <a:lstStyle/>
          <a:p>
            <a:pPr>
              <a:spcBef>
                <a:spcPts val="0"/>
              </a:spcBef>
              <a:spcAft>
                <a:spcPts val="300"/>
              </a:spcAft>
              <a:defRPr sz="2050" b="0">
                <a:solidFill>
                  <a:srgbClr val="0D0D0D"/>
                </a:solidFill>
                <a:latin typeface="Liberation Sans"/>
              </a:defRPr>
            </a:pPr>
            <a:r>
              <a:t>Information personnelle inattendue.</a:t>
            </a:r>
          </a:p>
        </p:txBody>
      </p:sp>
      <p:sp>
        <p:nvSpPr>
          <p:cNvPr id="24" name="Rounded Rectangle 23"/>
          <p:cNvSpPr/>
          <p:nvPr/>
        </p:nvSpPr>
        <p:spPr>
          <a:xfrm>
            <a:off x="594360" y="3826764"/>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4360"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963924"/>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Modèle</a:t>
            </a:r>
          </a:p>
        </p:txBody>
      </p:sp>
      <p:sp>
        <p:nvSpPr>
          <p:cNvPr id="27" name="TextBox 26"/>
          <p:cNvSpPr txBox="1"/>
          <p:nvPr/>
        </p:nvSpPr>
        <p:spPr>
          <a:xfrm>
            <a:off x="758952" y="4503420"/>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Rappel fortement dégradé.</a:t>
            </a:r>
          </a:p>
        </p:txBody>
      </p:sp>
      <p:sp>
        <p:nvSpPr>
          <p:cNvPr id="28" name="Rounded Rectangle 27"/>
          <p:cNvSpPr/>
          <p:nvPr/>
        </p:nvSpPr>
        <p:spPr>
          <a:xfrm>
            <a:off x="4328160" y="3826764"/>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281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01896" y="3963924"/>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Partenaire</a:t>
            </a:r>
          </a:p>
        </p:txBody>
      </p:sp>
      <p:sp>
        <p:nvSpPr>
          <p:cNvPr id="31" name="TextBox 30"/>
          <p:cNvSpPr txBox="1"/>
          <p:nvPr/>
        </p:nvSpPr>
        <p:spPr>
          <a:xfrm>
            <a:off x="4492752" y="4503420"/>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Demande de données brutes.</a:t>
            </a:r>
          </a:p>
        </p:txBody>
      </p:sp>
      <p:sp>
        <p:nvSpPr>
          <p:cNvPr id="32" name="Rounded Rectangle 31"/>
          <p:cNvSpPr/>
          <p:nvPr/>
        </p:nvSpPr>
        <p:spPr>
          <a:xfrm>
            <a:off x="8061960" y="3826764"/>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61960"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35695" y="3963924"/>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Accès</a:t>
            </a:r>
          </a:p>
        </p:txBody>
      </p:sp>
      <p:sp>
        <p:nvSpPr>
          <p:cNvPr id="35" name="TextBox 34"/>
          <p:cNvSpPr txBox="1"/>
          <p:nvPr/>
        </p:nvSpPr>
        <p:spPr>
          <a:xfrm>
            <a:off x="8226551" y="4503420"/>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Jeton compromis ou usage hors périmètre.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B5</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Un repli se prépare et se termine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La reprise est une décision vérifiée, pas le simple retour d’un voyant vert.</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S16 · S28</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J2-063</a:t>
            </a:r>
          </a:p>
        </p:txBody>
      </p:sp>
      <p:cxnSp>
        <p:nvCxnSpPr>
          <p:cNvPr id="12" name="Connector 11"/>
          <p:cNvCxnSpPr/>
          <p:nvPr/>
        </p:nvCxnSpPr>
        <p:spPr>
          <a:xfrm>
            <a:off x="6080760" y="2359152"/>
            <a:ext cx="3262601" cy="717804"/>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sp>
        <p:nvSpPr>
          <p:cNvPr id="13" name="Chevron 12"/>
          <p:cNvSpPr/>
          <p:nvPr/>
        </p:nvSpPr>
        <p:spPr>
          <a:xfrm rot="744477">
            <a:off x="7611476" y="2644902"/>
            <a:ext cx="201168" cy="14630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9343361" y="3076956"/>
            <a:ext cx="0" cy="1435608"/>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sp>
        <p:nvSpPr>
          <p:cNvPr id="15" name="Chevron 14"/>
          <p:cNvSpPr/>
          <p:nvPr/>
        </p:nvSpPr>
        <p:spPr>
          <a:xfrm rot="5400000">
            <a:off x="9242777" y="3721608"/>
            <a:ext cx="201168" cy="14630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flipH="1">
            <a:off x="6080760" y="4512564"/>
            <a:ext cx="3262601" cy="717804"/>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sp>
        <p:nvSpPr>
          <p:cNvPr id="17" name="Chevron 16"/>
          <p:cNvSpPr/>
          <p:nvPr/>
        </p:nvSpPr>
        <p:spPr>
          <a:xfrm rot="10055523">
            <a:off x="7611476" y="4798314"/>
            <a:ext cx="201168" cy="14630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H="1" flipV="1">
            <a:off x="2818158" y="4512564"/>
            <a:ext cx="3262602" cy="717804"/>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rot="11544477">
            <a:off x="4348875" y="4798314"/>
            <a:ext cx="201168" cy="14630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2818158" y="3076956"/>
            <a:ext cx="0" cy="1435608"/>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sp>
        <p:nvSpPr>
          <p:cNvPr id="21" name="Chevron 20"/>
          <p:cNvSpPr/>
          <p:nvPr/>
        </p:nvSpPr>
        <p:spPr>
          <a:xfrm rot="16200000">
            <a:off x="2717574" y="3721608"/>
            <a:ext cx="201168" cy="14630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flipV="1">
            <a:off x="2818158" y="2359152"/>
            <a:ext cx="3262602" cy="717804"/>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sp>
        <p:nvSpPr>
          <p:cNvPr id="23" name="Chevron 22"/>
          <p:cNvSpPr/>
          <p:nvPr/>
        </p:nvSpPr>
        <p:spPr>
          <a:xfrm rot="20855523">
            <a:off x="4348875" y="2644902"/>
            <a:ext cx="201168" cy="14630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919472" y="1956816"/>
            <a:ext cx="2322576" cy="80467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01768" y="2011680"/>
            <a:ext cx="2157984" cy="329184"/>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23468C"/>
                </a:solidFill>
                <a:latin typeface="Liberation Sans"/>
              </a:defRPr>
            </a:pPr>
            <a:r>
              <a:t>Détecter</a:t>
            </a:r>
          </a:p>
        </p:txBody>
      </p:sp>
      <p:sp>
        <p:nvSpPr>
          <p:cNvPr id="26" name="TextBox 25"/>
          <p:cNvSpPr txBox="1"/>
          <p:nvPr/>
        </p:nvSpPr>
        <p:spPr>
          <a:xfrm>
            <a:off x="5001768" y="2322576"/>
            <a:ext cx="2157984" cy="329184"/>
          </a:xfrm>
          <a:prstGeom prst="rect">
            <a:avLst/>
          </a:prstGeom>
          <a:noFill/>
        </p:spPr>
        <p:txBody>
          <a:bodyPr wrap="square" lIns="22860" rIns="22860" tIns="22860" bIns="22860" anchor="ctr">
            <a:spAutoFit/>
          </a:bodyPr>
          <a:lstStyle/>
          <a:p>
            <a:pPr algn="ctr">
              <a:spcBef>
                <a:spcPts val="0"/>
              </a:spcBef>
              <a:spcAft>
                <a:spcPts val="300"/>
              </a:spcAft>
              <a:defRPr sz="1600" b="0">
                <a:solidFill>
                  <a:srgbClr val="0D0D0D"/>
                </a:solidFill>
                <a:latin typeface="Liberation Sans"/>
              </a:defRPr>
            </a:pPr>
            <a:r>
              <a:t>Condition et alerte</a:t>
            </a:r>
          </a:p>
        </p:txBody>
      </p:sp>
      <p:sp>
        <p:nvSpPr>
          <p:cNvPr id="27" name="Rounded Rectangle 26"/>
          <p:cNvSpPr/>
          <p:nvPr/>
        </p:nvSpPr>
        <p:spPr>
          <a:xfrm>
            <a:off x="8182073" y="2674620"/>
            <a:ext cx="2322576" cy="80467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64369" y="2729484"/>
            <a:ext cx="2157984" cy="329184"/>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23468C"/>
                </a:solidFill>
                <a:latin typeface="Liberation Sans"/>
              </a:defRPr>
            </a:pPr>
            <a:r>
              <a:t>Contenir</a:t>
            </a:r>
          </a:p>
        </p:txBody>
      </p:sp>
      <p:sp>
        <p:nvSpPr>
          <p:cNvPr id="29" name="TextBox 28"/>
          <p:cNvSpPr txBox="1"/>
          <p:nvPr/>
        </p:nvSpPr>
        <p:spPr>
          <a:xfrm>
            <a:off x="8264369" y="3040380"/>
            <a:ext cx="2157984" cy="329184"/>
          </a:xfrm>
          <a:prstGeom prst="rect">
            <a:avLst/>
          </a:prstGeom>
          <a:noFill/>
        </p:spPr>
        <p:txBody>
          <a:bodyPr wrap="square" lIns="22860" rIns="22860" tIns="22860" bIns="22860" anchor="ctr">
            <a:spAutoFit/>
          </a:bodyPr>
          <a:lstStyle/>
          <a:p>
            <a:pPr algn="ctr">
              <a:spcBef>
                <a:spcPts val="0"/>
              </a:spcBef>
              <a:spcAft>
                <a:spcPts val="300"/>
              </a:spcAft>
              <a:defRPr sz="1600" b="0">
                <a:solidFill>
                  <a:srgbClr val="0D0D0D"/>
                </a:solidFill>
                <a:latin typeface="Liberation Sans"/>
              </a:defRPr>
            </a:pPr>
            <a:r>
              <a:t>Limiter les effets</a:t>
            </a:r>
          </a:p>
        </p:txBody>
      </p:sp>
      <p:sp>
        <p:nvSpPr>
          <p:cNvPr id="30" name="Rounded Rectangle 29"/>
          <p:cNvSpPr/>
          <p:nvPr/>
        </p:nvSpPr>
        <p:spPr>
          <a:xfrm>
            <a:off x="8182073" y="4110228"/>
            <a:ext cx="2322576" cy="80467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64369" y="4165092"/>
            <a:ext cx="2157984" cy="329184"/>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23468C"/>
                </a:solidFill>
                <a:latin typeface="Liberation Sans"/>
              </a:defRPr>
            </a:pPr>
            <a:r>
              <a:t>Continuer</a:t>
            </a:r>
          </a:p>
        </p:txBody>
      </p:sp>
      <p:sp>
        <p:nvSpPr>
          <p:cNvPr id="32" name="TextBox 31"/>
          <p:cNvSpPr txBox="1"/>
          <p:nvPr/>
        </p:nvSpPr>
        <p:spPr>
          <a:xfrm>
            <a:off x="8264369" y="4475988"/>
            <a:ext cx="2157984" cy="329184"/>
          </a:xfrm>
          <a:prstGeom prst="rect">
            <a:avLst/>
          </a:prstGeom>
          <a:noFill/>
        </p:spPr>
        <p:txBody>
          <a:bodyPr wrap="square" lIns="22860" rIns="22860" tIns="22860" bIns="22860" anchor="ctr">
            <a:spAutoFit/>
          </a:bodyPr>
          <a:lstStyle/>
          <a:p>
            <a:pPr algn="ctr">
              <a:spcBef>
                <a:spcPts val="0"/>
              </a:spcBef>
              <a:spcAft>
                <a:spcPts val="300"/>
              </a:spcAft>
              <a:defRPr sz="1450" b="0">
                <a:solidFill>
                  <a:srgbClr val="0D0D0D"/>
                </a:solidFill>
                <a:latin typeface="Liberation Sans"/>
              </a:defRPr>
            </a:pPr>
            <a:r>
              <a:t>Mode métier dégradé</a:t>
            </a:r>
          </a:p>
        </p:txBody>
      </p:sp>
      <p:sp>
        <p:nvSpPr>
          <p:cNvPr id="33" name="Rounded Rectangle 32"/>
          <p:cNvSpPr/>
          <p:nvPr/>
        </p:nvSpPr>
        <p:spPr>
          <a:xfrm>
            <a:off x="4919472" y="4828032"/>
            <a:ext cx="2322576" cy="80467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01768" y="4882896"/>
            <a:ext cx="2157984" cy="329184"/>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23468C"/>
                </a:solidFill>
                <a:latin typeface="Liberation Sans"/>
              </a:defRPr>
            </a:pPr>
            <a:r>
              <a:t>Diagnostiquer</a:t>
            </a:r>
          </a:p>
        </p:txBody>
      </p:sp>
      <p:sp>
        <p:nvSpPr>
          <p:cNvPr id="35" name="TextBox 34"/>
          <p:cNvSpPr txBox="1"/>
          <p:nvPr/>
        </p:nvSpPr>
        <p:spPr>
          <a:xfrm>
            <a:off x="5001768" y="5193792"/>
            <a:ext cx="2157984" cy="329184"/>
          </a:xfrm>
          <a:prstGeom prst="rect">
            <a:avLst/>
          </a:prstGeom>
          <a:noFill/>
        </p:spPr>
        <p:txBody>
          <a:bodyPr wrap="square" lIns="22860" rIns="22860" tIns="22860" bIns="22860" anchor="ctr">
            <a:spAutoFit/>
          </a:bodyPr>
          <a:lstStyle/>
          <a:p>
            <a:pPr algn="ctr">
              <a:spcBef>
                <a:spcPts val="0"/>
              </a:spcBef>
              <a:spcAft>
                <a:spcPts val="300"/>
              </a:spcAft>
              <a:defRPr sz="1600" b="0">
                <a:solidFill>
                  <a:srgbClr val="0D0D0D"/>
                </a:solidFill>
                <a:latin typeface="Liberation Sans"/>
              </a:defRPr>
            </a:pPr>
            <a:r>
              <a:t>Cause et périmètre</a:t>
            </a:r>
          </a:p>
        </p:txBody>
      </p:sp>
      <p:sp>
        <p:nvSpPr>
          <p:cNvPr id="36" name="Rounded Rectangle 35"/>
          <p:cNvSpPr/>
          <p:nvPr/>
        </p:nvSpPr>
        <p:spPr>
          <a:xfrm>
            <a:off x="1656870" y="4110228"/>
            <a:ext cx="2322576" cy="80467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739166" y="4165092"/>
            <a:ext cx="2157984" cy="329184"/>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23468C"/>
                </a:solidFill>
                <a:latin typeface="Liberation Sans"/>
              </a:defRPr>
            </a:pPr>
            <a:r>
              <a:t>Rétablir</a:t>
            </a:r>
          </a:p>
        </p:txBody>
      </p:sp>
      <p:sp>
        <p:nvSpPr>
          <p:cNvPr id="38" name="TextBox 37"/>
          <p:cNvSpPr txBox="1"/>
          <p:nvPr/>
        </p:nvSpPr>
        <p:spPr>
          <a:xfrm>
            <a:off x="1739166" y="4475988"/>
            <a:ext cx="2157984" cy="329184"/>
          </a:xfrm>
          <a:prstGeom prst="rect">
            <a:avLst/>
          </a:prstGeom>
          <a:noFill/>
        </p:spPr>
        <p:txBody>
          <a:bodyPr wrap="square" lIns="22860" rIns="22860" tIns="22860" bIns="22860" anchor="ctr">
            <a:spAutoFit/>
          </a:bodyPr>
          <a:lstStyle/>
          <a:p>
            <a:pPr algn="ctr">
              <a:spcBef>
                <a:spcPts val="0"/>
              </a:spcBef>
              <a:spcAft>
                <a:spcPts val="300"/>
              </a:spcAft>
              <a:defRPr sz="1600" b="0">
                <a:solidFill>
                  <a:srgbClr val="0D0D0D"/>
                </a:solidFill>
                <a:latin typeface="Liberation Sans"/>
              </a:defRPr>
            </a:pPr>
            <a:r>
              <a:t>Critères de reprise</a:t>
            </a:r>
          </a:p>
        </p:txBody>
      </p:sp>
      <p:sp>
        <p:nvSpPr>
          <p:cNvPr id="39" name="Rounded Rectangle 38"/>
          <p:cNvSpPr/>
          <p:nvPr/>
        </p:nvSpPr>
        <p:spPr>
          <a:xfrm>
            <a:off x="1656870" y="2674620"/>
            <a:ext cx="2322576" cy="80467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739166" y="2729484"/>
            <a:ext cx="2157984" cy="329184"/>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23468C"/>
                </a:solidFill>
                <a:latin typeface="Liberation Sans"/>
              </a:defRPr>
            </a:pPr>
            <a:r>
              <a:t>Apprendre</a:t>
            </a:r>
          </a:p>
        </p:txBody>
      </p:sp>
      <p:sp>
        <p:nvSpPr>
          <p:cNvPr id="41" name="TextBox 40"/>
          <p:cNvSpPr txBox="1"/>
          <p:nvPr/>
        </p:nvSpPr>
        <p:spPr>
          <a:xfrm>
            <a:off x="1739166" y="3040380"/>
            <a:ext cx="2157984" cy="329184"/>
          </a:xfrm>
          <a:prstGeom prst="rect">
            <a:avLst/>
          </a:prstGeom>
          <a:noFill/>
        </p:spPr>
        <p:txBody>
          <a:bodyPr wrap="square" lIns="22860" rIns="22860" tIns="22860" bIns="22860" anchor="ctr">
            <a:spAutoFit/>
          </a:bodyPr>
          <a:lstStyle/>
          <a:p>
            <a:pPr algn="ctr">
              <a:spcBef>
                <a:spcPts val="0"/>
              </a:spcBef>
              <a:spcAft>
                <a:spcPts val="300"/>
              </a:spcAft>
              <a:defRPr sz="1300" b="0">
                <a:solidFill>
                  <a:srgbClr val="0D0D0D"/>
                </a:solidFill>
                <a:latin typeface="Liberation Sans"/>
              </a:defRPr>
            </a:pPr>
            <a:r>
              <a:t>Tests et documentation</a:t>
            </a:r>
          </a:p>
        </p:txBody>
      </p:sp>
      <p:sp>
        <p:nvSpPr>
          <p:cNvPr id="42" name="Oval 41"/>
          <p:cNvSpPr/>
          <p:nvPr/>
        </p:nvSpPr>
        <p:spPr>
          <a:xfrm>
            <a:off x="5074920" y="3136392"/>
            <a:ext cx="2011680" cy="1316736"/>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236976"/>
            <a:ext cx="1810512" cy="1115568"/>
          </a:xfrm>
          <a:prstGeom prst="rect">
            <a:avLst/>
          </a:prstGeom>
          <a:noFill/>
        </p:spPr>
        <p:txBody>
          <a:bodyPr wrap="square" lIns="22860" rIns="22860" tIns="22860" bIns="22860" anchor="ctr">
            <a:spAutoFit/>
          </a:bodyPr>
          <a:lstStyle/>
          <a:p>
            <a:pPr algn="ctr">
              <a:spcBef>
                <a:spcPts val="0"/>
              </a:spcBef>
              <a:spcAft>
                <a:spcPts val="300"/>
              </a:spcAft>
              <a:defRPr sz="2300" b="1">
                <a:solidFill>
                  <a:srgbClr val="FFFFFF"/>
                </a:solidFill>
                <a:latin typeface="Liberation Sans"/>
              </a:defRPr>
            </a:pPr>
            <a:r>
              <a:t>DÉCISION</a:t>
            </a:r>
          </a:p>
          <a:p>
            <a:pPr algn="ctr">
              <a:spcBef>
                <a:spcPts val="0"/>
              </a:spcBef>
              <a:spcAft>
                <a:spcPts val="300"/>
              </a:spcAft>
              <a:defRPr sz="2300" b="1">
                <a:solidFill>
                  <a:srgbClr val="FFFFFF"/>
                </a:solidFill>
                <a:latin typeface="Liberation Sans"/>
              </a:defRPr>
            </a:pPr>
            <a:r>
              <a:t>MÉTIER</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B5</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ÉVALUATION</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2950" b="1">
                <a:solidFill>
                  <a:srgbClr val="132443"/>
                </a:solidFill>
                <a:latin typeface="Liberation Sans"/>
              </a:defRPr>
            </a:pPr>
            <a:r>
              <a:t>Restitution : défendre votre système en trois minutes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15 minutes au total • Quatre groupes maximum en restitution successive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J2-064</a:t>
            </a:r>
          </a:p>
        </p:txBody>
      </p:sp>
      <p:sp>
        <p:nvSpPr>
          <p:cNvPr id="12" name="Rounded Rectangle 11"/>
          <p:cNvSpPr/>
          <p:nvPr/>
        </p:nvSpPr>
        <p:spPr>
          <a:xfrm>
            <a:off x="594360" y="1965960"/>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65960"/>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0312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30 secondes</a:t>
            </a:r>
          </a:p>
        </p:txBody>
      </p:sp>
      <p:sp>
        <p:nvSpPr>
          <p:cNvPr id="15" name="TextBox 14"/>
          <p:cNvSpPr txBox="1"/>
          <p:nvPr/>
        </p:nvSpPr>
        <p:spPr>
          <a:xfrm>
            <a:off x="758952" y="2642616"/>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Le problème et le résultat métier attendu.</a:t>
            </a:r>
          </a:p>
        </p:txBody>
      </p:sp>
      <p:sp>
        <p:nvSpPr>
          <p:cNvPr id="16" name="Rounded Rectangle 15"/>
          <p:cNvSpPr/>
          <p:nvPr/>
        </p:nvSpPr>
        <p:spPr>
          <a:xfrm>
            <a:off x="6195059" y="1965960"/>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965960"/>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210312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60 secondes</a:t>
            </a:r>
          </a:p>
        </p:txBody>
      </p:sp>
      <p:sp>
        <p:nvSpPr>
          <p:cNvPr id="19" name="TextBox 18"/>
          <p:cNvSpPr txBox="1"/>
          <p:nvPr/>
        </p:nvSpPr>
        <p:spPr>
          <a:xfrm>
            <a:off x="6359651" y="2642616"/>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Données, modèle, architecture et flux.</a:t>
            </a:r>
          </a:p>
        </p:txBody>
      </p:sp>
      <p:sp>
        <p:nvSpPr>
          <p:cNvPr id="20" name="Rounded Rectangle 19"/>
          <p:cNvSpPr/>
          <p:nvPr/>
        </p:nvSpPr>
        <p:spPr>
          <a:xfrm>
            <a:off x="594360" y="3758183"/>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758183"/>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89534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45 secondes</a:t>
            </a:r>
          </a:p>
        </p:txBody>
      </p:sp>
      <p:sp>
        <p:nvSpPr>
          <p:cNvPr id="23" name="TextBox 22"/>
          <p:cNvSpPr txBox="1"/>
          <p:nvPr/>
        </p:nvSpPr>
        <p:spPr>
          <a:xfrm>
            <a:off x="758952" y="4434840"/>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Gouvernance, risques et mode dégradé.</a:t>
            </a:r>
          </a:p>
        </p:txBody>
      </p:sp>
      <p:sp>
        <p:nvSpPr>
          <p:cNvPr id="24" name="Rounded Rectangle 23"/>
          <p:cNvSpPr/>
          <p:nvPr/>
        </p:nvSpPr>
        <p:spPr>
          <a:xfrm>
            <a:off x="6195059" y="3758183"/>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758183"/>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89534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45 secondes</a:t>
            </a:r>
          </a:p>
        </p:txBody>
      </p:sp>
      <p:sp>
        <p:nvSpPr>
          <p:cNvPr id="27" name="TextBox 26"/>
          <p:cNvSpPr txBox="1"/>
          <p:nvPr/>
        </p:nvSpPr>
        <p:spPr>
          <a:xfrm>
            <a:off x="6359651" y="4434840"/>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Mesures, validation et prochaine décision.</a:t>
            </a:r>
          </a:p>
        </p:txBody>
      </p:sp>
      <p:sp>
        <p:nvSpPr>
          <p:cNvPr id="28" name="TextBox 27"/>
          <p:cNvSpPr txBox="1"/>
          <p:nvPr/>
        </p:nvSpPr>
        <p:spPr>
          <a:xfrm>
            <a:off x="630936" y="1655064"/>
            <a:ext cx="10058400" cy="228600"/>
          </a:xfrm>
          <a:prstGeom prst="rect">
            <a:avLst/>
          </a:prstGeom>
          <a:noFill/>
        </p:spPr>
        <p:txBody>
          <a:bodyPr wrap="square" lIns="22860" rIns="22860" tIns="22860" bIns="22860" anchor="ctr">
            <a:spAutoFit/>
          </a:bodyPr>
          <a:lstStyle/>
          <a:p>
            <a:pPr>
              <a:spcBef>
                <a:spcPts val="0"/>
              </a:spcBef>
              <a:spcAft>
                <a:spcPts val="300"/>
              </a:spcAft>
              <a:defRPr sz="1300" b="1">
                <a:solidFill>
                  <a:srgbClr val="238C33"/>
                </a:solidFill>
                <a:latin typeface="Liberation Sans"/>
              </a:defRPr>
            </a:pPr>
            <a:r>
              <a:t>ATELIER  /  30 MINUTES POUR LA SÉQUENCE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B5</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ÉVALUATION</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Évaluation finale : appliquer les distinctions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10 minutes • QCM individuel • Corrigé dans le guide formateur</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J2-065</a:t>
            </a:r>
          </a:p>
        </p:txBody>
      </p:sp>
      <p:sp>
        <p:nvSpPr>
          <p:cNvPr id="12" name="Oval 11"/>
          <p:cNvSpPr/>
          <p:nvPr/>
        </p:nvSpPr>
        <p:spPr>
          <a:xfrm>
            <a:off x="713232" y="1856231"/>
            <a:ext cx="429768" cy="429768"/>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2376" y="1892807"/>
            <a:ext cx="411480" cy="274320"/>
          </a:xfrm>
          <a:prstGeom prst="rect">
            <a:avLst/>
          </a:prstGeom>
          <a:noFill/>
        </p:spPr>
        <p:txBody>
          <a:bodyPr wrap="square" lIns="22860" rIns="22860" tIns="22860" bIns="22860" anchor="ctr">
            <a:spAutoFit/>
          </a:bodyPr>
          <a:lstStyle/>
          <a:p>
            <a:pPr algn="ctr">
              <a:spcBef>
                <a:spcPts val="0"/>
              </a:spcBef>
              <a:spcAft>
                <a:spcPts val="300"/>
              </a:spcAft>
              <a:defRPr sz="1500" b="1">
                <a:solidFill>
                  <a:srgbClr val="FFFFFF"/>
                </a:solidFill>
                <a:latin typeface="Liberation Sans"/>
              </a:defRPr>
            </a:pPr>
            <a:r>
              <a:t>1</a:t>
            </a:r>
          </a:p>
        </p:txBody>
      </p:sp>
      <p:sp>
        <p:nvSpPr>
          <p:cNvPr id="14" name="TextBox 13"/>
          <p:cNvSpPr txBox="1"/>
          <p:nvPr/>
        </p:nvSpPr>
        <p:spPr>
          <a:xfrm>
            <a:off x="1344168" y="1828800"/>
            <a:ext cx="10131552" cy="809243"/>
          </a:xfrm>
          <a:prstGeom prst="rect">
            <a:avLst/>
          </a:prstGeom>
          <a:noFill/>
        </p:spPr>
        <p:txBody>
          <a:bodyPr wrap="square" lIns="22860" rIns="22860" tIns="22860" bIns="22860" anchor="ctr">
            <a:spAutoFit/>
          </a:bodyPr>
          <a:lstStyle/>
          <a:p>
            <a:pPr>
              <a:spcBef>
                <a:spcPts val="0"/>
              </a:spcBef>
              <a:spcAft>
                <a:spcPts val="300"/>
              </a:spcAft>
              <a:defRPr sz="2500" b="0">
                <a:solidFill>
                  <a:srgbClr val="0D0D0D"/>
                </a:solidFill>
                <a:latin typeface="Liberation Sans"/>
              </a:defRPr>
            </a:pPr>
            <a:r>
              <a:t>Cible, temporalité et référence simple.</a:t>
            </a:r>
          </a:p>
        </p:txBody>
      </p:sp>
      <p:sp>
        <p:nvSpPr>
          <p:cNvPr id="15" name="Oval 14"/>
          <p:cNvSpPr/>
          <p:nvPr/>
        </p:nvSpPr>
        <p:spPr>
          <a:xfrm>
            <a:off x="713232" y="2775203"/>
            <a:ext cx="429768" cy="429768"/>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 y="2811779"/>
            <a:ext cx="411480" cy="274320"/>
          </a:xfrm>
          <a:prstGeom prst="rect">
            <a:avLst/>
          </a:prstGeom>
          <a:noFill/>
        </p:spPr>
        <p:txBody>
          <a:bodyPr wrap="square" lIns="22860" rIns="22860" tIns="22860" bIns="22860" anchor="ctr">
            <a:spAutoFit/>
          </a:bodyPr>
          <a:lstStyle/>
          <a:p>
            <a:pPr algn="ctr">
              <a:spcBef>
                <a:spcPts val="0"/>
              </a:spcBef>
              <a:spcAft>
                <a:spcPts val="300"/>
              </a:spcAft>
              <a:defRPr sz="1500" b="1">
                <a:solidFill>
                  <a:srgbClr val="FFFFFF"/>
                </a:solidFill>
                <a:latin typeface="Liberation Sans"/>
              </a:defRPr>
            </a:pPr>
            <a:r>
              <a:t>2</a:t>
            </a:r>
          </a:p>
        </p:txBody>
      </p:sp>
      <p:sp>
        <p:nvSpPr>
          <p:cNvPr id="17" name="TextBox 16"/>
          <p:cNvSpPr txBox="1"/>
          <p:nvPr/>
        </p:nvSpPr>
        <p:spPr>
          <a:xfrm>
            <a:off x="1344168" y="2747772"/>
            <a:ext cx="10131552" cy="809243"/>
          </a:xfrm>
          <a:prstGeom prst="rect">
            <a:avLst/>
          </a:prstGeom>
          <a:noFill/>
        </p:spPr>
        <p:txBody>
          <a:bodyPr wrap="square" lIns="22860" rIns="22860" tIns="22860" bIns="22860" anchor="ctr">
            <a:spAutoFit/>
          </a:bodyPr>
          <a:lstStyle/>
          <a:p>
            <a:pPr>
              <a:spcBef>
                <a:spcPts val="0"/>
              </a:spcBef>
              <a:spcAft>
                <a:spcPts val="300"/>
              </a:spcAft>
              <a:defRPr sz="2500" b="0">
                <a:solidFill>
                  <a:srgbClr val="0D0D0D"/>
                </a:solidFill>
                <a:latin typeface="Liberation Sans"/>
              </a:defRPr>
            </a:pPr>
            <a:r>
              <a:t>Précision, seuil et test indépendant.</a:t>
            </a:r>
          </a:p>
        </p:txBody>
      </p:sp>
      <p:sp>
        <p:nvSpPr>
          <p:cNvPr id="18" name="Oval 17"/>
          <p:cNvSpPr/>
          <p:nvPr/>
        </p:nvSpPr>
        <p:spPr>
          <a:xfrm>
            <a:off x="713232" y="3694176"/>
            <a:ext cx="429768" cy="429768"/>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376" y="3730752"/>
            <a:ext cx="411480" cy="274320"/>
          </a:xfrm>
          <a:prstGeom prst="rect">
            <a:avLst/>
          </a:prstGeom>
          <a:noFill/>
        </p:spPr>
        <p:txBody>
          <a:bodyPr wrap="square" lIns="22860" rIns="22860" tIns="22860" bIns="22860" anchor="ctr">
            <a:spAutoFit/>
          </a:bodyPr>
          <a:lstStyle/>
          <a:p>
            <a:pPr algn="ctr">
              <a:spcBef>
                <a:spcPts val="0"/>
              </a:spcBef>
              <a:spcAft>
                <a:spcPts val="300"/>
              </a:spcAft>
              <a:defRPr sz="1500" b="1">
                <a:solidFill>
                  <a:srgbClr val="FFFFFF"/>
                </a:solidFill>
                <a:latin typeface="Liberation Sans"/>
              </a:defRPr>
            </a:pPr>
            <a:r>
              <a:t>3</a:t>
            </a:r>
          </a:p>
        </p:txBody>
      </p:sp>
      <p:sp>
        <p:nvSpPr>
          <p:cNvPr id="20" name="TextBox 19"/>
          <p:cNvSpPr txBox="1"/>
          <p:nvPr/>
        </p:nvSpPr>
        <p:spPr>
          <a:xfrm>
            <a:off x="1344168" y="3666744"/>
            <a:ext cx="10131552" cy="809243"/>
          </a:xfrm>
          <a:prstGeom prst="rect">
            <a:avLst/>
          </a:prstGeom>
          <a:noFill/>
        </p:spPr>
        <p:txBody>
          <a:bodyPr wrap="square" lIns="22860" rIns="22860" tIns="22860" bIns="22860" anchor="ctr">
            <a:spAutoFit/>
          </a:bodyPr>
          <a:lstStyle/>
          <a:p>
            <a:pPr>
              <a:spcBef>
                <a:spcPts val="0"/>
              </a:spcBef>
              <a:spcAft>
                <a:spcPts val="300"/>
              </a:spcAft>
              <a:defRPr sz="2500" b="0">
                <a:solidFill>
                  <a:srgbClr val="0D0D0D"/>
                </a:solidFill>
                <a:latin typeface="Liberation Sans"/>
              </a:defRPr>
            </a:pPr>
            <a:r>
              <a:t>API, droits et gouvernance.</a:t>
            </a:r>
          </a:p>
        </p:txBody>
      </p:sp>
      <p:sp>
        <p:nvSpPr>
          <p:cNvPr id="21" name="Oval 20"/>
          <p:cNvSpPr/>
          <p:nvPr/>
        </p:nvSpPr>
        <p:spPr>
          <a:xfrm>
            <a:off x="713232" y="4613148"/>
            <a:ext cx="429768" cy="429768"/>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6" y="4649724"/>
            <a:ext cx="411480" cy="274320"/>
          </a:xfrm>
          <a:prstGeom prst="rect">
            <a:avLst/>
          </a:prstGeom>
          <a:noFill/>
        </p:spPr>
        <p:txBody>
          <a:bodyPr wrap="square" lIns="22860" rIns="22860" tIns="22860" bIns="22860" anchor="ctr">
            <a:spAutoFit/>
          </a:bodyPr>
          <a:lstStyle/>
          <a:p>
            <a:pPr algn="ctr">
              <a:spcBef>
                <a:spcPts val="0"/>
              </a:spcBef>
              <a:spcAft>
                <a:spcPts val="300"/>
              </a:spcAft>
              <a:defRPr sz="1500" b="1">
                <a:solidFill>
                  <a:srgbClr val="FFFFFF"/>
                </a:solidFill>
                <a:latin typeface="Liberation Sans"/>
              </a:defRPr>
            </a:pPr>
            <a:r>
              <a:t>4</a:t>
            </a:r>
          </a:p>
        </p:txBody>
      </p:sp>
      <p:sp>
        <p:nvSpPr>
          <p:cNvPr id="23" name="TextBox 22"/>
          <p:cNvSpPr txBox="1"/>
          <p:nvPr/>
        </p:nvSpPr>
        <p:spPr>
          <a:xfrm>
            <a:off x="1344168" y="4585716"/>
            <a:ext cx="10131552" cy="809243"/>
          </a:xfrm>
          <a:prstGeom prst="rect">
            <a:avLst/>
          </a:prstGeom>
          <a:noFill/>
        </p:spPr>
        <p:txBody>
          <a:bodyPr wrap="square" lIns="22860" rIns="22860" tIns="22860" bIns="22860" anchor="ctr">
            <a:spAutoFit/>
          </a:bodyPr>
          <a:lstStyle/>
          <a:p>
            <a:pPr>
              <a:spcBef>
                <a:spcPts val="0"/>
              </a:spcBef>
              <a:spcAft>
                <a:spcPts val="300"/>
              </a:spcAft>
              <a:defRPr sz="2500" b="0">
                <a:solidFill>
                  <a:srgbClr val="0D0D0D"/>
                </a:solidFill>
                <a:latin typeface="Liberation Sans"/>
              </a:defRPr>
            </a:pPr>
            <a:r>
              <a:t>Dérive, repli et impact métier.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B5</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ÉVALUATION</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Votre prochain cas d’usage, sur une page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5 minutes • Fiche individuelle de transfert • Un fait à vérifier avant le prototype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J2-066</a:t>
            </a:r>
          </a:p>
        </p:txBody>
      </p:sp>
      <p:sp>
        <p:nvSpPr>
          <p:cNvPr id="12" name="Rounded Rectangle 11"/>
          <p:cNvSpPr/>
          <p:nvPr/>
        </p:nvSpPr>
        <p:spPr>
          <a:xfrm>
            <a:off x="594360" y="1783080"/>
            <a:ext cx="3532632" cy="116128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16128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1874519"/>
            <a:ext cx="322173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Décision</a:t>
            </a:r>
          </a:p>
        </p:txBody>
      </p:sp>
      <p:sp>
        <p:nvSpPr>
          <p:cNvPr id="15" name="TextBox 14"/>
          <p:cNvSpPr txBox="1"/>
          <p:nvPr/>
        </p:nvSpPr>
        <p:spPr>
          <a:xfrm>
            <a:off x="749808" y="2185416"/>
            <a:ext cx="3221736" cy="704088"/>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Ce que je veux améliorer</a:t>
            </a:r>
          </a:p>
        </p:txBody>
      </p:sp>
      <p:sp>
        <p:nvSpPr>
          <p:cNvPr id="16" name="Rounded Rectangle 15"/>
          <p:cNvSpPr/>
          <p:nvPr/>
        </p:nvSpPr>
        <p:spPr>
          <a:xfrm>
            <a:off x="4328160" y="1783080"/>
            <a:ext cx="3532632" cy="116128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8160" y="1783080"/>
            <a:ext cx="54864" cy="1161288"/>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3608" y="1874519"/>
            <a:ext cx="322173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8C33"/>
                </a:solidFill>
                <a:latin typeface="Liberation Sans"/>
              </a:defRPr>
            </a:pPr>
            <a:r>
              <a:t>Données</a:t>
            </a:r>
          </a:p>
        </p:txBody>
      </p:sp>
      <p:sp>
        <p:nvSpPr>
          <p:cNvPr id="19" name="TextBox 18"/>
          <p:cNvSpPr txBox="1"/>
          <p:nvPr/>
        </p:nvSpPr>
        <p:spPr>
          <a:xfrm>
            <a:off x="4483608" y="2185416"/>
            <a:ext cx="3221736" cy="704088"/>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Ce qui existe réellement</a:t>
            </a:r>
          </a:p>
        </p:txBody>
      </p:sp>
      <p:sp>
        <p:nvSpPr>
          <p:cNvPr id="20" name="Rounded Rectangle 19"/>
          <p:cNvSpPr/>
          <p:nvPr/>
        </p:nvSpPr>
        <p:spPr>
          <a:xfrm>
            <a:off x="8061960" y="1783080"/>
            <a:ext cx="3532632" cy="116128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61960" y="1783080"/>
            <a:ext cx="54864" cy="116128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17408" y="1874519"/>
            <a:ext cx="322173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Utilisateur</a:t>
            </a:r>
          </a:p>
        </p:txBody>
      </p:sp>
      <p:sp>
        <p:nvSpPr>
          <p:cNvPr id="23" name="TextBox 22"/>
          <p:cNvSpPr txBox="1"/>
          <p:nvPr/>
        </p:nvSpPr>
        <p:spPr>
          <a:xfrm>
            <a:off x="8217408" y="2185416"/>
            <a:ext cx="3221736" cy="704088"/>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Qui peut agir</a:t>
            </a:r>
          </a:p>
        </p:txBody>
      </p:sp>
      <p:sp>
        <p:nvSpPr>
          <p:cNvPr id="24" name="Rounded Rectangle 23"/>
          <p:cNvSpPr/>
          <p:nvPr/>
        </p:nvSpPr>
        <p:spPr>
          <a:xfrm>
            <a:off x="594360" y="3145536"/>
            <a:ext cx="3532632" cy="116128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4360" y="3145536"/>
            <a:ext cx="54864" cy="1161288"/>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3236976"/>
            <a:ext cx="322173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8C33"/>
                </a:solidFill>
                <a:latin typeface="Liberation Sans"/>
              </a:defRPr>
            </a:pPr>
            <a:r>
              <a:t>Méthode</a:t>
            </a:r>
          </a:p>
        </p:txBody>
      </p:sp>
      <p:sp>
        <p:nvSpPr>
          <p:cNvPr id="27" name="TextBox 26"/>
          <p:cNvSpPr txBox="1"/>
          <p:nvPr/>
        </p:nvSpPr>
        <p:spPr>
          <a:xfrm>
            <a:off x="749808" y="3547872"/>
            <a:ext cx="3221736" cy="704088"/>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Ce qui est plausible</a:t>
            </a:r>
          </a:p>
        </p:txBody>
      </p:sp>
      <p:sp>
        <p:nvSpPr>
          <p:cNvPr id="28" name="Rounded Rectangle 27"/>
          <p:cNvSpPr/>
          <p:nvPr/>
        </p:nvSpPr>
        <p:spPr>
          <a:xfrm>
            <a:off x="4328160" y="3145536"/>
            <a:ext cx="3532632" cy="116128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28160" y="3145536"/>
            <a:ext cx="54864" cy="116128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83608" y="3236976"/>
            <a:ext cx="322173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Mesure</a:t>
            </a:r>
          </a:p>
        </p:txBody>
      </p:sp>
      <p:sp>
        <p:nvSpPr>
          <p:cNvPr id="31" name="TextBox 30"/>
          <p:cNvSpPr txBox="1"/>
          <p:nvPr/>
        </p:nvSpPr>
        <p:spPr>
          <a:xfrm>
            <a:off x="4483608" y="3547872"/>
            <a:ext cx="3221736" cy="704088"/>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Ce que je vérifierai</a:t>
            </a:r>
          </a:p>
        </p:txBody>
      </p:sp>
      <p:sp>
        <p:nvSpPr>
          <p:cNvPr id="32" name="Rounded Rectangle 31"/>
          <p:cNvSpPr/>
          <p:nvPr/>
        </p:nvSpPr>
        <p:spPr>
          <a:xfrm>
            <a:off x="8061960" y="3145536"/>
            <a:ext cx="3532632" cy="116128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61960" y="3145536"/>
            <a:ext cx="54864" cy="1161288"/>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17408" y="3236976"/>
            <a:ext cx="322173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8C33"/>
                </a:solidFill>
                <a:latin typeface="Liberation Sans"/>
              </a:defRPr>
            </a:pPr>
            <a:r>
              <a:t>Risques</a:t>
            </a:r>
          </a:p>
        </p:txBody>
      </p:sp>
      <p:sp>
        <p:nvSpPr>
          <p:cNvPr id="35" name="TextBox 34"/>
          <p:cNvSpPr txBox="1"/>
          <p:nvPr/>
        </p:nvSpPr>
        <p:spPr>
          <a:xfrm>
            <a:off x="8217408" y="3547872"/>
            <a:ext cx="3221736" cy="704088"/>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Ce qui peut mal se passer</a:t>
            </a:r>
          </a:p>
        </p:txBody>
      </p:sp>
      <p:sp>
        <p:nvSpPr>
          <p:cNvPr id="36" name="Rounded Rectangle 35"/>
          <p:cNvSpPr/>
          <p:nvPr/>
        </p:nvSpPr>
        <p:spPr>
          <a:xfrm>
            <a:off x="594360" y="4507992"/>
            <a:ext cx="3532632" cy="116128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94360" y="4507992"/>
            <a:ext cx="54864" cy="116128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9808" y="4599431"/>
            <a:ext cx="322173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Responsable</a:t>
            </a:r>
          </a:p>
        </p:txBody>
      </p:sp>
      <p:sp>
        <p:nvSpPr>
          <p:cNvPr id="39" name="TextBox 38"/>
          <p:cNvSpPr txBox="1"/>
          <p:nvPr/>
        </p:nvSpPr>
        <p:spPr>
          <a:xfrm>
            <a:off x="749808" y="4910328"/>
            <a:ext cx="3221736" cy="704088"/>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Qui doit arbitrer</a:t>
            </a:r>
          </a:p>
        </p:txBody>
      </p:sp>
      <p:sp>
        <p:nvSpPr>
          <p:cNvPr id="40" name="Rounded Rectangle 39"/>
          <p:cNvSpPr/>
          <p:nvPr/>
        </p:nvSpPr>
        <p:spPr>
          <a:xfrm>
            <a:off x="4328160" y="4507992"/>
            <a:ext cx="3532632" cy="116128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328160" y="4507992"/>
            <a:ext cx="54864" cy="1161288"/>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83608" y="4599431"/>
            <a:ext cx="322173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8C33"/>
                </a:solidFill>
                <a:latin typeface="Liberation Sans"/>
              </a:defRPr>
            </a:pPr>
            <a:r>
              <a:t>Intégration</a:t>
            </a:r>
          </a:p>
        </p:txBody>
      </p:sp>
      <p:sp>
        <p:nvSpPr>
          <p:cNvPr id="43" name="TextBox 42"/>
          <p:cNvSpPr txBox="1"/>
          <p:nvPr/>
        </p:nvSpPr>
        <p:spPr>
          <a:xfrm>
            <a:off x="4483608" y="4910328"/>
            <a:ext cx="3221736" cy="704088"/>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Où le résultat arrive</a:t>
            </a:r>
          </a:p>
        </p:txBody>
      </p:sp>
      <p:sp>
        <p:nvSpPr>
          <p:cNvPr id="44" name="Rounded Rectangle 43"/>
          <p:cNvSpPr/>
          <p:nvPr/>
        </p:nvSpPr>
        <p:spPr>
          <a:xfrm>
            <a:off x="8061960" y="4507992"/>
            <a:ext cx="3532632" cy="116128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061960" y="4507992"/>
            <a:ext cx="54864" cy="116128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17408" y="4599431"/>
            <a:ext cx="322173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Étape suivante</a:t>
            </a:r>
          </a:p>
        </p:txBody>
      </p:sp>
      <p:sp>
        <p:nvSpPr>
          <p:cNvPr id="47" name="TextBox 46"/>
          <p:cNvSpPr txBox="1"/>
          <p:nvPr/>
        </p:nvSpPr>
        <p:spPr>
          <a:xfrm>
            <a:off x="8217408" y="4910328"/>
            <a:ext cx="3221736" cy="704088"/>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Une vérification concrète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32443"/>
        </a:solidFill>
        <a:effectLst/>
      </p:bgPr>
    </p:bg>
    <p:spTree>
      <p:nvGrpSpPr>
        <p:cNvPr id="1" name=""/>
        <p:cNvGrpSpPr/>
        <p:nvPr/>
      </p:nvGrpSpPr>
      <p:grpSpPr/>
      <p:sp>
        <p:nvSpPr>
          <p:cNvPr id="2" name="TextBox 1"/>
          <p:cNvSpPr txBox="1"/>
          <p:nvPr/>
        </p:nvSpPr>
        <p:spPr>
          <a:xfrm>
            <a:off x="594360" y="457200"/>
            <a:ext cx="10058400" cy="365760"/>
          </a:xfrm>
          <a:prstGeom prst="rect">
            <a:avLst/>
          </a:prstGeom>
          <a:noFill/>
        </p:spPr>
        <p:txBody>
          <a:bodyPr wrap="square" lIns="22860" rIns="22860" tIns="22860" bIns="22860" anchor="ctr">
            <a:spAutoFit/>
          </a:bodyPr>
          <a:lstStyle/>
          <a:p>
            <a:pPr>
              <a:spcBef>
                <a:spcPts val="0"/>
              </a:spcBef>
              <a:spcAft>
                <a:spcPts val="300"/>
              </a:spcAft>
              <a:defRPr sz="1400" b="1">
                <a:solidFill>
                  <a:srgbClr val="FFFFFF"/>
                </a:solidFill>
                <a:latin typeface="Liberation Sans"/>
              </a:defRPr>
            </a:pPr>
            <a:r>
              <a:t>JOUR 2  /  ANNEXE  /  NIVEAU APPLICATION</a:t>
            </a:r>
          </a:p>
        </p:txBody>
      </p:sp>
      <p:sp>
        <p:nvSpPr>
          <p:cNvPr id="3" name="TextBox 2"/>
          <p:cNvSpPr txBox="1"/>
          <p:nvPr/>
        </p:nvSpPr>
        <p:spPr>
          <a:xfrm>
            <a:off x="594360" y="1353312"/>
            <a:ext cx="10607040" cy="1965960"/>
          </a:xfrm>
          <a:prstGeom prst="rect">
            <a:avLst/>
          </a:prstGeom>
          <a:noFill/>
        </p:spPr>
        <p:txBody>
          <a:bodyPr wrap="square" lIns="22860" rIns="22860" tIns="22860" bIns="22860" anchor="ctr">
            <a:spAutoFit/>
          </a:bodyPr>
          <a:lstStyle/>
          <a:p>
            <a:pPr>
              <a:spcBef>
                <a:spcPts val="0"/>
              </a:spcBef>
              <a:spcAft>
                <a:spcPts val="300"/>
              </a:spcAft>
              <a:defRPr sz="4200" b="1">
                <a:solidFill>
                  <a:srgbClr val="FFFFFF"/>
                </a:solidFill>
                <a:latin typeface="Liberation Sans"/>
              </a:defRPr>
            </a:pPr>
            <a:r>
              <a:t>Annexes du jour 2</a:t>
            </a:r>
          </a:p>
        </p:txBody>
      </p:sp>
      <p:sp>
        <p:nvSpPr>
          <p:cNvPr id="4" name="TextBox 3"/>
          <p:cNvSpPr txBox="1"/>
          <p:nvPr/>
        </p:nvSpPr>
        <p:spPr>
          <a:xfrm>
            <a:off x="658368" y="3675887"/>
            <a:ext cx="10789920" cy="457200"/>
          </a:xfrm>
          <a:prstGeom prst="rect">
            <a:avLst/>
          </a:prstGeom>
          <a:noFill/>
        </p:spPr>
        <p:txBody>
          <a:bodyPr wrap="square" lIns="22860" rIns="22860" tIns="22860" bIns="22860" anchor="ctr">
            <a:spAutoFit/>
          </a:bodyPr>
          <a:lstStyle/>
          <a:p>
            <a:pPr>
              <a:spcBef>
                <a:spcPts val="0"/>
              </a:spcBef>
              <a:spcAft>
                <a:spcPts val="300"/>
              </a:spcAft>
              <a:defRPr sz="2400" b="0">
                <a:solidFill>
                  <a:srgbClr val="FFFFFF"/>
                </a:solidFill>
                <a:latin typeface="Liberation Sans"/>
              </a:defRPr>
            </a:pPr>
            <a:r>
              <a:t>01  Approfondissements techniques</a:t>
            </a:r>
          </a:p>
        </p:txBody>
      </p:sp>
      <p:sp>
        <p:nvSpPr>
          <p:cNvPr id="5" name="TextBox 4"/>
          <p:cNvSpPr txBox="1"/>
          <p:nvPr/>
        </p:nvSpPr>
        <p:spPr>
          <a:xfrm>
            <a:off x="658368" y="4224527"/>
            <a:ext cx="10789920" cy="457200"/>
          </a:xfrm>
          <a:prstGeom prst="rect">
            <a:avLst/>
          </a:prstGeom>
          <a:noFill/>
        </p:spPr>
        <p:txBody>
          <a:bodyPr wrap="square" lIns="22860" rIns="22860" tIns="22860" bIns="22860" anchor="ctr">
            <a:spAutoFit/>
          </a:bodyPr>
          <a:lstStyle/>
          <a:p>
            <a:pPr>
              <a:spcBef>
                <a:spcPts val="0"/>
              </a:spcBef>
              <a:spcAft>
                <a:spcPts val="300"/>
              </a:spcAft>
              <a:defRPr sz="2400" b="0">
                <a:solidFill>
                  <a:srgbClr val="FFFFFF"/>
                </a:solidFill>
                <a:latin typeface="Liberation Sans"/>
              </a:defRPr>
            </a:pPr>
            <a:r>
              <a:t>02  Corrigés et grilles</a:t>
            </a:r>
          </a:p>
        </p:txBody>
      </p:sp>
      <p:sp>
        <p:nvSpPr>
          <p:cNvPr id="6" name="TextBox 5"/>
          <p:cNvSpPr txBox="1"/>
          <p:nvPr/>
        </p:nvSpPr>
        <p:spPr>
          <a:xfrm>
            <a:off x="658368" y="4773168"/>
            <a:ext cx="10789920" cy="457200"/>
          </a:xfrm>
          <a:prstGeom prst="rect">
            <a:avLst/>
          </a:prstGeom>
          <a:noFill/>
        </p:spPr>
        <p:txBody>
          <a:bodyPr wrap="square" lIns="22860" rIns="22860" tIns="22860" bIns="22860" anchor="ctr">
            <a:spAutoFit/>
          </a:bodyPr>
          <a:lstStyle/>
          <a:p>
            <a:pPr>
              <a:spcBef>
                <a:spcPts val="0"/>
              </a:spcBef>
              <a:spcAft>
                <a:spcPts val="300"/>
              </a:spcAft>
              <a:defRPr sz="2400" b="0">
                <a:solidFill>
                  <a:srgbClr val="FFFFFF"/>
                </a:solidFill>
                <a:latin typeface="Liberation Sans"/>
              </a:defRPr>
            </a:pPr>
            <a:r>
              <a:t>03  Références</a:t>
            </a:r>
          </a:p>
        </p:txBody>
      </p:sp>
      <p:sp>
        <p:nvSpPr>
          <p:cNvPr id="7" name="TextBox 6"/>
          <p:cNvSpPr txBox="1"/>
          <p:nvPr/>
        </p:nvSpPr>
        <p:spPr>
          <a:xfrm>
            <a:off x="594360" y="6080760"/>
            <a:ext cx="10972800" cy="384048"/>
          </a:xfrm>
          <a:prstGeom prst="rect">
            <a:avLst/>
          </a:prstGeom>
          <a:noFill/>
        </p:spPr>
        <p:txBody>
          <a:bodyPr wrap="square" lIns="22860" rIns="22860" tIns="22860" bIns="22860" anchor="ctr">
            <a:spAutoFit/>
          </a:bodyPr>
          <a:lstStyle/>
          <a:p>
            <a:pPr>
              <a:spcBef>
                <a:spcPts val="0"/>
              </a:spcBef>
              <a:spcAft>
                <a:spcPts val="300"/>
              </a:spcAft>
              <a:defRPr sz="1800" b="1">
                <a:solidFill>
                  <a:srgbClr val="D9CF4A"/>
                </a:solidFill>
                <a:latin typeface="Liberation Sans"/>
              </a:defRPr>
            </a:pPr>
            <a:r>
              <a:t>Hors minutage • Banque de ressources formateur</a:t>
            </a:r>
          </a:p>
        </p:txBody>
      </p:sp>
      <p:sp>
        <p:nvSpPr>
          <p:cNvPr id="8" name="TextBox 7"/>
          <p:cNvSpPr txBox="1"/>
          <p:nvPr/>
        </p:nvSpPr>
        <p:spPr>
          <a:xfrm>
            <a:off x="594360" y="6556248"/>
            <a:ext cx="9144000" cy="146304"/>
          </a:xfrm>
          <a:prstGeom prst="rect">
            <a:avLst/>
          </a:prstGeom>
          <a:noFill/>
        </p:spPr>
        <p:txBody>
          <a:bodyPr wrap="square" lIns="22860" rIns="22860" tIns="22860" bIns="22860" anchor="ctr">
            <a:spAutoFit/>
          </a:bodyPr>
          <a:lstStyle/>
          <a:p>
            <a:pPr>
              <a:spcBef>
                <a:spcPts val="0"/>
              </a:spcBef>
              <a:spcAft>
                <a:spcPts val="300"/>
              </a:spcAft>
              <a:defRPr sz="1300" b="0">
                <a:solidFill>
                  <a:srgbClr val="FFFFFF"/>
                </a:solidFill>
                <a:latin typeface="Liberation Sans"/>
              </a:defRPr>
            </a:pPr>
            <a:r>
              <a:t>https://p2enjoy.studio</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150" b="1">
                <a:solidFill>
                  <a:srgbClr val="132443"/>
                </a:solidFill>
                <a:latin typeface="Liberation Sans"/>
              </a:defRPr>
            </a:pPr>
            <a:r>
              <a:t>Régression : lire une erreur dans une unité métier</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Une métrique doit rester interprétable dans le problème qu’elle mesure.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S04</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J2-068</a:t>
            </a:r>
          </a:p>
        </p:txBody>
      </p:sp>
      <p:sp>
        <p:nvSpPr>
          <p:cNvPr id="12" name="Rounded Rectangle 11"/>
          <p:cNvSpPr/>
          <p:nvPr/>
        </p:nvSpPr>
        <p:spPr>
          <a:xfrm>
            <a:off x="594360"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MAE</a:t>
            </a:r>
          </a:p>
        </p:txBody>
      </p:sp>
      <p:sp>
        <p:nvSpPr>
          <p:cNvPr id="15" name="TextBox 14"/>
          <p:cNvSpPr txBox="1"/>
          <p:nvPr/>
        </p:nvSpPr>
        <p:spPr>
          <a:xfrm>
            <a:off x="758952"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Moyenne des écarts absolus, dans l’unité de la cible.</a:t>
            </a:r>
          </a:p>
        </p:txBody>
      </p:sp>
      <p:sp>
        <p:nvSpPr>
          <p:cNvPr id="16" name="Rounded Rectangle 15"/>
          <p:cNvSpPr/>
          <p:nvPr/>
        </p:nvSpPr>
        <p:spPr>
          <a:xfrm>
            <a:off x="6195059"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RMSE</a:t>
            </a:r>
          </a:p>
        </p:txBody>
      </p:sp>
      <p:sp>
        <p:nvSpPr>
          <p:cNvPr id="19" name="TextBox 18"/>
          <p:cNvSpPr txBox="1"/>
          <p:nvPr/>
        </p:nvSpPr>
        <p:spPr>
          <a:xfrm>
            <a:off x="6359651"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Pénalise davantage les grands écarts.</a:t>
            </a:r>
          </a:p>
        </p:txBody>
      </p:sp>
      <p:sp>
        <p:nvSpPr>
          <p:cNvPr id="20" name="Rounded Rectangle 19"/>
          <p:cNvSpPr/>
          <p:nvPr/>
        </p:nvSpPr>
        <p:spPr>
          <a:xfrm>
            <a:off x="594360"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Prévision</a:t>
            </a:r>
          </a:p>
        </p:txBody>
      </p:sp>
      <p:sp>
        <p:nvSpPr>
          <p:cNvPr id="23" name="TextBox 22"/>
          <p:cNvSpPr txBox="1"/>
          <p:nvPr/>
        </p:nvSpPr>
        <p:spPr>
          <a:xfrm>
            <a:off x="758952"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Comparer à une méthode naïve et à plusieurs horizons.</a:t>
            </a:r>
          </a:p>
        </p:txBody>
      </p:sp>
      <p:sp>
        <p:nvSpPr>
          <p:cNvPr id="24" name="Rounded Rectangle 23"/>
          <p:cNvSpPr/>
          <p:nvPr/>
        </p:nvSpPr>
        <p:spPr>
          <a:xfrm>
            <a:off x="6195059"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Décision</a:t>
            </a:r>
          </a:p>
        </p:txBody>
      </p:sp>
      <p:sp>
        <p:nvSpPr>
          <p:cNvPr id="27" name="TextBox 26"/>
          <p:cNvSpPr txBox="1"/>
          <p:nvPr/>
        </p:nvSpPr>
        <p:spPr>
          <a:xfrm>
            <a:off x="6359651"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Relier l’erreur au stock, au coût ou à la capacité.</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K-means : regrouper n’est pas expliquer</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Un cluster est un résultat de méthode, pas une catégorie naturelle garantie.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S02</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J2-069</a:t>
            </a:r>
          </a:p>
        </p:txBody>
      </p:sp>
      <p:sp>
        <p:nvSpPr>
          <p:cNvPr id="12" name="Rounded Rectangle 11"/>
          <p:cNvSpPr/>
          <p:nvPr/>
        </p:nvSpPr>
        <p:spPr>
          <a:xfrm>
            <a:off x="594360"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Distance</a:t>
            </a:r>
          </a:p>
        </p:txBody>
      </p:sp>
      <p:sp>
        <p:nvSpPr>
          <p:cNvPr id="15" name="TextBox 14"/>
          <p:cNvSpPr txBox="1"/>
          <p:nvPr/>
        </p:nvSpPr>
        <p:spPr>
          <a:xfrm>
            <a:off x="758952"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Dépend des variables et de leur échelle.</a:t>
            </a:r>
          </a:p>
        </p:txBody>
      </p:sp>
      <p:sp>
        <p:nvSpPr>
          <p:cNvPr id="16" name="Rounded Rectangle 15"/>
          <p:cNvSpPr/>
          <p:nvPr/>
        </p:nvSpPr>
        <p:spPr>
          <a:xfrm>
            <a:off x="6195059"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Groupes</a:t>
            </a:r>
          </a:p>
        </p:txBody>
      </p:sp>
      <p:sp>
        <p:nvSpPr>
          <p:cNvPr id="19" name="TextBox 18"/>
          <p:cNvSpPr txBox="1"/>
          <p:nvPr/>
        </p:nvSpPr>
        <p:spPr>
          <a:xfrm>
            <a:off x="6359651"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Le nombre est un paramètre de conception.</a:t>
            </a:r>
          </a:p>
        </p:txBody>
      </p:sp>
      <p:sp>
        <p:nvSpPr>
          <p:cNvPr id="20" name="Rounded Rectangle 19"/>
          <p:cNvSpPr/>
          <p:nvPr/>
        </p:nvSpPr>
        <p:spPr>
          <a:xfrm>
            <a:off x="594360"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Métier</a:t>
            </a:r>
          </a:p>
        </p:txBody>
      </p:sp>
      <p:sp>
        <p:nvSpPr>
          <p:cNvPr id="23" name="TextBox 22"/>
          <p:cNvSpPr txBox="1"/>
          <p:nvPr/>
        </p:nvSpPr>
        <p:spPr>
          <a:xfrm>
            <a:off x="758952"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L’interprétation et l’utilité doivent être vérifiées.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Personnaliser sans enfermer</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La personnalisation sert l’utilisateur ; elle ne le réduit pas à son historique.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S07</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J2-070</a:t>
            </a:r>
          </a:p>
        </p:txBody>
      </p:sp>
      <p:sp>
        <p:nvSpPr>
          <p:cNvPr id="12" name="Rounded Rectangle 11"/>
          <p:cNvSpPr/>
          <p:nvPr/>
        </p:nvSpPr>
        <p:spPr>
          <a:xfrm>
            <a:off x="594360"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Pertinence</a:t>
            </a:r>
          </a:p>
        </p:txBody>
      </p:sp>
      <p:sp>
        <p:nvSpPr>
          <p:cNvPr id="15" name="TextBox 14"/>
          <p:cNvSpPr txBox="1"/>
          <p:nvPr/>
        </p:nvSpPr>
        <p:spPr>
          <a:xfrm>
            <a:off x="758952"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Proposer ce qui répond au besoin actuel.</a:t>
            </a:r>
          </a:p>
        </p:txBody>
      </p:sp>
      <p:sp>
        <p:nvSpPr>
          <p:cNvPr id="16" name="Rounded Rectangle 15"/>
          <p:cNvSpPr/>
          <p:nvPr/>
        </p:nvSpPr>
        <p:spPr>
          <a:xfrm>
            <a:off x="6195059"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Exploration</a:t>
            </a:r>
          </a:p>
        </p:txBody>
      </p:sp>
      <p:sp>
        <p:nvSpPr>
          <p:cNvPr id="19" name="TextBox 18"/>
          <p:cNvSpPr txBox="1"/>
          <p:nvPr/>
        </p:nvSpPr>
        <p:spPr>
          <a:xfrm>
            <a:off x="6359651"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Laisser une place à la nouveauté.</a:t>
            </a:r>
          </a:p>
        </p:txBody>
      </p:sp>
      <p:sp>
        <p:nvSpPr>
          <p:cNvPr id="20" name="Rounded Rectangle 19"/>
          <p:cNvSpPr/>
          <p:nvPr/>
        </p:nvSpPr>
        <p:spPr>
          <a:xfrm>
            <a:off x="594360"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Contrôle</a:t>
            </a:r>
          </a:p>
        </p:txBody>
      </p:sp>
      <p:sp>
        <p:nvSpPr>
          <p:cNvPr id="23" name="TextBox 22"/>
          <p:cNvSpPr txBox="1"/>
          <p:nvPr/>
        </p:nvSpPr>
        <p:spPr>
          <a:xfrm>
            <a:off x="758952"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Permettre de corriger des préférences.</a:t>
            </a:r>
          </a:p>
        </p:txBody>
      </p:sp>
      <p:sp>
        <p:nvSpPr>
          <p:cNvPr id="24" name="Rounded Rectangle 23"/>
          <p:cNvSpPr/>
          <p:nvPr/>
        </p:nvSpPr>
        <p:spPr>
          <a:xfrm>
            <a:off x="6195059"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Évaluation</a:t>
            </a:r>
          </a:p>
        </p:txBody>
      </p:sp>
      <p:sp>
        <p:nvSpPr>
          <p:cNvPr id="27" name="TextBox 26"/>
          <p:cNvSpPr txBox="1"/>
          <p:nvPr/>
        </p:nvSpPr>
        <p:spPr>
          <a:xfrm>
            <a:off x="6359651"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Surveiller diversité, qualité et effets à long terme.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Un neurone artificiel, sans analogie trompeuse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Paramètres appris ≠ connaissance causale garantie.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S05</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J2-071</a:t>
            </a:r>
          </a:p>
        </p:txBody>
      </p:sp>
      <p:sp>
        <p:nvSpPr>
          <p:cNvPr id="12" name="Rounded Rectangle 11"/>
          <p:cNvSpPr/>
          <p:nvPr/>
        </p:nvSpPr>
        <p:spPr>
          <a:xfrm>
            <a:off x="594360"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01</a:t>
            </a:r>
          </a:p>
        </p:txBody>
      </p:sp>
      <p:sp>
        <p:nvSpPr>
          <p:cNvPr id="15" name="TextBox 14"/>
          <p:cNvSpPr txBox="1"/>
          <p:nvPr/>
        </p:nvSpPr>
        <p:spPr>
          <a:xfrm>
            <a:off x="768096"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Entrées</a:t>
            </a:r>
          </a:p>
        </p:txBody>
      </p:sp>
      <p:sp>
        <p:nvSpPr>
          <p:cNvPr id="16" name="TextBox 15"/>
          <p:cNvSpPr txBox="1"/>
          <p:nvPr/>
        </p:nvSpPr>
        <p:spPr>
          <a:xfrm>
            <a:off x="758952"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x₁, x₂, x₃</a:t>
            </a:r>
          </a:p>
        </p:txBody>
      </p:sp>
      <p:sp>
        <p:nvSpPr>
          <p:cNvPr id="17" name="Chevron 16"/>
          <p:cNvSpPr/>
          <p:nvPr/>
        </p:nvSpPr>
        <p:spPr>
          <a:xfrm>
            <a:off x="3182112"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415284"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15284"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89020"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02</a:t>
            </a:r>
          </a:p>
        </p:txBody>
      </p:sp>
      <p:sp>
        <p:nvSpPr>
          <p:cNvPr id="21" name="TextBox 20"/>
          <p:cNvSpPr txBox="1"/>
          <p:nvPr/>
        </p:nvSpPr>
        <p:spPr>
          <a:xfrm>
            <a:off x="3589020"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Paramètres</a:t>
            </a:r>
          </a:p>
        </p:txBody>
      </p:sp>
      <p:sp>
        <p:nvSpPr>
          <p:cNvPr id="22" name="TextBox 21"/>
          <p:cNvSpPr txBox="1"/>
          <p:nvPr/>
        </p:nvSpPr>
        <p:spPr>
          <a:xfrm>
            <a:off x="3579876"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w₁, w₂, w₃ et biais</a:t>
            </a:r>
          </a:p>
        </p:txBody>
      </p:sp>
      <p:sp>
        <p:nvSpPr>
          <p:cNvPr id="23" name="Chevron 22"/>
          <p:cNvSpPr/>
          <p:nvPr/>
        </p:nvSpPr>
        <p:spPr>
          <a:xfrm>
            <a:off x="6003036"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236208"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36208"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9944"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03</a:t>
            </a:r>
          </a:p>
        </p:txBody>
      </p:sp>
      <p:sp>
        <p:nvSpPr>
          <p:cNvPr id="27" name="TextBox 26"/>
          <p:cNvSpPr txBox="1"/>
          <p:nvPr/>
        </p:nvSpPr>
        <p:spPr>
          <a:xfrm>
            <a:off x="6409944"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Calcul</a:t>
            </a:r>
          </a:p>
        </p:txBody>
      </p:sp>
      <p:sp>
        <p:nvSpPr>
          <p:cNvPr id="28" name="TextBox 27"/>
          <p:cNvSpPr txBox="1"/>
          <p:nvPr/>
        </p:nvSpPr>
        <p:spPr>
          <a:xfrm>
            <a:off x="6400800"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Somme pondérée puis activation</a:t>
            </a:r>
          </a:p>
        </p:txBody>
      </p:sp>
      <p:sp>
        <p:nvSpPr>
          <p:cNvPr id="29" name="Chevron 28"/>
          <p:cNvSpPr/>
          <p:nvPr/>
        </p:nvSpPr>
        <p:spPr>
          <a:xfrm>
            <a:off x="8823960"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057132"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057132"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30867"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04</a:t>
            </a:r>
          </a:p>
        </p:txBody>
      </p:sp>
      <p:sp>
        <p:nvSpPr>
          <p:cNvPr id="33" name="TextBox 32"/>
          <p:cNvSpPr txBox="1"/>
          <p:nvPr/>
        </p:nvSpPr>
        <p:spPr>
          <a:xfrm>
            <a:off x="9230867"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Sortie</a:t>
            </a:r>
          </a:p>
        </p:txBody>
      </p:sp>
      <p:sp>
        <p:nvSpPr>
          <p:cNvPr id="34" name="TextBox 33"/>
          <p:cNvSpPr txBox="1"/>
          <p:nvPr/>
        </p:nvSpPr>
        <p:spPr>
          <a:xfrm>
            <a:off x="9221724"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Une valeur transmise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250" b="1">
                <a:solidFill>
                  <a:srgbClr val="132443"/>
                </a:solidFill>
                <a:latin typeface="Liberation Sans"/>
              </a:defRPr>
            </a:pPr>
            <a:r>
              <a:t>Entraîner, adapter ou utiliser un modèle existant</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Choisir le niveau de maîtrise adapté au risque et aux moyens disponibles.</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S16 · S28</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J2-072</a:t>
            </a:r>
          </a:p>
        </p:txBody>
      </p:sp>
      <p:sp>
        <p:nvSpPr>
          <p:cNvPr id="12" name="Rounded Rectangle 11"/>
          <p:cNvSpPr/>
          <p:nvPr/>
        </p:nvSpPr>
        <p:spPr>
          <a:xfrm>
            <a:off x="594360" y="1783080"/>
            <a:ext cx="5399531" cy="38862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38862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Construire / adapter</a:t>
            </a:r>
          </a:p>
        </p:txBody>
      </p:sp>
      <p:sp>
        <p:nvSpPr>
          <p:cNvPr id="15" name="TextBox 14"/>
          <p:cNvSpPr txBox="1"/>
          <p:nvPr/>
        </p:nvSpPr>
        <p:spPr>
          <a:xfrm>
            <a:off x="758952" y="2459736"/>
            <a:ext cx="5070347" cy="306324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Maîtriser les données, les évaluations et l’exploitation.</a:t>
            </a:r>
          </a:p>
          <a:p>
            <a:pPr>
              <a:spcBef>
                <a:spcPts val="0"/>
              </a:spcBef>
              <a:spcAft>
                <a:spcPts val="300"/>
              </a:spcAft>
              <a:defRPr sz="2100" b="0">
                <a:solidFill>
                  <a:srgbClr val="0D0D0D"/>
                </a:solidFill>
                <a:latin typeface="Liberation Sans"/>
              </a:defRPr>
            </a:pPr>
            <a:r>
              <a:t>Coût et compétences à prévoir.</a:t>
            </a:r>
          </a:p>
        </p:txBody>
      </p:sp>
      <p:sp>
        <p:nvSpPr>
          <p:cNvPr id="16" name="Rounded Rectangle 15"/>
          <p:cNvSpPr/>
          <p:nvPr/>
        </p:nvSpPr>
        <p:spPr>
          <a:xfrm>
            <a:off x="6195059" y="1783080"/>
            <a:ext cx="5399531" cy="38862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38862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Utiliser un service</a:t>
            </a:r>
          </a:p>
        </p:txBody>
      </p:sp>
      <p:sp>
        <p:nvSpPr>
          <p:cNvPr id="19" name="TextBox 18"/>
          <p:cNvSpPr txBox="1"/>
          <p:nvPr/>
        </p:nvSpPr>
        <p:spPr>
          <a:xfrm>
            <a:off x="6359651" y="2459736"/>
            <a:ext cx="5070347" cy="306324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Intégrer une capacité existante.</a:t>
            </a:r>
          </a:p>
          <a:p>
            <a:pPr>
              <a:spcBef>
                <a:spcPts val="0"/>
              </a:spcBef>
              <a:spcAft>
                <a:spcPts val="300"/>
              </a:spcAft>
              <a:defRPr sz="2100" b="0">
                <a:solidFill>
                  <a:srgbClr val="0D0D0D"/>
                </a:solidFill>
                <a:latin typeface="Liberation Sans"/>
              </a:defRPr>
            </a:pPr>
            <a:r>
              <a:t>Contrats, droits, confidentialité et réversibilité à vérifier.</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250" b="1">
                <a:solidFill>
                  <a:srgbClr val="132443"/>
                </a:solidFill>
                <a:latin typeface="Liberation Sans"/>
              </a:defRPr>
            </a:pPr>
            <a:r>
              <a:t>Ce qu’il faut versionner pour reproduire un score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La reproductibilité concerne le système de décision complet.</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S28 · P01</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J2-073</a:t>
            </a:r>
          </a:p>
        </p:txBody>
      </p:sp>
      <p:sp>
        <p:nvSpPr>
          <p:cNvPr id="12" name="Rounded Rectangle 11"/>
          <p:cNvSpPr/>
          <p:nvPr/>
        </p:nvSpPr>
        <p:spPr>
          <a:xfrm>
            <a:off x="594360" y="1783080"/>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Données</a:t>
            </a:r>
          </a:p>
        </p:txBody>
      </p:sp>
      <p:sp>
        <p:nvSpPr>
          <p:cNvPr id="15" name="TextBox 14"/>
          <p:cNvSpPr txBox="1"/>
          <p:nvPr/>
        </p:nvSpPr>
        <p:spPr>
          <a:xfrm>
            <a:off x="758952" y="2459736"/>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Périmètre, date, schéma, labels.</a:t>
            </a:r>
          </a:p>
        </p:txBody>
      </p:sp>
      <p:sp>
        <p:nvSpPr>
          <p:cNvPr id="16" name="Rounded Rectangle 15"/>
          <p:cNvSpPr/>
          <p:nvPr/>
        </p:nvSpPr>
        <p:spPr>
          <a:xfrm>
            <a:off x="4328160" y="1783080"/>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8160"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1896" y="1920240"/>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Préparation</a:t>
            </a:r>
          </a:p>
        </p:txBody>
      </p:sp>
      <p:sp>
        <p:nvSpPr>
          <p:cNvPr id="19" name="TextBox 18"/>
          <p:cNvSpPr txBox="1"/>
          <p:nvPr/>
        </p:nvSpPr>
        <p:spPr>
          <a:xfrm>
            <a:off x="4492752" y="2459736"/>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Code, paramètres et transformations.</a:t>
            </a:r>
          </a:p>
        </p:txBody>
      </p:sp>
      <p:sp>
        <p:nvSpPr>
          <p:cNvPr id="20" name="Rounded Rectangle 19"/>
          <p:cNvSpPr/>
          <p:nvPr/>
        </p:nvSpPr>
        <p:spPr>
          <a:xfrm>
            <a:off x="8061960" y="1783080"/>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619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5695" y="1920240"/>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Modèle</a:t>
            </a:r>
          </a:p>
        </p:txBody>
      </p:sp>
      <p:sp>
        <p:nvSpPr>
          <p:cNvPr id="23" name="TextBox 22"/>
          <p:cNvSpPr txBox="1"/>
          <p:nvPr/>
        </p:nvSpPr>
        <p:spPr>
          <a:xfrm>
            <a:off x="8226551" y="2459736"/>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Artefact, réglages et protocole.</a:t>
            </a:r>
          </a:p>
        </p:txBody>
      </p:sp>
      <p:sp>
        <p:nvSpPr>
          <p:cNvPr id="24" name="Rounded Rectangle 23"/>
          <p:cNvSpPr/>
          <p:nvPr/>
        </p:nvSpPr>
        <p:spPr>
          <a:xfrm>
            <a:off x="594360" y="3826764"/>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4360"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963924"/>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Service</a:t>
            </a:r>
          </a:p>
        </p:txBody>
      </p:sp>
      <p:sp>
        <p:nvSpPr>
          <p:cNvPr id="27" name="TextBox 26"/>
          <p:cNvSpPr txBox="1"/>
          <p:nvPr/>
        </p:nvSpPr>
        <p:spPr>
          <a:xfrm>
            <a:off x="758952" y="4503420"/>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Version de l’API et dépendances.</a:t>
            </a:r>
          </a:p>
        </p:txBody>
      </p:sp>
      <p:sp>
        <p:nvSpPr>
          <p:cNvPr id="28" name="Rounded Rectangle 27"/>
          <p:cNvSpPr/>
          <p:nvPr/>
        </p:nvSpPr>
        <p:spPr>
          <a:xfrm>
            <a:off x="4328160" y="3826764"/>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281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01896" y="3963924"/>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Décision</a:t>
            </a:r>
          </a:p>
        </p:txBody>
      </p:sp>
      <p:sp>
        <p:nvSpPr>
          <p:cNvPr id="31" name="TextBox 30"/>
          <p:cNvSpPr txBox="1"/>
          <p:nvPr/>
        </p:nvSpPr>
        <p:spPr>
          <a:xfrm>
            <a:off x="4492752" y="4503420"/>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Seuil, quota, exclusions et règles.</a:t>
            </a:r>
          </a:p>
        </p:txBody>
      </p:sp>
      <p:sp>
        <p:nvSpPr>
          <p:cNvPr id="32" name="Rounded Rectangle 31"/>
          <p:cNvSpPr/>
          <p:nvPr/>
        </p:nvSpPr>
        <p:spPr>
          <a:xfrm>
            <a:off x="8061960" y="3826764"/>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61960"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35695" y="3963924"/>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Résultat</a:t>
            </a:r>
          </a:p>
        </p:txBody>
      </p:sp>
      <p:sp>
        <p:nvSpPr>
          <p:cNvPr id="35" name="TextBox 34"/>
          <p:cNvSpPr txBox="1"/>
          <p:nvPr/>
        </p:nvSpPr>
        <p:spPr>
          <a:xfrm>
            <a:off x="8226551" y="4503420"/>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Date, traces et état de supervision.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2900" b="1">
                <a:solidFill>
                  <a:srgbClr val="132443"/>
                </a:solidFill>
                <a:latin typeface="Liberation Sans"/>
              </a:defRPr>
            </a:pPr>
            <a:r>
              <a:t>Déployer progressivement et savoir revenir en arrière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Un déploiement maîtrisé prévoit son arrêt avant son extension.</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S28</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J2-074</a:t>
            </a:r>
          </a:p>
        </p:txBody>
      </p:sp>
      <p:sp>
        <p:nvSpPr>
          <p:cNvPr id="12" name="Rounded Rectangle 11"/>
          <p:cNvSpPr/>
          <p:nvPr/>
        </p:nvSpPr>
        <p:spPr>
          <a:xfrm>
            <a:off x="594360"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01</a:t>
            </a:r>
          </a:p>
        </p:txBody>
      </p:sp>
      <p:sp>
        <p:nvSpPr>
          <p:cNvPr id="15" name="TextBox 14"/>
          <p:cNvSpPr txBox="1"/>
          <p:nvPr/>
        </p:nvSpPr>
        <p:spPr>
          <a:xfrm>
            <a:off x="768096"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Hors ligne</a:t>
            </a:r>
          </a:p>
        </p:txBody>
      </p:sp>
      <p:sp>
        <p:nvSpPr>
          <p:cNvPr id="16" name="TextBox 15"/>
          <p:cNvSpPr txBox="1"/>
          <p:nvPr/>
        </p:nvSpPr>
        <p:spPr>
          <a:xfrm>
            <a:off x="758952"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Valider le protocole</a:t>
            </a:r>
          </a:p>
        </p:txBody>
      </p:sp>
      <p:sp>
        <p:nvSpPr>
          <p:cNvPr id="17" name="Chevron 16"/>
          <p:cNvSpPr/>
          <p:nvPr/>
        </p:nvSpPr>
        <p:spPr>
          <a:xfrm>
            <a:off x="2617927"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851099"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851099"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24835"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02</a:t>
            </a:r>
          </a:p>
        </p:txBody>
      </p:sp>
      <p:sp>
        <p:nvSpPr>
          <p:cNvPr id="21" name="TextBox 20"/>
          <p:cNvSpPr txBox="1"/>
          <p:nvPr/>
        </p:nvSpPr>
        <p:spPr>
          <a:xfrm>
            <a:off x="3024835" y="2514600"/>
            <a:ext cx="1625803" cy="704088"/>
          </a:xfrm>
          <a:prstGeom prst="rect">
            <a:avLst/>
          </a:prstGeom>
          <a:noFill/>
        </p:spPr>
        <p:txBody>
          <a:bodyPr wrap="square" lIns="22860" rIns="22860" tIns="22860" bIns="22860" anchor="ctr">
            <a:spAutoFit/>
          </a:bodyPr>
          <a:lstStyle/>
          <a:p>
            <a:pPr>
              <a:spcBef>
                <a:spcPts val="0"/>
              </a:spcBef>
              <a:spcAft>
                <a:spcPts val="300"/>
              </a:spcAft>
              <a:defRPr sz="1850" b="1">
                <a:solidFill>
                  <a:srgbClr val="238C33"/>
                </a:solidFill>
                <a:latin typeface="Liberation Sans"/>
              </a:defRPr>
            </a:pPr>
            <a:r>
              <a:t>Observation</a:t>
            </a:r>
          </a:p>
        </p:txBody>
      </p:sp>
      <p:sp>
        <p:nvSpPr>
          <p:cNvPr id="22" name="TextBox 21"/>
          <p:cNvSpPr txBox="1"/>
          <p:nvPr/>
        </p:nvSpPr>
        <p:spPr>
          <a:xfrm>
            <a:off x="3015691" y="3300984"/>
            <a:ext cx="1644091" cy="1508760"/>
          </a:xfrm>
          <a:prstGeom prst="rect">
            <a:avLst/>
          </a:prstGeom>
          <a:noFill/>
        </p:spPr>
        <p:txBody>
          <a:bodyPr wrap="square" lIns="22860" rIns="22860" tIns="22860" bIns="22860" anchor="t">
            <a:spAutoFit/>
          </a:bodyPr>
          <a:lstStyle/>
          <a:p>
            <a:pPr>
              <a:spcBef>
                <a:spcPts val="0"/>
              </a:spcBef>
              <a:spcAft>
                <a:spcPts val="300"/>
              </a:spcAft>
              <a:defRPr sz="2050" b="0">
                <a:solidFill>
                  <a:srgbClr val="0D0D0D"/>
                </a:solidFill>
                <a:latin typeface="Liberation Sans"/>
              </a:defRPr>
            </a:pPr>
            <a:r>
              <a:t>Calculer sans déclencher</a:t>
            </a:r>
          </a:p>
        </p:txBody>
      </p:sp>
      <p:sp>
        <p:nvSpPr>
          <p:cNvPr id="23" name="Chevron 22"/>
          <p:cNvSpPr/>
          <p:nvPr/>
        </p:nvSpPr>
        <p:spPr>
          <a:xfrm>
            <a:off x="4874666"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107838"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7838"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81574"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03</a:t>
            </a:r>
          </a:p>
        </p:txBody>
      </p:sp>
      <p:sp>
        <p:nvSpPr>
          <p:cNvPr id="27" name="TextBox 26"/>
          <p:cNvSpPr txBox="1"/>
          <p:nvPr/>
        </p:nvSpPr>
        <p:spPr>
          <a:xfrm>
            <a:off x="5281574"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Pilote</a:t>
            </a:r>
          </a:p>
        </p:txBody>
      </p:sp>
      <p:sp>
        <p:nvSpPr>
          <p:cNvPr id="28" name="TextBox 27"/>
          <p:cNvSpPr txBox="1"/>
          <p:nvPr/>
        </p:nvSpPr>
        <p:spPr>
          <a:xfrm>
            <a:off x="5272430"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Usage limité et supervisé</a:t>
            </a:r>
          </a:p>
        </p:txBody>
      </p:sp>
      <p:sp>
        <p:nvSpPr>
          <p:cNvPr id="29" name="Chevron 28"/>
          <p:cNvSpPr/>
          <p:nvPr/>
        </p:nvSpPr>
        <p:spPr>
          <a:xfrm>
            <a:off x="7131405"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364577"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4577"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38313"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04</a:t>
            </a:r>
          </a:p>
        </p:txBody>
      </p:sp>
      <p:sp>
        <p:nvSpPr>
          <p:cNvPr id="33" name="TextBox 32"/>
          <p:cNvSpPr txBox="1"/>
          <p:nvPr/>
        </p:nvSpPr>
        <p:spPr>
          <a:xfrm>
            <a:off x="7538313"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Extension</a:t>
            </a:r>
          </a:p>
        </p:txBody>
      </p:sp>
      <p:sp>
        <p:nvSpPr>
          <p:cNvPr id="34" name="TextBox 33"/>
          <p:cNvSpPr txBox="1"/>
          <p:nvPr/>
        </p:nvSpPr>
        <p:spPr>
          <a:xfrm>
            <a:off x="7529169"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Élargir si les critères tiennent</a:t>
            </a:r>
          </a:p>
        </p:txBody>
      </p:sp>
      <p:sp>
        <p:nvSpPr>
          <p:cNvPr id="35" name="Chevron 34"/>
          <p:cNvSpPr/>
          <p:nvPr/>
        </p:nvSpPr>
        <p:spPr>
          <a:xfrm>
            <a:off x="9388144"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621316"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21316"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95052"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05</a:t>
            </a:r>
          </a:p>
        </p:txBody>
      </p:sp>
      <p:sp>
        <p:nvSpPr>
          <p:cNvPr id="39" name="TextBox 38"/>
          <p:cNvSpPr txBox="1"/>
          <p:nvPr/>
        </p:nvSpPr>
        <p:spPr>
          <a:xfrm>
            <a:off x="9795052"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Repli</a:t>
            </a:r>
          </a:p>
        </p:txBody>
      </p:sp>
      <p:sp>
        <p:nvSpPr>
          <p:cNvPr id="40" name="TextBox 39"/>
          <p:cNvSpPr txBox="1"/>
          <p:nvPr/>
        </p:nvSpPr>
        <p:spPr>
          <a:xfrm>
            <a:off x="9785908"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Revenir à une option connue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2950" b="1">
                <a:solidFill>
                  <a:srgbClr val="132443"/>
                </a:solidFill>
                <a:latin typeface="Liberation Sans"/>
              </a:defRPr>
            </a:pPr>
            <a:r>
              <a:t>Prévision de maintenance : fiche de correction finale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Corrigé adaptable • Une alternative est recevable si elle est justifiée.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J2-075</a:t>
            </a:r>
          </a:p>
        </p:txBody>
      </p:sp>
      <p:sp>
        <p:nvSpPr>
          <p:cNvPr id="12" name="Rounded Rectangle 11"/>
          <p:cNvSpPr/>
          <p:nvPr/>
        </p:nvSpPr>
        <p:spPr>
          <a:xfrm>
            <a:off x="594360" y="1783080"/>
            <a:ext cx="3532632" cy="116128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16128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1874519"/>
            <a:ext cx="322173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Décision</a:t>
            </a:r>
          </a:p>
        </p:txBody>
      </p:sp>
      <p:sp>
        <p:nvSpPr>
          <p:cNvPr id="15" name="TextBox 14"/>
          <p:cNvSpPr txBox="1"/>
          <p:nvPr/>
        </p:nvSpPr>
        <p:spPr>
          <a:xfrm>
            <a:off x="749808" y="2185416"/>
            <a:ext cx="3221736" cy="704088"/>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Planifier une inspection avant une panne.</a:t>
            </a:r>
          </a:p>
        </p:txBody>
      </p:sp>
      <p:sp>
        <p:nvSpPr>
          <p:cNvPr id="16" name="Rounded Rectangle 15"/>
          <p:cNvSpPr/>
          <p:nvPr/>
        </p:nvSpPr>
        <p:spPr>
          <a:xfrm>
            <a:off x="4328160" y="1783080"/>
            <a:ext cx="3532632" cy="116128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8160" y="1783080"/>
            <a:ext cx="54864" cy="1161288"/>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3608" y="1874519"/>
            <a:ext cx="322173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8C33"/>
                </a:solidFill>
                <a:latin typeface="Liberation Sans"/>
              </a:defRPr>
            </a:pPr>
            <a:r>
              <a:t>Données</a:t>
            </a:r>
          </a:p>
        </p:txBody>
      </p:sp>
      <p:sp>
        <p:nvSpPr>
          <p:cNvPr id="19" name="TextBox 18"/>
          <p:cNvSpPr txBox="1"/>
          <p:nvPr/>
        </p:nvSpPr>
        <p:spPr>
          <a:xfrm>
            <a:off x="4483608" y="2185416"/>
            <a:ext cx="3221736" cy="704088"/>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Capteurs et historique de maintenance.</a:t>
            </a:r>
          </a:p>
        </p:txBody>
      </p:sp>
      <p:sp>
        <p:nvSpPr>
          <p:cNvPr id="20" name="Rounded Rectangle 19"/>
          <p:cNvSpPr/>
          <p:nvPr/>
        </p:nvSpPr>
        <p:spPr>
          <a:xfrm>
            <a:off x="8061960" y="1783080"/>
            <a:ext cx="3532632" cy="116128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61960" y="1783080"/>
            <a:ext cx="54864" cy="116128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17408" y="1874519"/>
            <a:ext cx="322173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Cible</a:t>
            </a:r>
          </a:p>
        </p:txBody>
      </p:sp>
      <p:sp>
        <p:nvSpPr>
          <p:cNvPr id="23" name="TextBox 22"/>
          <p:cNvSpPr txBox="1"/>
          <p:nvPr/>
        </p:nvSpPr>
        <p:spPr>
          <a:xfrm>
            <a:off x="8217408" y="2185416"/>
            <a:ext cx="3221736" cy="704088"/>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Panne dans un horizon défini.</a:t>
            </a:r>
          </a:p>
        </p:txBody>
      </p:sp>
      <p:sp>
        <p:nvSpPr>
          <p:cNvPr id="24" name="Rounded Rectangle 23"/>
          <p:cNvSpPr/>
          <p:nvPr/>
        </p:nvSpPr>
        <p:spPr>
          <a:xfrm>
            <a:off x="594360" y="3145536"/>
            <a:ext cx="3532632" cy="116128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4360" y="3145536"/>
            <a:ext cx="54864" cy="1161288"/>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3236976"/>
            <a:ext cx="322173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8C33"/>
                </a:solidFill>
                <a:latin typeface="Liberation Sans"/>
              </a:defRPr>
            </a:pPr>
            <a:r>
              <a:t>Méthode</a:t>
            </a:r>
          </a:p>
        </p:txBody>
      </p:sp>
      <p:sp>
        <p:nvSpPr>
          <p:cNvPr id="27" name="TextBox 26"/>
          <p:cNvSpPr txBox="1"/>
          <p:nvPr/>
        </p:nvSpPr>
        <p:spPr>
          <a:xfrm>
            <a:off x="749808" y="3547872"/>
            <a:ext cx="3221736" cy="704088"/>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Classification, survie ou anomalie selon labels.</a:t>
            </a:r>
          </a:p>
        </p:txBody>
      </p:sp>
      <p:sp>
        <p:nvSpPr>
          <p:cNvPr id="28" name="Rounded Rectangle 27"/>
          <p:cNvSpPr/>
          <p:nvPr/>
        </p:nvSpPr>
        <p:spPr>
          <a:xfrm>
            <a:off x="4328160" y="3145536"/>
            <a:ext cx="3532632" cy="116128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28160" y="3145536"/>
            <a:ext cx="54864" cy="116128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83608" y="3236976"/>
            <a:ext cx="322173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KPI</a:t>
            </a:r>
          </a:p>
        </p:txBody>
      </p:sp>
      <p:sp>
        <p:nvSpPr>
          <p:cNvPr id="31" name="TextBox 30"/>
          <p:cNvSpPr txBox="1"/>
          <p:nvPr/>
        </p:nvSpPr>
        <p:spPr>
          <a:xfrm>
            <a:off x="4483608" y="3547872"/>
            <a:ext cx="3221736" cy="704088"/>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Pannes, charge et disponibilité.</a:t>
            </a:r>
          </a:p>
        </p:txBody>
      </p:sp>
      <p:sp>
        <p:nvSpPr>
          <p:cNvPr id="32" name="Rounded Rectangle 31"/>
          <p:cNvSpPr/>
          <p:nvPr/>
        </p:nvSpPr>
        <p:spPr>
          <a:xfrm>
            <a:off x="8061960" y="3145536"/>
            <a:ext cx="3532632" cy="116128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61960" y="3145536"/>
            <a:ext cx="54864" cy="1161288"/>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17408" y="3236976"/>
            <a:ext cx="322173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8C33"/>
                </a:solidFill>
                <a:latin typeface="Liberation Sans"/>
              </a:defRPr>
            </a:pPr>
            <a:r>
              <a:t>Erreur</a:t>
            </a:r>
          </a:p>
        </p:txBody>
      </p:sp>
      <p:sp>
        <p:nvSpPr>
          <p:cNvPr id="35" name="TextBox 34"/>
          <p:cNvSpPr txBox="1"/>
          <p:nvPr/>
        </p:nvSpPr>
        <p:spPr>
          <a:xfrm>
            <a:off x="8217408" y="3547872"/>
            <a:ext cx="3221736" cy="704088"/>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Intervention inutile ou panne manquée.</a:t>
            </a:r>
          </a:p>
        </p:txBody>
      </p:sp>
      <p:sp>
        <p:nvSpPr>
          <p:cNvPr id="36" name="Rounded Rectangle 35"/>
          <p:cNvSpPr/>
          <p:nvPr/>
        </p:nvSpPr>
        <p:spPr>
          <a:xfrm>
            <a:off x="594360" y="4507992"/>
            <a:ext cx="3532632" cy="116128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94360" y="4507992"/>
            <a:ext cx="54864" cy="116128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9808" y="4599431"/>
            <a:ext cx="322173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SI</a:t>
            </a:r>
          </a:p>
        </p:txBody>
      </p:sp>
      <p:sp>
        <p:nvSpPr>
          <p:cNvPr id="39" name="TextBox 38"/>
          <p:cNvSpPr txBox="1"/>
          <p:nvPr/>
        </p:nvSpPr>
        <p:spPr>
          <a:xfrm>
            <a:off x="749808" y="4910328"/>
            <a:ext cx="3221736" cy="704088"/>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Alerte dans la GMAO.</a:t>
            </a:r>
          </a:p>
        </p:txBody>
      </p:sp>
      <p:sp>
        <p:nvSpPr>
          <p:cNvPr id="40" name="Rounded Rectangle 39"/>
          <p:cNvSpPr/>
          <p:nvPr/>
        </p:nvSpPr>
        <p:spPr>
          <a:xfrm>
            <a:off x="4328160" y="4507992"/>
            <a:ext cx="3532632" cy="116128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328160" y="4507992"/>
            <a:ext cx="54864" cy="1161288"/>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83608" y="4599431"/>
            <a:ext cx="322173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8C33"/>
                </a:solidFill>
                <a:latin typeface="Liberation Sans"/>
              </a:defRPr>
            </a:pPr>
            <a:r>
              <a:t>Droits</a:t>
            </a:r>
          </a:p>
        </p:txBody>
      </p:sp>
      <p:sp>
        <p:nvSpPr>
          <p:cNvPr id="43" name="TextBox 42"/>
          <p:cNvSpPr txBox="1"/>
          <p:nvPr/>
        </p:nvSpPr>
        <p:spPr>
          <a:xfrm>
            <a:off x="4483608" y="4910328"/>
            <a:ext cx="3221736" cy="704088"/>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Contrat client et accès limités.</a:t>
            </a:r>
          </a:p>
        </p:txBody>
      </p:sp>
      <p:sp>
        <p:nvSpPr>
          <p:cNvPr id="44" name="Rounded Rectangle 43"/>
          <p:cNvSpPr/>
          <p:nvPr/>
        </p:nvSpPr>
        <p:spPr>
          <a:xfrm>
            <a:off x="8061960" y="4507992"/>
            <a:ext cx="3532632" cy="116128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061960" y="4507992"/>
            <a:ext cx="54864" cy="116128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17408" y="4599431"/>
            <a:ext cx="322173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Suivi</a:t>
            </a:r>
          </a:p>
        </p:txBody>
      </p:sp>
      <p:sp>
        <p:nvSpPr>
          <p:cNvPr id="47" name="TextBox 46"/>
          <p:cNvSpPr txBox="1"/>
          <p:nvPr/>
        </p:nvSpPr>
        <p:spPr>
          <a:xfrm>
            <a:off x="8217408" y="4910328"/>
            <a:ext cx="3221736" cy="704088"/>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Qualité capteurs, labels et dérive.</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Grille d’évaluation de la mise en situation</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Grille de conception pédagogique • Ne vaut pas certification réglementaire.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J2-076</a:t>
            </a:r>
          </a:p>
        </p:txBody>
      </p:sp>
      <p:sp>
        <p:nvSpPr>
          <p:cNvPr id="12" name="Rectangle 11"/>
          <p:cNvSpPr/>
          <p:nvPr/>
        </p:nvSpPr>
        <p:spPr>
          <a:xfrm>
            <a:off x="594360" y="1792224"/>
            <a:ext cx="3190067"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1833372"/>
            <a:ext cx="2970611"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Critère</a:t>
            </a:r>
          </a:p>
        </p:txBody>
      </p:sp>
      <p:sp>
        <p:nvSpPr>
          <p:cNvPr id="14" name="Rectangle 13"/>
          <p:cNvSpPr/>
          <p:nvPr/>
        </p:nvSpPr>
        <p:spPr>
          <a:xfrm>
            <a:off x="3784427" y="1792224"/>
            <a:ext cx="3850081"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94155" y="1833372"/>
            <a:ext cx="3630625"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Points</a:t>
            </a:r>
          </a:p>
        </p:txBody>
      </p:sp>
      <p:sp>
        <p:nvSpPr>
          <p:cNvPr id="16" name="Rectangle 15"/>
          <p:cNvSpPr/>
          <p:nvPr/>
        </p:nvSpPr>
        <p:spPr>
          <a:xfrm>
            <a:off x="7634508" y="1792224"/>
            <a:ext cx="3960083"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44236" y="1833372"/>
            <a:ext cx="3740627"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Preuve attendue</a:t>
            </a:r>
          </a:p>
        </p:txBody>
      </p:sp>
      <p:cxnSp>
        <p:nvCxnSpPr>
          <p:cNvPr id="18" name="Connector 17"/>
          <p:cNvCxnSpPr/>
          <p:nvPr/>
        </p:nvCxnSpPr>
        <p:spPr>
          <a:xfrm>
            <a:off x="594360" y="244754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94360" y="2447544"/>
            <a:ext cx="3190067"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2488692"/>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Cadrage et données</a:t>
            </a:r>
          </a:p>
        </p:txBody>
      </p:sp>
      <p:sp>
        <p:nvSpPr>
          <p:cNvPr id="21" name="Rectangle 20"/>
          <p:cNvSpPr/>
          <p:nvPr/>
        </p:nvSpPr>
        <p:spPr>
          <a:xfrm>
            <a:off x="3784427" y="2447544"/>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94155" y="2488692"/>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30</a:t>
            </a:r>
          </a:p>
        </p:txBody>
      </p:sp>
      <p:sp>
        <p:nvSpPr>
          <p:cNvPr id="23" name="Rectangle 22"/>
          <p:cNvSpPr/>
          <p:nvPr/>
        </p:nvSpPr>
        <p:spPr>
          <a:xfrm>
            <a:off x="7634508" y="2447544"/>
            <a:ext cx="3960083"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44236" y="2488692"/>
            <a:ext cx="3740627" cy="573024"/>
          </a:xfrm>
          <a:prstGeom prst="rect">
            <a:avLst/>
          </a:prstGeom>
          <a:noFill/>
        </p:spPr>
        <p:txBody>
          <a:bodyPr wrap="square" lIns="22860" rIns="22860" tIns="22860" bIns="22860" anchor="ctr">
            <a:spAutoFit/>
          </a:bodyPr>
          <a:lstStyle/>
          <a:p>
            <a:pPr>
              <a:spcBef>
                <a:spcPts val="0"/>
              </a:spcBef>
              <a:spcAft>
                <a:spcPts val="300"/>
              </a:spcAft>
              <a:defRPr sz="1950" b="0">
                <a:solidFill>
                  <a:srgbClr val="0D0D0D"/>
                </a:solidFill>
                <a:latin typeface="Liberation Sans"/>
              </a:defRPr>
            </a:pPr>
            <a:r>
              <a:t>Décision, cible, temporalité</a:t>
            </a:r>
          </a:p>
        </p:txBody>
      </p:sp>
      <p:cxnSp>
        <p:nvCxnSpPr>
          <p:cNvPr id="25" name="Connector 24"/>
          <p:cNvCxnSpPr/>
          <p:nvPr/>
        </p:nvCxnSpPr>
        <p:spPr>
          <a:xfrm>
            <a:off x="594360" y="310286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594360" y="3102864"/>
            <a:ext cx="3190067"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3144012"/>
            <a:ext cx="2970611" cy="573024"/>
          </a:xfrm>
          <a:prstGeom prst="rect">
            <a:avLst/>
          </a:prstGeom>
          <a:noFill/>
        </p:spPr>
        <p:txBody>
          <a:bodyPr wrap="square" lIns="22860" rIns="22860" tIns="22860" bIns="22860" anchor="ctr">
            <a:spAutoFit/>
          </a:bodyPr>
          <a:lstStyle/>
          <a:p>
            <a:pPr>
              <a:spcBef>
                <a:spcPts val="0"/>
              </a:spcBef>
              <a:spcAft>
                <a:spcPts val="300"/>
              </a:spcAft>
              <a:defRPr sz="1900" b="0">
                <a:solidFill>
                  <a:srgbClr val="0D0D0D"/>
                </a:solidFill>
                <a:latin typeface="Liberation Sans"/>
              </a:defRPr>
            </a:pPr>
            <a:r>
              <a:t>Méthode et métriques</a:t>
            </a:r>
          </a:p>
        </p:txBody>
      </p:sp>
      <p:sp>
        <p:nvSpPr>
          <p:cNvPr id="28" name="Rectangle 27"/>
          <p:cNvSpPr/>
          <p:nvPr/>
        </p:nvSpPr>
        <p:spPr>
          <a:xfrm>
            <a:off x="3784427" y="3102864"/>
            <a:ext cx="3850081"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94155" y="3144012"/>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30</a:t>
            </a:r>
          </a:p>
        </p:txBody>
      </p:sp>
      <p:sp>
        <p:nvSpPr>
          <p:cNvPr id="30" name="Rectangle 29"/>
          <p:cNvSpPr/>
          <p:nvPr/>
        </p:nvSpPr>
        <p:spPr>
          <a:xfrm>
            <a:off x="7634508" y="3102864"/>
            <a:ext cx="3960083"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44236" y="3144012"/>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Famille, erreurs, baseline</a:t>
            </a:r>
          </a:p>
        </p:txBody>
      </p:sp>
      <p:cxnSp>
        <p:nvCxnSpPr>
          <p:cNvPr id="32" name="Connector 31"/>
          <p:cNvCxnSpPr/>
          <p:nvPr/>
        </p:nvCxnSpPr>
        <p:spPr>
          <a:xfrm>
            <a:off x="594360" y="3758183"/>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94360" y="3758183"/>
            <a:ext cx="3190067"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4088" y="3799331"/>
            <a:ext cx="2970611" cy="573024"/>
          </a:xfrm>
          <a:prstGeom prst="rect">
            <a:avLst/>
          </a:prstGeom>
          <a:noFill/>
        </p:spPr>
        <p:txBody>
          <a:bodyPr wrap="square" lIns="22860" rIns="22860" tIns="22860" bIns="22860" anchor="ctr">
            <a:spAutoFit/>
          </a:bodyPr>
          <a:lstStyle/>
          <a:p>
            <a:pPr>
              <a:spcBef>
                <a:spcPts val="0"/>
              </a:spcBef>
              <a:spcAft>
                <a:spcPts val="300"/>
              </a:spcAft>
              <a:defRPr sz="1750" b="0">
                <a:solidFill>
                  <a:srgbClr val="0D0D0D"/>
                </a:solidFill>
                <a:latin typeface="Liberation Sans"/>
              </a:defRPr>
            </a:pPr>
            <a:r>
              <a:t>Gouvernance et architecture</a:t>
            </a:r>
          </a:p>
        </p:txBody>
      </p:sp>
      <p:sp>
        <p:nvSpPr>
          <p:cNvPr id="35" name="Rectangle 34"/>
          <p:cNvSpPr/>
          <p:nvPr/>
        </p:nvSpPr>
        <p:spPr>
          <a:xfrm>
            <a:off x="3784427" y="3758183"/>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94155" y="3799331"/>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30</a:t>
            </a:r>
          </a:p>
        </p:txBody>
      </p:sp>
      <p:sp>
        <p:nvSpPr>
          <p:cNvPr id="37" name="Rectangle 36"/>
          <p:cNvSpPr/>
          <p:nvPr/>
        </p:nvSpPr>
        <p:spPr>
          <a:xfrm>
            <a:off x="7634508" y="3758183"/>
            <a:ext cx="3960083"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44236" y="3799331"/>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Rôles, risques, flux</a:t>
            </a:r>
          </a:p>
        </p:txBody>
      </p:sp>
      <p:cxnSp>
        <p:nvCxnSpPr>
          <p:cNvPr id="39" name="Connector 38"/>
          <p:cNvCxnSpPr/>
          <p:nvPr/>
        </p:nvCxnSpPr>
        <p:spPr>
          <a:xfrm>
            <a:off x="594360" y="441350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594360" y="4413504"/>
            <a:ext cx="3190067"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4088" y="4454651"/>
            <a:ext cx="2970611" cy="573024"/>
          </a:xfrm>
          <a:prstGeom prst="rect">
            <a:avLst/>
          </a:prstGeom>
          <a:noFill/>
        </p:spPr>
        <p:txBody>
          <a:bodyPr wrap="square" lIns="22860" rIns="22860" tIns="22860" bIns="22860" anchor="ctr">
            <a:spAutoFit/>
          </a:bodyPr>
          <a:lstStyle/>
          <a:p>
            <a:pPr>
              <a:spcBef>
                <a:spcPts val="0"/>
              </a:spcBef>
              <a:spcAft>
                <a:spcPts val="300"/>
              </a:spcAft>
              <a:defRPr sz="1850" b="0">
                <a:solidFill>
                  <a:srgbClr val="0D0D0D"/>
                </a:solidFill>
                <a:latin typeface="Liberation Sans"/>
              </a:defRPr>
            </a:pPr>
            <a:r>
              <a:t>Suivi et argumentation</a:t>
            </a:r>
          </a:p>
        </p:txBody>
      </p:sp>
      <p:sp>
        <p:nvSpPr>
          <p:cNvPr id="42" name="Rectangle 41"/>
          <p:cNvSpPr/>
          <p:nvPr/>
        </p:nvSpPr>
        <p:spPr>
          <a:xfrm>
            <a:off x="3784427" y="4413504"/>
            <a:ext cx="3850081"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894155" y="4454651"/>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10</a:t>
            </a:r>
          </a:p>
        </p:txBody>
      </p:sp>
      <p:sp>
        <p:nvSpPr>
          <p:cNvPr id="44" name="Rectangle 43"/>
          <p:cNvSpPr/>
          <p:nvPr/>
        </p:nvSpPr>
        <p:spPr>
          <a:xfrm>
            <a:off x="7634508" y="4413504"/>
            <a:ext cx="3960083"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44236" y="4454651"/>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Monitoring et justification</a:t>
            </a:r>
          </a:p>
        </p:txBody>
      </p:sp>
      <p:cxnSp>
        <p:nvCxnSpPr>
          <p:cNvPr id="46" name="Connector 45"/>
          <p:cNvCxnSpPr/>
          <p:nvPr/>
        </p:nvCxnSpPr>
        <p:spPr>
          <a:xfrm>
            <a:off x="594360" y="50688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594360" y="5068824"/>
            <a:ext cx="3190067"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04088" y="5109972"/>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Total</a:t>
            </a:r>
          </a:p>
        </p:txBody>
      </p:sp>
      <p:sp>
        <p:nvSpPr>
          <p:cNvPr id="49" name="Rectangle 48"/>
          <p:cNvSpPr/>
          <p:nvPr/>
        </p:nvSpPr>
        <p:spPr>
          <a:xfrm>
            <a:off x="3784427" y="5068824"/>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894155" y="5109972"/>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100</a:t>
            </a:r>
          </a:p>
        </p:txBody>
      </p:sp>
      <p:sp>
        <p:nvSpPr>
          <p:cNvPr id="51" name="Rectangle 50"/>
          <p:cNvSpPr/>
          <p:nvPr/>
        </p:nvSpPr>
        <p:spPr>
          <a:xfrm>
            <a:off x="7634508" y="5068824"/>
            <a:ext cx="3960083"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44236" y="5109972"/>
            <a:ext cx="3740627" cy="573024"/>
          </a:xfrm>
          <a:prstGeom prst="rect">
            <a:avLst/>
          </a:prstGeom>
          <a:noFill/>
        </p:spPr>
        <p:txBody>
          <a:bodyPr wrap="square" lIns="22860" rIns="22860" tIns="22860" bIns="22860" anchor="ctr">
            <a:spAutoFit/>
          </a:bodyPr>
          <a:lstStyle/>
          <a:p>
            <a:pPr>
              <a:spcBef>
                <a:spcPts val="0"/>
              </a:spcBef>
              <a:spcAft>
                <a:spcPts val="300"/>
              </a:spcAft>
              <a:defRPr sz="1750" b="0">
                <a:solidFill>
                  <a:srgbClr val="0D0D0D"/>
                </a:solidFill>
                <a:latin typeface="Liberation Sans"/>
              </a:defRPr>
            </a:pPr>
            <a:r>
              <a:t>Seuil conseillé : 70, non contractuel</a:t>
            </a:r>
          </a:p>
        </p:txBody>
      </p:sp>
      <p:cxnSp>
        <p:nvCxnSpPr>
          <p:cNvPr id="53" name="Connector 52"/>
          <p:cNvCxnSpPr/>
          <p:nvPr/>
        </p:nvCxnSpPr>
        <p:spPr>
          <a:xfrm>
            <a:off x="594360" y="572414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Choisir une métrique de suivi avec une réponse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Mesure + seuil + fréquence + responsable + action.</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J2-077</a:t>
            </a:r>
          </a:p>
        </p:txBody>
      </p:sp>
      <p:sp>
        <p:nvSpPr>
          <p:cNvPr id="12" name="Rectangle 11"/>
          <p:cNvSpPr/>
          <p:nvPr/>
        </p:nvSpPr>
        <p:spPr>
          <a:xfrm>
            <a:off x="594360" y="1792224"/>
            <a:ext cx="3190067"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1833372"/>
            <a:ext cx="2970611"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Niveau</a:t>
            </a:r>
          </a:p>
        </p:txBody>
      </p:sp>
      <p:sp>
        <p:nvSpPr>
          <p:cNvPr id="14" name="Rectangle 13"/>
          <p:cNvSpPr/>
          <p:nvPr/>
        </p:nvSpPr>
        <p:spPr>
          <a:xfrm>
            <a:off x="3784427" y="1792224"/>
            <a:ext cx="3850081"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94155" y="1833372"/>
            <a:ext cx="3630625"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Mesure possible</a:t>
            </a:r>
          </a:p>
        </p:txBody>
      </p:sp>
      <p:sp>
        <p:nvSpPr>
          <p:cNvPr id="16" name="Rectangle 15"/>
          <p:cNvSpPr/>
          <p:nvPr/>
        </p:nvSpPr>
        <p:spPr>
          <a:xfrm>
            <a:off x="7634508" y="1792224"/>
            <a:ext cx="3960083"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44236" y="1833372"/>
            <a:ext cx="3740627"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Action prévue</a:t>
            </a:r>
          </a:p>
        </p:txBody>
      </p:sp>
      <p:cxnSp>
        <p:nvCxnSpPr>
          <p:cNvPr id="18" name="Connector 17"/>
          <p:cNvCxnSpPr/>
          <p:nvPr/>
        </p:nvCxnSpPr>
        <p:spPr>
          <a:xfrm>
            <a:off x="594360" y="244754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94360" y="2447544"/>
            <a:ext cx="3190067"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2488692"/>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Données</a:t>
            </a:r>
          </a:p>
        </p:txBody>
      </p:sp>
      <p:sp>
        <p:nvSpPr>
          <p:cNvPr id="21" name="Rectangle 20"/>
          <p:cNvSpPr/>
          <p:nvPr/>
        </p:nvSpPr>
        <p:spPr>
          <a:xfrm>
            <a:off x="3784427" y="2447544"/>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94155" y="2488692"/>
            <a:ext cx="3630625" cy="573024"/>
          </a:xfrm>
          <a:prstGeom prst="rect">
            <a:avLst/>
          </a:prstGeom>
          <a:noFill/>
        </p:spPr>
        <p:txBody>
          <a:bodyPr wrap="square" lIns="22860" rIns="22860" tIns="22860" bIns="22860" anchor="ctr">
            <a:spAutoFit/>
          </a:bodyPr>
          <a:lstStyle/>
          <a:p>
            <a:pPr>
              <a:spcBef>
                <a:spcPts val="0"/>
              </a:spcBef>
              <a:spcAft>
                <a:spcPts val="300"/>
              </a:spcAft>
              <a:defRPr sz="1750" b="0">
                <a:solidFill>
                  <a:srgbClr val="0D0D0D"/>
                </a:solidFill>
                <a:latin typeface="Liberation Sans"/>
              </a:defRPr>
            </a:pPr>
            <a:r>
              <a:t>Fraîcheur et champs manquants</a:t>
            </a:r>
          </a:p>
        </p:txBody>
      </p:sp>
      <p:sp>
        <p:nvSpPr>
          <p:cNvPr id="23" name="Rectangle 22"/>
          <p:cNvSpPr/>
          <p:nvPr/>
        </p:nvSpPr>
        <p:spPr>
          <a:xfrm>
            <a:off x="7634508" y="2447544"/>
            <a:ext cx="3960083"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44236" y="2488692"/>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Repli ou quarantaine</a:t>
            </a:r>
          </a:p>
        </p:txBody>
      </p:sp>
      <p:cxnSp>
        <p:nvCxnSpPr>
          <p:cNvPr id="25" name="Connector 24"/>
          <p:cNvCxnSpPr/>
          <p:nvPr/>
        </p:nvCxnSpPr>
        <p:spPr>
          <a:xfrm>
            <a:off x="594360" y="310286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594360" y="3102864"/>
            <a:ext cx="3190067"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3144012"/>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Modèle</a:t>
            </a:r>
          </a:p>
        </p:txBody>
      </p:sp>
      <p:sp>
        <p:nvSpPr>
          <p:cNvPr id="28" name="Rectangle 27"/>
          <p:cNvSpPr/>
          <p:nvPr/>
        </p:nvSpPr>
        <p:spPr>
          <a:xfrm>
            <a:off x="3784427" y="3102864"/>
            <a:ext cx="3850081"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94155" y="3144012"/>
            <a:ext cx="3630625" cy="573024"/>
          </a:xfrm>
          <a:prstGeom prst="rect">
            <a:avLst/>
          </a:prstGeom>
          <a:noFill/>
        </p:spPr>
        <p:txBody>
          <a:bodyPr wrap="square" lIns="22860" rIns="22860" tIns="22860" bIns="22860" anchor="ctr">
            <a:spAutoFit/>
          </a:bodyPr>
          <a:lstStyle/>
          <a:p>
            <a:pPr>
              <a:spcBef>
                <a:spcPts val="0"/>
              </a:spcBef>
              <a:spcAft>
                <a:spcPts val="300"/>
              </a:spcAft>
              <a:defRPr sz="1900" b="0">
                <a:solidFill>
                  <a:srgbClr val="0D0D0D"/>
                </a:solidFill>
                <a:latin typeface="Liberation Sans"/>
              </a:defRPr>
            </a:pPr>
            <a:r>
              <a:t>Rappel avec labels matures</a:t>
            </a:r>
          </a:p>
        </p:txBody>
      </p:sp>
      <p:sp>
        <p:nvSpPr>
          <p:cNvPr id="30" name="Rectangle 29"/>
          <p:cNvSpPr/>
          <p:nvPr/>
        </p:nvSpPr>
        <p:spPr>
          <a:xfrm>
            <a:off x="7634508" y="3102864"/>
            <a:ext cx="3960083"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44236" y="3144012"/>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Diagnostic et revue</a:t>
            </a:r>
          </a:p>
        </p:txBody>
      </p:sp>
      <p:cxnSp>
        <p:nvCxnSpPr>
          <p:cNvPr id="32" name="Connector 31"/>
          <p:cNvCxnSpPr/>
          <p:nvPr/>
        </p:nvCxnSpPr>
        <p:spPr>
          <a:xfrm>
            <a:off x="594360" y="3758183"/>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94360" y="3758183"/>
            <a:ext cx="3190067"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4088" y="3799331"/>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Service</a:t>
            </a:r>
          </a:p>
        </p:txBody>
      </p:sp>
      <p:sp>
        <p:nvSpPr>
          <p:cNvPr id="35" name="Rectangle 34"/>
          <p:cNvSpPr/>
          <p:nvPr/>
        </p:nvSpPr>
        <p:spPr>
          <a:xfrm>
            <a:off x="3784427" y="3758183"/>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94155" y="3799331"/>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Latence et taux d’erreur</a:t>
            </a:r>
          </a:p>
        </p:txBody>
      </p:sp>
      <p:sp>
        <p:nvSpPr>
          <p:cNvPr id="37" name="Rectangle 36"/>
          <p:cNvSpPr/>
          <p:nvPr/>
        </p:nvSpPr>
        <p:spPr>
          <a:xfrm>
            <a:off x="7634508" y="3758183"/>
            <a:ext cx="3960083"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44236" y="3799331"/>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Alerte exploitation</a:t>
            </a:r>
          </a:p>
        </p:txBody>
      </p:sp>
      <p:cxnSp>
        <p:nvCxnSpPr>
          <p:cNvPr id="39" name="Connector 38"/>
          <p:cNvCxnSpPr/>
          <p:nvPr/>
        </p:nvCxnSpPr>
        <p:spPr>
          <a:xfrm>
            <a:off x="594360" y="441350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594360" y="4413504"/>
            <a:ext cx="3190067"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4088" y="4454651"/>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Métier</a:t>
            </a:r>
          </a:p>
        </p:txBody>
      </p:sp>
      <p:sp>
        <p:nvSpPr>
          <p:cNvPr id="42" name="Rectangle 41"/>
          <p:cNvSpPr/>
          <p:nvPr/>
        </p:nvSpPr>
        <p:spPr>
          <a:xfrm>
            <a:off x="3784427" y="4413504"/>
            <a:ext cx="3850081"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894155" y="4454651"/>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Impact et charge</a:t>
            </a:r>
          </a:p>
        </p:txBody>
      </p:sp>
      <p:sp>
        <p:nvSpPr>
          <p:cNvPr id="44" name="Rectangle 43"/>
          <p:cNvSpPr/>
          <p:nvPr/>
        </p:nvSpPr>
        <p:spPr>
          <a:xfrm>
            <a:off x="7634508" y="4413504"/>
            <a:ext cx="3960083"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44236" y="4454651"/>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Adapter la politique</a:t>
            </a:r>
          </a:p>
        </p:txBody>
      </p:sp>
      <p:cxnSp>
        <p:nvCxnSpPr>
          <p:cNvPr id="46" name="Connector 45"/>
          <p:cNvCxnSpPr/>
          <p:nvPr/>
        </p:nvCxnSpPr>
        <p:spPr>
          <a:xfrm>
            <a:off x="594360" y="50688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594360" y="5068824"/>
            <a:ext cx="3190067"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04088" y="5109972"/>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Droits</a:t>
            </a:r>
          </a:p>
        </p:txBody>
      </p:sp>
      <p:sp>
        <p:nvSpPr>
          <p:cNvPr id="49" name="Rectangle 48"/>
          <p:cNvSpPr/>
          <p:nvPr/>
        </p:nvSpPr>
        <p:spPr>
          <a:xfrm>
            <a:off x="3784427" y="5068824"/>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894155" y="5109972"/>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Accès hors périmètre</a:t>
            </a:r>
          </a:p>
        </p:txBody>
      </p:sp>
      <p:sp>
        <p:nvSpPr>
          <p:cNvPr id="51" name="Rectangle 50"/>
          <p:cNvSpPr/>
          <p:nvPr/>
        </p:nvSpPr>
        <p:spPr>
          <a:xfrm>
            <a:off x="7634508" y="5068824"/>
            <a:ext cx="3960083"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44236" y="5109972"/>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Suspendre et analyser</a:t>
            </a:r>
          </a:p>
        </p:txBody>
      </p:sp>
      <p:cxnSp>
        <p:nvCxnSpPr>
          <p:cNvPr id="53" name="Connector 52"/>
          <p:cNvCxnSpPr/>
          <p:nvPr/>
        </p:nvCxnSpPr>
        <p:spPr>
          <a:xfrm>
            <a:off x="594360" y="572414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Glossaire pratique des termes rencontrés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Comprendre le terme, son rôle et sa limite.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S02 · S25</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J2-078</a:t>
            </a:r>
          </a:p>
        </p:txBody>
      </p:sp>
      <p:sp>
        <p:nvSpPr>
          <p:cNvPr id="12" name="Rectangle 11"/>
          <p:cNvSpPr/>
          <p:nvPr/>
        </p:nvSpPr>
        <p:spPr>
          <a:xfrm>
            <a:off x="594360" y="1792224"/>
            <a:ext cx="3850081"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1833372"/>
            <a:ext cx="3630625"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Terme</a:t>
            </a:r>
          </a:p>
        </p:txBody>
      </p:sp>
      <p:sp>
        <p:nvSpPr>
          <p:cNvPr id="14" name="Rectangle 13"/>
          <p:cNvSpPr/>
          <p:nvPr/>
        </p:nvSpPr>
        <p:spPr>
          <a:xfrm>
            <a:off x="4444441" y="1792224"/>
            <a:ext cx="7150150"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4169" y="1833372"/>
            <a:ext cx="6930694"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Sens utile</a:t>
            </a:r>
          </a:p>
        </p:txBody>
      </p:sp>
      <p:cxnSp>
        <p:nvCxnSpPr>
          <p:cNvPr id="16" name="Connector 15"/>
          <p:cNvCxnSpPr/>
          <p:nvPr/>
        </p:nvCxnSpPr>
        <p:spPr>
          <a:xfrm>
            <a:off x="594360" y="244754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94360" y="2447544"/>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2488692"/>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Inférence</a:t>
            </a:r>
          </a:p>
        </p:txBody>
      </p:sp>
      <p:sp>
        <p:nvSpPr>
          <p:cNvPr id="19" name="Rectangle 18"/>
          <p:cNvSpPr/>
          <p:nvPr/>
        </p:nvSpPr>
        <p:spPr>
          <a:xfrm>
            <a:off x="4444441" y="2447544"/>
            <a:ext cx="7150150"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54169" y="2488692"/>
            <a:ext cx="6930694"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Utilisation du modèle sur une nouvelle entrée</a:t>
            </a:r>
          </a:p>
        </p:txBody>
      </p:sp>
      <p:cxnSp>
        <p:nvCxnSpPr>
          <p:cNvPr id="21" name="Connector 20"/>
          <p:cNvCxnSpPr/>
          <p:nvPr/>
        </p:nvCxnSpPr>
        <p:spPr>
          <a:xfrm>
            <a:off x="594360" y="310286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94360" y="3102864"/>
            <a:ext cx="3850081"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3144012"/>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Baseline</a:t>
            </a:r>
          </a:p>
        </p:txBody>
      </p:sp>
      <p:sp>
        <p:nvSpPr>
          <p:cNvPr id="24" name="Rectangle 23"/>
          <p:cNvSpPr/>
          <p:nvPr/>
        </p:nvSpPr>
        <p:spPr>
          <a:xfrm>
            <a:off x="4444441" y="3102864"/>
            <a:ext cx="7150150"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54169" y="3144012"/>
            <a:ext cx="6930694"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Référence simple à dépasser utilement</a:t>
            </a:r>
          </a:p>
        </p:txBody>
      </p:sp>
      <p:cxnSp>
        <p:nvCxnSpPr>
          <p:cNvPr id="26" name="Connector 25"/>
          <p:cNvCxnSpPr/>
          <p:nvPr/>
        </p:nvCxnSpPr>
        <p:spPr>
          <a:xfrm>
            <a:off x="594360" y="3758183"/>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94360" y="3758183"/>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4088" y="3799331"/>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Pipeline</a:t>
            </a:r>
          </a:p>
        </p:txBody>
      </p:sp>
      <p:sp>
        <p:nvSpPr>
          <p:cNvPr id="29" name="Rectangle 28"/>
          <p:cNvSpPr/>
          <p:nvPr/>
        </p:nvSpPr>
        <p:spPr>
          <a:xfrm>
            <a:off x="4444441" y="3758183"/>
            <a:ext cx="7150150"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54169" y="3799331"/>
            <a:ext cx="6930694"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Chaîne reproductible de transformations</a:t>
            </a:r>
          </a:p>
        </p:txBody>
      </p:sp>
      <p:cxnSp>
        <p:nvCxnSpPr>
          <p:cNvPr id="31" name="Connector 30"/>
          <p:cNvCxnSpPr/>
          <p:nvPr/>
        </p:nvCxnSpPr>
        <p:spPr>
          <a:xfrm>
            <a:off x="594360" y="441350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594360" y="4413504"/>
            <a:ext cx="3850081"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4088" y="4454651"/>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Drift</a:t>
            </a:r>
          </a:p>
        </p:txBody>
      </p:sp>
      <p:sp>
        <p:nvSpPr>
          <p:cNvPr id="34" name="Rectangle 33"/>
          <p:cNvSpPr/>
          <p:nvPr/>
        </p:nvSpPr>
        <p:spPr>
          <a:xfrm>
            <a:off x="4444441" y="4413504"/>
            <a:ext cx="7150150"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54169" y="4454651"/>
            <a:ext cx="6930694" cy="573024"/>
          </a:xfrm>
          <a:prstGeom prst="rect">
            <a:avLst/>
          </a:prstGeom>
          <a:noFill/>
        </p:spPr>
        <p:txBody>
          <a:bodyPr wrap="square" lIns="22860" rIns="22860" tIns="22860" bIns="22860" anchor="ctr">
            <a:spAutoFit/>
          </a:bodyPr>
          <a:lstStyle/>
          <a:p>
            <a:pPr>
              <a:spcBef>
                <a:spcPts val="0"/>
              </a:spcBef>
              <a:spcAft>
                <a:spcPts val="300"/>
              </a:spcAft>
              <a:defRPr sz="1950" b="0">
                <a:solidFill>
                  <a:srgbClr val="0D0D0D"/>
                </a:solidFill>
                <a:latin typeface="Liberation Sans"/>
              </a:defRPr>
            </a:pPr>
            <a:r>
              <a:t>Évolution des données, relations ou performances</a:t>
            </a:r>
          </a:p>
        </p:txBody>
      </p:sp>
      <p:cxnSp>
        <p:nvCxnSpPr>
          <p:cNvPr id="36" name="Connector 35"/>
          <p:cNvCxnSpPr/>
          <p:nvPr/>
        </p:nvCxnSpPr>
        <p:spPr>
          <a:xfrm>
            <a:off x="594360" y="50688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94360" y="5068824"/>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4088" y="5109972"/>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API</a:t>
            </a:r>
          </a:p>
        </p:txBody>
      </p:sp>
      <p:sp>
        <p:nvSpPr>
          <p:cNvPr id="39" name="Rectangle 38"/>
          <p:cNvSpPr/>
          <p:nvPr/>
        </p:nvSpPr>
        <p:spPr>
          <a:xfrm>
            <a:off x="4444441" y="5068824"/>
            <a:ext cx="7150150"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54169" y="5109972"/>
            <a:ext cx="6930694"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Interface de communication entre logiciels</a:t>
            </a:r>
          </a:p>
        </p:txBody>
      </p:sp>
      <p:cxnSp>
        <p:nvCxnSpPr>
          <p:cNvPr id="41" name="Connector 40"/>
          <p:cNvCxnSpPr/>
          <p:nvPr/>
        </p:nvCxnSpPr>
        <p:spPr>
          <a:xfrm>
            <a:off x="594360" y="572414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Références et approfondissements 1</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Bibliographie complète et statut des preuves dans les annexes du kit.</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S02 · S03 · S04 · S05 · S06</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J2-079</a:t>
            </a:r>
          </a:p>
        </p:txBody>
      </p:sp>
      <p:sp>
        <p:nvSpPr>
          <p:cNvPr id="12" name="TextBox 11"/>
          <p:cNvSpPr txBox="1"/>
          <p:nvPr/>
        </p:nvSpPr>
        <p:spPr>
          <a:xfrm>
            <a:off x="658368" y="180136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S02</a:t>
            </a:r>
          </a:p>
        </p:txBody>
      </p:sp>
      <p:sp>
        <p:nvSpPr>
          <p:cNvPr id="13" name="TextBox 12"/>
          <p:cNvSpPr txBox="1"/>
          <p:nvPr/>
        </p:nvSpPr>
        <p:spPr>
          <a:xfrm>
            <a:off x="1417320" y="180136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scikit-learn : guide utilisateur</a:t>
            </a:r>
          </a:p>
        </p:txBody>
      </p:sp>
      <p:sp>
        <p:nvSpPr>
          <p:cNvPr id="14" name="TextBox 13"/>
          <p:cNvSpPr txBox="1"/>
          <p:nvPr/>
        </p:nvSpPr>
        <p:spPr>
          <a:xfrm>
            <a:off x="1417320" y="210312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2"/>
              </a:rPr>
              <a:t>https://scikit-learn.org/stable/user_guide.html</a:t>
            </a:r>
          </a:p>
        </p:txBody>
      </p:sp>
      <p:sp>
        <p:nvSpPr>
          <p:cNvPr id="15" name="TextBox 14"/>
          <p:cNvSpPr txBox="1"/>
          <p:nvPr/>
        </p:nvSpPr>
        <p:spPr>
          <a:xfrm>
            <a:off x="658368" y="257860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S03</a:t>
            </a:r>
          </a:p>
        </p:txBody>
      </p:sp>
      <p:sp>
        <p:nvSpPr>
          <p:cNvPr id="16" name="TextBox 15"/>
          <p:cNvSpPr txBox="1"/>
          <p:nvPr/>
        </p:nvSpPr>
        <p:spPr>
          <a:xfrm>
            <a:off x="1417320" y="257860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scikit-learn : pièges et fuites de données</a:t>
            </a:r>
          </a:p>
        </p:txBody>
      </p:sp>
      <p:sp>
        <p:nvSpPr>
          <p:cNvPr id="17" name="TextBox 16"/>
          <p:cNvSpPr txBox="1"/>
          <p:nvPr/>
        </p:nvSpPr>
        <p:spPr>
          <a:xfrm>
            <a:off x="1417320" y="288036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3"/>
              </a:rPr>
              <a:t>https://scikit-learn.org/1.8/common_pitfalls.html</a:t>
            </a:r>
          </a:p>
        </p:txBody>
      </p:sp>
      <p:sp>
        <p:nvSpPr>
          <p:cNvPr id="18" name="TextBox 17"/>
          <p:cNvSpPr txBox="1"/>
          <p:nvPr/>
        </p:nvSpPr>
        <p:spPr>
          <a:xfrm>
            <a:off x="658368" y="335584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S04</a:t>
            </a:r>
          </a:p>
        </p:txBody>
      </p:sp>
      <p:sp>
        <p:nvSpPr>
          <p:cNvPr id="19" name="TextBox 18"/>
          <p:cNvSpPr txBox="1"/>
          <p:nvPr/>
        </p:nvSpPr>
        <p:spPr>
          <a:xfrm>
            <a:off x="1417320" y="335584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scikit-learn : métriques et scores</a:t>
            </a:r>
          </a:p>
        </p:txBody>
      </p:sp>
      <p:sp>
        <p:nvSpPr>
          <p:cNvPr id="20" name="TextBox 19"/>
          <p:cNvSpPr txBox="1"/>
          <p:nvPr/>
        </p:nvSpPr>
        <p:spPr>
          <a:xfrm>
            <a:off x="1417320" y="365760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4"/>
              </a:rPr>
              <a:t>https://scikit-learn.org/stable/modules/model_evaluation.html</a:t>
            </a:r>
          </a:p>
        </p:txBody>
      </p:sp>
      <p:sp>
        <p:nvSpPr>
          <p:cNvPr id="21" name="TextBox 20"/>
          <p:cNvSpPr txBox="1"/>
          <p:nvPr/>
        </p:nvSpPr>
        <p:spPr>
          <a:xfrm>
            <a:off x="658368" y="4133087"/>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S05</a:t>
            </a:r>
          </a:p>
        </p:txBody>
      </p:sp>
      <p:sp>
        <p:nvSpPr>
          <p:cNvPr id="22" name="TextBox 21"/>
          <p:cNvSpPr txBox="1"/>
          <p:nvPr/>
        </p:nvSpPr>
        <p:spPr>
          <a:xfrm>
            <a:off x="1417320" y="4133087"/>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LeCun, Bengio et Hinton : apprentissage profond</a:t>
            </a:r>
          </a:p>
        </p:txBody>
      </p:sp>
      <p:sp>
        <p:nvSpPr>
          <p:cNvPr id="23" name="TextBox 22"/>
          <p:cNvSpPr txBox="1"/>
          <p:nvPr/>
        </p:nvSpPr>
        <p:spPr>
          <a:xfrm>
            <a:off x="1417320" y="443484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5"/>
              </a:rPr>
              <a:t>https://www.nature.com/articles/nature14539</a:t>
            </a:r>
          </a:p>
        </p:txBody>
      </p:sp>
      <p:sp>
        <p:nvSpPr>
          <p:cNvPr id="24" name="TextBox 23"/>
          <p:cNvSpPr txBox="1"/>
          <p:nvPr/>
        </p:nvSpPr>
        <p:spPr>
          <a:xfrm>
            <a:off x="658368" y="491032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S06</a:t>
            </a:r>
          </a:p>
        </p:txBody>
      </p:sp>
      <p:sp>
        <p:nvSpPr>
          <p:cNvPr id="25" name="TextBox 24"/>
          <p:cNvSpPr txBox="1"/>
          <p:nvPr/>
        </p:nvSpPr>
        <p:spPr>
          <a:xfrm>
            <a:off x="1417320" y="491032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Vaswani et al. : Attention Is All You Need</a:t>
            </a:r>
          </a:p>
        </p:txBody>
      </p:sp>
      <p:sp>
        <p:nvSpPr>
          <p:cNvPr id="26" name="TextBox 25"/>
          <p:cNvSpPr txBox="1"/>
          <p:nvPr/>
        </p:nvSpPr>
        <p:spPr>
          <a:xfrm>
            <a:off x="1417320" y="521208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6"/>
              </a:rPr>
              <a:t>https://arxiv.org/abs/1706.03762</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Références et approfondissements 2</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Bibliographie complète et statut des preuves dans les annexes du kit.</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S07 · S08 · S12 · S14 · S15</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J2-080</a:t>
            </a:r>
          </a:p>
        </p:txBody>
      </p:sp>
      <p:sp>
        <p:nvSpPr>
          <p:cNvPr id="12" name="TextBox 11"/>
          <p:cNvSpPr txBox="1"/>
          <p:nvPr/>
        </p:nvSpPr>
        <p:spPr>
          <a:xfrm>
            <a:off x="658368" y="180136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S07</a:t>
            </a:r>
          </a:p>
        </p:txBody>
      </p:sp>
      <p:sp>
        <p:nvSpPr>
          <p:cNvPr id="13" name="TextBox 12"/>
          <p:cNvSpPr txBox="1"/>
          <p:nvPr/>
        </p:nvSpPr>
        <p:spPr>
          <a:xfrm>
            <a:off x="1417320" y="180136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Gomez-Uribe et Hunt : le système de recommandation Netflix</a:t>
            </a:r>
          </a:p>
        </p:txBody>
      </p:sp>
      <p:sp>
        <p:nvSpPr>
          <p:cNvPr id="14" name="TextBox 13"/>
          <p:cNvSpPr txBox="1"/>
          <p:nvPr/>
        </p:nvSpPr>
        <p:spPr>
          <a:xfrm>
            <a:off x="1417320" y="210312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2"/>
              </a:rPr>
              <a:t>https://doi.org/10.1145/2843948</a:t>
            </a:r>
          </a:p>
        </p:txBody>
      </p:sp>
      <p:sp>
        <p:nvSpPr>
          <p:cNvPr id="15" name="TextBox 14"/>
          <p:cNvSpPr txBox="1"/>
          <p:nvPr/>
        </p:nvSpPr>
        <p:spPr>
          <a:xfrm>
            <a:off x="658368" y="257860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S08</a:t>
            </a:r>
          </a:p>
        </p:txBody>
      </p:sp>
      <p:sp>
        <p:nvSpPr>
          <p:cNvPr id="16" name="TextBox 15"/>
          <p:cNvSpPr txBox="1"/>
          <p:nvPr/>
        </p:nvSpPr>
        <p:spPr>
          <a:xfrm>
            <a:off x="1417320" y="257860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Cheng et al. : Wide &amp; Deep pour la recommandation</a:t>
            </a:r>
          </a:p>
        </p:txBody>
      </p:sp>
      <p:sp>
        <p:nvSpPr>
          <p:cNvPr id="17" name="TextBox 16"/>
          <p:cNvSpPr txBox="1"/>
          <p:nvPr/>
        </p:nvSpPr>
        <p:spPr>
          <a:xfrm>
            <a:off x="1417320" y="288036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3"/>
              </a:rPr>
              <a:t>https://research.google/pubs/wide-deep-learning-for-recommender-systems/</a:t>
            </a:r>
          </a:p>
        </p:txBody>
      </p:sp>
      <p:sp>
        <p:nvSpPr>
          <p:cNvPr id="18" name="TextBox 17"/>
          <p:cNvSpPr txBox="1"/>
          <p:nvPr/>
        </p:nvSpPr>
        <p:spPr>
          <a:xfrm>
            <a:off x="658368" y="335584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S12</a:t>
            </a:r>
          </a:p>
        </p:txBody>
      </p:sp>
      <p:sp>
        <p:nvSpPr>
          <p:cNvPr id="19" name="TextBox 18"/>
          <p:cNvSpPr txBox="1"/>
          <p:nvPr/>
        </p:nvSpPr>
        <p:spPr>
          <a:xfrm>
            <a:off x="1417320" y="335584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UPS : initiatives IA et jumeau numérique</a:t>
            </a:r>
          </a:p>
        </p:txBody>
      </p:sp>
      <p:sp>
        <p:nvSpPr>
          <p:cNvPr id="20" name="TextBox 19"/>
          <p:cNvSpPr txBox="1"/>
          <p:nvPr/>
        </p:nvSpPr>
        <p:spPr>
          <a:xfrm>
            <a:off x="1417320" y="365760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4"/>
              </a:rPr>
              <a:t>https://about.ups.com/us/en/newsroom/press-releases/innovation-driven/proof-over-promises--ups-s-bold-ai-initiatives-enhance-products-.html</a:t>
            </a:r>
          </a:p>
        </p:txBody>
      </p:sp>
      <p:sp>
        <p:nvSpPr>
          <p:cNvPr id="21" name="TextBox 20"/>
          <p:cNvSpPr txBox="1"/>
          <p:nvPr/>
        </p:nvSpPr>
        <p:spPr>
          <a:xfrm>
            <a:off x="658368" y="4133087"/>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S14</a:t>
            </a:r>
          </a:p>
        </p:txBody>
      </p:sp>
      <p:sp>
        <p:nvSpPr>
          <p:cNvPr id="22" name="TextBox 21"/>
          <p:cNvSpPr txBox="1"/>
          <p:nvPr/>
        </p:nvSpPr>
        <p:spPr>
          <a:xfrm>
            <a:off x="1417320" y="4133087"/>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John Deere : documentation des API et OAuth 2</a:t>
            </a:r>
          </a:p>
        </p:txBody>
      </p:sp>
      <p:sp>
        <p:nvSpPr>
          <p:cNvPr id="23" name="TextBox 22"/>
          <p:cNvSpPr txBox="1"/>
          <p:nvPr/>
        </p:nvSpPr>
        <p:spPr>
          <a:xfrm>
            <a:off x="1417320" y="443484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5"/>
              </a:rPr>
              <a:t>https://developer.deere.com/dev-docs/customer-linkage</a:t>
            </a:r>
          </a:p>
        </p:txBody>
      </p:sp>
      <p:sp>
        <p:nvSpPr>
          <p:cNvPr id="24" name="TextBox 23"/>
          <p:cNvSpPr txBox="1"/>
          <p:nvPr/>
        </p:nvSpPr>
        <p:spPr>
          <a:xfrm>
            <a:off x="658368" y="491032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S15</a:t>
            </a:r>
          </a:p>
        </p:txBody>
      </p:sp>
      <p:sp>
        <p:nvSpPr>
          <p:cNvPr id="25" name="TextBox 24"/>
          <p:cNvSpPr txBox="1"/>
          <p:nvPr/>
        </p:nvSpPr>
        <p:spPr>
          <a:xfrm>
            <a:off x="1417320" y="491032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CNIL : fiches pratiques IA</a:t>
            </a:r>
          </a:p>
        </p:txBody>
      </p:sp>
      <p:sp>
        <p:nvSpPr>
          <p:cNvPr id="26" name="TextBox 25"/>
          <p:cNvSpPr txBox="1"/>
          <p:nvPr/>
        </p:nvSpPr>
        <p:spPr>
          <a:xfrm>
            <a:off x="1417320" y="521208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6"/>
              </a:rPr>
              <a:t>https://www.cnil.fr/fr/les-fiches-pratiques-ia</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Références et approfondissements 3</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Bibliographie complète et statut des preuves dans les annexes du kit.</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S16 · S20 · S22 · S23 · S24</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J2-081</a:t>
            </a:r>
          </a:p>
        </p:txBody>
      </p:sp>
      <p:sp>
        <p:nvSpPr>
          <p:cNvPr id="12" name="TextBox 11"/>
          <p:cNvSpPr txBox="1"/>
          <p:nvPr/>
        </p:nvSpPr>
        <p:spPr>
          <a:xfrm>
            <a:off x="658368" y="180136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S16</a:t>
            </a:r>
          </a:p>
        </p:txBody>
      </p:sp>
      <p:sp>
        <p:nvSpPr>
          <p:cNvPr id="13" name="TextBox 12"/>
          <p:cNvSpPr txBox="1"/>
          <p:nvPr/>
        </p:nvSpPr>
        <p:spPr>
          <a:xfrm>
            <a:off x="1417320" y="180136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ANSSI : sécurité d’un système d’IA générative</a:t>
            </a:r>
          </a:p>
        </p:txBody>
      </p:sp>
      <p:sp>
        <p:nvSpPr>
          <p:cNvPr id="14" name="TextBox 13"/>
          <p:cNvSpPr txBox="1"/>
          <p:nvPr/>
        </p:nvSpPr>
        <p:spPr>
          <a:xfrm>
            <a:off x="1417320" y="210312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2"/>
              </a:rPr>
              <a:t>https://messervices.cyber.gouv.fr/guides/recommandations-de-securite-pour-un-systeme-dia-generative</a:t>
            </a:r>
          </a:p>
        </p:txBody>
      </p:sp>
      <p:sp>
        <p:nvSpPr>
          <p:cNvPr id="15" name="TextBox 14"/>
          <p:cNvSpPr txBox="1"/>
          <p:nvPr/>
        </p:nvSpPr>
        <p:spPr>
          <a:xfrm>
            <a:off x="658368" y="257860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S20</a:t>
            </a:r>
          </a:p>
        </p:txBody>
      </p:sp>
      <p:sp>
        <p:nvSpPr>
          <p:cNvPr id="16" name="TextBox 15"/>
          <p:cNvSpPr txBox="1"/>
          <p:nvPr/>
        </p:nvSpPr>
        <p:spPr>
          <a:xfrm>
            <a:off x="1417320" y="257860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Commission européenne : calendrier d’application IA</a:t>
            </a:r>
          </a:p>
        </p:txBody>
      </p:sp>
      <p:sp>
        <p:nvSpPr>
          <p:cNvPr id="17" name="TextBox 16"/>
          <p:cNvSpPr txBox="1"/>
          <p:nvPr/>
        </p:nvSpPr>
        <p:spPr>
          <a:xfrm>
            <a:off x="1417320" y="288036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3"/>
              </a:rPr>
              <a:t>https://ai-act-service-desk.ec.europa.eu/en/ai-act/eu-ai-act-implementation-timeline</a:t>
            </a:r>
          </a:p>
        </p:txBody>
      </p:sp>
      <p:sp>
        <p:nvSpPr>
          <p:cNvPr id="18" name="TextBox 17"/>
          <p:cNvSpPr txBox="1"/>
          <p:nvPr/>
        </p:nvSpPr>
        <p:spPr>
          <a:xfrm>
            <a:off x="658368" y="335584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S22</a:t>
            </a:r>
          </a:p>
        </p:txBody>
      </p:sp>
      <p:sp>
        <p:nvSpPr>
          <p:cNvPr id="19" name="TextBox 18"/>
          <p:cNvSpPr txBox="1"/>
          <p:nvPr/>
        </p:nvSpPr>
        <p:spPr>
          <a:xfrm>
            <a:off x="1417320" y="335584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Commission européenne : règlement sur les données</a:t>
            </a:r>
          </a:p>
        </p:txBody>
      </p:sp>
      <p:sp>
        <p:nvSpPr>
          <p:cNvPr id="20" name="TextBox 19"/>
          <p:cNvSpPr txBox="1"/>
          <p:nvPr/>
        </p:nvSpPr>
        <p:spPr>
          <a:xfrm>
            <a:off x="1417320" y="365760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4"/>
              </a:rPr>
              <a:t>https://digital-strategy.ec.europa.eu/en/policies/data-act</a:t>
            </a:r>
          </a:p>
        </p:txBody>
      </p:sp>
      <p:sp>
        <p:nvSpPr>
          <p:cNvPr id="21" name="TextBox 20"/>
          <p:cNvSpPr txBox="1"/>
          <p:nvPr/>
        </p:nvSpPr>
        <p:spPr>
          <a:xfrm>
            <a:off x="658368" y="4133087"/>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S23</a:t>
            </a:r>
          </a:p>
        </p:txBody>
      </p:sp>
      <p:sp>
        <p:nvSpPr>
          <p:cNvPr id="22" name="TextBox 21"/>
          <p:cNvSpPr txBox="1"/>
          <p:nvPr/>
        </p:nvSpPr>
        <p:spPr>
          <a:xfrm>
            <a:off x="1417320" y="4133087"/>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Commission européenne : gouvernance des données</a:t>
            </a:r>
          </a:p>
        </p:txBody>
      </p:sp>
      <p:sp>
        <p:nvSpPr>
          <p:cNvPr id="23" name="TextBox 22"/>
          <p:cNvSpPr txBox="1"/>
          <p:nvPr/>
        </p:nvSpPr>
        <p:spPr>
          <a:xfrm>
            <a:off x="1417320" y="443484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5"/>
              </a:rPr>
              <a:t>https://digital-strategy.ec.europa.eu/en/policies/data-governance-act</a:t>
            </a:r>
          </a:p>
        </p:txBody>
      </p:sp>
      <p:sp>
        <p:nvSpPr>
          <p:cNvPr id="24" name="TextBox 23"/>
          <p:cNvSpPr txBox="1"/>
          <p:nvPr/>
        </p:nvSpPr>
        <p:spPr>
          <a:xfrm>
            <a:off x="658368" y="491032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S24</a:t>
            </a:r>
          </a:p>
        </p:txBody>
      </p:sp>
      <p:sp>
        <p:nvSpPr>
          <p:cNvPr id="25" name="TextBox 24"/>
          <p:cNvSpPr txBox="1"/>
          <p:nvPr/>
        </p:nvSpPr>
        <p:spPr>
          <a:xfrm>
            <a:off x="1417320" y="491032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IETF : cadre d’autorisation OAuth 2.0</a:t>
            </a:r>
          </a:p>
        </p:txBody>
      </p:sp>
      <p:sp>
        <p:nvSpPr>
          <p:cNvPr id="26" name="TextBox 25"/>
          <p:cNvSpPr txBox="1"/>
          <p:nvPr/>
        </p:nvSpPr>
        <p:spPr>
          <a:xfrm>
            <a:off x="1417320" y="521208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6"/>
              </a:rPr>
              <a:t>https://www.rfc-editor.org/rfc/rfc6749</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Références et approfondissements 4</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Bibliographie complète et statut des preuves dans les annexes du kit.</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S25 · S26 · S28 · S29 · S30</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J2-082</a:t>
            </a:r>
          </a:p>
        </p:txBody>
      </p:sp>
      <p:sp>
        <p:nvSpPr>
          <p:cNvPr id="12" name="TextBox 11"/>
          <p:cNvSpPr txBox="1"/>
          <p:nvPr/>
        </p:nvSpPr>
        <p:spPr>
          <a:xfrm>
            <a:off x="658368" y="180136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S25</a:t>
            </a:r>
          </a:p>
        </p:txBody>
      </p:sp>
      <p:sp>
        <p:nvSpPr>
          <p:cNvPr id="13" name="TextBox 12"/>
          <p:cNvSpPr txBox="1"/>
          <p:nvPr/>
        </p:nvSpPr>
        <p:spPr>
          <a:xfrm>
            <a:off x="1417320" y="180136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Projet Jupyter : documentation</a:t>
            </a:r>
          </a:p>
        </p:txBody>
      </p:sp>
      <p:sp>
        <p:nvSpPr>
          <p:cNvPr id="14" name="TextBox 13"/>
          <p:cNvSpPr txBox="1"/>
          <p:nvPr/>
        </p:nvSpPr>
        <p:spPr>
          <a:xfrm>
            <a:off x="1417320" y="210312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2"/>
              </a:rPr>
              <a:t>https://docs.jupyter.org/en/latest/</a:t>
            </a:r>
          </a:p>
        </p:txBody>
      </p:sp>
      <p:sp>
        <p:nvSpPr>
          <p:cNvPr id="15" name="TextBox 14"/>
          <p:cNvSpPr txBox="1"/>
          <p:nvPr/>
        </p:nvSpPr>
        <p:spPr>
          <a:xfrm>
            <a:off x="658368" y="257860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S26</a:t>
            </a:r>
          </a:p>
        </p:txBody>
      </p:sp>
      <p:sp>
        <p:nvSpPr>
          <p:cNvPr id="16" name="TextBox 15"/>
          <p:cNvSpPr txBox="1"/>
          <p:nvPr/>
        </p:nvSpPr>
        <p:spPr>
          <a:xfrm>
            <a:off x="1417320" y="257860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Microsoft : scripts Python dans Power BI Desktop</a:t>
            </a:r>
          </a:p>
        </p:txBody>
      </p:sp>
      <p:sp>
        <p:nvSpPr>
          <p:cNvPr id="17" name="TextBox 16"/>
          <p:cNvSpPr txBox="1"/>
          <p:nvPr/>
        </p:nvSpPr>
        <p:spPr>
          <a:xfrm>
            <a:off x="1417320" y="288036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3"/>
              </a:rPr>
              <a:t>https://learn.microsoft.com/fr-fr/power-bi/connect-data/desktop-python-scripts</a:t>
            </a:r>
          </a:p>
        </p:txBody>
      </p:sp>
      <p:sp>
        <p:nvSpPr>
          <p:cNvPr id="18" name="TextBox 17"/>
          <p:cNvSpPr txBox="1"/>
          <p:nvPr/>
        </p:nvSpPr>
        <p:spPr>
          <a:xfrm>
            <a:off x="658368" y="335584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S28</a:t>
            </a:r>
          </a:p>
        </p:txBody>
      </p:sp>
      <p:sp>
        <p:nvSpPr>
          <p:cNvPr id="19" name="TextBox 18"/>
          <p:cNvSpPr txBox="1"/>
          <p:nvPr/>
        </p:nvSpPr>
        <p:spPr>
          <a:xfrm>
            <a:off x="1417320" y="335584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Sculley et al. : dette technique des systèmes ML</a:t>
            </a:r>
          </a:p>
        </p:txBody>
      </p:sp>
      <p:sp>
        <p:nvSpPr>
          <p:cNvPr id="20" name="TextBox 19"/>
          <p:cNvSpPr txBox="1"/>
          <p:nvPr/>
        </p:nvSpPr>
        <p:spPr>
          <a:xfrm>
            <a:off x="1417320" y="365760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4"/>
              </a:rPr>
              <a:t>https://research.google/pubs/hidden-technical-debt-in-machine-learning-systems/</a:t>
            </a:r>
          </a:p>
        </p:txBody>
      </p:sp>
      <p:sp>
        <p:nvSpPr>
          <p:cNvPr id="21" name="TextBox 20"/>
          <p:cNvSpPr txBox="1"/>
          <p:nvPr/>
        </p:nvSpPr>
        <p:spPr>
          <a:xfrm>
            <a:off x="658368" y="4133087"/>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S29</a:t>
            </a:r>
          </a:p>
        </p:txBody>
      </p:sp>
      <p:sp>
        <p:nvSpPr>
          <p:cNvPr id="22" name="TextBox 21"/>
          <p:cNvSpPr txBox="1"/>
          <p:nvPr/>
        </p:nvSpPr>
        <p:spPr>
          <a:xfrm>
            <a:off x="1417320" y="4133087"/>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scikit-learn : validation croisée</a:t>
            </a:r>
          </a:p>
        </p:txBody>
      </p:sp>
      <p:sp>
        <p:nvSpPr>
          <p:cNvPr id="23" name="TextBox 22"/>
          <p:cNvSpPr txBox="1"/>
          <p:nvPr/>
        </p:nvSpPr>
        <p:spPr>
          <a:xfrm>
            <a:off x="1417320" y="443484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5"/>
              </a:rPr>
              <a:t>https://scikit-learn.org/stable/modules/cross_validation.html</a:t>
            </a:r>
          </a:p>
        </p:txBody>
      </p:sp>
      <p:sp>
        <p:nvSpPr>
          <p:cNvPr id="24" name="TextBox 23"/>
          <p:cNvSpPr txBox="1"/>
          <p:nvPr/>
        </p:nvSpPr>
        <p:spPr>
          <a:xfrm>
            <a:off x="658368" y="491032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S30</a:t>
            </a:r>
          </a:p>
        </p:txBody>
      </p:sp>
      <p:sp>
        <p:nvSpPr>
          <p:cNvPr id="25" name="TextBox 24"/>
          <p:cNvSpPr txBox="1"/>
          <p:nvPr/>
        </p:nvSpPr>
        <p:spPr>
          <a:xfrm>
            <a:off x="1417320" y="491032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scikit-learn : choix du seuil de décision</a:t>
            </a:r>
          </a:p>
        </p:txBody>
      </p:sp>
      <p:sp>
        <p:nvSpPr>
          <p:cNvPr id="26" name="TextBox 25"/>
          <p:cNvSpPr txBox="1"/>
          <p:nvPr/>
        </p:nvSpPr>
        <p:spPr>
          <a:xfrm>
            <a:off x="1417320" y="521208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6"/>
              </a:rPr>
              <a:t>https://scikit-learn.org/stable/modules/classification_threshold.html</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2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Références et approfondissements 5</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Bibliographie complète et statut des preuves dans les annexes du kit.</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P01</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J2-083</a:t>
            </a:r>
          </a:p>
        </p:txBody>
      </p:sp>
      <p:sp>
        <p:nvSpPr>
          <p:cNvPr id="12" name="TextBox 11"/>
          <p:cNvSpPr txBox="1"/>
          <p:nvPr/>
        </p:nvSpPr>
        <p:spPr>
          <a:xfrm>
            <a:off x="658368" y="180136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P01</a:t>
            </a:r>
          </a:p>
        </p:txBody>
      </p:sp>
      <p:sp>
        <p:nvSpPr>
          <p:cNvPr id="13" name="TextBox 12"/>
          <p:cNvSpPr txBox="1"/>
          <p:nvPr/>
        </p:nvSpPr>
        <p:spPr>
          <a:xfrm>
            <a:off x="1417320" y="180136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Calculs reproductibles du TP Novalia</a:t>
            </a:r>
          </a:p>
        </p:txBody>
      </p:sp>
      <p:sp>
        <p:nvSpPr>
          <p:cNvPr id="14" name="TextBox 13"/>
          <p:cNvSpPr txBox="1"/>
          <p:nvPr/>
        </p:nvSpPr>
        <p:spPr>
          <a:xfrm>
            <a:off x="1417320" y="210312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travaux_pratiques/resultats_reference.json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Formation 4-020, Jour 2</dc:title>
  <dc:subject>IA appliquée aux systèmes d’information de l’entreprise</dc:subject>
  <dc:creator>P2Enjoy Studio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fr-FR</dc:language>
</cp:coreProperties>
</file>