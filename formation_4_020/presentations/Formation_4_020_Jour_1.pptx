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J1-001 | Jour 1 | B1 | Séquence B1.1</a:t>
            </a:r>
          </a:p>
          <a:p>
            <a:r>
              <a:t>Modalité : Évaluation. Budget de la séquence complète : 15 min (ne pas additionner ce temps à chaque diapositive).</a:t>
            </a:r>
          </a:p>
          <a:p/>
          <a:p>
            <a:r>
              <a:t>OBJECTIF</a:t>
            </a:r>
          </a:p>
          <a:p>
            <a:r>
              <a:t>L’IA dans le système d’information de l’entreprise</a:t>
            </a:r>
          </a:p>
          <a:p/>
          <a:p>
            <a:r>
              <a:t>DÉVELOPPEMENT ET CONSIGNES FORMATEUR</a:t>
            </a:r>
          </a:p>
          <a:p>
            <a:r>
              <a:t>Accueillir les participants sans présumer de leur métier ni de leur expérience. Cette première journée installe un vocabulaire commun, puis relie chaque notion à une décision de Novalia, entreprise fictive. Présenter les supports : diaporama projeté, cahier d’activités et notes approfondies. Les exemples commerciaux sont sourcés ; les données Novalia et les exercices chiffrés sont synthétiques. Aucun client ni date de session n’est attribué à cette référence.</a:t>
            </a:r>
          </a:p>
          <a:p/>
          <a:p>
            <a:r>
              <a:t>MESSAGE À RETENIR</a:t>
            </a:r>
          </a:p>
          <a:p>
            <a:r>
              <a:t>Référence 4-020 • Lot 4 • Niveau Application • 12 heures / 2 jours</a:t>
            </a:r>
          </a:p>
          <a:p/>
          <a:p>
            <a:r>
              <a:t>SOURCES</a:t>
            </a:r>
          </a:p>
          <a:p>
            <a:r>
              <a:t>[S01] Référentiel et dossier fournis par Martino</a:t>
            </a:r>
          </a:p>
          <a:p>
            <a:r>
              <a:t>Texte fourni dans la conversation</a:t>
            </a:r>
          </a:p>
          <a:p>
            <a:r>
              <a:t>Périmètre contractuel fourni ; dépôt officiel non reconsulté.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J1-002 | Jour 1 | B1 | Séquence B1.1</a:t>
            </a:r>
          </a:p>
          <a:p>
            <a:r>
              <a:t>Modalité : Évaluation. Budget de la séquence complète : 15 min (ne pas additionner ce temps à chaque diapositive).</a:t>
            </a:r>
          </a:p>
          <a:p/>
          <a:p>
            <a:r>
              <a:t>OBJECTIF</a:t>
            </a:r>
          </a:p>
          <a:p>
            <a:r>
              <a:t>Ce que vous saurez faire</a:t>
            </a:r>
          </a:p>
          <a:p/>
          <a:p>
            <a:r>
              <a:t>DÉVELOPPEMENT ET CONSIGNES FORMATEUR</a:t>
            </a:r>
          </a:p>
          <a:p>
            <a:r>
              <a:t>Le niveau Application vise une utilisation du raisonnement, pas une récitation. À la fin, chacun devra justifier un choix de données, de métriques et d’intégration. Une réponse comme « mettre de l’IA dans le CRM » n’est pas suffisante. Demander qui reçoit un résultat, à quel moment et quelle action change. Les livrables des ateliers constituent les preuves, tandis que les quiz vérifient individuellement le vocabulaire.</a:t>
            </a:r>
          </a:p>
          <a:p/>
          <a:p>
            <a:r>
              <a:t>MESSAGE À RETENIR</a:t>
            </a:r>
          </a:p>
          <a:p>
            <a:r>
              <a:t>Le résultat attendu est une capacité d’application, pas une expertise de chercheur.</a:t>
            </a:r>
          </a:p>
          <a:p/>
          <a:p>
            <a:r>
              <a:t>QUESTION DE RELANCE</a:t>
            </a:r>
          </a:p>
          <a:p>
            <a:r>
              <a:t>Quelle décision répétitive voudriez-vous mieux prendre ?</a:t>
            </a:r>
          </a:p>
          <a:p/>
          <a:p>
            <a:r>
              <a:t>RÉPONSE ATTENDUE</a:t>
            </a:r>
          </a:p>
          <a:p>
            <a:r>
              <a:t>Une décision observable et située dans un processus, par exemple prioriser une file de tickets.</a:t>
            </a:r>
          </a:p>
          <a:p/>
          <a:p>
            <a:r>
              <a:t>SOURCES</a:t>
            </a:r>
          </a:p>
          <a:p>
            <a:r>
              <a:t>[S01] Référentiel et dossier fournis par Martino</a:t>
            </a:r>
          </a:p>
          <a:p>
            <a:r>
              <a:t>Texte fourni dans la conversation</a:t>
            </a:r>
          </a:p>
          <a:p>
            <a:r>
              <a:t>Périmètre contractuel fourni ; dépôt officiel non reconsulté.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J1-003 | Jour 1 | B1 | Séquence B1.1</a:t>
            </a:r>
          </a:p>
          <a:p>
            <a:r>
              <a:t>Modalité : Évaluation. Budget de la séquence complète : 15 min (ne pas additionner ce temps à chaque diapositive).</a:t>
            </a:r>
          </a:p>
          <a:p/>
          <a:p>
            <a:r>
              <a:t>OBJECTIF</a:t>
            </a:r>
          </a:p>
          <a:p>
            <a:r>
              <a:t>Deux journées, cinq blocs contractuels</a:t>
            </a:r>
          </a:p>
          <a:p/>
          <a:p>
            <a:r>
              <a:t>DÉVELOPPEMENT ET CONSIGNES FORMATEUR</a:t>
            </a:r>
          </a:p>
          <a:p>
            <a:r>
              <a:t>Les durées sont des temps pédagogiques hors pauses. Le conducteur totalise exactement 720 minutes. Les travaux pratiques représentent 450 minutes, soit 62,5 %. Les activités au sens large, en incluant diagnostic et évaluations, représentent 510 minutes, soit 70,8 %. Ne pas confondre les deux indicateurs. Les annexes de perfectionnement et les corrigés ne sont pas des heures supplémentaires obligatoires.</a:t>
            </a:r>
          </a:p>
          <a:p/>
          <a:p>
            <a:r>
              <a:t>MESSAGE À RETENIR</a:t>
            </a:r>
          </a:p>
          <a:p>
            <a:r>
              <a:t>7 h 30 de TP effectifs, plus 1 h de diagnostic et d’évaluation.</a:t>
            </a:r>
          </a:p>
          <a:p/>
          <a:p>
            <a:r>
              <a:t>SOURCES</a:t>
            </a:r>
          </a:p>
          <a:p>
            <a:r>
              <a:t>[S01] Référentiel et dossier fournis par Martino</a:t>
            </a:r>
          </a:p>
          <a:p>
            <a:r>
              <a:t>Texte fourni dans la conversation</a:t>
            </a:r>
          </a:p>
          <a:p>
            <a:r>
              <a:t>Périmètre contractuel fourni ; dépôt officiel non reconsulté.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J1-004 | Jour 1 | B1 | Séquence B1.1</a:t>
            </a:r>
          </a:p>
          <a:p>
            <a:r>
              <a:t>Modalité : Évaluation. Budget de la séquence complète : 15 min (ne pas additionner ce temps à chaque diapositive).</a:t>
            </a:r>
          </a:p>
          <a:p/>
          <a:p>
            <a:r>
              <a:t>OBJECTIF</a:t>
            </a:r>
          </a:p>
          <a:p>
            <a:r>
              <a:t>Diagnostic : cinq questions avant de commencer</a:t>
            </a:r>
          </a:p>
          <a:p/>
          <a:p>
            <a:r>
              <a:t>DÉVELOPPEMENT ET CONSIGNES FORMATEUR</a:t>
            </a:r>
          </a:p>
          <a:p>
            <a:r>
              <a:t>Laisser trois minutes de réponse individuelle, quatre minutes de confrontation en binômes, puis corriger sans notation sanctionnante. Relever surtout le degré de certitude. Une réponse fausse mais argumentée est un point d’appui pédagogique. Conserver les réponses pour comparer avec le QCM final. Ne pas demander de partager des exemples confidentiels issus d’employeurs.</a:t>
            </a:r>
          </a:p>
          <a:p/>
          <a:p>
            <a:r>
              <a:t>MESSAGE À RETENIR</a:t>
            </a:r>
          </a:p>
          <a:p>
            <a:r>
              <a:t>Répondez d’abord seul, puis confrontez votre raisonnement.</a:t>
            </a:r>
          </a:p>
          <a:p/>
          <a:p>
            <a:r>
              <a:t>QUESTION DE RELANCE</a:t>
            </a:r>
          </a:p>
          <a:p>
            <a:r>
              <a:t>Pour quelle réponse êtes-vous le moins certain ?</a:t>
            </a:r>
          </a:p>
          <a:p/>
          <a:p>
            <a:r>
              <a:t>RÉPONSE ATTENDUE</a:t>
            </a:r>
          </a:p>
          <a:p>
            <a:r>
              <a:t>Toutes les propositions appellent une distinction : API/interface ; entraînement/ajustement ; inférence/utilisation ; exactitude insuffisante ; valeur conditionnelle ; décision organisée.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J1-005 | Jour 1 | B1 | Séquence B1.2</a:t>
            </a:r>
          </a:p>
          <a:p>
            <a:r>
              <a:t>Modalité : Apport. Budget de la séquence complète : 20 min (ne pas additionner ce temps à chaque diapositive).</a:t>
            </a:r>
          </a:p>
          <a:p/>
          <a:p>
            <a:r>
              <a:t>OBJECTIF</a:t>
            </a:r>
          </a:p>
          <a:p>
            <a:r>
              <a:t>Un modèle n’est qu’un maillon du SI</a:t>
            </a:r>
          </a:p>
          <a:p/>
          <a:p>
            <a:r>
              <a:t>DÉVELOPPEMENT ET CONSIGNES FORMATEUR</a:t>
            </a:r>
          </a:p>
          <a:p>
            <a:r>
              <a:t>Partir d’un exemple familier : une demande client entre dans un outil, elle est associée à un compte, routée vers une équipe et traitée. L’IA peut aider au routage, mais elle ne remplace ni l’identité du client, ni les droits d’accès, ni la gestion du dossier. Un SI associe personnes, procédures, données, applications et infrastructures. Dessiner les éléments humains au même niveau que les logiciels pour éviter une lecture uniquement technique.</a:t>
            </a:r>
          </a:p>
          <a:p/>
          <a:p>
            <a:r>
              <a:t>MESSAGE À RETENIR</a:t>
            </a:r>
          </a:p>
          <a:p>
            <a:r>
              <a:t>L’IA reçoit des données et rend un résultat à un processus.</a:t>
            </a:r>
          </a:p>
          <a:p/>
          <a:p>
            <a:r>
              <a:t>QUESTION DE RELANCE</a:t>
            </a:r>
          </a:p>
          <a:p>
            <a:r>
              <a:t>Que se passe-t-il si le score reste dans un fichier que personne ne consulte ?</a:t>
            </a:r>
          </a:p>
          <a:p/>
          <a:p>
            <a:r>
              <a:t>RÉPONSE ATTENDUE</a:t>
            </a:r>
          </a:p>
          <a:p>
            <a:r>
              <a:t>La prédiction peut être techniquement valide sans produire d’action ni de valeur.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J1-006 | Jour 1 | B1 | Séquence B1.2</a:t>
            </a:r>
          </a:p>
          <a:p>
            <a:r>
              <a:t>Modalité : Apport. Budget de la séquence complète : 20 min (ne pas additionner ce temps à chaque diapositive).</a:t>
            </a:r>
          </a:p>
          <a:p/>
          <a:p>
            <a:r>
              <a:t>OBJECTIF</a:t>
            </a:r>
          </a:p>
          <a:p>
            <a:r>
              <a:t>De l’observation à l’action</a:t>
            </a:r>
          </a:p>
          <a:p/>
          <a:p>
            <a:r>
              <a:t>DÉVELOPPEMENT ET CONSIGNES FORMATEUR</a:t>
            </a:r>
          </a:p>
          <a:p>
            <a:r>
              <a:t>La pyramide est une grille de lecture pédagogique, pas une loi universelle de la connaissance. La température seule ne dit pas s’il y a un problème : il faut connaître le composant, son régime normal et la fiabilité du capteur. Une corrélation entre un pattern et une panne peut guider une inspection sans constituer une explication physique complète. Faire remonter chaque exemple métier depuis une observation concrète jusqu’à une action.</a:t>
            </a:r>
          </a:p>
          <a:p/>
          <a:p>
            <a:r>
              <a:t>MESSAGE À RETENIR</a:t>
            </a:r>
          </a:p>
          <a:p>
            <a:r>
              <a:t>Le contexte transforme une donnée en information exploitable.</a:t>
            </a:r>
          </a:p>
          <a:p/>
          <a:p>
            <a:r>
              <a:t>QUESTION DE RELANCE</a:t>
            </a:r>
          </a:p>
          <a:p>
            <a:r>
              <a:t>Quelle information manque pour interpréter 38,7 °C ?</a:t>
            </a:r>
          </a:p>
          <a:p/>
          <a:p>
            <a:r>
              <a:t>RÉPONSE ATTENDUE</a:t>
            </a:r>
          </a:p>
          <a:p>
            <a:r>
              <a:t>Le système mesuré, le contexte, la plage attendue et la qualité de la mesure.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J1-007 | Jour 1 | B1 | Séquence B1.2</a:t>
            </a:r>
          </a:p>
          <a:p>
            <a:r>
              <a:t>Modalité : Apport. Budget de la séquence complète : 20 min (ne pas additionner ce temps à chaque diapositive).</a:t>
            </a:r>
          </a:p>
          <a:p/>
          <a:p>
            <a:r>
              <a:t>OBJECTIF</a:t>
            </a:r>
          </a:p>
          <a:p>
            <a:r>
              <a:t>Quatre objets à ne pas confondre</a:t>
            </a:r>
          </a:p>
          <a:p/>
          <a:p>
            <a:r>
              <a:t>DÉVELOPPEMENT ET CONSIGNES FORMATEUR</a:t>
            </a:r>
          </a:p>
          <a:p>
            <a:r>
              <a:t>Un algorithme d’apprentissage appliqué à deux historiques peut produire deux modèles différents. Le système déployé ajoute les transformations, les règles d’accès, les outils et la supervision. Une erreur peut naître dans n’importe laquelle de ces couches. Utiliser l’analogie de la recette, du plat préparé et du service de restauration, sans la prolonger au point de masquer les différences techniques.</a:t>
            </a:r>
          </a:p>
          <a:p/>
          <a:p>
            <a:r>
              <a:t>MESSAGE À RETENIR</a:t>
            </a:r>
          </a:p>
          <a:p>
            <a:r>
              <a:t>Identifier la couche concernée évite les diagnostics imprécis.</a:t>
            </a:r>
          </a:p>
          <a:p/>
          <a:p>
            <a:r>
              <a:t>QUESTION DE RELANCE</a:t>
            </a:r>
          </a:p>
          <a:p>
            <a:r>
              <a:t>Changer les données sans changer l’algorithme peut-il changer le résultat ?</a:t>
            </a:r>
          </a:p>
          <a:p/>
          <a:p>
            <a:r>
              <a:t>RÉPONSE ATTENDUE</a:t>
            </a:r>
          </a:p>
          <a:p>
            <a:r>
              <a:t>Oui : le modèle dépend des exemples, des paramètres de calcul et du protocole.</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J1-008 | Jour 1 | B1 | Séquence B1.2</a:t>
            </a:r>
          </a:p>
          <a:p>
            <a:r>
              <a:t>Modalité : Apport. Budget de la séquence complète : 20 min (ne pas additionner ce temps à chaque diapositive).</a:t>
            </a:r>
          </a:p>
          <a:p/>
          <a:p>
            <a:r>
              <a:t>OBJECTIF</a:t>
            </a:r>
          </a:p>
          <a:p>
            <a:r>
              <a:t>IA, apprentissage automatique, apprentissage profond</a:t>
            </a:r>
          </a:p>
          <a:p/>
          <a:p>
            <a:r>
              <a:t>DÉVELOPPEMENT ET CONSIGNES FORMATEUR</a:t>
            </a:r>
          </a:p>
          <a:p>
            <a:r>
              <a:t>Les ensembles montrent une relation d’inclusion entre IA, apprentissage automatique et apprentissage profond. L’IA générative décrit une famille de fonctions ; les systèmes génératifs actuels reposent souvent sur des architectures profondes, sans que toute génération soit par définition du Deep Learning. Il existe aussi des systèmes de règles et d’optimisation. Ne pas employer « intelligence » comme preuve de compréhension humaine.</a:t>
            </a:r>
          </a:p>
          <a:p/>
          <a:p>
            <a:r>
              <a:t>MESSAGE À RETENIR</a:t>
            </a:r>
          </a:p>
          <a:p>
            <a:r>
              <a:t>L’IA d’entreprise ne se réduit pas au chatbot.</a:t>
            </a:r>
          </a:p>
          <a:p/>
          <a:p>
            <a:r>
              <a:t>QUESTION DE RELANCE</a:t>
            </a:r>
          </a:p>
          <a:p>
            <a:r>
              <a:t>Un filtre de fraude est-il moins « IA » parce qu’il ne discute pas ?</a:t>
            </a:r>
          </a:p>
          <a:p/>
          <a:p>
            <a:r>
              <a:t>RÉPONSE ATTENDUE</a:t>
            </a:r>
          </a:p>
          <a:p>
            <a:r>
              <a:t>Non. Classification et détection peuvent répondre pleinement au besoin sans interface conversationnelle.</a:t>
            </a:r>
          </a:p>
          <a:p/>
          <a:p>
            <a:r>
              <a:t>SOURCES</a:t>
            </a:r>
          </a:p>
          <a:p>
            <a:r>
              <a:t>[S02] scikit-learn : guide utilisateur</a:t>
            </a:r>
          </a:p>
          <a:p>
            <a:r>
              <a:t>https://scikit-learn.org/stable/user_guide.html</a:t>
            </a:r>
          </a:p>
          <a:p>
            <a:r>
              <a:t>Documentation technique ; environnement du TP épinglé séparément.</a:t>
            </a:r>
          </a:p>
          <a:p>
            <a:r>
              <a:t>[S05] LeCun, Bengio et Hinton : apprentissage profond</a:t>
            </a:r>
          </a:p>
          <a:p>
            <a:r>
              <a:t>https://www.nature.com/articles/nature14539</a:t>
            </a:r>
          </a:p>
          <a:p>
            <a:r>
              <a:t>Article de synthèse scientifique, 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J1-009 | Jour 1 | B1 | Séquence B1.2</a:t>
            </a:r>
          </a:p>
          <a:p>
            <a:r>
              <a:t>Modalité : Apport. Budget de la séquence complète : 20 min (ne pas additionner ce temps à chaque diapositive).</a:t>
            </a:r>
          </a:p>
          <a:p/>
          <a:p>
            <a:r>
              <a:t>OBJECTIF</a:t>
            </a:r>
          </a:p>
          <a:p>
            <a:r>
              <a:t>La bonne famille dépend de la question</a:t>
            </a:r>
          </a:p>
          <a:p/>
          <a:p>
            <a:r>
              <a:t>DÉVELOPPEMENT ET CONSIGNES FORMATEUR</a:t>
            </a:r>
          </a:p>
          <a:p>
            <a:r>
              <a:t>Demander aux participants de formuler une question avant de nommer un algorithme. Une prévision de ventes et une classification de tickets ne se valident pas avec les mêmes métriques. Un problème peut combiner plusieurs familles : un service recommande une action après avoir prédit un risque. Pour une prévision temporelle, l’horizon, la saisonnalité et l’absence de données futures sont déterminants.</a:t>
            </a:r>
          </a:p>
          <a:p/>
          <a:p>
            <a:r>
              <a:t>MESSAGE À RETENIR</a:t>
            </a:r>
          </a:p>
          <a:p>
            <a:r>
              <a:t>La formulation du problème est déjà une décision technique.</a:t>
            </a:r>
          </a:p>
          <a:p/>
          <a:p>
            <a:r>
              <a:t>QUESTION DE RELANCE</a:t>
            </a:r>
          </a:p>
          <a:p>
            <a:r>
              <a:t>« Réduire les pannes » définit-il déjà une cible de modèle ?</a:t>
            </a:r>
          </a:p>
          <a:p/>
          <a:p>
            <a:r>
              <a:t>RÉPONSE ATTENDUE</a:t>
            </a:r>
          </a:p>
          <a:p>
            <a:r>
              <a:t>Non. Il faut préciser équipement, horizon et événement observable.</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J1-010 | Jour 1 | B1 | Séquence B1.3</a:t>
            </a:r>
          </a:p>
          <a:p>
            <a:r>
              <a:t>Modalité : TP. Budget de la séquence complète : 30 min (ne pas additionner ce temps à chaque diapositive).</a:t>
            </a:r>
          </a:p>
          <a:p/>
          <a:p>
            <a:r>
              <a:t>OBJECTIF</a:t>
            </a:r>
          </a:p>
          <a:p>
            <a:r>
              <a:t>A01 • Classer huit situations métier</a:t>
            </a:r>
          </a:p>
          <a:p/>
          <a:p>
            <a:r>
              <a:t>DÉVELOPPEMENT ET CONSIGNES FORMATEUR</a:t>
            </a:r>
          </a:p>
          <a:p>
            <a:r>
              <a:t>Distribuer la fiche A01. Former des groupes mixtes de trois à cinq personnes. Chaque carte possède une question et non un nom de technologie. Accepter une alternative lorsqu’elle est correctement cadrée : l’anomalie peut être supervisée si l’historique comporte des labels suffisamment fiables. Faire expliciter le cas où de simples règles suffisent. Ne pas imposer l’IA comme réponse à toutes les cartes.</a:t>
            </a:r>
          </a:p>
          <a:p/>
          <a:p>
            <a:r>
              <a:t>MESSAGE À RETENIR</a:t>
            </a:r>
          </a:p>
          <a:p>
            <a:r>
              <a:t>30 minutes • Cahier A01 • Réponse argumentée, pas mot-clé.</a:t>
            </a:r>
          </a:p>
          <a:p/>
          <a:p>
            <a:r>
              <a:t>QUESTION DE RELANCE</a:t>
            </a:r>
          </a:p>
          <a:p>
            <a:r>
              <a:t>Quelle carte peut être traitée sans apprentissage ?</a:t>
            </a:r>
          </a:p>
          <a:p/>
          <a:p>
            <a:r>
              <a:t>RÉPONSE ATTENDUE</a:t>
            </a:r>
          </a:p>
          <a:p>
            <a:r>
              <a:t>Une alerte imposée par une règle explicite et stable, par exemple une facture dépassant un seuil contractuel.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J1-011 | Jour 1 | B1 | Séquence B1.3</a:t>
            </a:r>
          </a:p>
          <a:p>
            <a:r>
              <a:t>Modalité : TP. Budget de la séquence complète : 30 min (ne pas additionner ce temps à chaque diapositive).</a:t>
            </a:r>
          </a:p>
          <a:p/>
          <a:p>
            <a:r>
              <a:t>OBJECTIF</a:t>
            </a:r>
          </a:p>
          <a:p>
            <a:r>
              <a:t>Les cartes à répartir</a:t>
            </a:r>
          </a:p>
          <a:p/>
          <a:p>
            <a:r>
              <a:t>DÉVELOPPEMENT ET CONSIGNES FORMATEUR</a:t>
            </a:r>
          </a:p>
          <a:p>
            <a:r>
              <a:t>Les cartes détaillées du cahier ajoutent une segmentation de clients et une règle de dépassement de seuil. Demander pour chaque choix ce qui constituerait une bonne et une mauvaise réponse. Les profils RH doivent distinguer l’organisation documentaire d’une décision de recrutement affectant une personne. Faire noter les informations manquantes plutôt que d’inventer une cible précise.</a:t>
            </a:r>
          </a:p>
          <a:p/>
          <a:p>
            <a:r>
              <a:t>MESSAGE À RETENIR</a:t>
            </a:r>
          </a:p>
          <a:p>
            <a:r>
              <a:t>Une même technique peut servir plusieurs métiers, avec des risques différents.</a:t>
            </a:r>
          </a:p>
          <a:p/>
          <a:p>
            <a:r>
              <a:t>QUESTION DE RELANCE</a:t>
            </a:r>
          </a:p>
          <a:p>
            <a:r>
              <a:t>Une anomalie est-elle nécessairement une fraude ?</a:t>
            </a:r>
          </a:p>
          <a:p/>
          <a:p>
            <a:r>
              <a:t>RÉPONSE ATTENDUE</a:t>
            </a:r>
          </a:p>
          <a:p>
            <a:r>
              <a:t>Non. Une anomalie est un signal inhabituel ; l’enquête ou un label permet de qualifier la fraude.</a:t>
            </a:r>
          </a:p>
          <a:p/>
          <a:p>
            <a:r>
              <a:t>SOURCES</a:t>
            </a:r>
          </a:p>
          <a:p>
            <a:r>
              <a:t>[S02] scikit-learn : guide utilisateur</a:t>
            </a:r>
          </a:p>
          <a:p>
            <a:r>
              <a:t>https://scikit-learn.org/stable/user_guide.html</a:t>
            </a:r>
          </a:p>
          <a:p>
            <a:r>
              <a:t>Documentation technique ; environnement du TP épinglé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J1-012 | Jour 1 | B1 | Séquence B1.3</a:t>
            </a:r>
          </a:p>
          <a:p>
            <a:r>
              <a:t>Modalité : TP. Budget de la séquence complète : 30 min (ne pas additionner ce temps à chaque diapositive).</a:t>
            </a:r>
          </a:p>
          <a:p/>
          <a:p>
            <a:r>
              <a:t>OBJECTIF</a:t>
            </a:r>
          </a:p>
          <a:p>
            <a:r>
              <a:t>Corriger en explicitant les hypothèses</a:t>
            </a:r>
          </a:p>
          <a:p/>
          <a:p>
            <a:r>
              <a:t>DÉVELOPPEMENT ET CONSIGNES FORMATEUR</a:t>
            </a:r>
          </a:p>
          <a:p>
            <a:r>
              <a:t>Faire comparer deux formulations. Une réponse utile indique unité, données, cible et destinataire. Le nom du modèle peut attendre. Si les catégories historiques sont incohérentes, le modèle ne résout pas ce problème de gouvernance : il peut le reproduire. Introduire le coût des erreurs avec un ticket urgent routé vers une équipe indisponible.</a:t>
            </a:r>
          </a:p>
          <a:p/>
          <a:p>
            <a:r>
              <a:t>MESSAGE À RETENIR</a:t>
            </a:r>
          </a:p>
          <a:p>
            <a:r>
              <a:t>Une hypothèse explicite vaut mieux qu’un choix technologique prématuré.</a:t>
            </a:r>
          </a:p>
          <a:p/>
          <a:p>
            <a:r>
              <a:t>QUESTION DE RELANCE</a:t>
            </a:r>
          </a:p>
          <a:p>
            <a:r>
              <a:t>Que faut-il vérifier avant d’utiliser les catégories historiques ?</a:t>
            </a:r>
          </a:p>
          <a:p/>
          <a:p>
            <a:r>
              <a:t>RÉPONSE ATTENDUE</a:t>
            </a:r>
          </a:p>
          <a:p>
            <a:r>
              <a:t>Leur stabilité, leur qualité, les changements d’organisation et la manière dont elles ont été attribuées.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J1-013 | Jour 1 | B1 | Séquence B1.4</a:t>
            </a:r>
          </a:p>
          <a:p>
            <a:r>
              <a:t>Modalité : Apport. Budget de la séquence complète : 25 min (ne pas additionner ce temps à chaque diapositive).</a:t>
            </a:r>
          </a:p>
          <a:p/>
          <a:p>
            <a:r>
              <a:t>OBJECTIF</a:t>
            </a:r>
          </a:p>
          <a:p>
            <a:r>
              <a:t>Big Data : cinq questions, pas un seuil magique</a:t>
            </a:r>
          </a:p>
          <a:p/>
          <a:p>
            <a:r>
              <a:t>DÉVELOPPEMENT ET CONSIGNES FORMATEUR</a:t>
            </a:r>
          </a:p>
          <a:p>
            <a:r>
              <a:t>Le NIST propose des architectures et taxonomies pour traiter les contraintes liées aux données massives. Les cinq V affichés sont une mnémotechnique d’animation, pas une définition normative unique. Un fichier modeste mais très frais peut être plus utile qu’un historique massif et obsolète. À l’inverse, la volumétrie peut imposer des traitements distribués. Faire décrire la contrainte réellement rencontrée avant de citer une plateforme.</a:t>
            </a:r>
          </a:p>
          <a:p/>
          <a:p>
            <a:r>
              <a:t>MESSAGE À RETENIR</a:t>
            </a:r>
          </a:p>
          <a:p>
            <a:r>
              <a:t>Le volume est une contrainte ; la valeur est une finalité.</a:t>
            </a:r>
          </a:p>
          <a:p/>
          <a:p>
            <a:r>
              <a:t>QUESTION DE RELANCE</a:t>
            </a:r>
          </a:p>
          <a:p>
            <a:r>
              <a:t>Pourquoi un milliard de lignes peut-il n’avoir aucune valeur ?</a:t>
            </a:r>
          </a:p>
          <a:p/>
          <a:p>
            <a:r>
              <a:t>RÉPONSE ATTENDUE</a:t>
            </a:r>
          </a:p>
          <a:p>
            <a:r>
              <a:t>Parce qu’aucune décision utile, aucun droit d’usage ou aucune qualité exploitable ne sont établis.</a:t>
            </a:r>
          </a:p>
          <a:p/>
          <a:p>
            <a:r>
              <a:t>SOURCES</a:t>
            </a:r>
          </a:p>
          <a:p>
            <a:r>
              <a:t>[S27] NIST : architecture de référence Big Data</a:t>
            </a:r>
          </a:p>
          <a:p>
            <a:r>
              <a:t>https://www.nist.gov/publications/nist-big-data-interoperability-framework-volume-6-reference-architecture</a:t>
            </a:r>
          </a:p>
          <a:p>
            <a:r>
              <a:t>Cadre conceptuel ; les cinq V du cours sont une grille pédagogique.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J1-014 | Jour 1 | B1 | Séquence B1.4</a:t>
            </a:r>
          </a:p>
          <a:p>
            <a:r>
              <a:t>Modalité : Apport. Budget de la séquence complète : 25 min (ne pas additionner ce temps à chaque diapositive).</a:t>
            </a:r>
          </a:p>
          <a:p/>
          <a:p>
            <a:r>
              <a:t>OBJECTIF</a:t>
            </a:r>
          </a:p>
          <a:p>
            <a:r>
              <a:t>La Data Science est un processus collectif</a:t>
            </a:r>
          </a:p>
          <a:p/>
          <a:p>
            <a:r>
              <a:t>DÉVELOPPEMENT ET CONSIGNES FORMATEUR</a:t>
            </a:r>
          </a:p>
          <a:p>
            <a:r>
              <a:t>Le modèle n’occupe qu’une partie du cycle. La préparation, la définition d’un indicateur utile et le suivi peuvent mobiliser des métiers différents. Une bonne démarche est itérative : si l’action est impossible ou les données indisponibles à temps, on revient au cadrage. Le cycle n’impose pas de développer un nouveau modèle : il peut conclure à une règle simple, un tableau de bord ou l’abandon du cas.</a:t>
            </a:r>
          </a:p>
          <a:p/>
          <a:p>
            <a:r>
              <a:t>MESSAGE À RETENIR</a:t>
            </a:r>
          </a:p>
          <a:p>
            <a:r>
              <a:t>Un projet data commence par une question et se juge sur un résultat.</a:t>
            </a:r>
          </a:p>
          <a:p/>
          <a:p>
            <a:r>
              <a:t>QUESTION DE RELANCE</a:t>
            </a:r>
          </a:p>
          <a:p>
            <a:r>
              <a:t>À quelle étape décide-t-on de ne pas utiliser l’IA ?</a:t>
            </a:r>
          </a:p>
          <a:p/>
          <a:p>
            <a:r>
              <a:t>RÉPONSE ATTENDUE</a:t>
            </a:r>
          </a:p>
          <a:p>
            <a:r>
              <a:t>Dès le cadrage, puis à chaque revue si les preuves de valeur ou de faisabilité manquent.</a:t>
            </a:r>
          </a:p>
          <a:p/>
          <a:p>
            <a:r>
              <a:t>SOURCES</a:t>
            </a:r>
          </a:p>
          <a:p>
            <a:r>
              <a:t>[S02] scikit-learn : guide utilisateur</a:t>
            </a:r>
          </a:p>
          <a:p>
            <a:r>
              <a:t>https://scikit-learn.org/stable/user_guide.html</a:t>
            </a:r>
          </a:p>
          <a:p>
            <a:r>
              <a:t>Documentation technique ; environnement du TP épinglé séparément.</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J1-015 | Jour 1 | B1 | Séquence B1.4</a:t>
            </a:r>
          </a:p>
          <a:p>
            <a:r>
              <a:t>Modalité : Apport. Budget de la séquence complète : 25 min (ne pas additionner ce temps à chaque diapositive).</a:t>
            </a:r>
          </a:p>
          <a:p/>
          <a:p>
            <a:r>
              <a:t>OBJECTIF</a:t>
            </a:r>
          </a:p>
          <a:p>
            <a:r>
              <a:t>Entraînement, inférence, décision</a:t>
            </a:r>
          </a:p>
          <a:p/>
          <a:p>
            <a:r>
              <a:t>DÉVELOPPEMENT ET CONSIGNES FORMATEUR</a:t>
            </a:r>
          </a:p>
          <a:p>
            <a:r>
              <a:t>Décrire trois moments séparés. Pendant l’entraînement, les paramètres changent selon les données et le critère choisi. À l’inférence, le modèle fixé transforme une observation nouvelle. La décision ajoute un seuil, des exclusions, une capacité de traitement et éventuellement une supervision humaine. Une requête d’inférence n’entraîne pas automatiquement le modèle ; ce comportement dépend du système et de ses flux explicites.</a:t>
            </a:r>
          </a:p>
          <a:p/>
          <a:p>
            <a:r>
              <a:t>MESSAGE À RETENIR</a:t>
            </a:r>
          </a:p>
          <a:p>
            <a:r>
              <a:t>Un score n’a pas de politique commerciale implicite.</a:t>
            </a:r>
          </a:p>
          <a:p/>
          <a:p>
            <a:r>
              <a:t>QUESTION DE RELANCE</a:t>
            </a:r>
          </a:p>
          <a:p>
            <a:r>
              <a:t>Le modèle décide-t-il seul de contacter le client ?</a:t>
            </a:r>
          </a:p>
          <a:p/>
          <a:p>
            <a:r>
              <a:t>RÉPONSE ATTENDUE</a:t>
            </a:r>
          </a:p>
          <a:p>
            <a:r>
              <a:t>Il calcule un score. La politique d’action appartient à l’organisation et doit être attribuée.</a:t>
            </a:r>
          </a:p>
          <a:p/>
          <a:p>
            <a:r>
              <a:t>SOURCES</a:t>
            </a:r>
          </a:p>
          <a:p>
            <a:r>
              <a:t>[S02] scikit-learn : guide utilisateur</a:t>
            </a:r>
          </a:p>
          <a:p>
            <a:r>
              <a:t>https://scikit-learn.org/stable/user_guide.html</a:t>
            </a:r>
          </a:p>
          <a:p>
            <a:r>
              <a:t>Documentation technique ; environnement du TP épinglé séparément.</a:t>
            </a:r>
          </a:p>
          <a:p>
            <a:r>
              <a:t>[S30] scikit-learn : choix du seuil de décision</a:t>
            </a:r>
          </a:p>
          <a:p>
            <a:r>
              <a:t>https://scikit-learn.org/stable/modules/classification_threshold.html</a:t>
            </a:r>
          </a:p>
          <a:p>
            <a:r>
              <a:t>Séparer score, seuil et validation de la politique.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J1-016 | Jour 1 | B1 | Séquence B1.4</a:t>
            </a:r>
          </a:p>
          <a:p>
            <a:r>
              <a:t>Modalité : Apport. Budget de la séquence complète : 25 min (ne pas additionner ce temps à chaque diapositive).</a:t>
            </a:r>
          </a:p>
          <a:p/>
          <a:p>
            <a:r>
              <a:t>OBJECTIF</a:t>
            </a:r>
          </a:p>
          <a:p>
            <a:r>
              <a:t>Ce qui est disponible au moment de décider</a:t>
            </a:r>
          </a:p>
          <a:p/>
          <a:p>
            <a:r>
              <a:t>DÉVELOPPEMENT ET CONSIGNES FORMATEUR</a:t>
            </a:r>
          </a:p>
          <a:p>
            <a:r>
              <a:t>La frontière temporelle est la règle la plus utile pour éviter les fuites de données. On ne peut pas prédire un départ trente jours avant en utilisant une date connue seulement après le signal de résiliation. Les agrégats doivent également respecter cette frontière. Une colonne nommée « nombre de tickets » peut contenir des tickets futurs si elle est recalculée a posteriori. La disponibilité doit être prouvée, pas supposée à partir du nom.</a:t>
            </a:r>
          </a:p>
          <a:p/>
          <a:p>
            <a:r>
              <a:t>MESSAGE À RETENIR</a:t>
            </a:r>
          </a:p>
          <a:p>
            <a:r>
              <a:t>Chaque variable doit exister avant la décision à améliorer.</a:t>
            </a:r>
          </a:p>
          <a:p/>
          <a:p>
            <a:r>
              <a:t>QUESTION DE RELANCE</a:t>
            </a:r>
          </a:p>
          <a:p>
            <a:r>
              <a:t>Une date de demande de résiliation est-elle toujours interdite ?</a:t>
            </a:r>
          </a:p>
          <a:p/>
          <a:p>
            <a:r>
              <a:t>RÉPONSE ATTENDUE</a:t>
            </a:r>
          </a:p>
          <a:p>
            <a:r>
              <a:t>Pas toujours : cela dépend du moment et de la décision. Pour le cas de prédiction précoce défini ici, elle est postérieure et exclue.</a:t>
            </a:r>
          </a:p>
          <a:p/>
          <a:p>
            <a:r>
              <a:t>SOURCES</a:t>
            </a:r>
          </a:p>
          <a:p>
            <a:r>
              <a:t>[S03] scikit-learn : pièges et fuites de données</a:t>
            </a:r>
          </a:p>
          <a:p>
            <a:r>
              <a:t>https://scikit-learn.org/1.8/common_pitfalls.html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J1-017 | Jour 1 | B1 | Séquence B1.4</a:t>
            </a:r>
          </a:p>
          <a:p>
            <a:r>
              <a:t>Modalité : Apport. Budget de la séquence complète : 25 min (ne pas additionner ce temps à chaque diapositive).</a:t>
            </a:r>
          </a:p>
          <a:p/>
          <a:p>
            <a:r>
              <a:t>OBJECTIF</a:t>
            </a:r>
          </a:p>
          <a:p>
            <a:r>
              <a:t>Généraliser plutôt que mémoriser</a:t>
            </a:r>
          </a:p>
          <a:p/>
          <a:p>
            <a:r>
              <a:t>DÉVELOPPEMENT ET CONSIGNES FORMATEUR</a:t>
            </a:r>
          </a:p>
          <a:p>
            <a:r>
              <a:t>Utiliser l’analogie d’un examen appris par cœur. Le score sur les exemples déjà vus ne prouve pas la capacité à traiter de nouveaux cas. Les courbes sont schématiques, sans mesures réelles. Un modèle très complexe n’est pas mauvais par nature ; le risque dépend des données, du réglage et de la validation. Faire comprendre pourquoi un jeu de test doit rester indépendant des choix.</a:t>
            </a:r>
          </a:p>
          <a:p/>
          <a:p>
            <a:r>
              <a:t>MESSAGE À RETENIR</a:t>
            </a:r>
          </a:p>
          <a:p>
            <a:r>
              <a:t>La performance utile se mesure sur des situations non utilisées pour choisir.</a:t>
            </a:r>
          </a:p>
          <a:p/>
          <a:p>
            <a:r>
              <a:t>QUESTION DE RELANCE</a:t>
            </a:r>
          </a:p>
          <a:p>
            <a:r>
              <a:t>Pourquoi ne pas entraîner sur toutes les données puis afficher ce même score ?</a:t>
            </a:r>
          </a:p>
          <a:p/>
          <a:p>
            <a:r>
              <a:t>RÉPONSE ATTENDUE</a:t>
            </a:r>
          </a:p>
          <a:p>
            <a:r>
              <a:t>Parce qu’on mesurerait en partie la mémorisation et non la généralisation.</a:t>
            </a:r>
          </a:p>
          <a:p/>
          <a:p>
            <a:r>
              <a:t>SOURCES</a:t>
            </a:r>
          </a:p>
          <a:p>
            <a:r>
              <a:t>[S29] scikit-learn : validation croisée</a:t>
            </a:r>
          </a:p>
          <a:p>
            <a:r>
              <a:t>https://scikit-learn.org/stable/modules/cross_validation.html</a:t>
            </a:r>
          </a:p>
          <a:p>
            <a:r>
              <a:t>Séparation adaptée aux données et dépendances.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J1-018 | Jour 1 | B1 | Séquence B1.4</a:t>
            </a:r>
          </a:p>
          <a:p>
            <a:r>
              <a:t>Modalité : Apport. Budget de la séquence complète : 25 min (ne pas additionner ce temps à chaque diapositive).</a:t>
            </a:r>
          </a:p>
          <a:p/>
          <a:p>
            <a:r>
              <a:t>OBJECTIF</a:t>
            </a:r>
          </a:p>
          <a:p>
            <a:r>
              <a:t>99 % peut signifier zéro fraude détectée</a:t>
            </a:r>
          </a:p>
          <a:p/>
          <a:p>
            <a:r>
              <a:t>DÉVELOPPEMENT ET CONSIGNES FORMATEUR</a:t>
            </a:r>
          </a:p>
          <a:p>
            <a:r>
              <a:t>Faire calculer : sur dix mille paiements dont cent fraudes, prédire « légitime » pour tous donne 9 900 bonnes classes sur 10 000. Ce résultat paraît impressionnant mais manque toutes les fraudes. Les chiffres sont un exemple arithmétique inventé. Introduire la notion de prévalence et demander quelle erreur coûte à l’entreprise et au client.</a:t>
            </a:r>
          </a:p>
          <a:p/>
          <a:p>
            <a:r>
              <a:t>MESSAGE À RETENIR</a:t>
            </a:r>
          </a:p>
          <a:p>
            <a:r>
              <a:t>Exactitude = 9 900 / 10 000. Rappel de la fraude = 0 / 100.</a:t>
            </a:r>
          </a:p>
          <a:p/>
          <a:p>
            <a:r>
              <a:t>QUESTION DE RELANCE</a:t>
            </a:r>
          </a:p>
          <a:p>
            <a:r>
              <a:t>Quel indicateur manque ici ?</a:t>
            </a:r>
          </a:p>
          <a:p/>
          <a:p>
            <a:r>
              <a:t>RÉPONSE ATTENDUE</a:t>
            </a:r>
          </a:p>
          <a:p>
            <a:r>
              <a:t>Le rappel de la fraude, et plus largement la précision, les faux positifs et leurs conséquences.</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J1-019 | Jour 1 | B1 | Séquence B1.4</a:t>
            </a:r>
          </a:p>
          <a:p>
            <a:r>
              <a:t>Modalité : Apport. Budget de la séquence complète : 25 min (ne pas additionner ce temps à chaque diapositive).</a:t>
            </a:r>
          </a:p>
          <a:p/>
          <a:p>
            <a:r>
              <a:t>OBJECTIF</a:t>
            </a:r>
          </a:p>
          <a:p>
            <a:r>
              <a:t>Quatre issues, quatre conséquences</a:t>
            </a:r>
          </a:p>
          <a:p/>
          <a:p>
            <a:r>
              <a:t>DÉVELOPPEMENT ET CONSIGNES FORMATEUR</a:t>
            </a:r>
          </a:p>
          <a:p>
            <a:r>
              <a:t>Lire la matrice avec la même convention tout au long du cours. Les lignes expriment ici l’action du système et les colonnes la réalité. Les bibliothèques peuvent utiliser une orientation différente : toujours lire les libellés. Un vrai positif n’est une perte évitée que si l’action est efficace ; détecter sans traiter ne suffit pas. Un faux positif peut occasionner une revue, pas nécessairement un blocage.</a:t>
            </a:r>
          </a:p>
          <a:p/>
          <a:p>
            <a:r>
              <a:t>MESSAGE À RETENIR</a:t>
            </a:r>
          </a:p>
          <a:p>
            <a:r>
              <a:t>Précision : fiabilité des alertes. Rappel : couverture des cas réels.</a:t>
            </a:r>
          </a:p>
          <a:p/>
          <a:p>
            <a:r>
              <a:t>QUESTION DE RELANCE</a:t>
            </a:r>
          </a:p>
          <a:p>
            <a:r>
              <a:t>Pourquoi les faux positifs ne sont-ils pas seulement un problème statistique ?</a:t>
            </a:r>
          </a:p>
          <a:p/>
          <a:p>
            <a:r>
              <a:t>RÉPONSE ATTENDUE</a:t>
            </a:r>
          </a:p>
          <a:p>
            <a:r>
              <a:t>Ils consomment du temps, dégradent l’expérience et peuvent faire perdre une vente.</a:t>
            </a:r>
          </a:p>
          <a:p/>
          <a:p>
            <a:r>
              <a:t>SOURCES</a:t>
            </a:r>
          </a:p>
          <a:p>
            <a:r>
              <a:t>[S04] scikit-learn : métriques et scores</a:t>
            </a:r>
          </a:p>
          <a:p>
            <a:r>
              <a:t>https://scikit-learn.org/stable/modules/model_evaluation.html</a:t>
            </a:r>
          </a:p>
          <a:p>
            <a:r>
              <a:t>Documentation primaire.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J1-020 | Jour 1 | B1 | Séquence B1.5</a:t>
            </a:r>
          </a:p>
          <a:p>
            <a:r>
              <a:t>Modalité : TP. Budget de la séquence complète : 30 min (ne pas additionner ce temps à chaque diapositive).</a:t>
            </a:r>
          </a:p>
          <a:p/>
          <a:p>
            <a:r>
              <a:t>OBJECTIF</a:t>
            </a:r>
          </a:p>
          <a:p>
            <a:r>
              <a:t>Novalia : une entreprise fictive, un SI concret</a:t>
            </a:r>
          </a:p>
          <a:p/>
          <a:p>
            <a:r>
              <a:t>DÉVELOPPEMENT ET CONSIGNES FORMATEUR</a:t>
            </a:r>
          </a:p>
          <a:p>
            <a:r>
              <a:t>Novalia est une entreprise pédagogique combinant services par abonnement et vente en ligne. Les participants choisissent un processus qui reste commun à tous les ateliers. Ne pas inventer de résultats réels pour cette entreprise. Les données fournies au TP portent sur des clients synthétiques indépendants. La carte est volontairement simplifiée pour permettre de discuter les responsabilités et les flux sans enseigner un produit d’architecture particulier.</a:t>
            </a:r>
          </a:p>
          <a:p/>
          <a:p>
            <a:r>
              <a:t>MESSAGE À RETENIR</a:t>
            </a:r>
          </a:p>
          <a:p>
            <a:r>
              <a:t>Le cas fil rouge est synthétique et ne représente aucun client.</a:t>
            </a:r>
          </a:p>
          <a:p/>
          <a:p>
            <a:r>
              <a:t>QUESTION DE RELANCE</a:t>
            </a:r>
          </a:p>
          <a:p>
            <a:r>
              <a:t>Quel système devra recevoir un score de départ ?</a:t>
            </a:r>
          </a:p>
          <a:p/>
          <a:p>
            <a:r>
              <a:t>RÉPONSE ATTENDUE</a:t>
            </a:r>
          </a:p>
          <a:p>
            <a:r>
              <a:t>Le CRM ou une file opérationnelle utilisée par l’équipe fidélisation, avec une date et une règle d’action.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J1-021 | Jour 1 | B1 | Séquence B1.5</a:t>
            </a:r>
          </a:p>
          <a:p>
            <a:r>
              <a:t>Modalité : TP. Budget de la séquence complète : 30 min (ne pas additionner ce temps à chaque diapositive).</a:t>
            </a:r>
          </a:p>
          <a:p/>
          <a:p>
            <a:r>
              <a:t>OBJECTIF</a:t>
            </a:r>
          </a:p>
          <a:p>
            <a:r>
              <a:t>A02 • Dessiner la chaîne de décision</a:t>
            </a:r>
          </a:p>
          <a:p/>
          <a:p>
            <a:r>
              <a:t>DÉVELOPPEMENT ET CONSIGNES FORMATEUR</a:t>
            </a:r>
          </a:p>
          <a:p>
            <a:r>
              <a:t>Consacrer cinq minutes au choix, quinze au dessin et dix au retour croisé. Interdire les boîtes simplement intitulées « IA magique ». Chaque groupe annote la fréquence d’arrivée des données et le responsable de l’action. Demander à un autre groupe de suivre un exemple de bout en bout. Si ce parcours est impossible, le dessin doit être clarifié.</a:t>
            </a:r>
          </a:p>
          <a:p/>
          <a:p>
            <a:r>
              <a:t>MESSAGE À RETENIR</a:t>
            </a:r>
          </a:p>
          <a:p>
            <a:r>
              <a:t>30 minutes • Cahier A02 • Cinq blocs et un responsable.</a:t>
            </a:r>
          </a:p>
          <a:p/>
          <a:p>
            <a:r>
              <a:t>QUESTION DE RELANCE</a:t>
            </a:r>
          </a:p>
          <a:p>
            <a:r>
              <a:t>Où mesurer l’amélioration finale ?</a:t>
            </a:r>
          </a:p>
          <a:p/>
          <a:p>
            <a:r>
              <a:t>RÉPONSE ATTENDUE</a:t>
            </a:r>
          </a:p>
          <a:p>
            <a:r>
              <a:t>Après l’action métier, par exemple délai de traitement, coût ou départ observé, pas seulement à la sortie du modèle.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J1-022 | Jour 1 | B1 | Séquence B1.5</a:t>
            </a:r>
          </a:p>
          <a:p>
            <a:r>
              <a:t>Modalité : TP. Budget de la séquence complète : 30 min (ne pas additionner ce temps à chaque diapositive).</a:t>
            </a:r>
          </a:p>
          <a:p/>
          <a:p>
            <a:r>
              <a:t>OBJECTIF</a:t>
            </a:r>
          </a:p>
          <a:p>
            <a:r>
              <a:t>Débrief : le score doit atteindre quelqu’un</a:t>
            </a:r>
          </a:p>
          <a:p/>
          <a:p>
            <a:r>
              <a:t>DÉVELOPPEMENT ET CONSIGNES FORMATEUR</a:t>
            </a:r>
          </a:p>
          <a:p>
            <a:r>
              <a:t>Exemple de correction possible, non architecture imposée : un calcul nocturne est suffisant si l’équipe travaille les dossiers le matin. Le score est relié à une version du modèle et à un instant. Les cas nécessitant une action non autorisée sont exclus par des règles. L’observation finale permet d’évaluer la performance et l’impact. La flèche de retour n’autorise pas un réentraînement automatique non contrôlé.</a:t>
            </a:r>
          </a:p>
          <a:p/>
          <a:p>
            <a:r>
              <a:t>MESSAGE À RETENIR</a:t>
            </a:r>
          </a:p>
          <a:p>
            <a:r>
              <a:t>La boucle de mesure ferme le système, pas seulement le diagramme.</a:t>
            </a:r>
          </a:p>
          <a:p/>
          <a:p>
            <a:r>
              <a:t>QUESTION DE RELANCE</a:t>
            </a:r>
          </a:p>
          <a:p>
            <a:r>
              <a:t>La donnée « résultat de campagne » doit-elle être conservée ?</a:t>
            </a:r>
          </a:p>
          <a:p/>
          <a:p>
            <a:r>
              <a:t>RÉPONSE ATTENDUE</a:t>
            </a:r>
          </a:p>
          <a:p>
            <a:r>
              <a:t>Elle peut être nécessaire pour mesurer l’effet, avec une finalité, une durée, des accès et un protocole définis.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J1-023 | Jour 1 | B2 | Séquence B2.1</a:t>
            </a:r>
          </a:p>
          <a:p>
            <a:r>
              <a:t>Modalité : Apport. Budget de la séquence complète : 15 min (ne pas additionner ce temps à chaque diapositive).</a:t>
            </a:r>
          </a:p>
          <a:p/>
          <a:p>
            <a:r>
              <a:t>OBJECTIF</a:t>
            </a:r>
          </a:p>
          <a:p>
            <a:r>
              <a:t>02 • Les données créent de la valeur quand une action change</a:t>
            </a:r>
          </a:p>
          <a:p/>
          <a:p>
            <a:r>
              <a:t>DÉVELOPPEMENT ET CONSIGNES FORMATEUR</a:t>
            </a:r>
          </a:p>
          <a:p>
            <a:r>
              <a:t>Annoncer que le bloc ne demande pas de vendre des données. Il cherche à comprendre comment une information mieux exploitée change un service, un coût, un risque ou un revenu. Les cas d’entreprise servent de références, jamais de promesses transférables automatiquement. Les participants construiront un canevas de valeur et un calcul de coût d’erreur.</a:t>
            </a:r>
          </a:p>
          <a:p/>
          <a:p>
            <a:r>
              <a:t>MESSAGE À RETENIR</a:t>
            </a:r>
          </a:p>
          <a:p>
            <a:r>
              <a:t>2 heures • 90 minutes de travaux pratiques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J1-024 | Jour 1 | B2 | Séquence B2.1</a:t>
            </a:r>
          </a:p>
          <a:p>
            <a:r>
              <a:t>Modalité : Apport. Budget de la séquence complète : 15 min (ne pas additionner ce temps à chaque diapositive).</a:t>
            </a:r>
          </a:p>
          <a:p/>
          <a:p>
            <a:r>
              <a:t>OBJECTIF</a:t>
            </a:r>
          </a:p>
          <a:p>
            <a:r>
              <a:t>Six mécanismes de création de valeur</a:t>
            </a:r>
          </a:p>
          <a:p/>
          <a:p>
            <a:r>
              <a:t>DÉVELOPPEMENT ET CONSIGNES FORMATEUR</a:t>
            </a:r>
          </a:p>
          <a:p>
            <a:r>
              <a:t>Présenter les mécanismes comme une grille d’analyse. Un même projet peut améliorer plusieurs dimensions mais doit choisir un indicateur principal pour éviter une justification vague. Une augmentation de conversion peut dégrader une marge si elle repose sur trop de remises. Une baisse du temps de traitement peut réduire la qualité si l’on ferme les dossiers trop vite. Faire demander un indicateur de protection en parallèle du KPI principal.</a:t>
            </a:r>
          </a:p>
          <a:p/>
          <a:p>
            <a:r>
              <a:t>MESSAGE À RETENIR</a:t>
            </a:r>
          </a:p>
          <a:p>
            <a:r>
              <a:t>Associer un indicateur principal à un indicateur de protection.</a:t>
            </a:r>
          </a:p>
          <a:p/>
          <a:p>
            <a:r>
              <a:t>QUESTION DE RELANCE</a:t>
            </a:r>
          </a:p>
          <a:p>
            <a:r>
              <a:t>Quel effet négatif surveiller si vous optimisez seulement la rapidité ?</a:t>
            </a:r>
          </a:p>
          <a:p/>
          <a:p>
            <a:r>
              <a:t>RÉPONSE ATTENDUE</a:t>
            </a:r>
          </a:p>
          <a:p>
            <a:r>
              <a:t>Erreurs, réouvertures, insatisfaction ou transfert de charge vers une autre équipe.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J1-025 | Jour 1 | B2 | Séquence B2.1</a:t>
            </a:r>
          </a:p>
          <a:p>
            <a:r>
              <a:t>Modalité : Apport. Budget de la séquence complète : 15 min (ne pas additionner ce temps à chaque diapositive).</a:t>
            </a:r>
          </a:p>
          <a:p/>
          <a:p>
            <a:r>
              <a:t>OBJECTIF</a:t>
            </a:r>
          </a:p>
          <a:p>
            <a:r>
              <a:t>La valeur n’est pas stockée dans le fichier</a:t>
            </a:r>
          </a:p>
          <a:p/>
          <a:p>
            <a:r>
              <a:t>DÉVELOPPEMENT ET CONSIGNES FORMATEUR</a:t>
            </a:r>
          </a:p>
          <a:p>
            <a:r>
              <a:t>Expliquer la différence entre un résultat de modèle et un résultat économique. Un score peut être exact mais arriver trop tard. Une équipe peut ignorer le résultat ou manquer de capacité. Une action peut être inefficace malgré une bonne prédiction. La démonstration de valeur exige donc une comparaison crédible avec la situation sans le dispositif. Ne pas confondre revenu associé à un client et revenu sauvé par une intervention.</a:t>
            </a:r>
          </a:p>
          <a:p/>
          <a:p>
            <a:r>
              <a:t>MESSAGE À RETENIR</a:t>
            </a:r>
          </a:p>
          <a:p>
            <a:r>
              <a:t>La causalité métier ne se déduit pas d’un score prédictif.</a:t>
            </a:r>
          </a:p>
          <a:p/>
          <a:p>
            <a:r>
              <a:t>QUESTION DE RELANCE</a:t>
            </a:r>
          </a:p>
          <a:p>
            <a:r>
              <a:t>Pourquoi 1 million d’euros de clients à risque n’est-il pas 1 million d’euros de gains ?</a:t>
            </a:r>
          </a:p>
          <a:p/>
          <a:p>
            <a:r>
              <a:t>RÉPONSE ATTENDUE</a:t>
            </a:r>
          </a:p>
          <a:p>
            <a:r>
              <a:t>Tous ne partiront pas, tous ne seront pas joignables et toutes les actions ne changeront pas leur décision.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J1-026 | Jour 1 | B2 | Séquence B2.1</a:t>
            </a:r>
          </a:p>
          <a:p>
            <a:r>
              <a:t>Modalité : Apport. Budget de la séquence complète : 15 min (ne pas additionner ce temps à chaque diapositive).</a:t>
            </a:r>
          </a:p>
          <a:p/>
          <a:p>
            <a:r>
              <a:t>OBJECTIF</a:t>
            </a:r>
          </a:p>
          <a:p>
            <a:r>
              <a:t>Coût complet : regarder au-delà du modèle</a:t>
            </a:r>
          </a:p>
          <a:p/>
          <a:p>
            <a:r>
              <a:t>DÉVELOPPEMENT ET CONSIGNES FORMATEUR</a:t>
            </a:r>
          </a:p>
          <a:p>
            <a:r>
              <a:t>Faire lister les coûts absents d’une simple facture d’API ou d’un entraînement. Une solution existante peut être moins chère à construire mais exiger des contrats, des interfaces et un suivi. Une solution locale peut réduire certains transferts tout en augmentant la charge d’exploitation. Il ne s’agit pas de conseiller un achat : on enseigne un périmètre de calcul complet. Les coûts d’erreur font partie du cas économique.</a:t>
            </a:r>
          </a:p>
          <a:p/>
          <a:p>
            <a:r>
              <a:t>MESSAGE À RETENIR</a:t>
            </a:r>
          </a:p>
          <a:p>
            <a:r>
              <a:t>Le coût d’un système IA se mesure sur son cycle de vie.</a:t>
            </a:r>
          </a:p>
          <a:p/>
          <a:p>
            <a:r>
              <a:t>QUESTION DE RELANCE</a:t>
            </a:r>
          </a:p>
          <a:p>
            <a:r>
              <a:t>Quel coût disparaît rarement après la fin du prototype ?</a:t>
            </a:r>
          </a:p>
          <a:p/>
          <a:p>
            <a:r>
              <a:t>RÉPONSE ATTENDUE</a:t>
            </a:r>
          </a:p>
          <a:p>
            <a:r>
              <a:t>Maintenance, évolution des données, exploitation et responsabilité du service.</a:t>
            </a:r>
          </a:p>
          <a:p/>
          <a:p>
            <a:r>
              <a:t>SOURCES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J1-027 | Jour 1 | B2 | Séquence B2.2</a:t>
            </a:r>
          </a:p>
          <a:p>
            <a:r>
              <a:t>Modalité : TP. Budget de la séquence complète : 30 min (ne pas additionner ce temps à chaque diapositive).</a:t>
            </a:r>
          </a:p>
          <a:p/>
          <a:p>
            <a:r>
              <a:t>OBJECTIF</a:t>
            </a:r>
          </a:p>
          <a:p>
            <a:r>
              <a:t>Netflix : une recommandation est un système</a:t>
            </a:r>
          </a:p>
          <a:p/>
          <a:p>
            <a:r>
              <a:t>DÉVELOPPEMENT ET CONSIGNES FORMATEUR</a:t>
            </a:r>
          </a:p>
          <a:p>
            <a:r>
              <a:t>Le papier de Gomez-Uribe et Hunt présente le système Netflix comme une composition d’algorithmes liée à une finalité économique et à l’expérimentation. L’architecture détaillée affichée ensuite est une adaptation pédagogique, pas un plan technique officiel de production. Demander au groupe de distinguer pertinence d’un contenu, ordre de présentation et expérience vécue. La finalité n’est pas de produire un score isolé mais de faciliter un choix utilisateur.</a:t>
            </a:r>
          </a:p>
          <a:p/>
          <a:p>
            <a:r>
              <a:t>MESSAGE À RETENIR</a:t>
            </a:r>
          </a:p>
          <a:p>
            <a:r>
              <a:t>Cas documenté • Entreprise : Netflix • Publication scientifique historique</a:t>
            </a:r>
          </a:p>
          <a:p/>
          <a:p>
            <a:r>
              <a:t>QUESTION DE RELANCE</a:t>
            </a:r>
          </a:p>
          <a:p>
            <a:r>
              <a:t>Une amélioration hors ligne garantit-elle une meilleure expérience ?</a:t>
            </a:r>
          </a:p>
          <a:p/>
          <a:p>
            <a:r>
              <a:t>RÉPONSE ATTENDUE</a:t>
            </a:r>
          </a:p>
          <a:p>
            <a:r>
              <a:t>Non. Il faut observer un indicateur utilisateur et vérifier le protocole de test.</a:t>
            </a:r>
          </a:p>
          <a:p/>
          <a:p>
            <a:r>
              <a:t>SOURCES</a:t>
            </a:r>
          </a:p>
          <a:p>
            <a:r>
              <a:t>[S07] Gomez-Uribe et Hunt : le système de recommandation Netflix</a:t>
            </a:r>
          </a:p>
          <a:p>
            <a:r>
              <a:t>https://doi.org/10.1145/2843948</a:t>
            </a:r>
          </a:p>
          <a:p>
            <a:r>
              <a:t>Article de chercheurs Netflix ; contexte historique.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J1-028 | Jour 1 | B2 | Séquence B2.2</a:t>
            </a:r>
          </a:p>
          <a:p>
            <a:r>
              <a:t>Modalité : TP. Budget de la séquence complète : 30 min (ne pas additionner ce temps à chaque diapositive).</a:t>
            </a:r>
          </a:p>
          <a:p/>
          <a:p>
            <a:r>
              <a:t>OBJECTIF</a:t>
            </a:r>
          </a:p>
          <a:p>
            <a:r>
              <a:t>Du catalogue à la liste recommandée</a:t>
            </a:r>
          </a:p>
          <a:p/>
          <a:p>
            <a:r>
              <a:t>DÉVELOPPEMENT ET CONSIGNES FORMATEUR</a:t>
            </a:r>
          </a:p>
          <a:p>
            <a:r>
              <a:t>Demander à chaque équipe d’annoter une étape par une source de données et une erreur possible. Une bonne sélection peut être annulée par une règle qui exclut trop de contenus. L’interface détermine l’exposition et influence les futures données. Ce schéma générique est inspiré des recommendeurs documentés, sans prétendre représenter l’architecture propriétaire exacte de Netflix. Faire imaginer le même enchaînement pour un catalogue B2B.</a:t>
            </a:r>
          </a:p>
          <a:p/>
          <a:p>
            <a:r>
              <a:t>MESSAGE À RETENIR</a:t>
            </a:r>
          </a:p>
          <a:p>
            <a:r>
              <a:t>Architecture pédagogique, non schéma propriétaire de Netflix.</a:t>
            </a:r>
          </a:p>
          <a:p/>
          <a:p>
            <a:r>
              <a:t>QUESTION DE RELANCE</a:t>
            </a:r>
          </a:p>
          <a:p>
            <a:r>
              <a:t>Pourquoi les données futures dépendent-elles aussi de l’interface ?</a:t>
            </a:r>
          </a:p>
          <a:p/>
          <a:p>
            <a:r>
              <a:t>RÉPONSE ATTENDUE</a:t>
            </a:r>
          </a:p>
          <a:p>
            <a:r>
              <a:t>Les utilisateurs interagissent avec ce qu’on leur montre ; l’exposition crée une boucle de rétroaction.</a:t>
            </a:r>
          </a:p>
          <a:p/>
          <a:p>
            <a:r>
              <a:t>SOURCES</a:t>
            </a:r>
          </a:p>
          <a:p>
            <a:r>
              <a:t>[S07] Gomez-Uribe et Hunt : le système de recommandation Netflix</a:t>
            </a:r>
          </a:p>
          <a:p>
            <a:r>
              <a:t>https://doi.org/10.1145/2843948</a:t>
            </a:r>
          </a:p>
          <a:p>
            <a:r>
              <a:t>Article de chercheurs Netflix ; contexte historique.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J1-029 | Jour 1 | B2 | Séquence B2.2</a:t>
            </a:r>
          </a:p>
          <a:p>
            <a:r>
              <a:t>Modalité : TP. Budget de la séquence complète : 30 min (ne pas additionner ce temps à chaque diapositive).</a:t>
            </a:r>
          </a:p>
          <a:p/>
          <a:p>
            <a:r>
              <a:t>OBJECTIF</a:t>
            </a:r>
          </a:p>
          <a:p>
            <a:r>
              <a:t>Google Play : mémoriser et généraliser</a:t>
            </a:r>
          </a:p>
          <a:p/>
          <a:p>
            <a:r>
              <a:t>DÉVELOPPEMENT ET CONSIGNES FORMATEUR</a:t>
            </a:r>
          </a:p>
          <a:p>
            <a:r>
              <a:t>L’étude Wide &amp; Deep de 2016 combine un modèle large et un réseau profond. Le point pédagogique n’est pas de reproduire l’infrastructure de Google mais de comprendre deux fonctions complémentaires. Les résultats en ligne rapportent une amélioration des acquisitions d’applications par rapport aux deux branches prises séparément. Ne pas présenter les volumes de 2016 comme les volumes actuels. Faire rapprocher cette combinaison des besoins de stabilité et de découverte dans un catalogue.</a:t>
            </a:r>
          </a:p>
          <a:p/>
          <a:p>
            <a:r>
              <a:t>MESSAGE À RETENIR</a:t>
            </a:r>
          </a:p>
          <a:p>
            <a:r>
              <a:t>Cas documenté • 2016 • L’expérimentation départage les approches.</a:t>
            </a:r>
          </a:p>
          <a:p/>
          <a:p>
            <a:r>
              <a:t>QUESTION DE RELANCE</a:t>
            </a:r>
          </a:p>
          <a:p>
            <a:r>
              <a:t>Pourquoi ne pas choisir la branche la plus sophistiquée par principe ?</a:t>
            </a:r>
          </a:p>
          <a:p/>
          <a:p>
            <a:r>
              <a:t>RÉPONSE ATTENDUE</a:t>
            </a:r>
          </a:p>
          <a:p>
            <a:r>
              <a:t>Parce que les propriétés utiles et les résultats observés, non le prestige de la méthode, doivent guider le choix.</a:t>
            </a:r>
          </a:p>
          <a:p/>
          <a:p>
            <a:r>
              <a:t>SOURCES</a:t>
            </a:r>
          </a:p>
          <a:p>
            <a:r>
              <a:t>[S08] Cheng et al. : Wide &amp; Deep pour la recommandation</a:t>
            </a:r>
          </a:p>
          <a:p>
            <a:r>
              <a:t>https://research.google/pubs/wide-deep-learning-for-recommender-systems/</a:t>
            </a:r>
          </a:p>
          <a:p>
            <a:r>
              <a:t>Publication Google Research ; résultats historiques.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J1-030 | Jour 1 | B2 | Séquence B2.2</a:t>
            </a:r>
          </a:p>
          <a:p>
            <a:r>
              <a:t>Modalité : TP. Budget de la séquence complète : 30 min (ne pas additionner ce temps à chaque diapositive).</a:t>
            </a:r>
          </a:p>
          <a:p/>
          <a:p>
            <a:r>
              <a:t>OBJECTIF</a:t>
            </a:r>
          </a:p>
          <a:p>
            <a:r>
              <a:t>A03 • Comparer deux moteurs de recommandation</a:t>
            </a:r>
          </a:p>
          <a:p/>
          <a:p>
            <a:r>
              <a:t>DÉVELOPPEMENT ET CONSIGNES FORMATEUR</a:t>
            </a:r>
          </a:p>
          <a:p>
            <a:r>
              <a:t>Les trente minutes incluent la lecture des cartes de cas : huit minutes de lecture, douze d’analyse, dix de restitution. Les chiffres de résultats sont des éléments de contexte, pas des objectifs de performance pour le groupe. Attendre au moins un KPI de pertinence ou d’acquisition et une mesure de protection comme la diversité ou la satisfaction. Un groupe qui propose seulement un taux de clic doit expliquer pourquoi ce clic correspond à de la valeur.</a:t>
            </a:r>
          </a:p>
          <a:p/>
          <a:p>
            <a:r>
              <a:t>MESSAGE À RETENIR</a:t>
            </a:r>
          </a:p>
          <a:p>
            <a:r>
              <a:t>30 minutes, lecture des cas incluse • Cahier A03</a:t>
            </a:r>
          </a:p>
          <a:p/>
          <a:p>
            <a:r>
              <a:t>QUESTION DE RELANCE</a:t>
            </a:r>
          </a:p>
          <a:p>
            <a:r>
              <a:t>Que transférer plutôt que copier ?</a:t>
            </a:r>
          </a:p>
          <a:p/>
          <a:p>
            <a:r>
              <a:t>RÉPONSE ATTENDUE</a:t>
            </a:r>
          </a:p>
          <a:p>
            <a:r>
              <a:t>La décomposition du système, l’attention à l’interface et la validation de l’impact.</a:t>
            </a:r>
          </a:p>
          <a:p/>
          <a:p>
            <a:r>
              <a:t>SOURCES</a:t>
            </a:r>
          </a:p>
          <a:p>
            <a:r>
              <a:t>[S07] Gomez-Uribe et Hunt : le système de recommandation Netflix</a:t>
            </a:r>
          </a:p>
          <a:p>
            <a:r>
              <a:t>https://doi.org/10.1145/2843948</a:t>
            </a:r>
          </a:p>
          <a:p>
            <a:r>
              <a:t>Article de chercheurs Netflix ; contexte historique.</a:t>
            </a:r>
          </a:p>
          <a:p>
            <a:r>
              <a:t>[S08] Cheng et al. : Wide &amp; Deep pour la recommandation</a:t>
            </a:r>
          </a:p>
          <a:p>
            <a:r>
              <a:t>https://research.google/pubs/wide-deep-learning-for-recommender-systems/</a:t>
            </a:r>
          </a:p>
          <a:p>
            <a:r>
              <a:t>Publication Google Research ; résultats historiques.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J1-031 | Jour 1 | B2 | Séquence B2.3</a:t>
            </a:r>
          </a:p>
          <a:p>
            <a:r>
              <a:t>Modalité : Apport. Budget de la séquence complète : 15 min (ne pas additionner ce temps à chaque diapositive).</a:t>
            </a:r>
          </a:p>
          <a:p/>
          <a:p>
            <a:r>
              <a:t>OBJECTIF</a:t>
            </a:r>
          </a:p>
          <a:p>
            <a:r>
              <a:t>Stripe Radar : la fraude face à la conversion</a:t>
            </a:r>
          </a:p>
          <a:p/>
          <a:p>
            <a:r>
              <a:t>DÉVELOPPEMENT ET CONSIGNES FORMATEUR</a:t>
            </a:r>
          </a:p>
          <a:p>
            <a:r>
              <a:t>Les deux chiffres proviennent de la page Stripe consultée pour le support. Ils doivent rester accompagnés du statut « déclaré par le fournisseur ». L’exercice suivant n’utilise pas ces chiffres : il repose sur un scénario explicitement inventé. Le cas montre comment une plateforme combine signaux et score pour alimenter une décision rapide. Le bénéfice doit être confronté au coût des paiements légitimes perturbés.</a:t>
            </a:r>
          </a:p>
          <a:p/>
          <a:p>
            <a:r>
              <a:t>MESSAGE À RETENIR</a:t>
            </a:r>
          </a:p>
          <a:p>
            <a:r>
              <a:t>Cas documenté • Chiffres Stripe consultés le 14 septembre 2026</a:t>
            </a:r>
          </a:p>
          <a:p/>
          <a:p>
            <a:r>
              <a:t>QUESTION DE RELANCE</a:t>
            </a:r>
          </a:p>
          <a:p>
            <a:r>
              <a:t>Pourquoi bloquer toutes les transactions ne résout-il pas économiquement la fraude ?</a:t>
            </a:r>
          </a:p>
          <a:p/>
          <a:p>
            <a:r>
              <a:t>RÉPONSE ATTENDUE</a:t>
            </a:r>
          </a:p>
          <a:p>
            <a:r>
              <a:t>On supprime aussi les ventes légitimes ; le résultat doit préserver conversion et expérience.</a:t>
            </a:r>
          </a:p>
          <a:p/>
          <a:p>
            <a:r>
              <a:t>SOURCES</a:t>
            </a:r>
          </a:p>
          <a:p>
            <a:r>
              <a:t>[S10] Stripe Radar : données et performance déclarées</a:t>
            </a:r>
          </a:p>
          <a:p>
            <a:r>
              <a:t>https://stripe.com/radar</a:t>
            </a:r>
          </a:p>
          <a:p>
            <a:r>
              <a:t>Page fournisseur ; aucun audit indépendant présumé.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J1-032 | Jour 1 | B2 | Séquence B2.3</a:t>
            </a:r>
          </a:p>
          <a:p>
            <a:r>
              <a:t>Modalité : Apport. Budget de la séquence complète : 15 min (ne pas additionner ce temps à chaque diapositive).</a:t>
            </a:r>
          </a:p>
          <a:p/>
          <a:p>
            <a:r>
              <a:t>OBJECTIF</a:t>
            </a:r>
          </a:p>
          <a:p>
            <a:r>
              <a:t>Le coût des erreurs dépend du contexte</a:t>
            </a:r>
          </a:p>
          <a:p/>
          <a:p>
            <a:r>
              <a:t>DÉVELOPPEMENT ET CONSIGNES FORMATEUR</a:t>
            </a:r>
          </a:p>
          <a:p>
            <a:r>
              <a:t>Inviter deux groupes à défendre des seuils différents selon les montants et le niveau de friction acceptable. Le faux positif ne coûte pas toujours le montant total de la transaction ; l’exercice fixe une hypothèse simple afin de rendre le calcul possible. Il faut aussi compter les coûts communs d’exploitation pour comparer des systèmes différents. La même méthode peut être appliquée à un contrôle de facture ou à une inspection industrielle.</a:t>
            </a:r>
          </a:p>
          <a:p/>
          <a:p>
            <a:r>
              <a:t>MESSAGE À RETENIR</a:t>
            </a:r>
          </a:p>
          <a:p>
            <a:r>
              <a:t>Mesurer une erreur exige de décrire l’action qu’elle déclenche.</a:t>
            </a:r>
          </a:p>
          <a:p/>
          <a:p>
            <a:r>
              <a:t>QUESTION DE RELANCE</a:t>
            </a:r>
          </a:p>
          <a:p>
            <a:r>
              <a:t>La meilleure politique est-elle la même pour une alerte et pour un blocage automatique ?</a:t>
            </a:r>
          </a:p>
          <a:p/>
          <a:p>
            <a:r>
              <a:t>RÉPONSE ATTENDUE</a:t>
            </a:r>
          </a:p>
          <a:p>
            <a:r>
              <a:t>Non. Le coût et la réversibilité de l’action modifient le compromis.</a:t>
            </a:r>
          </a:p>
          <a:p/>
          <a:p>
            <a:r>
              <a:t>SOURCES</a:t>
            </a:r>
          </a:p>
          <a:p>
            <a:r>
              <a:t>[S04] scikit-learn : métriques et scores</a:t>
            </a:r>
          </a:p>
          <a:p>
            <a:r>
              <a:t>https://scikit-learn.org/stable/modules/model_evaluation.html</a:t>
            </a:r>
          </a:p>
          <a:p>
            <a:r>
              <a:t>Documentation primaire.</a:t>
            </a:r>
          </a:p>
          <a:p>
            <a:r>
              <a:t>[S30] scikit-learn : choix du seuil de décision</a:t>
            </a:r>
          </a:p>
          <a:p>
            <a:r>
              <a:t>https://scikit-learn.org/stable/modules/classification_threshold.html</a:t>
            </a:r>
          </a:p>
          <a:p>
            <a:r>
              <a:t>Séparer score, seuil et validation de la politique.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J1-033 | Jour 1 | B2 | Séquence B2.3</a:t>
            </a:r>
          </a:p>
          <a:p>
            <a:r>
              <a:t>Modalité : Apport. Budget de la séquence complète : 15 min (ne pas additionner ce temps à chaque diapositive).</a:t>
            </a:r>
          </a:p>
          <a:p/>
          <a:p>
            <a:r>
              <a:t>OBJECTIF</a:t>
            </a:r>
          </a:p>
          <a:p>
            <a:r>
              <a:t>Trois niveaux de mesure</a:t>
            </a:r>
          </a:p>
          <a:p/>
          <a:p>
            <a:r>
              <a:t>DÉVELOPPEMENT ET CONSIGNES FORMATEUR</a:t>
            </a:r>
          </a:p>
          <a:p>
            <a:r>
              <a:t>Un système peut réussir un niveau et échouer sur un autre. Un bon modèle lent peut arriver après l’autorisation du paiement. Une API rapide peut servir des données périmées. Une meilleure détection peut saturer une équipe de revue. Demander un responsable et un seuil d’alerte pour chaque niveau. Les seuils sont des choix de conception à justifier, pas des chiffres universels.</a:t>
            </a:r>
          </a:p>
          <a:p/>
          <a:p>
            <a:r>
              <a:t>MESSAGE À RETENIR</a:t>
            </a:r>
          </a:p>
          <a:p>
            <a:r>
              <a:t>KPI du modèle ≠ KPI du service ≠ KPI de valeur.</a:t>
            </a:r>
          </a:p>
          <a:p/>
          <a:p>
            <a:r>
              <a:t>QUESTION DE RELANCE</a:t>
            </a:r>
          </a:p>
          <a:p>
            <a:r>
              <a:t>Qui décide du niveau de faux positifs acceptable ?</a:t>
            </a:r>
          </a:p>
          <a:p/>
          <a:p>
            <a:r>
              <a:t>RÉPONSE ATTENDUE</a:t>
            </a:r>
          </a:p>
          <a:p>
            <a:r>
              <a:t>Le responsable métier avec les équipes risque, conformité et exploitation selon le contexte.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J1-034 | Jour 1 | B2 | Séquence B2.4</a:t>
            </a:r>
          </a:p>
          <a:p>
            <a:r>
              <a:t>Modalité : TP. Budget de la séquence complète : 30 min (ne pas additionner ce temps à chaque diapositive).</a:t>
            </a:r>
          </a:p>
          <a:p/>
          <a:p>
            <a:r>
              <a:t>OBJECTIF</a:t>
            </a:r>
          </a:p>
          <a:p>
            <a:r>
              <a:t>A04 • Quelle politique de fraude retenir ?</a:t>
            </a:r>
          </a:p>
          <a:p/>
          <a:p>
            <a:r>
              <a:t>DÉVELOPPEMENT ET CONSIGNES FORMATEUR</a:t>
            </a:r>
          </a:p>
          <a:p>
            <a:r>
              <a:t>Distribuer la fiche A04. La population comporte cent fraudes et 9 900 paiements légitimes. Le coût du faux positif est fixé à cinq euros et celui du faux négatif à cent euros ; tous les autres coûts sont supposés égaux pour la comparaison. Faire calculer coût, précision et rappel par groupe. Puis changer un paramètre pour montrer qu’il n’existe pas de seuil optimal indépendant du métier.</a:t>
            </a:r>
          </a:p>
          <a:p/>
          <a:p>
            <a:r>
              <a:t>MESSAGE À RETENIR</a:t>
            </a:r>
          </a:p>
          <a:p>
            <a:r>
              <a:t>Données entièrement fictives • 30 minutes • Cahier A04</a:t>
            </a:r>
          </a:p>
          <a:p/>
          <a:p>
            <a:r>
              <a:t>QUESTION DE RELANCE</a:t>
            </a:r>
          </a:p>
          <a:p>
            <a:r>
              <a:t>Calculez le coût de A et de B. Quel critère autre que le total faut-il discuter ?</a:t>
            </a:r>
          </a:p>
          <a:p/>
          <a:p>
            <a:r>
              <a:t>RÉPONSE ATTENDUE</a:t>
            </a:r>
          </a:p>
          <a:p>
            <a:r>
              <a:t>A : 20 × 100 + 400 × 5 = 4 000 €. B : 35 × 100 + 100 × 5 = 4 000 €. Discuter charge, délai, expérience et incertitude.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J1-035 | Jour 1 | B2 | Séquence B2.4</a:t>
            </a:r>
          </a:p>
          <a:p>
            <a:r>
              <a:t>Modalité : TP. Budget de la séquence complète : 30 min (ne pas additionner ce temps à chaque diapositive).</a:t>
            </a:r>
          </a:p>
          <a:p/>
          <a:p>
            <a:r>
              <a:t>OBJECTIF</a:t>
            </a:r>
          </a:p>
          <a:p>
            <a:r>
              <a:t>Même coût, expériences différentes</a:t>
            </a:r>
          </a:p>
          <a:p/>
          <a:p>
            <a:r>
              <a:t>DÉVELOPPEMENT ET CONSIGNES FORMATEUR</a:t>
            </a:r>
          </a:p>
          <a:p>
            <a:r>
              <a:t>A produit 480 alertes dont 80 fraudes ; B en produit 165 dont 65 fraudes. Même lorsque le coût simplifié est identique, les capacités opérationnelles diffèrent. Si le coût de la fausse alerte passe à dix euros, B devient moins coûteuse dans les hypothèses de l’exercice. Faire préciser qu’un calcul ex ante n’est pas une preuve de gain mesuré : les hypothèses doivent être validées par des observations.</a:t>
            </a:r>
          </a:p>
          <a:p/>
          <a:p>
            <a:r>
              <a:t>MESSAGE À RETENIR</a:t>
            </a:r>
          </a:p>
          <a:p>
            <a:r>
              <a:t>Le seuil est un arbitrage économique documenté, pas une constante sacrée.</a:t>
            </a:r>
          </a:p>
          <a:p/>
          <a:p>
            <a:r>
              <a:t>QUESTION DE RELANCE</a:t>
            </a:r>
          </a:p>
          <a:p>
            <a:r>
              <a:t>Qu’avez-vous changé : le modèle ou la politique économique ?</a:t>
            </a:r>
          </a:p>
          <a:p/>
          <a:p>
            <a:r>
              <a:t>RÉPONSE ATTENDUE</a:t>
            </a:r>
          </a:p>
          <a:p>
            <a:r>
              <a:t>Le coût attribué aux erreurs, donc le critère de décision. Un même score peut conduire à différentes politiques.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J1-036 | Jour 1 | B2 | Séquence B2.4</a:t>
            </a:r>
          </a:p>
          <a:p>
            <a:r>
              <a:t>Modalité : TP. Budget de la séquence complète : 30 min (ne pas additionner ce temps à chaque diapositive).</a:t>
            </a:r>
          </a:p>
          <a:p/>
          <a:p>
            <a:r>
              <a:t>OBJECTIF</a:t>
            </a:r>
          </a:p>
          <a:p>
            <a:r>
              <a:t>Prédire un départ ne prouve pas l’effet d’une remise</a:t>
            </a:r>
          </a:p>
          <a:p/>
          <a:p>
            <a:r>
              <a:t>DÉVELOPPEMENT ET CONSIGNES FORMATEUR</a:t>
            </a:r>
          </a:p>
          <a:p>
            <a:r>
              <a:t>Les clients au risque le plus élevé peuvent être impossibles à retenir. D’autres pourraient rester sans remise. La qualité prédictive n’est donc pas un calcul du gain de campagne. Proposer un groupe traité et un témoin comparables, idéalement randomisés. Surveiller la marge, les désabonnements aux communications et la satisfaction, pas seulement le nombre de clients restant après une offre.</a:t>
            </a:r>
          </a:p>
          <a:p/>
          <a:p>
            <a:r>
              <a:t>MESSAGE À RETENIR</a:t>
            </a:r>
          </a:p>
          <a:p>
            <a:r>
              <a:t>Sélectionner qui risque de partir et savoir qui peut être retenu sont deux problèmes.</a:t>
            </a:r>
          </a:p>
          <a:p/>
          <a:p>
            <a:r>
              <a:t>QUESTION DE RELANCE</a:t>
            </a:r>
          </a:p>
          <a:p>
            <a:r>
              <a:t>Pourquoi le taux de départ des clients contactés ne suffit-il pas ?</a:t>
            </a:r>
          </a:p>
          <a:p/>
          <a:p>
            <a:r>
              <a:t>RÉPONSE ATTENDUE</a:t>
            </a:r>
          </a:p>
          <a:p>
            <a:r>
              <a:t>Sans groupe de comparaison, on ignore ce qui se serait produit sans le contact.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J1-037 | Jour 1 | B2 | Séquence B2.5</a:t>
            </a:r>
          </a:p>
          <a:p>
            <a:r>
              <a:t>Modalité : TP. Budget de la séquence complète : 30 min (ne pas additionner ce temps à chaque diapositive).</a:t>
            </a:r>
          </a:p>
          <a:p/>
          <a:p>
            <a:r>
              <a:t>OBJECTIF</a:t>
            </a:r>
          </a:p>
          <a:p>
            <a:r>
              <a:t>Airbus Skywise : du signal à la maintenance</a:t>
            </a:r>
          </a:p>
          <a:p/>
          <a:p>
            <a:r>
              <a:t>DÉVELOPPEMENT ET CONSIGNES FORMATEUR</a:t>
            </a:r>
          </a:p>
          <a:p>
            <a:r>
              <a:t>Airbus rapporte en octobre 2024 l’usage de Skywise Fleet Performance+ par easyJet. La leçon transférable est la liaison entre données, alerte et procédure opérationnelle. Le schéma du cours est conceptuel et n’identifie pas un algorithme propriétaire. Une prédiction n’autorise pas à sortir des procédures de maintenance ni à supprimer l’expertise technique. Le groupe peut utiliser ce cas pour son canevas sans extrapoler les économies à d’autres flottes.</a:t>
            </a:r>
          </a:p>
          <a:p/>
          <a:p>
            <a:r>
              <a:t>MESSAGE À RETENIR</a:t>
            </a:r>
          </a:p>
          <a:p>
            <a:r>
              <a:t>Cas industriel documenté • Résultats rapportés par Airbus, pas essai indépendant.</a:t>
            </a:r>
          </a:p>
          <a:p/>
          <a:p>
            <a:r>
              <a:t>QUESTION DE RELANCE</a:t>
            </a:r>
          </a:p>
          <a:p>
            <a:r>
              <a:t>Pourquoi l’alerte doit-elle arriver assez tôt ?</a:t>
            </a:r>
          </a:p>
          <a:p/>
          <a:p>
            <a:r>
              <a:t>RÉPONSE ATTENDUE</a:t>
            </a:r>
          </a:p>
          <a:p>
            <a:r>
              <a:t>Pour qu’une inspection, une pièce ou une intervention puissent être planifiées avant l’incident.</a:t>
            </a:r>
          </a:p>
          <a:p/>
          <a:p>
            <a:r>
              <a:t>SOURCES</a:t>
            </a:r>
          </a:p>
          <a:p>
            <a:r>
              <a:t>[S11] Airbus : maintenir les flottes en vol</a:t>
            </a:r>
          </a:p>
          <a:p>
            <a:r>
              <a:t>https://www.aircraft.airbus.com/en/newsroom/news/2024-10-keeping-the-fleet-flying</a:t>
            </a:r>
          </a:p>
          <a:p>
            <a:r>
              <a:t>Résultats easyJet rapportés par Airbus ; non généralisables.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J1-038 | Jour 1 | B2 | Séquence B2.5</a:t>
            </a:r>
          </a:p>
          <a:p>
            <a:r>
              <a:t>Modalité : TP. Budget de la séquence complète : 30 min (ne pas additionner ce temps à chaque diapositive).</a:t>
            </a:r>
          </a:p>
          <a:p/>
          <a:p>
            <a:r>
              <a:t>OBJECTIF</a:t>
            </a:r>
          </a:p>
          <a:p>
            <a:r>
              <a:t>Airbus : lire un résultat avec son périmètre</a:t>
            </a:r>
          </a:p>
          <a:p/>
          <a:p>
            <a:r>
              <a:t>DÉVELOPPEMENT ET CONSIGNES FORMATEUR</a:t>
            </a:r>
          </a:p>
          <a:p>
            <a:r>
              <a:t>L’objectif est la lecture critique d’une preuve industrielle. Les nombres sont rattachés à une compagnie, une période et une source. Il manque, pour conclure à un effet causal universel, un protocole indépendant et le contexte de comparaison. On peut cependant retenir l’intérêt opérationnel rapporté et utiliser le cas pour demander quels journaux d’alerte et d’intervention seraient nécessaires chez Novalia.</a:t>
            </a:r>
          </a:p>
          <a:p/>
          <a:p>
            <a:r>
              <a:t>MESSAGE À RETENIR</a:t>
            </a:r>
          </a:p>
          <a:p>
            <a:r>
              <a:t>Toujours conserver : source, date, population et statut du résultat.</a:t>
            </a:r>
          </a:p>
          <a:p/>
          <a:p>
            <a:r>
              <a:t>QUESTION DE RELANCE</a:t>
            </a:r>
          </a:p>
          <a:p>
            <a:r>
              <a:t>Quelle donnée permettrait de vérifier qu’une alerte a vraiment modifié l’action ?</a:t>
            </a:r>
          </a:p>
          <a:p/>
          <a:p>
            <a:r>
              <a:t>RÉPONSE ATTENDUE</a:t>
            </a:r>
          </a:p>
          <a:p>
            <a:r>
              <a:t>Horodatage de l’alerte, décision, intervention, état observé et comparaison avec la procédure habituelle.</a:t>
            </a:r>
          </a:p>
          <a:p/>
          <a:p>
            <a:r>
              <a:t>SOURCES</a:t>
            </a:r>
          </a:p>
          <a:p>
            <a:r>
              <a:t>[S11] Airbus : maintenir les flottes en vol</a:t>
            </a:r>
          </a:p>
          <a:p>
            <a:r>
              <a:t>https://www.aircraft.airbus.com/en/newsroom/news/2024-10-keeping-the-fleet-flying</a:t>
            </a:r>
          </a:p>
          <a:p>
            <a:r>
              <a:t>Résultats easyJet rapportés par Airbus ; non généralisables.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J1-039 | Jour 1 | B2 | Séquence B2.5</a:t>
            </a:r>
          </a:p>
          <a:p>
            <a:r>
              <a:t>Modalité : TP. Budget de la séquence complète : 30 min (ne pas additionner ce temps à chaque diapositive).</a:t>
            </a:r>
          </a:p>
          <a:p/>
          <a:p>
            <a:r>
              <a:t>OBJECTIF</a:t>
            </a:r>
          </a:p>
          <a:p>
            <a:r>
              <a:t>Michelin : du véhicule au service d’analyse</a:t>
            </a:r>
          </a:p>
          <a:p/>
          <a:p>
            <a:r>
              <a:t>DÉVELOPPEMENT ET CONSIGNES FORMATEUR</a:t>
            </a:r>
          </a:p>
          <a:p>
            <a:r>
              <a:t>Le communiqué Michelin du 29 juin 2026 décrit un assistant intégré à MyConnectedFleet, destiné à interroger les données disponibles sur les flottes. Il ne publie pas dans cet extrait un benchmark indépendant permettant de promettre un gain chiffré. La chaîne visuelle est une interprétation pédagogique. Faire distinguer la donnée disponible, la requête de l’utilisateur et la décision qui reste à organiser. Une déclaration de confidentialité par un fournisseur ne dispense pas de vérifier le contrat et les réglages.</a:t>
            </a:r>
          </a:p>
          <a:p/>
          <a:p>
            <a:r>
              <a:t>MESSAGE À RETENIR</a:t>
            </a:r>
          </a:p>
          <a:p>
            <a:r>
              <a:t>Cas français • Annonce du 29 juin 2026 • Pas de performance inventée.</a:t>
            </a:r>
          </a:p>
          <a:p/>
          <a:p>
            <a:r>
              <a:t>QUESTION DE RELANCE</a:t>
            </a:r>
          </a:p>
          <a:p>
            <a:r>
              <a:t>Qu’est-ce qui est vendu : une donnée brute ou un service utile ?</a:t>
            </a:r>
          </a:p>
          <a:p/>
          <a:p>
            <a:r>
              <a:t>RÉPONSE ATTENDUE</a:t>
            </a:r>
          </a:p>
          <a:p>
            <a:r>
              <a:t>Un accès facilité à l’information et à une capacité de décision dans un contexte opérationnel.</a:t>
            </a:r>
          </a:p>
          <a:p/>
          <a:p>
            <a:r>
              <a:t>SOURCES</a:t>
            </a:r>
          </a:p>
          <a:p>
            <a:r>
              <a:t>[S13] Michelin : assistant IA de gestion de flotte</a:t>
            </a:r>
          </a:p>
          <a:p>
            <a:r>
              <a:t>https://www.michelin.com/publications/produits-et-services/michelin-connected-fleet-performance-op%C3%A9rationnelle</a:t>
            </a:r>
          </a:p>
          <a:p>
            <a:r>
              <a:t>Communiqué fournisseur français ; absence de benchmark indépendant.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J1-040 | Jour 1 | B2 | Séquence B2.5</a:t>
            </a:r>
          </a:p>
          <a:p>
            <a:r>
              <a:t>Modalité : TP. Budget de la séquence complète : 30 min (ne pas additionner ce temps à chaque diapositive).</a:t>
            </a:r>
          </a:p>
          <a:p/>
          <a:p>
            <a:r>
              <a:t>OBJECTIF</a:t>
            </a:r>
          </a:p>
          <a:p>
            <a:r>
              <a:t>A05 • Votre canevas de valeur des données</a:t>
            </a:r>
          </a:p>
          <a:p/>
          <a:p>
            <a:r>
              <a:t>DÉVELOPPEMENT ET CONSIGNES FORMATEUR</a:t>
            </a:r>
          </a:p>
          <a:p>
            <a:r>
              <a:t>Les trente minutes comprennent cinq minutes de lecture des cartes complémentaires, quinze minutes de remplissage et dix de revue croisée. Le groupe choisit un problème Novalia et produit une hypothèse vérifiable. Refuser les objectifs sans unité ni échéance. Faire écrire une baseline, c’est-à-dire la manière actuelle de traiter le problème, ainsi qu’un motif de renoncement. Exiger qu’un indicateur métier et un indicateur technique apparaissent séparément.</a:t>
            </a:r>
          </a:p>
          <a:p/>
          <a:p>
            <a:r>
              <a:t>MESSAGE À RETENIR</a:t>
            </a:r>
          </a:p>
          <a:p>
            <a:r>
              <a:t>30 minutes, cas industriels inclus • Cahier A05</a:t>
            </a:r>
          </a:p>
          <a:p/>
          <a:p>
            <a:r>
              <a:t>QUESTION DE RELANCE</a:t>
            </a:r>
          </a:p>
          <a:p>
            <a:r>
              <a:t>Quel fait vous conduirait à arrêter ce projet ?</a:t>
            </a:r>
          </a:p>
          <a:p/>
          <a:p>
            <a:r>
              <a:t>RÉPONSE ATTENDUE</a:t>
            </a:r>
          </a:p>
          <a:p>
            <a:r>
              <a:t>Donnée indisponible à temps, absence de droit d’usage, valeur insuffisante ou action non réalisable.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J1-041 | Jour 1 | B2 | Séquence B2.5</a:t>
            </a:r>
          </a:p>
          <a:p>
            <a:r>
              <a:t>Modalité : TP. Budget de la séquence complète : 30 min (ne pas additionner ce temps à chaque diapositive).</a:t>
            </a:r>
          </a:p>
          <a:p/>
          <a:p>
            <a:r>
              <a:t>OBJECTIF</a:t>
            </a:r>
          </a:p>
          <a:p>
            <a:r>
              <a:t>Revue de valeur : trois portes avant le prototype</a:t>
            </a:r>
          </a:p>
          <a:p/>
          <a:p>
            <a:r>
              <a:t>DÉVELOPPEMENT ET CONSIGNES FORMATEUR</a:t>
            </a:r>
          </a:p>
          <a:p>
            <a:r>
              <a:t>Demander aux équipes de faire passer leur canevas par les trois portes. Un refus n’est pas une mauvaise note : un projet correctement arrêté est une décision utile. La formulation doit distinguer les hypothèses non vérifiées des faits établis. Une preuve technique démontre une faisabilité locale ; elle ne vaut ni industrialisation ni démonstration d’impact. Cette grille est une proposition de conception pédagogique.</a:t>
            </a:r>
          </a:p>
          <a:p/>
          <a:p>
            <a:r>
              <a:t>MESSAGE À RETENIR</a:t>
            </a:r>
          </a:p>
          <a:p>
            <a:r>
              <a:t>Ne pas financer un prototype pour compenser un problème mal défini.</a:t>
            </a:r>
          </a:p>
          <a:p/>
          <a:p>
            <a:r>
              <a:t>QUESTION DE RELANCE</a:t>
            </a:r>
          </a:p>
          <a:p>
            <a:r>
              <a:t>Peut-on accepter un projet utile mais sans responsable de la décision ?</a:t>
            </a:r>
          </a:p>
          <a:p/>
          <a:p>
            <a:r>
              <a:t>RÉPONSE ATTENDUE</a:t>
            </a:r>
          </a:p>
          <a:p>
            <a:r>
              <a:t>Pas pour une mise en production maîtrisée : il faut d’abord attribuer les arbitrages et la gestion des incidents.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J1-042 | Jour 1 | B3 | Séquence B3.1</a:t>
            </a:r>
          </a:p>
          <a:p>
            <a:r>
              <a:t>Modalité : Apport. Budget de la séquence complète : 20 min (ne pas additionner ce temps à chaque diapositive).</a:t>
            </a:r>
          </a:p>
          <a:p/>
          <a:p>
            <a:r>
              <a:t>OBJECTIF</a:t>
            </a:r>
          </a:p>
          <a:p>
            <a:r>
              <a:t>03 • La confiance se construit avant la mise en production</a:t>
            </a:r>
          </a:p>
          <a:p/>
          <a:p>
            <a:r>
              <a:t>DÉVELOPPEMENT ET CONSIGNES FORMATEUR</a:t>
            </a:r>
          </a:p>
          <a:p>
            <a:r>
              <a:t>La gouvernance est présentée comme un système de décisions, pas comme une pile de documents. Les participants vont examiner des données défectueuses et attribuer des responsabilités. La partie réglementaire constitue une sensibilisation datée, pas un avis juridique. Les points non résolus doivent être escaladés au rôle compétent avant tout déploiement.</a:t>
            </a:r>
          </a:p>
          <a:p/>
          <a:p>
            <a:r>
              <a:t>MESSAGE À RETENIR</a:t>
            </a:r>
          </a:p>
          <a:p>
            <a:r>
              <a:t>2 heures • 80 minutes de travaux pratiques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J1-043 | Jour 1 | B3 | Séquence B3.1</a:t>
            </a:r>
          </a:p>
          <a:p>
            <a:r>
              <a:t>Modalité : Apport. Budget de la séquence complète : 20 min (ne pas additionner ce temps à chaque diapositive).</a:t>
            </a:r>
          </a:p>
          <a:p/>
          <a:p>
            <a:r>
              <a:t>OBJECTIF</a:t>
            </a:r>
          </a:p>
          <a:p>
            <a:r>
              <a:t>Gouverner : répondre à neuf questions</a:t>
            </a:r>
          </a:p>
          <a:p/>
          <a:p>
            <a:r>
              <a:t>DÉVELOPPEMENT ET CONSIGNES FORMATEUR</a:t>
            </a:r>
          </a:p>
          <a:p>
            <a:r>
              <a:t>Faire distinguer sécurité et gouvernance. La sécurité protège contre des accès ou usages indésirables ; elle ne suffit pas à définir une variable ni à choisir sa finalité. Une donnée chiffrée peut rester fausse, inutile ou exploitée dans un cadre inadéquat. Les questions de durée, de propriétaire métier et de règles de qualité doivent apparaître dans la fiche de cas dès le début.</a:t>
            </a:r>
          </a:p>
          <a:p/>
          <a:p>
            <a:r>
              <a:t>MESSAGE À RETENIR</a:t>
            </a:r>
          </a:p>
          <a:p>
            <a:r>
              <a:t>La sécurité est une composante de la gouvernance, pas son synonyme.</a:t>
            </a:r>
          </a:p>
          <a:p/>
          <a:p>
            <a:r>
              <a:t>QUESTION DE RELANCE</a:t>
            </a:r>
          </a:p>
          <a:p>
            <a:r>
              <a:t>Une base chiffrée est-elle nécessairement une base bien gouvernée ?</a:t>
            </a:r>
          </a:p>
          <a:p/>
          <a:p>
            <a:r>
              <a:t>RÉPONSE ATTENDUE</a:t>
            </a:r>
          </a:p>
          <a:p>
            <a:r>
              <a:t>Non : qualité, définition, accès légitime, durée et responsabilité restent à établir.</a:t>
            </a:r>
          </a:p>
          <a:p/>
          <a:p>
            <a:r>
              <a:t>SOURCES</a:t>
            </a:r>
          </a:p>
          <a:p>
            <a:r>
              <a:t>[S15] CNIL : fiches pratiques IA</a:t>
            </a:r>
          </a:p>
          <a:p>
            <a:r>
              <a:t>https://www.cnil.fr/fr/les-fiches-pratiques-ia</a:t>
            </a:r>
          </a:p>
          <a:p>
            <a:r>
              <a:t>Cadre RGPD, finalité, minimisation, droits et sécurité.</a:t>
            </a:r>
          </a:p>
          <a:p>
            <a:r>
              <a:t>[S17] NIST : fonctions du cadre AI RMF 1.0</a:t>
            </a:r>
          </a:p>
          <a:p>
            <a:r>
              <a:t>https://airc.nist.gov/airmf-resources/airmf/5-sec-core/</a:t>
            </a:r>
          </a:p>
          <a:p>
            <a:r>
              <a:t>Cadre volontaire ; version 1.0 utilisée, révision annoncée.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J1-044 | Jour 1 | B3 | Séquence B3.1</a:t>
            </a:r>
          </a:p>
          <a:p>
            <a:r>
              <a:t>Modalité : Apport. Budget de la séquence complète : 20 min (ne pas additionner ce temps à chaque diapositive).</a:t>
            </a:r>
          </a:p>
          <a:p/>
          <a:p>
            <a:r>
              <a:t>OBJECTIF</a:t>
            </a:r>
          </a:p>
          <a:p>
            <a:r>
              <a:t>Une donnée a plusieurs responsables complémentaires</a:t>
            </a:r>
          </a:p>
          <a:p/>
          <a:p>
            <a:r>
              <a:t>DÉVELOPPEMENT ET CONSIGNES FORMATEUR</a:t>
            </a:r>
          </a:p>
          <a:p>
            <a:r>
              <a:t>Ces rôles constituent un modèle organisationnel proposé et non une obligation d’embaucher une personne par case. Dans une petite structure, plusieurs fonctions peuvent être portées par la même personne, mais leurs responsabilités restent distinctes. Le DPO conseille sur les données personnelles ; il ne devient pas automatiquement propriétaire de toutes les décisions. Le métier conserve la responsabilité de l’objectif et de l’action.</a:t>
            </a:r>
          </a:p>
          <a:p/>
          <a:p>
            <a:r>
              <a:t>MESSAGE À RETENIR</a:t>
            </a:r>
          </a:p>
          <a:p>
            <a:r>
              <a:t>Une personne peut cumuler des fonctions ; une responsabilité ne doit pas disparaître.</a:t>
            </a:r>
          </a:p>
          <a:p/>
          <a:p>
            <a:r>
              <a:t>QUESTION DE RELANCE</a:t>
            </a:r>
          </a:p>
          <a:p>
            <a:r>
              <a:t>Qui approuve le seuil de contact de l’équipe commerciale ?</a:t>
            </a:r>
          </a:p>
          <a:p/>
          <a:p>
            <a:r>
              <a:t>RÉPONSE ATTENDUE</a:t>
            </a:r>
          </a:p>
          <a:p>
            <a:r>
              <a:t>Le responsable métier désigné, éclairé par data, opérations et fonctions de contrôle selon les risques.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J1-045 | Jour 1 | B3 | Séquence B3.1</a:t>
            </a:r>
          </a:p>
          <a:p>
            <a:r>
              <a:t>Modalité : Apport. Budget de la séquence complète : 20 min (ne pas additionner ce temps à chaque diapositive).</a:t>
            </a:r>
          </a:p>
          <a:p/>
          <a:p>
            <a:r>
              <a:t>OBJECTIF</a:t>
            </a:r>
          </a:p>
          <a:p>
            <a:r>
              <a:t>La qualité se lit dans les conséquences</a:t>
            </a:r>
          </a:p>
          <a:p/>
          <a:p>
            <a:r>
              <a:t>DÉVELOPPEMENT ET CONSIGNES FORMATEUR</a:t>
            </a:r>
          </a:p>
          <a:p>
            <a:r>
              <a:t>Une valeur manquante n’a pas le même effet selon le cas. L’âge peut être inutile pour une opération logistique et important dans un traitement réglementé. Les règles de qualité doivent donc être reliées à l’usage. Les apprenants doivent proposer des tests concrets : bornes, clés uniques, fréquence de mise à jour, valeurs autorisées. La collecte d’une nouvelle variable n’est pas une solution automatique.</a:t>
            </a:r>
          </a:p>
          <a:p/>
          <a:p>
            <a:r>
              <a:t>MESSAGE À RETENIR</a:t>
            </a:r>
          </a:p>
          <a:p>
            <a:r>
              <a:t>Une règle de qualité utile est testable, attribuée et reliée à un impact.</a:t>
            </a:r>
          </a:p>
          <a:p/>
          <a:p>
            <a:r>
              <a:t>QUESTION DE RELANCE</a:t>
            </a:r>
          </a:p>
          <a:p>
            <a:r>
              <a:t>Quelle règle de qualité pourrait être exécutée tous les matins ?</a:t>
            </a:r>
          </a:p>
          <a:p/>
          <a:p>
            <a:r>
              <a:t>RÉPONSE ATTENDUE</a:t>
            </a:r>
          </a:p>
          <a:p>
            <a:r>
              <a:t>Par exemple vérifier les identifiants uniques et la part de scores dont les données datent de moins de 24 heures, avec seuil justifié.</a:t>
            </a:r>
          </a:p>
          <a:p/>
          <a:p>
            <a:r>
              <a:t>SOURCES</a:t>
            </a:r>
          </a:p>
          <a:p>
            <a:r>
              <a:t>[S03] scikit-learn : pièges et fuites de données</a:t>
            </a:r>
          </a:p>
          <a:p>
            <a:r>
              <a:t>https://scikit-learn.org/1.8/common_pitfalls.html</a:t>
            </a:r>
          </a:p>
          <a:p>
            <a:r>
              <a:t>Documentation primaire.</a:t>
            </a:r>
          </a:p>
          <a:p>
            <a:r>
              <a:t>[S15] CNIL : fiches pratiques IA</a:t>
            </a:r>
          </a:p>
          <a:p>
            <a:r>
              <a:t>https://www.cnil.fr/fr/les-fiches-pratiques-ia</a:t>
            </a:r>
          </a:p>
          <a:p>
            <a:r>
              <a:t>Cadre RGPD, finalité, minimisation, droits et sécurité.</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J1-046 | Jour 1 | B3 | Séquence B3.1</a:t>
            </a:r>
          </a:p>
          <a:p>
            <a:r>
              <a:t>Modalité : Apport. Budget de la séquence complète : 20 min (ne pas additionner ce temps à chaque diapositive).</a:t>
            </a:r>
          </a:p>
          <a:p/>
          <a:p>
            <a:r>
              <a:t>OBJECTIF</a:t>
            </a:r>
          </a:p>
          <a:p>
            <a:r>
              <a:t>Définition, provenance, usage : le triptyque documentaire</a:t>
            </a:r>
          </a:p>
          <a:p/>
          <a:p>
            <a:r>
              <a:t>DÉVELOPPEMENT ET CONSIGNES FORMATEUR</a:t>
            </a:r>
          </a:p>
          <a:p>
            <a:r>
              <a:t>Prendre la variable « client actif ». Elle peut signifier contrat valide, usage récent ou paiement récent. Deux équipes peuvent employer le même nom pour des critères différents. Le dictionnaire doit préciser unité, type, règles et propriétaire. La provenance indique la source ; la traçabilité des transformations explique les calculs ; la liste des consommateurs permet d’évaluer l’impact d’un changement.</a:t>
            </a:r>
          </a:p>
          <a:p/>
          <a:p>
            <a:r>
              <a:t>MESSAGE À RETENIR</a:t>
            </a:r>
          </a:p>
          <a:p>
            <a:r>
              <a:t>Le sens métier fait partie du contrat de données.</a:t>
            </a:r>
          </a:p>
          <a:p/>
          <a:p>
            <a:r>
              <a:t>QUESTION DE RELANCE</a:t>
            </a:r>
          </a:p>
          <a:p>
            <a:r>
              <a:t>Pourquoi changer une définition peut-il casser un modèle sans erreur informatique ?</a:t>
            </a:r>
          </a:p>
          <a:p/>
          <a:p>
            <a:r>
              <a:t>RÉPONSE ATTENDUE</a:t>
            </a:r>
          </a:p>
          <a:p>
            <a:r>
              <a:t>Le schéma reste valide mais le sens statistique de la variable a changé.</a:t>
            </a:r>
          </a:p>
          <a:p/>
          <a:p>
            <a:r>
              <a:t>SOURCES</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J1-047 | Jour 1 | B3 | Séquence B3.2</a:t>
            </a:r>
          </a:p>
          <a:p>
            <a:r>
              <a:t>Modalité : TP. Budget de la séquence complète : 35 min (ne pas additionner ce temps à chaque diapositive).</a:t>
            </a:r>
          </a:p>
          <a:p/>
          <a:p>
            <a:r>
              <a:t>OBJECTIF</a:t>
            </a:r>
          </a:p>
          <a:p>
            <a:r>
              <a:t>A06 • Sept anomalies et une variable du futur</a:t>
            </a:r>
          </a:p>
          <a:p/>
          <a:p>
            <a:r>
              <a:t>DÉVELOPPEMENT ET CONSIGNES FORMATEUR</a:t>
            </a:r>
          </a:p>
          <a:p>
            <a:r>
              <a:t>Répartir les trente-cinq minutes : cinq de prise en main, quinze d’audit en binômes, dix de correction et cinq de priorisation. Le fichier contient volontairement montants négatifs, ancienneté impossible, catégorie divergente, satisfaction hors domaine, identifiant dupliqué, valeur manquante, donnée ancienne et date de résiliation future. Ne pas modifier le fichier propre utilisé pour le TP ML : cette version sert uniquement à l’audit.</a:t>
            </a:r>
          </a:p>
          <a:p/>
          <a:p>
            <a:r>
              <a:t>MESSAGE À RETENIR</a:t>
            </a:r>
          </a:p>
          <a:p>
            <a:r>
              <a:t>35 minutes • Cahier A06 • Fichier d’audit séparé du fichier ML</a:t>
            </a:r>
          </a:p>
          <a:p/>
          <a:p>
            <a:r>
              <a:t>QUESTION DE RELANCE</a:t>
            </a:r>
          </a:p>
          <a:p>
            <a:r>
              <a:t>Quelle anomalie arrêterait immédiatement votre entraînement ?</a:t>
            </a:r>
          </a:p>
          <a:p/>
          <a:p>
            <a:r>
              <a:t>RÉPONSE ATTENDUE</a:t>
            </a:r>
          </a:p>
          <a:p>
            <a:r>
              <a:t>La présence d’une information postérieure à la décision ou une cible invalide impose un recadrage avant calcul.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J1-048 | Jour 1 | B3 | Séquence B3.2</a:t>
            </a:r>
          </a:p>
          <a:p>
            <a:r>
              <a:t>Modalité : TP. Budget de la séquence complète : 35 min (ne pas additionner ce temps à chaque diapositive).</a:t>
            </a:r>
          </a:p>
          <a:p/>
          <a:p>
            <a:r>
              <a:t>OBJECTIF</a:t>
            </a:r>
          </a:p>
          <a:p>
            <a:r>
              <a:t>Lire les anomalies avant de les corriger</a:t>
            </a:r>
          </a:p>
          <a:p/>
          <a:p>
            <a:r>
              <a:t>DÉVELOPPEMENT ET CONSIGNES FORMATEUR</a:t>
            </a:r>
          </a:p>
          <a:p>
            <a:r>
              <a:t>Insister sur le fait qu’une valeur négative n’est pas universellement fausse : un avoir comptable existe. C’est la définition choisie de monthly_spend dans la simulation, montant contractuel mensuel positif, qui rend ici la valeur invalide. Corriger automatiquement sans comprendre le métier peut détruire une information. Faire distinguer réparation, mise en quarantaine et retour à la source.</a:t>
            </a:r>
          </a:p>
          <a:p/>
          <a:p>
            <a:r>
              <a:t>MESSAGE À RETENIR</a:t>
            </a:r>
          </a:p>
          <a:p>
            <a:r>
              <a:t>La règle dépend du dictionnaire, pas seulement de l’apparence du nombre.</a:t>
            </a:r>
          </a:p>
          <a:p/>
          <a:p>
            <a:r>
              <a:t>QUESTION DE RELANCE</a:t>
            </a:r>
          </a:p>
          <a:p>
            <a:r>
              <a:t>Faut-il remplacer toute valeur aberrante par la moyenne ?</a:t>
            </a:r>
          </a:p>
          <a:p/>
          <a:p>
            <a:r>
              <a:t>RÉPONSE ATTENDUE</a:t>
            </a:r>
          </a:p>
          <a:p>
            <a:r>
              <a:t>Non. Il faut comprendre sa cause et son statut, puis choisir une correction documentée.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J1-049 | Jour 1 | B3 | Séquence B3.2</a:t>
            </a:r>
          </a:p>
          <a:p>
            <a:r>
              <a:t>Modalité : TP. Budget de la séquence complète : 35 min (ne pas additionner ce temps à chaque diapositive).</a:t>
            </a:r>
          </a:p>
          <a:p/>
          <a:p>
            <a:r>
              <a:t>OBJECTIF</a:t>
            </a:r>
          </a:p>
          <a:p>
            <a:r>
              <a:t>La fuite de données peut se cacher dans un agrégat</a:t>
            </a:r>
          </a:p>
          <a:p/>
          <a:p>
            <a:r>
              <a:t>DÉVELOPPEMENT ET CONSIGNES FORMATEUR</a:t>
            </a:r>
          </a:p>
          <a:p>
            <a:r>
              <a:t>Une pipeline peut éviter d’ajuster un scaler sur le test, mais ne peut pas reconnaître qu’un agrégat contient le futur. Demander comment a été calculé « tickets sur 90 jours » : relativement à quelle date ? Le même problème apparaît si l’on entraîne et teste sur plusieurs lignes du même client sans séparation par groupe. La fuite est un défaut de protocole, pas une performance exceptionnelle.</a:t>
            </a:r>
          </a:p>
          <a:p/>
          <a:p>
            <a:r>
              <a:t>MESSAGE À RETENIR</a:t>
            </a:r>
          </a:p>
          <a:p>
            <a:r>
              <a:t>La temporalité se vérifie avant le nom de l’algorithme.</a:t>
            </a:r>
          </a:p>
          <a:p/>
          <a:p>
            <a:r>
              <a:t>QUESTION DE RELANCE</a:t>
            </a:r>
          </a:p>
          <a:p>
            <a:r>
              <a:t>Un score parfait doit-il rassurer ?</a:t>
            </a:r>
          </a:p>
          <a:p/>
          <a:p>
            <a:r>
              <a:t>RÉPONSE ATTENDUE</a:t>
            </a:r>
          </a:p>
          <a:p>
            <a:r>
              <a:t>Il faut d’abord chercher une fuite, un doublon, une cible triviale ou un test non indépendant.</a:t>
            </a:r>
          </a:p>
          <a:p/>
          <a:p>
            <a:r>
              <a:t>SOURCES</a:t>
            </a:r>
          </a:p>
          <a:p>
            <a:r>
              <a:t>[S03] scikit-learn : pièges et fuites de données</a:t>
            </a:r>
          </a:p>
          <a:p>
            <a:r>
              <a:t>https://scikit-learn.org/1.8/common_pitfalls.html</a:t>
            </a:r>
          </a:p>
          <a:p>
            <a:r>
              <a:t>Documentation primaire.</a:t>
            </a:r>
          </a:p>
          <a:p>
            <a:r>
              <a:t>[S29] scikit-learn : validation croisée</a:t>
            </a:r>
          </a:p>
          <a:p>
            <a:r>
              <a:t>https://scikit-learn.org/stable/modules/cross_validation.html</a:t>
            </a:r>
          </a:p>
          <a:p>
            <a:r>
              <a:t>Séparation adaptée aux données et dépendances.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J1-050 | Jour 1 | B3 | Séquence B3.2</a:t>
            </a:r>
          </a:p>
          <a:p>
            <a:r>
              <a:t>Modalité : TP. Budget de la séquence complète : 35 min (ne pas additionner ce temps à chaque diapositive).</a:t>
            </a:r>
          </a:p>
          <a:p/>
          <a:p>
            <a:r>
              <a:t>OBJECTIF</a:t>
            </a:r>
          </a:p>
          <a:p>
            <a:r>
              <a:t>Corrigé : détecter, décider, attribuer</a:t>
            </a:r>
          </a:p>
          <a:p/>
          <a:p>
            <a:r>
              <a:t>DÉVELOPPEMENT ET CONSIGNES FORMATEUR</a:t>
            </a:r>
          </a:p>
          <a:p>
            <a:r>
              <a:t>Le corrigé propose des réponses, pas une seule politique universelle. Les apprenants doivent documenter pourquoi ils suppriment ou modifient une valeur. L’imputation n’est pas une reconstitution certaine de la réalité. Une correction doit rester traçable et ne pas effacer silencieusement le défaut de la source. La suppression d’une variable future doit être accompagnée d’un test pour éviter sa réintroduction.</a:t>
            </a:r>
          </a:p>
          <a:p/>
          <a:p>
            <a:r>
              <a:t>MESSAGE À RETENIR</a:t>
            </a:r>
          </a:p>
          <a:p>
            <a:r>
              <a:t>Une correction sans trace prépare une nouvelle erreur.</a:t>
            </a:r>
          </a:p>
          <a:p/>
          <a:p>
            <a:r>
              <a:t>QUESTION DE RELANCE</a:t>
            </a:r>
          </a:p>
          <a:p>
            <a:r>
              <a:t>Quel livrable protège le prochain utilisateur du dataset ?</a:t>
            </a:r>
          </a:p>
          <a:p/>
          <a:p>
            <a:r>
              <a:t>RÉPONSE ATTENDUE</a:t>
            </a:r>
          </a:p>
          <a:p>
            <a:r>
              <a:t>Le dictionnaire, le journal de qualité et les règles exécutables associés au jeu versionné.</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J1-051 | Jour 1 | B3 | Séquence B3.3</a:t>
            </a:r>
          </a:p>
          <a:p>
            <a:r>
              <a:t>Modalité : Apport. Budget de la séquence complète : 15 min (ne pas additionner ce temps à chaque diapositive).</a:t>
            </a:r>
          </a:p>
          <a:p/>
          <a:p>
            <a:r>
              <a:t>OBJECTIF</a:t>
            </a:r>
          </a:p>
          <a:p>
            <a:r>
              <a:t>Données personnelles : les réflexes CNIL</a:t>
            </a:r>
          </a:p>
          <a:p/>
          <a:p>
            <a:r>
              <a:t>DÉVELOPPEMENT ET CONSIGNES FORMATEUR</a:t>
            </a:r>
          </a:p>
          <a:p>
            <a:r>
              <a:t>Les recommandations CNIL expliquent l’application du RGPD au développement d’IA utilisant des données personnelles. Il faut identifier les acteurs et la finalité avant de choisir une base légale. Le consentement n’est ni l’unique base possible ni une formule qui autorise tout. L’AIPD dépend des risques et critères applicables. Cette diapositive sert à repérer les questions à instruire avec les fonctions compétentes, pas à rendre un avis juridique pour une entreprise.</a:t>
            </a:r>
          </a:p>
          <a:p/>
          <a:p>
            <a:r>
              <a:t>MESSAGE À RETENIR</a:t>
            </a:r>
          </a:p>
          <a:p>
            <a:r>
              <a:t>La disponibilité technique d’une donnée ne suffit pas à établir son droit d’usage.</a:t>
            </a:r>
          </a:p>
          <a:p/>
          <a:p>
            <a:r>
              <a:t>QUESTION DE RELANCE</a:t>
            </a:r>
          </a:p>
          <a:p>
            <a:r>
              <a:t>Des données accessibles en ligne sont-elles librement réutilisables pour tout entraînement ?</a:t>
            </a:r>
          </a:p>
          <a:p/>
          <a:p>
            <a:r>
              <a:t>RÉPONSE ATTENDUE</a:t>
            </a:r>
          </a:p>
          <a:p>
            <a:r>
              <a:t>Non. Accessibilité, droits, finalité et garanties sont des questions distinctes.</a:t>
            </a:r>
          </a:p>
          <a:p/>
          <a:p>
            <a:r>
              <a:t>SOURCES</a:t>
            </a:r>
          </a:p>
          <a:p>
            <a:r>
              <a:t>[S15] CNIL : fiches pratiques IA</a:t>
            </a:r>
          </a:p>
          <a:p>
            <a:r>
              <a:t>https://www.cnil.fr/fr/les-fiches-pratiques-ia</a:t>
            </a:r>
          </a:p>
          <a:p>
            <a:r>
              <a:t>Cadre RGPD, finalité, minimisation, droits et sécurité.</a:t>
            </a:r>
          </a:p>
          <a:p>
            <a:r>
              <a:t>[S32] CNIL : recommandations relatives à l’intérêt légitime</a:t>
            </a:r>
          </a:p>
          <a:p>
            <a:r>
              <a:t>https://cnil.fr/fr/recommandations-developpement-ia-interet-legitime</a:t>
            </a:r>
          </a:p>
          <a:p>
            <a:r>
              <a:t>Base légale conditionnelle, pas permission générale de collecte.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J1-052 | Jour 1 | B3 | Séquence B3.3</a:t>
            </a:r>
          </a:p>
          <a:p>
            <a:r>
              <a:t>Modalité : Apport. Budget de la séquence complète : 15 min (ne pas additionner ce temps à chaque diapositive).</a:t>
            </a:r>
          </a:p>
          <a:p/>
          <a:p>
            <a:r>
              <a:t>OBJECTIF</a:t>
            </a:r>
          </a:p>
          <a:p>
            <a:r>
              <a:t>Minimiser sans rendre le modèle aveugle</a:t>
            </a:r>
          </a:p>
          <a:p/>
          <a:p>
            <a:r>
              <a:t>DÉVELOPPEMENT ET CONSIGNES FORMATEUR</a:t>
            </a:r>
          </a:p>
          <a:p>
            <a:r>
              <a:t>Le schéma n’est pas un quota numérique universel. La nécessité s’apprécie selon la finalité, les risques et les alternatives. Une variable proxy peut révéler indirectement une information sensible ; supprimer le nom de cette information ne suffit pas. La pseudonymisation réduit certains risques mais n’équivaut pas automatiquement à une anonymisation. Les données Novalia sont synthétiques, ce qui simplifie la distribution pédagogique sans prouver que toute donnée synthétique est sans risque.</a:t>
            </a:r>
          </a:p>
          <a:p/>
          <a:p>
            <a:r>
              <a:t>MESSAGE À RETENIR</a:t>
            </a:r>
          </a:p>
          <a:p>
            <a:r>
              <a:t>Justifier une variable, sa précision, sa durée et son accès.</a:t>
            </a:r>
          </a:p>
          <a:p/>
          <a:p>
            <a:r>
              <a:t>QUESTION DE RELANCE</a:t>
            </a:r>
          </a:p>
          <a:p>
            <a:r>
              <a:t>Supprimer les noms suffit-il à anonymiser un fichier ?</a:t>
            </a:r>
          </a:p>
          <a:p/>
          <a:p>
            <a:r>
              <a:t>RÉPONSE ATTENDUE</a:t>
            </a:r>
          </a:p>
          <a:p>
            <a:r>
              <a:t>Non. Des combinaisons de caractéristiques peuvent encore identifier une personne.</a:t>
            </a:r>
          </a:p>
          <a:p/>
          <a:p>
            <a:r>
              <a:t>SOURCES</a:t>
            </a:r>
          </a:p>
          <a:p>
            <a:r>
              <a:t>[S15] CNIL : fiches pratiques IA</a:t>
            </a:r>
          </a:p>
          <a:p>
            <a:r>
              <a:t>https://www.cnil.fr/fr/les-fiches-pratiques-ia</a:t>
            </a:r>
          </a:p>
          <a:p>
            <a:r>
              <a:t>Cadre RGPD, finalité, minimisation, droits et sécurité.</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J1-053 | Jour 1 | B3 | Séquence B3.3</a:t>
            </a:r>
          </a:p>
          <a:p>
            <a:r>
              <a:t>Modalité : Apport. Budget de la séquence complète : 15 min (ne pas additionner ce temps à chaque diapositive).</a:t>
            </a:r>
          </a:p>
          <a:p/>
          <a:p>
            <a:r>
              <a:t>OBJECTIF</a:t>
            </a:r>
          </a:p>
          <a:p>
            <a:r>
              <a:t>Règlement IA : un calendrier progressif</a:t>
            </a:r>
          </a:p>
          <a:p/>
          <a:p>
            <a:r>
              <a:t>DÉVELOPPEMENT ET CONSIGNES FORMATEUR</a:t>
            </a:r>
          </a:p>
          <a:p>
            <a:r>
              <a:t>Le calendrier affiché suit la page officielle de la Commission consultée le 14 septembre 2026 et intègre les modifications entrées en vigueur le 27 juillet 2026. Il ne signifie pas que toutes les obligations ont la même date ni que les textes sectoriels cessent de s’appliquer. Les cas de transition et les systèmes déjà sur le marché doivent être vérifiés. Le dossier initial restait trop général sur les exceptions ; cette version les rend visibles.</a:t>
            </a:r>
          </a:p>
          <a:p/>
          <a:p>
            <a:r>
              <a:t>MESSAGE À RETENIR</a:t>
            </a:r>
          </a:p>
          <a:p>
            <a:r>
              <a:t>Veille au 14 septembre 2026 • Vérifier le cas concret avant chaque session.</a:t>
            </a:r>
          </a:p>
          <a:p/>
          <a:p>
            <a:r>
              <a:t>QUESTION DE RELANCE</a:t>
            </a:r>
          </a:p>
          <a:p>
            <a:r>
              <a:t>Peut-on conclure qu’aucune règle ne s’applique avant 2027 à un usage de recrutement ?</a:t>
            </a:r>
          </a:p>
          <a:p/>
          <a:p>
            <a:r>
              <a:t>RÉPONSE ATTENDUE</a:t>
            </a:r>
          </a:p>
          <a:p>
            <a:r>
              <a:t>Non. RGPD, règles déjà applicables et autres textes restent pertinents ; il faut qualifier l’usage et le rôle.</a:t>
            </a:r>
          </a:p>
          <a:p/>
          <a:p>
            <a:r>
              <a:t>SOURCES</a:t>
            </a:r>
          </a:p>
          <a:p>
            <a:r>
              <a:t>[S20] Commission européenne : calendrier d’application IA</a:t>
            </a:r>
          </a:p>
          <a:p>
            <a:r>
              <a:t>https://ai-act-service-desk.ec.europa.eu/en/ai-act/eu-ai-act-implementation-timeline</a:t>
            </a:r>
          </a:p>
          <a:p>
            <a:r>
              <a:t>Calendrier officiel intégrant les modifications de 2026.</a:t>
            </a:r>
          </a:p>
          <a:p>
            <a:r>
              <a:t>[S31] Commission européenne : entrée en vigueur de l’AI Omnibus</a:t>
            </a:r>
          </a:p>
          <a:p>
            <a:r>
              <a:t>https://digital-strategy.ec.europa.eu/en/news/ai-omnibus-enters-force</a:t>
            </a:r>
          </a:p>
          <a:p>
            <a:r>
              <a:t>Actualisation du calendrier de 2026.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J1-054 | Jour 1 | B3 | Séquence B3.3</a:t>
            </a:r>
          </a:p>
          <a:p>
            <a:r>
              <a:t>Modalité : Apport. Budget de la séquence complète : 15 min (ne pas additionner ce temps à chaque diapositive).</a:t>
            </a:r>
          </a:p>
          <a:p/>
          <a:p>
            <a:r>
              <a:t>OBJECTIF</a:t>
            </a:r>
          </a:p>
          <a:p>
            <a:r>
              <a:t>Qualifier l’usage, pas seulement la technologie</a:t>
            </a:r>
          </a:p>
          <a:p/>
          <a:p>
            <a:r>
              <a:t>DÉVELOPPEMENT ET CONSIGNES FORMATEUR</a:t>
            </a:r>
          </a:p>
          <a:p>
            <a:r>
              <a:t>Le mot chatbot, réseau de neurones ou logiciel RH ne suffit pas à déterminer une catégorie réglementaire. Un outil qui classe une documentation interne et un outil qui sélectionne des candidats n’ont pas le même contexte. La qualification doit porter sur la finalité réelle, le rôle de l’organisation et les effets possibles. Ne pas promettre une conformité à partir d’une formation ou d’un achat d’outil.</a:t>
            </a:r>
          </a:p>
          <a:p/>
          <a:p>
            <a:r>
              <a:t>MESSAGE À RETENIR</a:t>
            </a:r>
          </a:p>
          <a:p>
            <a:r>
              <a:t>Même technologie, usages différents, obligations potentiellement différentes.</a:t>
            </a:r>
          </a:p>
          <a:p/>
          <a:p>
            <a:r>
              <a:t>QUESTION DE RELANCE</a:t>
            </a:r>
          </a:p>
          <a:p>
            <a:r>
              <a:t>Un modèle ouvert dispense-t-il de toutes les obligations du système déployé ?</a:t>
            </a:r>
          </a:p>
          <a:p/>
          <a:p>
            <a:r>
              <a:t>RÉPONSE ATTENDUE</a:t>
            </a:r>
          </a:p>
          <a:p>
            <a:r>
              <a:t>Non. Le contexte d’usage et le rôle du déployeur restent à analyser.</a:t>
            </a:r>
          </a:p>
          <a:p/>
          <a:p>
            <a:r>
              <a:t>SOURCES</a:t>
            </a:r>
          </a:p>
          <a:p>
            <a:r>
              <a:t>[S19] Commission européenne : cadre réglementaire IA</a:t>
            </a:r>
          </a:p>
          <a:p>
            <a:r>
              <a:t>https://digital-strategy.ec.europa.eu/en/policies/regulatory-framework-ai</a:t>
            </a:r>
          </a:p>
          <a:p>
            <a:r>
              <a:t>État de la page officielle consultée.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J1-055 | Jour 1 | B3 | Séquence B3.3</a:t>
            </a:r>
          </a:p>
          <a:p>
            <a:r>
              <a:t>Modalité : Apport. Budget de la séquence complète : 15 min (ne pas additionner ce temps à chaque diapositive).</a:t>
            </a:r>
          </a:p>
          <a:p/>
          <a:p>
            <a:r>
              <a:t>OBJECTIF</a:t>
            </a:r>
          </a:p>
          <a:p>
            <a:r>
              <a:t>Former selon le rôle et le risque</a:t>
            </a:r>
          </a:p>
          <a:p/>
          <a:p>
            <a:r>
              <a:t>DÉVELOPPEMENT ET CONSIGNES FORMATEUR</a:t>
            </a:r>
          </a:p>
          <a:p>
            <a:r>
              <a:t>Cette pyramide est pédagogique, non une classification juridique. La FAQ officielle sur la maîtrise de l’IA insiste sur le contexte, les connaissances et les responsabilités. Elle n’impose pas un certificat unique ni de garantir un niveau identique pour chaque individu. Documenter les actions de formation et leur adaptation aux systèmes effectivement utilisés. Éviter de présenter le certificat de réalisation de cette formation comme une certification générale de conformité.</a:t>
            </a:r>
          </a:p>
          <a:p/>
          <a:p>
            <a:r>
              <a:t>MESSAGE À RETENIR</a:t>
            </a:r>
          </a:p>
          <a:p>
            <a:r>
              <a:t>La maîtrise de l’IA doit être utile aux tâches réellement exercées.</a:t>
            </a:r>
          </a:p>
          <a:p/>
          <a:p>
            <a:r>
              <a:t>QUESTION DE RELANCE</a:t>
            </a:r>
          </a:p>
          <a:p>
            <a:r>
              <a:t>Quel apprentissage spécifique pour une personne autorisée à valider une alerte ?</a:t>
            </a:r>
          </a:p>
          <a:p/>
          <a:p>
            <a:r>
              <a:t>RÉPONSE ATTENDUE</a:t>
            </a:r>
          </a:p>
          <a:p>
            <a:r>
              <a:t>Comprendre les limites du score, les critères de revue, les possibilités de refus et le circuit d’escalade.</a:t>
            </a:r>
          </a:p>
          <a:p/>
          <a:p>
            <a:r>
              <a:t>SOURCES</a:t>
            </a:r>
          </a:p>
          <a:p>
            <a:r>
              <a:t>[S21] Commission européenne : maîtrise de l’IA</a:t>
            </a:r>
          </a:p>
          <a:p>
            <a:r>
              <a:t>https://digital-strategy.ec.europa.eu/en/faqs/ai-literacy-questions-answers</a:t>
            </a:r>
          </a:p>
          <a:p>
            <a:r>
              <a:t>FAQ officielle ; dispositions et risques adaptés aux rôles.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J1-056 | Jour 1 | B3 | Séquence B3.3</a:t>
            </a:r>
          </a:p>
          <a:p>
            <a:r>
              <a:t>Modalité : Apport. Budget de la séquence complète : 15 min (ne pas additionner ce temps à chaque diapositive).</a:t>
            </a:r>
          </a:p>
          <a:p/>
          <a:p>
            <a:r>
              <a:t>OBJECTIF</a:t>
            </a:r>
          </a:p>
          <a:p>
            <a:r>
              <a:t>Sécuriser toute la chaîne, pas seulement le modèle</a:t>
            </a:r>
          </a:p>
          <a:p/>
          <a:p>
            <a:r>
              <a:t>DÉVELOPPEMENT ET CONSIGNES FORMATEUR</a:t>
            </a:r>
          </a:p>
          <a:p>
            <a:r>
              <a:t>Les recommandations ANSSI sur l’IA générative couvrent plusieurs phases du cycle de vie. Le schéma transpose une lecture défensive à un SI d’entreprise : isoler les secrets, limiter les privilèges, vérifier les entrées, contrôler les sorties et journaliser proportionnellement. Pour un assistant relié à des outils, le droit d’agir doit être contrôlé côté application, pas seulement décrit dans une consigne textuelle. Aucun exercice offensif n’est demandé.</a:t>
            </a:r>
          </a:p>
          <a:p/>
          <a:p>
            <a:r>
              <a:t>MESSAGE À RETENIR</a:t>
            </a:r>
          </a:p>
          <a:p>
            <a:r>
              <a:t>Limiter ce que le système peut lire, appeler et déclencher.</a:t>
            </a:r>
          </a:p>
          <a:p/>
          <a:p>
            <a:r>
              <a:t>QUESTION DE RELANCE</a:t>
            </a:r>
          </a:p>
          <a:p>
            <a:r>
              <a:t>Pourquoi une consigne « ne divulgue pas de secret » ne remplace-t-elle pas le contrôle d’accès ?</a:t>
            </a:r>
          </a:p>
          <a:p/>
          <a:p>
            <a:r>
              <a:t>RÉPONSE ATTENDUE</a:t>
            </a:r>
          </a:p>
          <a:p>
            <a:r>
              <a:t>Parce que la protection doit être appliquée par des mécanismes indépendants de la réponse du modèle.</a:t>
            </a:r>
          </a:p>
          <a:p/>
          <a:p>
            <a:r>
              <a:t>SOURCES</a:t>
            </a:r>
          </a:p>
          <a:p>
            <a:r>
              <a:t>[S16] ANSSI : sécurité d’un système d’IA générative</a:t>
            </a:r>
          </a:p>
          <a:p>
            <a:r>
              <a:t>https://messervices.cyber.gouv.fr/guides/recommandations-de-securite-pour-un-systeme-dia-generative</a:t>
            </a:r>
          </a:p>
          <a:p>
            <a:r>
              <a:t>Recommandations de sécurité ; ne couvrent pas toutes les questions juridiques.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J1-057 | Jour 1 | B3 | Séquence B3.4</a:t>
            </a:r>
          </a:p>
          <a:p>
            <a:r>
              <a:t>Modalité : TP. Budget de la séquence complète : 45 min (ne pas additionner ce temps à chaque diapositive).</a:t>
            </a:r>
          </a:p>
          <a:p/>
          <a:p>
            <a:r>
              <a:t>OBJECTIF</a:t>
            </a:r>
          </a:p>
          <a:p>
            <a:r>
              <a:t>A07 • Qui répond de la donnée, du modèle et de l’action ?</a:t>
            </a:r>
          </a:p>
          <a:p/>
          <a:p>
            <a:r>
              <a:t>DÉVELOPPEMENT ET CONSIGNES FORMATEUR</a:t>
            </a:r>
          </a:p>
          <a:p>
            <a:r>
              <a:t>Répartir quarante-cinq minutes : cinq de lecture, quinze d’attribution, quinze de risques, dix de revue. Une matrice RACI doit conserver un seul responsable d’arbitrage A par décision, tandis que plusieurs réalisateurs R peuvent coopérer. Distinguer celui qui conseille de celui qui approuve. Le groupe doit définir un circuit d’incident, même si le risque est peu probable.</a:t>
            </a:r>
          </a:p>
          <a:p/>
          <a:p>
            <a:r>
              <a:t>MESSAGE À RETENIR</a:t>
            </a:r>
          </a:p>
          <a:p>
            <a:r>
              <a:t>45 minutes • Cahier A07 • Un A explicite pour chaque décision</a:t>
            </a:r>
          </a:p>
          <a:p/>
          <a:p>
            <a:r>
              <a:t>QUESTION DE RELANCE</a:t>
            </a:r>
          </a:p>
          <a:p>
            <a:r>
              <a:t>Qui assume l’arrêt du système si les alertes deviennent incohérentes ?</a:t>
            </a:r>
          </a:p>
          <a:p/>
          <a:p>
            <a:r>
              <a:t>RÉPONSE ATTENDUE</a:t>
            </a:r>
          </a:p>
          <a:p>
            <a:r>
              <a:t>Le propriétaire du service ou le responsable explicitement désigné, selon un seuil et une procédure convenus.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J1-058 | Jour 1 | B3 | Séquence B3.4</a:t>
            </a:r>
          </a:p>
          <a:p>
            <a:r>
              <a:t>Modalité : TP. Budget de la séquence complète : 45 min (ne pas additionner ce temps à chaque diapositive).</a:t>
            </a:r>
          </a:p>
          <a:p/>
          <a:p>
            <a:r>
              <a:t>OBJECTIF</a:t>
            </a:r>
          </a:p>
          <a:p>
            <a:r>
              <a:t>RACI : éviter les responsabilités collectives floues</a:t>
            </a:r>
          </a:p>
          <a:p/>
          <a:p>
            <a:r>
              <a:t>DÉVELOPPEMENT ET CONSIGNES FORMATEUR</a:t>
            </a:r>
          </a:p>
          <a:p>
            <a:r>
              <a:t>Cette matrice est un exemple simplifié. A signifie arbitrage et responsabilité de la décision ; R réalisation ; C consultation ; I information. Une organisation peut choisir d’autres propriétaires selon ses structures. L’incident nécessite un responsable désigné, pas une réponse automatique du DPO. Le groupe ajoute la dimension I dans sa fiche et explicite les cas où un organe de contrôle doit valider plutôt qu’être simplement consulté.</a:t>
            </a:r>
          </a:p>
          <a:p/>
          <a:p>
            <a:r>
              <a:t>MESSAGE À RETENIR</a:t>
            </a:r>
          </a:p>
          <a:p>
            <a:r>
              <a:t>Exemple pédagogique à adapter, non structure imposée.</a:t>
            </a:r>
          </a:p>
          <a:p/>
          <a:p>
            <a:r>
              <a:t>QUESTION DE RELANCE</a:t>
            </a:r>
          </a:p>
          <a:p>
            <a:r>
              <a:t>Une matrice suffit-elle si personne ne dispose du temps ni des droits nécessaires ?</a:t>
            </a:r>
          </a:p>
          <a:p/>
          <a:p>
            <a:r>
              <a:t>RÉPONSE ATTENDUE</a:t>
            </a:r>
          </a:p>
          <a:p>
            <a:r>
              <a:t>Non. La responsabilité doit être accompagnée de moyens, de droits et d’une procédure réellement utilisable.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J1-059 | Jour 1 | B3 | Séquence B3.4</a:t>
            </a:r>
          </a:p>
          <a:p>
            <a:r>
              <a:t>Modalité : TP. Budget de la séquence complète : 45 min (ne pas additionner ce temps à chaque diapositive).</a:t>
            </a:r>
          </a:p>
          <a:p/>
          <a:p>
            <a:r>
              <a:t>OBJECTIF</a:t>
            </a:r>
          </a:p>
          <a:p>
            <a:r>
              <a:t>Gérer les risques avec quatre verbes</a:t>
            </a:r>
          </a:p>
          <a:p/>
          <a:p>
            <a:r>
              <a:t>DÉVELOPPEMENT ET CONSIGNES FORMATEUR</a:t>
            </a:r>
          </a:p>
          <a:p>
            <a:r>
              <a:t>Le NIST AI RMF 1.0 est un cadre volontaire. Sa fonction de gouvernance traverse les trois autres ; ce n’est pas une simple étape à terminer au début. Le schéma français est une adaptation pédagogique. Le cadre ne remplace pas les obligations applicables. ISO/IEC 42001 apporte une perspective de système de management ; il ne faut pas confondre certification d’un management et garantie d’absence d’erreur d’un modèle.</a:t>
            </a:r>
          </a:p>
          <a:p/>
          <a:p>
            <a:r>
              <a:t>MESSAGE À RETENIR</a:t>
            </a:r>
          </a:p>
          <a:p>
            <a:r>
              <a:t>Un risque traité reste surveillé pendant l’exploitation.</a:t>
            </a:r>
          </a:p>
          <a:p/>
          <a:p>
            <a:r>
              <a:t>QUESTION DE RELANCE</a:t>
            </a:r>
          </a:p>
          <a:p>
            <a:r>
              <a:t>Quel risque faut-il accepter explicitement plutôt que laisser implicite ?</a:t>
            </a:r>
          </a:p>
          <a:p/>
          <a:p>
            <a:r>
              <a:t>RÉPONSE ATTENDUE</a:t>
            </a:r>
          </a:p>
          <a:p>
            <a:r>
              <a:t>Le risque résiduel après les mesures de réduction, avec un propriétaire et des limites d’usage.</a:t>
            </a:r>
          </a:p>
          <a:p/>
          <a:p>
            <a:r>
              <a:t>SOURCES</a:t>
            </a:r>
          </a:p>
          <a:p>
            <a:r>
              <a:t>[S17] NIST : fonctions du cadre AI RMF 1.0</a:t>
            </a:r>
          </a:p>
          <a:p>
            <a:r>
              <a:t>https://airc.nist.gov/airmf-resources/airmf/5-sec-core/</a:t>
            </a:r>
          </a:p>
          <a:p>
            <a:r>
              <a:t>Cadre volontaire ; version 1.0 utilisée, révision annoncée.</a:t>
            </a:r>
          </a:p>
          <a:p>
            <a:r>
              <a:t>[S18] ISO/IEC 42001 : système de management de l’IA</a:t>
            </a:r>
          </a:p>
          <a:p>
            <a:r>
              <a:t>https://www.iso.org/fr/standard/81230.html</a:t>
            </a:r>
          </a:p>
          <a:p>
            <a:r>
              <a:t>Présentation officielle ; norme complète non reproduite.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J1-060 | Jour 1 | B3 | Séquence B3.4</a:t>
            </a:r>
          </a:p>
          <a:p>
            <a:r>
              <a:t>Modalité : TP. Budget de la séquence complète : 45 min (ne pas additionner ce temps à chaque diapositive).</a:t>
            </a:r>
          </a:p>
          <a:p/>
          <a:p>
            <a:r>
              <a:t>OBJECTIF</a:t>
            </a:r>
          </a:p>
          <a:p>
            <a:r>
              <a:t>Le registre de risques doit déclencher une action</a:t>
            </a:r>
          </a:p>
          <a:p/>
          <a:p>
            <a:r>
              <a:t>DÉVELOPPEMENT ET CONSIGNES FORMATEUR</a:t>
            </a:r>
          </a:p>
          <a:p>
            <a:r>
              <a:t>Chaque ligne doit inclure un responsable, une probabilité ou appréciation motivée, un impact et une échéance de revue dans le cahier. Les seuils du support sont qualitatifs ; le groupe propose ensuite des valeurs cohérentes avec le cas. Une mesure de contrôle sans mécanisme de détection reste difficile à appliquer. La suspension doit être associée à un mode métier alternatif.</a:t>
            </a:r>
          </a:p>
          <a:p/>
          <a:p>
            <a:r>
              <a:t>MESSAGE À RETENIR</a:t>
            </a:r>
          </a:p>
          <a:p>
            <a:r>
              <a:t>Un risque sans propriétaire est une alerte sans destinataire.</a:t>
            </a:r>
          </a:p>
          <a:p/>
          <a:p>
            <a:r>
              <a:t>QUESTION DE RELANCE</a:t>
            </a:r>
          </a:p>
          <a:p>
            <a:r>
              <a:t>Que manque-t-il à « surveiller le modèle » ?</a:t>
            </a:r>
          </a:p>
          <a:p/>
          <a:p>
            <a:r>
              <a:t>RÉPONSE ATTENDUE</a:t>
            </a:r>
          </a:p>
          <a:p>
            <a:r>
              <a:t>Une métrique, une fréquence, un seuil, une personne alertée et une action attendue.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J1-061 | Jour 1 | B3 | Séquence B3.5</a:t>
            </a:r>
          </a:p>
          <a:p>
            <a:r>
              <a:t>Modalité : Évaluation. Budget de la séquence complète : 5 min (ne pas additionner ce temps à chaque diapositive).</a:t>
            </a:r>
          </a:p>
          <a:p/>
          <a:p>
            <a:r>
              <a:t>OBJECTIF</a:t>
            </a:r>
          </a:p>
          <a:p>
            <a:r>
              <a:t>Vérifier les acquis avant le jour 2</a:t>
            </a:r>
          </a:p>
          <a:p/>
          <a:p>
            <a:r>
              <a:t>DÉVELOPPEMENT ET CONSIGNES FORMATEUR</a:t>
            </a:r>
          </a:p>
          <a:p>
            <a:r>
              <a:t>Cinq minutes de récupération active individuelle. Demander une réponse en une phrase par question, puis faire corriger deux réponses au tableau. Les réponses détaillées figurent dans le guide. Noter les notions qui restent fragiles pour ajuster le rappel du lendemain. Ne pas ajouter une conclusion générale qui absorberait du temps d’atelier.</a:t>
            </a:r>
          </a:p>
          <a:p/>
          <a:p>
            <a:r>
              <a:t>MESSAGE À RETENIR</a:t>
            </a:r>
          </a:p>
          <a:p>
            <a:r>
              <a:t>Conservez votre canevas et votre registre : ils servent demain.</a:t>
            </a:r>
          </a:p>
          <a:p/>
          <a:p>
            <a:r>
              <a:t>QUESTION DE RELANCE</a:t>
            </a:r>
          </a:p>
          <a:p>
            <a:r>
              <a:t>Quel point reste à clarifier pour vous ?</a:t>
            </a:r>
          </a:p>
          <a:p/>
          <a:p>
            <a:r>
              <a:t>RÉPONSE ATTENDUE</a:t>
            </a:r>
          </a:p>
          <a:p>
            <a:r>
              <a:t>Exemples attendus : variable postérieure ; score estimé contre politique ; client bloqué ; propriétaire métier ; droit d’usage ou contrôle d’accès.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J1-062 | Jour 1 | ANNEXE | Séquence ANNEXE</a:t>
            </a:r>
          </a:p>
          <a:p>
            <a:r>
              <a:t>Modalité : Ressource. Budget de la séquence complète : 0 min (ne pas additionner ce temps à chaque diapositive).</a:t>
            </a:r>
          </a:p>
          <a:p/>
          <a:p>
            <a:r>
              <a:t>OBJECTIF</a:t>
            </a:r>
          </a:p>
          <a:p>
            <a:r>
              <a:t>Annexes du jour 1</a:t>
            </a:r>
          </a:p>
          <a:p/>
          <a:p>
            <a:r>
              <a:t>DÉVELOPPEMENT ET CONSIGNES FORMATEUR</a:t>
            </a:r>
          </a:p>
          <a:p>
            <a:r>
              <a:t>Ces pages sont un réservoir pédagogique. Elles ne s’ajoutent pas au temps contractuel et ne sont pas toutes à projeter. Le formateur les utilise pour répondre aux besoins, préparer les cas ou remettre une ressource de lecture. Le guide HTML distingue le parcours principal et les annexes.</a:t>
            </a:r>
          </a:p>
          <a:p/>
          <a:p>
            <a:r>
              <a:t>MESSAGE À RETENIR</a:t>
            </a:r>
          </a:p>
          <a:p>
            <a:r>
              <a:t>Hors minutage • À sélectionner selon le groupe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J1-063 | Jour 1 | ANNEXE | Séquence ANNEXE</a:t>
            </a:r>
          </a:p>
          <a:p>
            <a:r>
              <a:t>Modalité : Ressource. Budget de la séquence complète : 0 min (ne pas additionner ce temps à chaque diapositive).</a:t>
            </a:r>
          </a:p>
          <a:p/>
          <a:p>
            <a:r>
              <a:t>OBJECTIF</a:t>
            </a:r>
          </a:p>
          <a:p>
            <a:r>
              <a:t>Lire une étude de cas avec sept questions</a:t>
            </a:r>
          </a:p>
          <a:p/>
          <a:p>
            <a:r>
              <a:t>DÉVELOPPEMENT ET CONSIGNES FORMATEUR</a:t>
            </a:r>
          </a:p>
          <a:p>
            <a:r>
              <a:t>La septième question est celle du transfert : quelle propriété est réutilisable dans un autre métier ? Un communiqué industriel renseigne une pratique mais ne constitue pas automatiquement un essai contrôlé. Une publication scientifique peut elle-même être une étude observationnelle ou un modèle contrefactuel. Les architectures redessinées dans le cours sont signalées comme pédagogiques lorsque le détail propriétaire n’est pas public. Les participants doivent pouvoir dire ce qu’ils ne savent pas.</a:t>
            </a:r>
          </a:p>
          <a:p/>
          <a:p>
            <a:r>
              <a:t>MESSAGE À RETENIR</a:t>
            </a:r>
          </a:p>
          <a:p>
            <a:r>
              <a:t>Transférer une méthode de raisonnement, pas recopier un pourcentage.</a:t>
            </a:r>
          </a:p>
          <a:p/>
          <a:p>
            <a:r>
              <a:t>QUESTION DE RELANCE</a:t>
            </a:r>
          </a:p>
          <a:p>
            <a:r>
              <a:t>Quel élément empêche de promettre le même gain à Novalia ?</a:t>
            </a:r>
          </a:p>
          <a:p/>
          <a:p>
            <a:r>
              <a:t>RÉPONSE ATTENDUE</a:t>
            </a:r>
          </a:p>
          <a:p>
            <a:r>
              <a:t>Le contexte, le protocole, la population et les hypothèses peuvent différer.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J1-064 | Jour 1 | ANNEXE | Séquence ANNEXE</a:t>
            </a:r>
          </a:p>
          <a:p>
            <a:r>
              <a:t>Modalité : Ressource. Budget de la séquence complète : 0 min (ne pas additionner ce temps à chaque diapositive).</a:t>
            </a:r>
          </a:p>
          <a:p/>
          <a:p>
            <a:r>
              <a:t>OBJECTIF</a:t>
            </a:r>
          </a:p>
          <a:p>
            <a:r>
              <a:t>Netflix 2025 : une estimation n’est pas un KPI officiel</a:t>
            </a:r>
          </a:p>
          <a:p/>
          <a:p>
            <a:r>
              <a:t>DÉVELOPPEMENT ET CONSIGNES FORMATEUR</a:t>
            </a:r>
          </a:p>
          <a:p>
            <a:r>
              <a:t>La prépublication de Zielnicki et collègues examine la valeur incrémentale des recommandations à l’aide d’un modèle de choix et de contrefactuels. La substitution par une factorisation matricielle ou un classement de popularité est associée aux estimations affichées dans l’étude. Enseigner la différence entre mesurer un changement effectivement déployé et estimer un monde alternatif. Ne pas assimiler ce résultat au chiffre d’affaires ou à une métrique officielle de 2026.</a:t>
            </a:r>
          </a:p>
          <a:p/>
          <a:p>
            <a:r>
              <a:t>MESSAGE À RETENIR</a:t>
            </a:r>
          </a:p>
          <a:p>
            <a:r>
              <a:t>Prépublication de novembre 2025 • Résultats conditionnels au protocole de recherche</a:t>
            </a:r>
          </a:p>
          <a:p/>
          <a:p>
            <a:r>
              <a:t>QUESTION DE RELANCE</a:t>
            </a:r>
          </a:p>
          <a:p>
            <a:r>
              <a:t>Quelles hypothèses faudrait-il comprendre avant de réutiliser les chiffres ?</a:t>
            </a:r>
          </a:p>
          <a:p/>
          <a:p>
            <a:r>
              <a:t>RÉPONSE ATTENDUE</a:t>
            </a:r>
          </a:p>
          <a:p>
            <a:r>
              <a:t>Modèle de choix, variation exploitée, population, période, définition de l’engagement et alternatives simulées.</a:t>
            </a:r>
          </a:p>
          <a:p/>
          <a:p>
            <a:r>
              <a:t>SOURCES</a:t>
            </a:r>
          </a:p>
          <a:p>
            <a:r>
              <a:t>[S09] Zielnicki et al. : valeur des recommandations Netflix</a:t>
            </a:r>
          </a:p>
          <a:p>
            <a:r>
              <a:t>https://arxiv.org/abs/2511.07280</a:t>
            </a:r>
          </a:p>
          <a:p>
            <a:r>
              <a:t>Prépublication scientifique ; estimations contrefactuelles, pas KPI officiel.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J1-065 | Jour 1 | ANNEXE | Séquence ANNEXE</a:t>
            </a:r>
          </a:p>
          <a:p>
            <a:r>
              <a:t>Modalité : Ressource. Budget de la séquence complète : 0 min (ne pas additionner ce temps à chaque diapositive).</a:t>
            </a:r>
          </a:p>
          <a:p/>
          <a:p>
            <a:r>
              <a:t>OBJECTIF</a:t>
            </a:r>
          </a:p>
          <a:p>
            <a:r>
              <a:t>Recommandation : la boucle peut renforcer ses propres biais</a:t>
            </a:r>
          </a:p>
          <a:p/>
          <a:p>
            <a:r>
              <a:t>DÉVELOPPEMENT ET CONSIGNES FORMATEUR</a:t>
            </a:r>
          </a:p>
          <a:p>
            <a:r>
              <a:t>Cette boucle conceptuelle montre pourquoi les données ne sont pas une photographie neutre des préférences. L’absence de clic sur un contenu non exposé n’est pas un rejet. La diversité, la nouveauté et la couverture peuvent constituer des garde-fous selon le métier. Les méthodes d’exploration et d’expérimentation demandent un protocole qui protège l’utilisateur et mesure les effets à plus long terme.</a:t>
            </a:r>
          </a:p>
          <a:p/>
          <a:p>
            <a:r>
              <a:t>MESSAGE À RETENIR</a:t>
            </a:r>
          </a:p>
          <a:p>
            <a:r>
              <a:t>Les décisions du système modifient ses futures données.</a:t>
            </a:r>
          </a:p>
          <a:p/>
          <a:p>
            <a:r>
              <a:t>QUESTION DE RELANCE</a:t>
            </a:r>
          </a:p>
          <a:p>
            <a:r>
              <a:t>Quel cas similaire existe dans un processus commercial ?</a:t>
            </a:r>
          </a:p>
          <a:p/>
          <a:p>
            <a:r>
              <a:t>RÉPONSE ATTENDUE</a:t>
            </a:r>
          </a:p>
          <a:p>
            <a:r>
              <a:t>Les commerciaux contactent certains prospects, puis le modèle apprend surtout sur ces prospects déjà sélectionnés.</a:t>
            </a:r>
          </a:p>
          <a:p/>
          <a:p>
            <a:r>
              <a:t>SOURCES</a:t>
            </a:r>
          </a:p>
          <a:p>
            <a:r>
              <a:t>[S07] Gomez-Uribe et Hunt : le système de recommandation Netflix</a:t>
            </a:r>
          </a:p>
          <a:p>
            <a:r>
              <a:t>https://doi.org/10.1145/2843948</a:t>
            </a:r>
          </a:p>
          <a:p>
            <a:r>
              <a:t>Article de chercheurs Netflix ; contexte historique.</a:t>
            </a:r>
          </a:p>
          <a:p>
            <a:r>
              <a:t>[S28] Sculley et al. : dette technique des systèmes ML</a:t>
            </a:r>
          </a:p>
          <a:p>
            <a:r>
              <a:t>https://research.google/pubs/hidden-technical-debt-in-machine-learning-systems/</a:t>
            </a:r>
          </a:p>
          <a:p>
            <a:r>
              <a:t>Article scientifique sur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J1-066 | Jour 1 | ANNEXE | Séquence ANNEXE</a:t>
            </a:r>
          </a:p>
          <a:p>
            <a:r>
              <a:t>Modalité : Ressource. Budget de la séquence complète : 0 min (ne pas additionner ce temps à chaque diapositive).</a:t>
            </a:r>
          </a:p>
          <a:p/>
          <a:p>
            <a:r>
              <a:t>OBJECTIF</a:t>
            </a:r>
          </a:p>
          <a:p>
            <a:r>
              <a:t>Airbus : la chaîne de preuve opérationnelle</a:t>
            </a:r>
          </a:p>
          <a:p/>
          <a:p>
            <a:r>
              <a:t>DÉVELOPPEMENT ET CONSIGNES FORMATEUR</a:t>
            </a:r>
          </a:p>
          <a:p>
            <a:r>
              <a:t>Le cas de maintenance permet de distinguer probabilité, alerte, diagnostic et action autorisée. Les résultats publiés par Airbus motivent l’intérêt du scénario mais ne révèlent pas toute l’architecture ni tous les critères de décision. Pour un transfert à un autre industriel, demander les événements de panne disponibles, la qualité des capteurs, le coût des faux positifs et la possibilité concrète d’intervenir. La sécurité du domaine impose de respecter ses procédures propres.</a:t>
            </a:r>
          </a:p>
          <a:p/>
          <a:p>
            <a:r>
              <a:t>MESSAGE À RETENIR</a:t>
            </a:r>
          </a:p>
          <a:p>
            <a:r>
              <a:t>La maintenance prédictive relie statistiques et contraintes physiques.</a:t>
            </a:r>
          </a:p>
          <a:p/>
          <a:p>
            <a:r>
              <a:t>QUESTION DE RELANCE</a:t>
            </a:r>
          </a:p>
          <a:p>
            <a:r>
              <a:t>Que devient la valeur d’une alerte correcte si la pièce de rechange manque ?</a:t>
            </a:r>
          </a:p>
          <a:p/>
          <a:p>
            <a:r>
              <a:t>RÉPONSE ATTENDUE</a:t>
            </a:r>
          </a:p>
          <a:p>
            <a:r>
              <a:t>Elle dépend de la capacité de préparation et d’action ; le modèle seul ne suffit pas.</a:t>
            </a:r>
          </a:p>
          <a:p/>
          <a:p>
            <a:r>
              <a:t>SOURCES</a:t>
            </a:r>
          </a:p>
          <a:p>
            <a:r>
              <a:t>[S11] Airbus : maintenir les flottes en vol</a:t>
            </a:r>
          </a:p>
          <a:p>
            <a:r>
              <a:t>https://www.aircraft.airbus.com/en/newsroom/news/2024-10-keeping-the-fleet-flying</a:t>
            </a:r>
          </a:p>
          <a:p>
            <a:r>
              <a:t>Résultats easyJet rapportés par Airbus ; non généralisables.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J1-067 | Jour 1 | ANNEXE | Séquence ANNEXE</a:t>
            </a:r>
          </a:p>
          <a:p>
            <a:r>
              <a:t>Modalité : Ressource. Budget de la séquence complète : 0 min (ne pas additionner ce temps à chaque diapositive).</a:t>
            </a:r>
          </a:p>
          <a:p/>
          <a:p>
            <a:r>
              <a:t>OBJECTIF</a:t>
            </a:r>
          </a:p>
          <a:p>
            <a:r>
              <a:t>Comparer les cas : ce qu’ils apprennent au SI</a:t>
            </a:r>
          </a:p>
          <a:p/>
          <a:p>
            <a:r>
              <a:t>DÉVELOPPEMENT ET CONSIGNES FORMATEUR</a:t>
            </a:r>
          </a:p>
          <a:p>
            <a:r>
              <a:t>Ne pas utiliser ce tableau pour classer les entreprises. Chacune illustre une dimension différente du problème. Les participants peuvent enrichir leur canevas en empruntant un principe : penser au destinataire, valider les métriques, contrôler les droits ou prévoir l’action. Les preuves sont de statuts différents, ce qui est explicitement signalé sur les pages de cas.</a:t>
            </a:r>
          </a:p>
          <a:p/>
          <a:p>
            <a:r>
              <a:t>MESSAGE À RETENIR</a:t>
            </a:r>
          </a:p>
          <a:p>
            <a:r>
              <a:t>Comparer les mécanismes, pas les marques.</a:t>
            </a:r>
          </a:p>
          <a:p/>
          <a:p>
            <a:r>
              <a:t>QUESTION DE RELANCE</a:t>
            </a:r>
          </a:p>
          <a:p>
            <a:r>
              <a:t>Quel cas ressemble le plus à votre processus, et sur quel seul aspect ?</a:t>
            </a:r>
          </a:p>
          <a:p/>
          <a:p>
            <a:r>
              <a:t>RÉPONSE ATTENDUE</a:t>
            </a:r>
          </a:p>
          <a:p>
            <a:r>
              <a:t>Une ressemblance limitée et motivée, pas une analogie totale avec l’entreprise.</a:t>
            </a:r>
          </a:p>
          <a:p/>
          <a:p>
            <a:r>
              <a:t>SOURCES</a:t>
            </a:r>
          </a:p>
          <a:p>
            <a:r>
              <a:t>[S07] Gomez-Uribe et Hunt : le système de recommandation Netflix</a:t>
            </a:r>
          </a:p>
          <a:p>
            <a:r>
              <a:t>https://doi.org/10.1145/2843948</a:t>
            </a:r>
          </a:p>
          <a:p>
            <a:r>
              <a:t>Article de chercheurs Netflix ; contexte historique.</a:t>
            </a:r>
          </a:p>
          <a:p>
            <a:r>
              <a:t>[S08] Cheng et al. : Wide &amp; Deep pour la recommandation</a:t>
            </a:r>
          </a:p>
          <a:p>
            <a:r>
              <a:t>https://research.google/pubs/wide-deep-learning-for-recommender-systems/</a:t>
            </a:r>
          </a:p>
          <a:p>
            <a:r>
              <a:t>Publication Google Research ; résultats historiques.</a:t>
            </a:r>
          </a:p>
          <a:p>
            <a:r>
              <a:t>[S10] Stripe Radar : données et performance déclarées</a:t>
            </a:r>
          </a:p>
          <a:p>
            <a:r>
              <a:t>https://stripe.com/radar</a:t>
            </a:r>
          </a:p>
          <a:p>
            <a:r>
              <a:t>Page fournisseur ; aucun audit indépendant présumé.</a:t>
            </a:r>
          </a:p>
          <a:p>
            <a:r>
              <a:t>[S11] Airbus : maintenir les flottes en vol</a:t>
            </a:r>
          </a:p>
          <a:p>
            <a:r>
              <a:t>https://www.aircraft.airbus.com/en/newsroom/news/2024-10-keeping-the-fleet-flying</a:t>
            </a:r>
          </a:p>
          <a:p>
            <a:r>
              <a:t>Résultats easyJet rapportés par Airbus ; non généralisables.</a:t>
            </a:r>
          </a:p>
          <a:p>
            <a:r>
              <a:t>[S13] Michelin : assistant IA de gestion de flotte</a:t>
            </a:r>
          </a:p>
          <a:p>
            <a:r>
              <a:t>https://www.michelin.com/publications/produits-et-services/michelin-connected-fleet-performance-op%C3%A9rationnelle</a:t>
            </a:r>
          </a:p>
          <a:p>
            <a:r>
              <a:t>Communiqué fournisseur français ; absence de benchmark indépendant.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J1-068 | Jour 1 | ANNEXE | Séquence ANNEXE</a:t>
            </a:r>
          </a:p>
          <a:p>
            <a:r>
              <a:t>Modalité : Ressource. Budget de la séquence complète : 0 min (ne pas additionner ce temps à chaque diapositive).</a:t>
            </a:r>
          </a:p>
          <a:p/>
          <a:p>
            <a:r>
              <a:t>OBJECTIF</a:t>
            </a:r>
          </a:p>
          <a:p>
            <a:r>
              <a:t>Un essai commercial fictif : effet absolu et relatif</a:t>
            </a:r>
          </a:p>
          <a:p/>
          <a:p>
            <a:r>
              <a:t>DÉVELOPPEMENT ET CONSIGNES FORMATEUR</a:t>
            </a:r>
          </a:p>
          <a:p>
            <a:r>
              <a:t>Les chiffres sont inventés pour apprendre à calculer, pas pour prouver qu’une remise fonctionne. La réduction absolue est de trois points de pourcentage ; la réduction relative est de trente pour cent. Une conclusion réelle exigerait un protocole valide, de l’incertitude statistique et un contrôle des effets indésirables. Avec cent euros de marge par client retenu et mille euros de coût de campagne, le calcul illustratif donne cinq cents euros nets, sous hypothèses.</a:t>
            </a:r>
          </a:p>
          <a:p/>
          <a:p>
            <a:r>
              <a:t>MESSAGE À RETENIR</a:t>
            </a:r>
          </a:p>
          <a:p>
            <a:r>
              <a:t>Exemple arithmétique synthétique • Pas de résultat de campagne réelle</a:t>
            </a:r>
          </a:p>
          <a:p/>
          <a:p>
            <a:r>
              <a:t>QUESTION DE RELANCE</a:t>
            </a:r>
          </a:p>
          <a:p>
            <a:r>
              <a:t>Pourquoi « 30 % » peut-il exagérer l’impression de gain si l’on oublie le taux initial ?</a:t>
            </a:r>
          </a:p>
          <a:p/>
          <a:p>
            <a:r>
              <a:t>RÉPONSE ATTENDUE</a:t>
            </a:r>
          </a:p>
          <a:p>
            <a:r>
              <a:t>Le pourcentage relatif ne montre pas directement la différence absolue ni le nombre de personnes concernées.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J1-069 | Jour 1 | ANNEXE | Séquence ANNEXE</a:t>
            </a:r>
          </a:p>
          <a:p>
            <a:r>
              <a:t>Modalité : Ressource. Budget de la séquence complète : 0 min (ne pas additionner ce temps à chaque diapositive).</a:t>
            </a:r>
          </a:p>
          <a:p/>
          <a:p>
            <a:r>
              <a:t>OBJECTIF</a:t>
            </a:r>
          </a:p>
          <a:p>
            <a:r>
              <a:t>La donnée n’est pas du pétrole</a:t>
            </a:r>
          </a:p>
          <a:p/>
          <a:p>
            <a:r>
              <a:t>DÉVELOPPEMENT ET CONSIGNES FORMATEUR</a:t>
            </a:r>
          </a:p>
          <a:p>
            <a:r>
              <a:t>Cet exercice invite à corriger une métaphore plutôt qu’à apprendre un slogan. Une copie n’a pas le même coût qu’une ressource physique consommée. La valeur peut augmenter par combinaison, mais cette combinaison peut aussi accroître les risques de réidentification ou de mauvais usage. Demander un exemple de donnée inutilisable dans un contexte et précieuse dans un autre.</a:t>
            </a:r>
          </a:p>
          <a:p/>
          <a:p>
            <a:r>
              <a:t>MESSAGE À RETENIR</a:t>
            </a:r>
          </a:p>
          <a:p>
            <a:r>
              <a:t>La valeur dépend de l’usage maîtrisé, pas seulement de la possession.</a:t>
            </a:r>
          </a:p>
          <a:p/>
          <a:p>
            <a:r>
              <a:t>QUESTION DE RELANCE</a:t>
            </a:r>
          </a:p>
          <a:p>
            <a:r>
              <a:t>Pourquoi deux entreprises avec le même fichier n’obtiennent-elles pas le même résultat ?</a:t>
            </a:r>
          </a:p>
          <a:p/>
          <a:p>
            <a:r>
              <a:t>RÉPONSE ATTENDUE</a:t>
            </a:r>
          </a:p>
          <a:p>
            <a:r>
              <a:t>Compétences, processus, contexte, données complémentaires, droits et capacité d’action diffèrent.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J1-070 | Jour 1 | ANNEXE | Séquence ANNEXE</a:t>
            </a:r>
          </a:p>
          <a:p>
            <a:r>
              <a:t>Modalité : Ressource. Budget de la séquence complète : 0 min (ne pas additionner ce temps à chaque diapositive).</a:t>
            </a:r>
          </a:p>
          <a:p/>
          <a:p>
            <a:r>
              <a:t>OBJECTIF</a:t>
            </a:r>
          </a:p>
          <a:p>
            <a:r>
              <a:t>Dix signaux d’alerte dans un projet IA</a:t>
            </a:r>
          </a:p>
          <a:p/>
          <a:p>
            <a:r>
              <a:t>DÉVELOPPEMENT ET CONSIGNES FORMATEUR</a:t>
            </a:r>
          </a:p>
          <a:p>
            <a:r>
              <a:t>Le dossier initial annonçait neuf drapeaux tout en en énumérant dix ; cette version rend le compte cohérent. Pour chaque drapeau, demander un correctif observable : un indicateur métier, un propriétaire, un test de données, une politique de seuil ou un mode de secours. Une critique utile conduit à une décision de recadrage, pas à un rejet global de l’IA.</a:t>
            </a:r>
          </a:p>
          <a:p/>
          <a:p>
            <a:r>
              <a:t>MESSAGE À RETENIR</a:t>
            </a:r>
          </a:p>
          <a:p>
            <a:r>
              <a:t>Un signal d’alerte déclenche une question et une action correctrice.</a:t>
            </a:r>
          </a:p>
          <a:p/>
          <a:p>
            <a:r>
              <a:t>QUESTION DE RELANCE</a:t>
            </a:r>
          </a:p>
          <a:p>
            <a:r>
              <a:t>Quel correctif simple réduit plusieurs drapeaux à la fois ?</a:t>
            </a:r>
          </a:p>
          <a:p/>
          <a:p>
            <a:r>
              <a:t>RÉPONSE ATTENDUE</a:t>
            </a:r>
          </a:p>
          <a:p>
            <a:r>
              <a:t>Une fiche de cadrage explicitant décision, données, action, indicateur, responsable et risque.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J1-071 | Jour 1 | ANNEXE | Séquence ANNEXE</a:t>
            </a:r>
          </a:p>
          <a:p>
            <a:r>
              <a:t>Modalité : Ressource. Budget de la séquence complète : 0 min (ne pas additionner ce temps à chaque diapositive).</a:t>
            </a:r>
          </a:p>
          <a:p/>
          <a:p>
            <a:r>
              <a:t>OBJECTIF</a:t>
            </a:r>
          </a:p>
          <a:p>
            <a:r>
              <a:t>Ce que la gouvernance doit pouvoir prouver</a:t>
            </a:r>
          </a:p>
          <a:p/>
          <a:p>
            <a:r>
              <a:t>DÉVELOPPEMENT ET CONSIGNES FORMATEUR</a:t>
            </a:r>
          </a:p>
          <a:p>
            <a:r>
              <a:t>Cette chaîne de preuve est une conception pratique. Le niveau de documentation doit être proportionné aux risques et aux obligations. Un petit outil interne peut rester simple, mais ne doit pas être impossible à comprendre ou à arrêter. L’objectif est la reproductibilité des décisions, la capacité d’audit et la correction des erreurs. Éviter de confondre documentation abondante et maîtrise réelle.</a:t>
            </a:r>
          </a:p>
          <a:p/>
          <a:p>
            <a:r>
              <a:t>MESSAGE À RETENIR</a:t>
            </a:r>
          </a:p>
          <a:p>
            <a:r>
              <a:t>Tracer ce qui permettra de comprendre et corriger, sans journaliser inutilement tout.</a:t>
            </a:r>
          </a:p>
          <a:p/>
          <a:p>
            <a:r>
              <a:t>QUESTION DE RELANCE</a:t>
            </a:r>
          </a:p>
          <a:p>
            <a:r>
              <a:t>Que devriez-vous retrouver trois mois après une contestation de score ?</a:t>
            </a:r>
          </a:p>
          <a:p/>
          <a:p>
            <a:r>
              <a:t>RÉPONSE ATTENDUE</a:t>
            </a:r>
          </a:p>
          <a:p>
            <a:r>
              <a:t>Entrées autorisées, transformations, version, politique de décision, date et acteur responsable, dans les limites de conservation définies.</a:t>
            </a:r>
          </a:p>
          <a:p/>
          <a:p>
            <a:r>
              <a:t>SOURCES</a:t>
            </a:r>
          </a:p>
          <a:p>
            <a:r>
              <a:t>[S15] CNIL : fiches pratiques IA</a:t>
            </a:r>
          </a:p>
          <a:p>
            <a:r>
              <a:t>https://www.cnil.fr/fr/les-fiches-pratiques-ia</a:t>
            </a:r>
          </a:p>
          <a:p>
            <a:r>
              <a:t>Cadre RGPD, finalité, minimisation, droits et sécurité.</a:t>
            </a:r>
          </a:p>
          <a:p>
            <a:r>
              <a:t>[S17] NIST : fonctions du cadre AI RMF 1.0</a:t>
            </a:r>
          </a:p>
          <a:p>
            <a:r>
              <a:t>https://airc.nist.gov/airmf-resources/airmf/5-sec-core/</a:t>
            </a:r>
          </a:p>
          <a:p>
            <a:r>
              <a:t>Cadre volontaire ; version 1.0 utilisée, révision annoncée.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J1-072 | Jour 1 | ANNEXE | Séquence ANNEXE</a:t>
            </a:r>
          </a:p>
          <a:p>
            <a:r>
              <a:t>Modalité : Ressource. Budget de la séquence complète : 0 min (ne pas additionner ce temps à chaque diapositive).</a:t>
            </a:r>
          </a:p>
          <a:p/>
          <a:p>
            <a:r>
              <a:t>OBJECTIF</a:t>
            </a:r>
          </a:p>
          <a:p>
            <a:r>
              <a:t>Références et approfondissements 1</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[S01] Référentiel et dossier fournis par Martino</a:t>
            </a:r>
          </a:p>
          <a:p>
            <a:r>
              <a:t>Texte fourni dans la conversation</a:t>
            </a:r>
          </a:p>
          <a:p>
            <a:r>
              <a:t>Périmètre contractuel fourni ; dépôt officiel non reconsulté.</a:t>
            </a:r>
          </a:p>
          <a:p>
            <a:r>
              <a:t>[S02] scikit-learn : guide utilisateur</a:t>
            </a:r>
          </a:p>
          <a:p>
            <a:r>
              <a:t>https://scikit-learn.org/stable/user_guide.html</a:t>
            </a:r>
          </a:p>
          <a:p>
            <a:r>
              <a:t>Documentation technique ; environnement du TP épinglé séparément.</a:t>
            </a:r>
          </a:p>
          <a:p>
            <a:r>
              <a:t>[S04] scikit-learn : métriques et scores</a:t>
            </a:r>
          </a:p>
          <a:p>
            <a:r>
              <a:t>https://scikit-learn.org/stable/modules/model_evaluation.html</a:t>
            </a:r>
          </a:p>
          <a:p>
            <a:r>
              <a:t>Documentation primaire.</a:t>
            </a:r>
          </a:p>
          <a:p>
            <a:r>
              <a:t>[S05] LeCun, Bengio et Hinton : apprentissage profond</a:t>
            </a:r>
          </a:p>
          <a:p>
            <a:r>
              <a:t>https://www.nature.com/articles/nature14539</a:t>
            </a:r>
          </a:p>
          <a:p>
            <a:r>
              <a:t>Article de synthèse scientifique, Nature.</a:t>
            </a:r>
          </a:p>
          <a:p>
            <a:r>
              <a:t>[S07] Gomez-Uribe et Hunt : le système de recommandation Netflix</a:t>
            </a:r>
          </a:p>
          <a:p>
            <a:r>
              <a:t>https://doi.org/10.1145/2843948</a:t>
            </a:r>
          </a:p>
          <a:p>
            <a:r>
              <a:t>Article de chercheurs Netflix ; contexte historique.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J1-073 | Jour 1 | ANNEXE | Séquence ANNEXE</a:t>
            </a:r>
          </a:p>
          <a:p>
            <a:r>
              <a:t>Modalité : Ressource. Budget de la séquence complète : 0 min (ne pas additionner ce temps à chaque diapositive).</a:t>
            </a:r>
          </a:p>
          <a:p/>
          <a:p>
            <a:r>
              <a:t>OBJECTIF</a:t>
            </a:r>
          </a:p>
          <a:p>
            <a:r>
              <a:t>Références et approfondissements 2</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[S08] Cheng et al. : Wide &amp; Deep pour la recommandation</a:t>
            </a:r>
          </a:p>
          <a:p>
            <a:r>
              <a:t>https://research.google/pubs/wide-deep-learning-for-recommender-systems/</a:t>
            </a:r>
          </a:p>
          <a:p>
            <a:r>
              <a:t>Publication Google Research ; résultats historiques.</a:t>
            </a:r>
          </a:p>
          <a:p>
            <a:r>
              <a:t>[S09] Zielnicki et al. : valeur des recommandations Netflix</a:t>
            </a:r>
          </a:p>
          <a:p>
            <a:r>
              <a:t>https://arxiv.org/abs/2511.07280</a:t>
            </a:r>
          </a:p>
          <a:p>
            <a:r>
              <a:t>Prépublication scientifique ; estimations contrefactuelles, pas KPI officiel.</a:t>
            </a:r>
          </a:p>
          <a:p>
            <a:r>
              <a:t>[S10] Stripe Radar : données et performance déclarées</a:t>
            </a:r>
          </a:p>
          <a:p>
            <a:r>
              <a:t>https://stripe.com/radar</a:t>
            </a:r>
          </a:p>
          <a:p>
            <a:r>
              <a:t>Page fournisseur ; aucun audit indépendant présumé.</a:t>
            </a:r>
          </a:p>
          <a:p>
            <a:r>
              <a:t>[S11] Airbus : maintenir les flottes en vol</a:t>
            </a:r>
          </a:p>
          <a:p>
            <a:r>
              <a:t>https://www.aircraft.airbus.com/en/newsroom/news/2024-10-keeping-the-fleet-flying</a:t>
            </a:r>
          </a:p>
          <a:p>
            <a:r>
              <a:t>Résultats easyJet rapportés par Airbus ; non généralisables.</a:t>
            </a:r>
          </a:p>
          <a:p>
            <a:r>
              <a:t>[S13] Michelin : assistant IA de gestion de flotte</a:t>
            </a:r>
          </a:p>
          <a:p>
            <a:r>
              <a:t>https://www.michelin.com/publications/produits-et-services/michelin-connected-fleet-performance-op%C3%A9rationnelle</a:t>
            </a:r>
          </a:p>
          <a:p>
            <a:r>
              <a:t>Communiqué fournisseur français ; absence de benchmark indépendant.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J1-074 | Jour 1 | ANNEXE | Séquence ANNEXE</a:t>
            </a:r>
          </a:p>
          <a:p>
            <a:r>
              <a:t>Modalité : Ressource. Budget de la séquence complète : 0 min (ne pas additionner ce temps à chaque diapositive).</a:t>
            </a:r>
          </a:p>
          <a:p/>
          <a:p>
            <a:r>
              <a:t>OBJECTIF</a:t>
            </a:r>
          </a:p>
          <a:p>
            <a:r>
              <a:t>Références et approfondissements 3</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[S15] CNIL : fiches pratiques IA</a:t>
            </a:r>
          </a:p>
          <a:p>
            <a:r>
              <a:t>https://www.cnil.fr/fr/les-fiches-pratiques-ia</a:t>
            </a:r>
          </a:p>
          <a:p>
            <a:r>
              <a:t>Cadre RGPD, finalité, minimisation, droits et sécurité.</a:t>
            </a:r>
          </a:p>
          <a:p>
            <a:r>
              <a:t>[S16] ANSSI : sécurité d’un système d’IA générative</a:t>
            </a:r>
          </a:p>
          <a:p>
            <a:r>
              <a:t>https://messervices.cyber.gouv.fr/guides/recommandations-de-securite-pour-un-systeme-dia-generative</a:t>
            </a:r>
          </a:p>
          <a:p>
            <a:r>
              <a:t>Recommandations de sécurité ; ne couvrent pas toutes les questions juridiques.</a:t>
            </a:r>
          </a:p>
          <a:p>
            <a:r>
              <a:t>[S17] NIST : fonctions du cadre AI RMF 1.0</a:t>
            </a:r>
          </a:p>
          <a:p>
            <a:r>
              <a:t>https://airc.nist.gov/airmf-resources/airmf/5-sec-core/</a:t>
            </a:r>
          </a:p>
          <a:p>
            <a:r>
              <a:t>Cadre volontaire ; version 1.0 utilisée, révision annoncée.</a:t>
            </a:r>
          </a:p>
          <a:p>
            <a:r>
              <a:t>[S18] ISO/IEC 42001 : système de management de l’IA</a:t>
            </a:r>
          </a:p>
          <a:p>
            <a:r>
              <a:t>https://www.iso.org/fr/standard/81230.html</a:t>
            </a:r>
          </a:p>
          <a:p>
            <a:r>
              <a:t>Présentation officielle ; norme complète non reproduite.</a:t>
            </a:r>
          </a:p>
          <a:p>
            <a:r>
              <a:t>[S19] Commission européenne : cadre réglementaire IA</a:t>
            </a:r>
          </a:p>
          <a:p>
            <a:r>
              <a:t>https://digital-strategy.ec.europa.eu/en/policies/regulatory-framework-ai</a:t>
            </a:r>
          </a:p>
          <a:p>
            <a:r>
              <a:t>État de la page officielle consultée.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J1-075 | Jour 1 | ANNEXE | Séquence ANNEXE</a:t>
            </a:r>
          </a:p>
          <a:p>
            <a:r>
              <a:t>Modalité : Ressource. Budget de la séquence complète : 0 min (ne pas additionner ce temps à chaque diapositive).</a:t>
            </a:r>
          </a:p>
          <a:p/>
          <a:p>
            <a:r>
              <a:t>OBJECTIF</a:t>
            </a:r>
          </a:p>
          <a:p>
            <a:r>
              <a:t>Références et approfondissements 4</a:t>
            </a:r>
          </a:p>
          <a:p/>
          <a:p>
            <a:r>
              <a:t>DÉVELOPPEMENT ET CONSIGNES FORMATEUR</a:t>
            </a:r>
          </a:p>
          <a:p>
            <a:r>
              <a:t>Les identifiants de source présents dans les pieds de page renvoient à ces références. Les URL complètes, les dates et le statut des preuves sont également réunis dans la bibliographie jointe. Les résultats Novalia sont des calculs sur une simulation. Les pages de réglementation ont été vérifiées au 14 septembre 2026 et doivent être relues avant toute nouvelle session.</a:t>
            </a:r>
          </a:p>
          <a:p/>
          <a:p>
            <a:r>
              <a:t>MESSAGE À RETENIR</a:t>
            </a:r>
          </a:p>
          <a:p>
            <a:r>
              <a:t>Bibliographie complète et statut des preuves dans les annexes du kit.</a:t>
            </a:r>
          </a:p>
          <a:p/>
          <a:p>
            <a:r>
              <a:t>SOURCES</a:t>
            </a:r>
          </a:p>
          <a:p>
            <a:r>
              <a:t>[S20] Commission européenne : calendrier d’application IA</a:t>
            </a:r>
          </a:p>
          <a:p>
            <a:r>
              <a:t>https://ai-act-service-desk.ec.europa.eu/en/ai-act/eu-ai-act-implementation-timeline</a:t>
            </a:r>
          </a:p>
          <a:p>
            <a:r>
              <a:t>Calendrier officiel intégrant les modifications de 2026.</a:t>
            </a:r>
          </a:p>
          <a:p>
            <a:r>
              <a:t>[S21] Commission européenne : maîtrise de l’IA</a:t>
            </a:r>
          </a:p>
          <a:p>
            <a:r>
              <a:t>https://digital-strategy.ec.europa.eu/en/faqs/ai-literacy-questions-answers</a:t>
            </a:r>
          </a:p>
          <a:p>
            <a:r>
              <a:t>FAQ officielle ; dispositions et risques adaptés aux rôles.</a:t>
            </a:r>
          </a:p>
          <a:p>
            <a:r>
              <a:t>[S27] NIST : architecture de référence Big Data</a:t>
            </a:r>
          </a:p>
          <a:p>
            <a:r>
              <a:t>https://www.nist.gov/publications/nist-big-data-interoperability-framework-volume-6-reference-architecture</a:t>
            </a:r>
          </a:p>
          <a:p>
            <a:r>
              <a:t>Cadre conceptuel ; les cinq V du cours sont une grille pédagogique.</a:t>
            </a:r>
          </a:p>
          <a:p>
            <a:r>
              <a:t>[S31] Commission européenne : entrée en vigueur de l’AI Omnibus</a:t>
            </a:r>
          </a:p>
          <a:p>
            <a:r>
              <a:t>https://digital-strategy.ec.europa.eu/en/news/ai-omnibus-enters-force</a:t>
            </a:r>
          </a:p>
          <a:p>
            <a:r>
              <a:t>Actualisation du calendrier de 2026.</a:t>
            </a:r>
          </a:p>
          <a:p>
            <a:r>
              <a:t>[S32] CNIL : recommandations relatives à l’intérêt légitime</a:t>
            </a:r>
          </a:p>
          <a:p>
            <a:r>
              <a:t>https://cnil.fr/fr/recommandations-developpement-ia-interet-legitime</a:t>
            </a:r>
          </a:p>
          <a:p>
            <a:r>
              <a:t>Base légale conditionnelle, pas permission générale de collecte.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ikit-learn.org/stable/user_guide.html" TargetMode="External"/><Relationship Id="rId3" Type="http://schemas.openxmlformats.org/officeDocument/2006/relationships/hyperlink" Target="https://scikit-learn.org/stable/modules/model_evaluation.html" TargetMode="External"/><Relationship Id="rId4" Type="http://schemas.openxmlformats.org/officeDocument/2006/relationships/hyperlink" Target="https://www.nature.com/articles/nature14539" TargetMode="External"/><Relationship Id="rId5" Type="http://schemas.openxmlformats.org/officeDocument/2006/relationships/hyperlink" Target="https://doi.org/10.1145/2843948" TargetMode="Externa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google/pubs/wide-deep-learning-for-recommender-systems/" TargetMode="External"/><Relationship Id="rId3" Type="http://schemas.openxmlformats.org/officeDocument/2006/relationships/hyperlink" Target="https://arxiv.org/abs/2511.07280" TargetMode="External"/><Relationship Id="rId4" Type="http://schemas.openxmlformats.org/officeDocument/2006/relationships/hyperlink" Target="https://stripe.com/radar" TargetMode="External"/><Relationship Id="rId5" Type="http://schemas.openxmlformats.org/officeDocument/2006/relationships/hyperlink" Target="https://www.aircraft.airbus.com/en/newsroom/news/2024-10-keeping-the-fleet-flying" TargetMode="External"/><Relationship Id="rId6" Type="http://schemas.openxmlformats.org/officeDocument/2006/relationships/hyperlink" Target="https://www.michelin.com/publications/produits-et-services/michelin-connected-fleet-performance-op%C3%A9rationnelle" TargetMode="Externa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nil.fr/fr/les-fiches-pratiques-ia" TargetMode="External"/><Relationship Id="rId3" Type="http://schemas.openxmlformats.org/officeDocument/2006/relationships/hyperlink" Target="https://messervices.cyber.gouv.fr/guides/recommandations-de-securite-pour-un-systeme-dia-generative" TargetMode="External"/><Relationship Id="rId4" Type="http://schemas.openxmlformats.org/officeDocument/2006/relationships/hyperlink" Target="https://airc.nist.gov/airmf-resources/airmf/5-sec-core/" TargetMode="External"/><Relationship Id="rId5" Type="http://schemas.openxmlformats.org/officeDocument/2006/relationships/hyperlink" Target="https://www.iso.org/fr/standard/81230.html" TargetMode="External"/><Relationship Id="rId6" Type="http://schemas.openxmlformats.org/officeDocument/2006/relationships/hyperlink" Target="https://digital-strategy.ec.europa.eu/en/policies/regulatory-framework-ai" TargetMode="External"/><Relationship Id="rId7"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i-act-service-desk.ec.europa.eu/en/ai-act/eu-ai-act-implementation-timeline" TargetMode="External"/><Relationship Id="rId3" Type="http://schemas.openxmlformats.org/officeDocument/2006/relationships/hyperlink" Target="https://digital-strategy.ec.europa.eu/en/faqs/ai-literacy-questions-answers" TargetMode="External"/><Relationship Id="rId4" Type="http://schemas.openxmlformats.org/officeDocument/2006/relationships/hyperlink" Target="https://www.nist.gov/publications/nist-big-data-interoperability-framework-volume-6-reference-architecture" TargetMode="External"/><Relationship Id="rId5" Type="http://schemas.openxmlformats.org/officeDocument/2006/relationships/hyperlink" Target="https://digital-strategy.ec.europa.eu/en/news/ai-omnibus-enters-force" TargetMode="External"/><Relationship Id="rId6" Type="http://schemas.openxmlformats.org/officeDocument/2006/relationships/hyperlink" Target="https://cnil.fr/fr/recommandations-developpement-ia-interet-legitime" TargetMode="External"/><Relationship Id="rId7"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443"/>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144000" cy="320040"/>
          </a:xfrm>
          <a:prstGeom prst="rect">
            <a:avLst/>
          </a:prstGeom>
          <a:noFill/>
        </p:spPr>
        <p:txBody>
          <a:bodyPr wrap="square" lIns="22860" rIns="22860" tIns="22860" bIns="22860" anchor="ctr">
            <a:spAutoFit/>
          </a:bodyPr>
          <a:lstStyle/>
          <a:p>
            <a:pPr>
              <a:spcBef>
                <a:spcPts val="0"/>
              </a:spcBef>
              <a:spcAft>
                <a:spcPts val="300"/>
              </a:spcAft>
              <a:defRPr sz="1300" b="1">
                <a:solidFill>
                  <a:srgbClr val="FFFFFF"/>
                </a:solidFill>
                <a:latin typeface="Liberation Sans"/>
              </a:defRPr>
            </a:pPr>
            <a:r>
              <a:t>P2ENJOY  /  FORMATION 4-020</a:t>
            </a:r>
          </a:p>
        </p:txBody>
      </p:sp>
      <p:sp>
        <p:nvSpPr>
          <p:cNvPr id="4" name="TextBox 3"/>
          <p:cNvSpPr txBox="1"/>
          <p:nvPr/>
        </p:nvSpPr>
        <p:spPr>
          <a:xfrm>
            <a:off x="594360" y="1280160"/>
            <a:ext cx="7315200" cy="493776"/>
          </a:xfrm>
          <a:prstGeom prst="rect">
            <a:avLst/>
          </a:prstGeom>
          <a:noFill/>
        </p:spPr>
        <p:txBody>
          <a:bodyPr wrap="square" lIns="22860" rIns="22860" tIns="22860" bIns="22860" anchor="ctr">
            <a:spAutoFit/>
          </a:bodyPr>
          <a:lstStyle/>
          <a:p>
            <a:pPr>
              <a:spcBef>
                <a:spcPts val="0"/>
              </a:spcBef>
              <a:spcAft>
                <a:spcPts val="300"/>
              </a:spcAft>
              <a:defRPr sz="2000" b="1">
                <a:solidFill>
                  <a:srgbClr val="D9CF4A"/>
                </a:solidFill>
                <a:latin typeface="Liberation Sans"/>
              </a:defRPr>
            </a:pPr>
            <a:r>
              <a:t>JOUR 1</a:t>
            </a:r>
          </a:p>
        </p:txBody>
      </p:sp>
      <p:sp>
        <p:nvSpPr>
          <p:cNvPr id="5" name="TextBox 4"/>
          <p:cNvSpPr txBox="1"/>
          <p:nvPr/>
        </p:nvSpPr>
        <p:spPr>
          <a:xfrm>
            <a:off x="594360" y="1847088"/>
            <a:ext cx="8869680" cy="2011680"/>
          </a:xfrm>
          <a:prstGeom prst="rect">
            <a:avLst/>
          </a:prstGeom>
          <a:noFill/>
        </p:spPr>
        <p:txBody>
          <a:bodyPr wrap="square" lIns="22860" rIns="22860" tIns="22860" bIns="22860" anchor="ctr">
            <a:spAutoFit/>
          </a:bodyPr>
          <a:lstStyle/>
          <a:p>
            <a:pPr>
              <a:spcBef>
                <a:spcPts val="0"/>
              </a:spcBef>
              <a:spcAft>
                <a:spcPts val="300"/>
              </a:spcAft>
              <a:defRPr sz="4300" b="1">
                <a:solidFill>
                  <a:srgbClr val="FFFFFF"/>
                </a:solidFill>
                <a:latin typeface="Liberation Sans"/>
              </a:defRPr>
            </a:pPr>
            <a:r>
              <a:t>L’IA dans le système</a:t>
            </a:r>
          </a:p>
          <a:p>
            <a:pPr>
              <a:spcBef>
                <a:spcPts val="0"/>
              </a:spcBef>
              <a:spcAft>
                <a:spcPts val="300"/>
              </a:spcAft>
              <a:defRPr sz="4300" b="1">
                <a:solidFill>
                  <a:srgbClr val="FFFFFF"/>
                </a:solidFill>
                <a:latin typeface="Liberation Sans"/>
              </a:defRPr>
            </a:pPr>
            <a:r>
              <a:t>d’information de l’entreprise</a:t>
            </a:r>
          </a:p>
        </p:txBody>
      </p:sp>
      <p:sp>
        <p:nvSpPr>
          <p:cNvPr id="6" name="TextBox 5"/>
          <p:cNvSpPr txBox="1"/>
          <p:nvPr/>
        </p:nvSpPr>
        <p:spPr>
          <a:xfrm>
            <a:off x="594360" y="4041648"/>
            <a:ext cx="9144000" cy="594360"/>
          </a:xfrm>
          <a:prstGeom prst="rect">
            <a:avLst/>
          </a:prstGeom>
          <a:noFill/>
        </p:spPr>
        <p:txBody>
          <a:bodyPr wrap="square" lIns="22860" rIns="22860" tIns="22860" bIns="22860" anchor="ctr">
            <a:spAutoFit/>
          </a:bodyPr>
          <a:lstStyle/>
          <a:p>
            <a:pPr>
              <a:spcBef>
                <a:spcPts val="0"/>
              </a:spcBef>
              <a:spcAft>
                <a:spcPts val="300"/>
              </a:spcAft>
              <a:defRPr sz="2500" b="0">
                <a:solidFill>
                  <a:srgbClr val="FFFFFF"/>
                </a:solidFill>
                <a:latin typeface="Liberation Sans"/>
              </a:defRPr>
            </a:pPr>
            <a:r>
              <a:t>Comprendre, cadrer et appliquer</a:t>
            </a:r>
          </a:p>
        </p:txBody>
      </p:sp>
      <p:sp>
        <p:nvSpPr>
          <p:cNvPr id="7" name="TextBox 6"/>
          <p:cNvSpPr txBox="1"/>
          <p:nvPr/>
        </p:nvSpPr>
        <p:spPr>
          <a:xfrm>
            <a:off x="594360" y="5010912"/>
            <a:ext cx="9875520" cy="640080"/>
          </a:xfrm>
          <a:prstGeom prst="rect">
            <a:avLst/>
          </a:prstGeom>
          <a:noFill/>
        </p:spPr>
        <p:txBody>
          <a:bodyPr wrap="square" lIns="22860" rIns="22860" tIns="22860" bIns="22860" anchor="ctr">
            <a:spAutoFit/>
          </a:bodyPr>
          <a:lstStyle/>
          <a:p>
            <a:pPr>
              <a:spcBef>
                <a:spcPts val="0"/>
              </a:spcBef>
              <a:spcAft>
                <a:spcPts val="300"/>
              </a:spcAft>
              <a:defRPr sz="2000" b="0">
                <a:solidFill>
                  <a:srgbClr val="D9CF4A"/>
                </a:solidFill>
                <a:latin typeface="Liberation Sans"/>
              </a:defRPr>
            </a:pPr>
            <a:r>
              <a:t>JOUR 1   ·   Fondamentaux • Valeur • Gouvernance</a:t>
            </a:r>
          </a:p>
        </p:txBody>
      </p:sp>
      <p:sp>
        <p:nvSpPr>
          <p:cNvPr id="8" name="Hexagon 7"/>
          <p:cNvSpPr/>
          <p:nvPr/>
        </p:nvSpPr>
        <p:spPr>
          <a:xfrm>
            <a:off x="10241280" y="1234440"/>
            <a:ext cx="512064" cy="512064"/>
          </a:xfrm>
          <a:prstGeom prst="hexagon">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497311" y="1490472"/>
            <a:ext cx="411481" cy="109728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0" name="Hexagon 9"/>
          <p:cNvSpPr/>
          <p:nvPr/>
        </p:nvSpPr>
        <p:spPr>
          <a:xfrm>
            <a:off x="10652760" y="2331720"/>
            <a:ext cx="512064" cy="512064"/>
          </a:xfrm>
          <a:prstGeom prst="hexag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10177272" y="2587752"/>
            <a:ext cx="731520" cy="105156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2" name="Hexagon 11"/>
          <p:cNvSpPr/>
          <p:nvPr/>
        </p:nvSpPr>
        <p:spPr>
          <a:xfrm>
            <a:off x="9921240" y="3383280"/>
            <a:ext cx="512064" cy="512064"/>
          </a:xfrm>
          <a:prstGeom prst="hexagon">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177272" y="3639312"/>
            <a:ext cx="777239" cy="1051560"/>
          </a:xfrm>
          <a:prstGeom prst="line">
            <a:avLst/>
          </a:prstGeom>
          <a:ln w="38100">
            <a:solidFill>
              <a:srgbClr val="238C33"/>
            </a:solidFill>
          </a:ln>
        </p:spPr>
        <p:style>
          <a:lnRef idx="2">
            <a:schemeClr val="accent1"/>
          </a:lnRef>
          <a:fillRef idx="0">
            <a:schemeClr val="accent1"/>
          </a:fillRef>
          <a:effectRef idx="1">
            <a:schemeClr val="accent1"/>
          </a:effectRef>
          <a:fontRef idx="minor">
            <a:schemeClr val="tx1"/>
          </a:fontRef>
        </p:style>
      </p:cxnSp>
      <p:sp>
        <p:nvSpPr>
          <p:cNvPr id="14" name="Hexagon 13"/>
          <p:cNvSpPr/>
          <p:nvPr/>
        </p:nvSpPr>
        <p:spPr>
          <a:xfrm>
            <a:off x="10698480" y="4434840"/>
            <a:ext cx="512064" cy="512064"/>
          </a:xfrm>
          <a:prstGeom prst="hexag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035040"/>
            <a:ext cx="10789920" cy="320040"/>
          </a:xfrm>
          <a:prstGeom prst="rect">
            <a:avLst/>
          </a:prstGeom>
          <a:noFill/>
        </p:spPr>
        <p:txBody>
          <a:bodyPr wrap="square" lIns="22860" rIns="22860" tIns="22860" bIns="22860" anchor="ctr">
            <a:spAutoFit/>
          </a:bodyPr>
          <a:lstStyle/>
          <a:p>
            <a:pPr>
              <a:spcBef>
                <a:spcPts val="0"/>
              </a:spcBef>
              <a:spcAft>
                <a:spcPts val="300"/>
              </a:spcAft>
              <a:defRPr sz="1400" b="0">
                <a:solidFill>
                  <a:srgbClr val="FFFFFF"/>
                </a:solidFill>
                <a:latin typeface="Liberation Sans"/>
              </a:defRPr>
            </a:pPr>
            <a:r>
              <a:t>Référence 4-020 • Lot 4 • Niveau Application • 12 heures / 2 jours</a:t>
            </a:r>
          </a:p>
        </p:txBody>
      </p:sp>
      <p:sp>
        <p:nvSpPr>
          <p:cNvPr id="16" name="TextBox 15"/>
          <p:cNvSpPr txBox="1"/>
          <p:nvPr/>
        </p:nvSpPr>
        <p:spPr>
          <a:xfrm>
            <a:off x="594360" y="6501384"/>
            <a:ext cx="9144000" cy="201168"/>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Ce que vous saurez faire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résultat attendu est une capacité d’application, pas une expertise de chercheur.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J1-002</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Cadrer</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décision et un objectif</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Relier</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Données, modèle et SI</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Arbitrer</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Erreurs, valeur et risques</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Concevoir</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usage métier vérifiable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Deux journées, cinq blocs contractuels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7 h 30 de TP effectifs, plus 1 h de diagnostic et d’évaluation.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J1-003</a:t>
            </a:r>
          </a:p>
        </p:txBody>
      </p:sp>
      <p:sp>
        <p:nvSpPr>
          <p:cNvPr id="12" name="TextBox 11"/>
          <p:cNvSpPr txBox="1"/>
          <p:nvPr/>
        </p:nvSpPr>
        <p:spPr>
          <a:xfrm>
            <a:off x="777240" y="1847088"/>
            <a:ext cx="1965960" cy="56692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J1 • 2 h</a:t>
            </a:r>
          </a:p>
        </p:txBody>
      </p:sp>
      <p:sp>
        <p:nvSpPr>
          <p:cNvPr id="13" name="TextBox 12"/>
          <p:cNvSpPr txBox="1"/>
          <p:nvPr/>
        </p:nvSpPr>
        <p:spPr>
          <a:xfrm>
            <a:off x="2834640" y="1847088"/>
            <a:ext cx="8503920" cy="566928"/>
          </a:xfrm>
          <a:prstGeom prst="rect">
            <a:avLst/>
          </a:prstGeom>
          <a:noFill/>
        </p:spPr>
        <p:txBody>
          <a:bodyPr wrap="square" lIns="22860" rIns="22860" tIns="22860" bIns="22860" anchor="ctr">
            <a:spAutoFit/>
          </a:bodyPr>
          <a:lstStyle/>
          <a:p>
            <a:pPr>
              <a:spcBef>
                <a:spcPts val="0"/>
              </a:spcBef>
              <a:spcAft>
                <a:spcPts val="300"/>
              </a:spcAft>
              <a:defRPr sz="2400" b="0">
                <a:solidFill>
                  <a:srgbClr val="0D0D0D"/>
                </a:solidFill>
                <a:latin typeface="Liberation Sans"/>
              </a:defRPr>
            </a:pPr>
            <a:r>
              <a:t>Fondamentaux et cas métiers</a:t>
            </a:r>
          </a:p>
        </p:txBody>
      </p:sp>
      <p:cxnSp>
        <p:nvCxnSpPr>
          <p:cNvPr id="14" name="Connector 13"/>
          <p:cNvCxnSpPr/>
          <p:nvPr/>
        </p:nvCxnSpPr>
        <p:spPr>
          <a:xfrm>
            <a:off x="777240" y="2496312"/>
            <a:ext cx="10607040" cy="0"/>
          </a:xfrm>
          <a:prstGeom prst="line">
            <a:avLst/>
          </a:prstGeom>
          <a:ln w="8890">
            <a:solidFill>
              <a:srgbClr val="D9E1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2560320"/>
            <a:ext cx="1965960" cy="56692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J1 • 2 h</a:t>
            </a:r>
          </a:p>
        </p:txBody>
      </p:sp>
      <p:sp>
        <p:nvSpPr>
          <p:cNvPr id="16" name="TextBox 15"/>
          <p:cNvSpPr txBox="1"/>
          <p:nvPr/>
        </p:nvSpPr>
        <p:spPr>
          <a:xfrm>
            <a:off x="2834640" y="2560320"/>
            <a:ext cx="8503920" cy="566928"/>
          </a:xfrm>
          <a:prstGeom prst="rect">
            <a:avLst/>
          </a:prstGeom>
          <a:noFill/>
        </p:spPr>
        <p:txBody>
          <a:bodyPr wrap="square" lIns="22860" rIns="22860" tIns="22860" bIns="22860" anchor="ctr">
            <a:spAutoFit/>
          </a:bodyPr>
          <a:lstStyle/>
          <a:p>
            <a:pPr>
              <a:spcBef>
                <a:spcPts val="0"/>
              </a:spcBef>
              <a:spcAft>
                <a:spcPts val="300"/>
              </a:spcAft>
              <a:defRPr sz="2400" b="0">
                <a:solidFill>
                  <a:srgbClr val="0D0D0D"/>
                </a:solidFill>
                <a:latin typeface="Liberation Sans"/>
              </a:defRPr>
            </a:pPr>
            <a:r>
              <a:t>Données et modèles économiques</a:t>
            </a:r>
          </a:p>
        </p:txBody>
      </p:sp>
      <p:cxnSp>
        <p:nvCxnSpPr>
          <p:cNvPr id="17" name="Connector 16"/>
          <p:cNvCxnSpPr/>
          <p:nvPr/>
        </p:nvCxnSpPr>
        <p:spPr>
          <a:xfrm>
            <a:off x="777240" y="3209544"/>
            <a:ext cx="10607040" cy="0"/>
          </a:xfrm>
          <a:prstGeom prst="line">
            <a:avLst/>
          </a:prstGeom>
          <a:ln w="8890">
            <a:solidFill>
              <a:srgbClr val="D9E1E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273552"/>
            <a:ext cx="1965960" cy="56692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J1 • 2 h</a:t>
            </a:r>
          </a:p>
        </p:txBody>
      </p:sp>
      <p:sp>
        <p:nvSpPr>
          <p:cNvPr id="19" name="TextBox 18"/>
          <p:cNvSpPr txBox="1"/>
          <p:nvPr/>
        </p:nvSpPr>
        <p:spPr>
          <a:xfrm>
            <a:off x="2834640" y="3273552"/>
            <a:ext cx="8503920" cy="566928"/>
          </a:xfrm>
          <a:prstGeom prst="rect">
            <a:avLst/>
          </a:prstGeom>
          <a:noFill/>
        </p:spPr>
        <p:txBody>
          <a:bodyPr wrap="square" lIns="22860" rIns="22860" tIns="22860" bIns="22860" anchor="ctr">
            <a:spAutoFit/>
          </a:bodyPr>
          <a:lstStyle/>
          <a:p>
            <a:pPr>
              <a:spcBef>
                <a:spcPts val="0"/>
              </a:spcBef>
              <a:spcAft>
                <a:spcPts val="300"/>
              </a:spcAft>
              <a:defRPr sz="2400" b="0">
                <a:solidFill>
                  <a:srgbClr val="0D0D0D"/>
                </a:solidFill>
                <a:latin typeface="Liberation Sans"/>
              </a:defRPr>
            </a:pPr>
            <a:r>
              <a:t>Data Science et gouvernance</a:t>
            </a:r>
          </a:p>
        </p:txBody>
      </p:sp>
      <p:cxnSp>
        <p:nvCxnSpPr>
          <p:cNvPr id="20" name="Connector 19"/>
          <p:cNvCxnSpPr/>
          <p:nvPr/>
        </p:nvCxnSpPr>
        <p:spPr>
          <a:xfrm>
            <a:off x="777240" y="3922776"/>
            <a:ext cx="10607040" cy="0"/>
          </a:xfrm>
          <a:prstGeom prst="line">
            <a:avLst/>
          </a:prstGeom>
          <a:ln w="889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3986783"/>
            <a:ext cx="1965960" cy="56692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J2 • 3 h</a:t>
            </a:r>
          </a:p>
        </p:txBody>
      </p:sp>
      <p:sp>
        <p:nvSpPr>
          <p:cNvPr id="22" name="TextBox 21"/>
          <p:cNvSpPr txBox="1"/>
          <p:nvPr/>
        </p:nvSpPr>
        <p:spPr>
          <a:xfrm>
            <a:off x="2834640" y="3986783"/>
            <a:ext cx="8503920" cy="566928"/>
          </a:xfrm>
          <a:prstGeom prst="rect">
            <a:avLst/>
          </a:prstGeom>
          <a:noFill/>
        </p:spPr>
        <p:txBody>
          <a:bodyPr wrap="square" lIns="22860" rIns="22860" tIns="22860" bIns="22860" anchor="ctr">
            <a:spAutoFit/>
          </a:bodyPr>
          <a:lstStyle/>
          <a:p>
            <a:pPr>
              <a:spcBef>
                <a:spcPts val="0"/>
              </a:spcBef>
              <a:spcAft>
                <a:spcPts val="300"/>
              </a:spcAft>
              <a:defRPr sz="2400" b="0">
                <a:solidFill>
                  <a:srgbClr val="0D0D0D"/>
                </a:solidFill>
                <a:latin typeface="Liberation Sans"/>
              </a:defRPr>
            </a:pPr>
            <a:r>
              <a:t>Machine Learning et Deep Learning</a:t>
            </a:r>
          </a:p>
        </p:txBody>
      </p:sp>
      <p:cxnSp>
        <p:nvCxnSpPr>
          <p:cNvPr id="23" name="Connector 22"/>
          <p:cNvCxnSpPr/>
          <p:nvPr/>
        </p:nvCxnSpPr>
        <p:spPr>
          <a:xfrm>
            <a:off x="777240" y="4636008"/>
            <a:ext cx="10607040" cy="0"/>
          </a:xfrm>
          <a:prstGeom prst="line">
            <a:avLst/>
          </a:prstGeom>
          <a:ln w="8890">
            <a:solidFill>
              <a:srgbClr val="D9E1E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4700016"/>
            <a:ext cx="1965960" cy="56692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J2 • 3 h</a:t>
            </a:r>
          </a:p>
        </p:txBody>
      </p:sp>
      <p:sp>
        <p:nvSpPr>
          <p:cNvPr id="25" name="TextBox 24"/>
          <p:cNvSpPr txBox="1"/>
          <p:nvPr/>
        </p:nvSpPr>
        <p:spPr>
          <a:xfrm>
            <a:off x="2834640" y="4700016"/>
            <a:ext cx="8503920" cy="566928"/>
          </a:xfrm>
          <a:prstGeom prst="rect">
            <a:avLst/>
          </a:prstGeom>
          <a:noFill/>
        </p:spPr>
        <p:txBody>
          <a:bodyPr wrap="square" lIns="22860" rIns="22860" tIns="22860" bIns="22860" anchor="ctr">
            <a:spAutoFit/>
          </a:bodyPr>
          <a:lstStyle/>
          <a:p>
            <a:pPr>
              <a:spcBef>
                <a:spcPts val="0"/>
              </a:spcBef>
              <a:spcAft>
                <a:spcPts val="300"/>
              </a:spcAft>
              <a:defRPr sz="2400" b="0">
                <a:solidFill>
                  <a:srgbClr val="0D0D0D"/>
                </a:solidFill>
                <a:latin typeface="Liberation Sans"/>
              </a:defRPr>
            </a:pPr>
            <a:r>
              <a:t>Ouverture du SI et stratégie</a:t>
            </a:r>
          </a:p>
        </p:txBody>
      </p:sp>
      <p:cxnSp>
        <p:nvCxnSpPr>
          <p:cNvPr id="26" name="Connector 25"/>
          <p:cNvCxnSpPr/>
          <p:nvPr/>
        </p:nvCxnSpPr>
        <p:spPr>
          <a:xfrm>
            <a:off x="777240" y="5349240"/>
            <a:ext cx="10607040" cy="0"/>
          </a:xfrm>
          <a:prstGeom prst="line">
            <a:avLst/>
          </a:prstGeom>
          <a:ln w="889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Diagnostic : cinq questions avant de commencer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Répondez d’abord seul, puis confrontez votre raisonnement.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J1-004</a:t>
            </a:r>
          </a:p>
        </p:txBody>
      </p:sp>
      <p:sp>
        <p:nvSpPr>
          <p:cNvPr id="12" name="Oval 11"/>
          <p:cNvSpPr/>
          <p:nvPr/>
        </p:nvSpPr>
        <p:spPr>
          <a:xfrm>
            <a:off x="713232" y="1856231"/>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1892807"/>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01</a:t>
            </a:r>
          </a:p>
        </p:txBody>
      </p:sp>
      <p:sp>
        <p:nvSpPr>
          <p:cNvPr id="14" name="TextBox 13"/>
          <p:cNvSpPr txBox="1"/>
          <p:nvPr/>
        </p:nvSpPr>
        <p:spPr>
          <a:xfrm>
            <a:off x="1344168" y="1828800"/>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Une API est-elle une intelligence artificielle ?</a:t>
            </a:r>
          </a:p>
        </p:txBody>
      </p:sp>
      <p:sp>
        <p:nvSpPr>
          <p:cNvPr id="15" name="Oval 14"/>
          <p:cNvSpPr/>
          <p:nvPr/>
        </p:nvSpPr>
        <p:spPr>
          <a:xfrm>
            <a:off x="713232" y="2591409"/>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2627985"/>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02</a:t>
            </a:r>
          </a:p>
        </p:txBody>
      </p:sp>
      <p:sp>
        <p:nvSpPr>
          <p:cNvPr id="17" name="TextBox 16"/>
          <p:cNvSpPr txBox="1"/>
          <p:nvPr/>
        </p:nvSpPr>
        <p:spPr>
          <a:xfrm>
            <a:off x="1344168" y="2563977"/>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Entraîner et utiliser un modèle : même opération ?</a:t>
            </a:r>
          </a:p>
        </p:txBody>
      </p:sp>
      <p:sp>
        <p:nvSpPr>
          <p:cNvPr id="18" name="Oval 17"/>
          <p:cNvSpPr/>
          <p:nvPr/>
        </p:nvSpPr>
        <p:spPr>
          <a:xfrm>
            <a:off x="713232" y="3326587"/>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3363163"/>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03</a:t>
            </a:r>
          </a:p>
        </p:txBody>
      </p:sp>
      <p:sp>
        <p:nvSpPr>
          <p:cNvPr id="20" name="TextBox 19"/>
          <p:cNvSpPr txBox="1"/>
          <p:nvPr/>
        </p:nvSpPr>
        <p:spPr>
          <a:xfrm>
            <a:off x="1344168" y="3299155"/>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99 % d’exactitude prouve-t-il la qualité ?</a:t>
            </a:r>
          </a:p>
        </p:txBody>
      </p:sp>
      <p:sp>
        <p:nvSpPr>
          <p:cNvPr id="21" name="Oval 20"/>
          <p:cNvSpPr/>
          <p:nvPr/>
        </p:nvSpPr>
        <p:spPr>
          <a:xfrm>
            <a:off x="713232" y="4061764"/>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098340"/>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04</a:t>
            </a:r>
          </a:p>
        </p:txBody>
      </p:sp>
      <p:sp>
        <p:nvSpPr>
          <p:cNvPr id="23" name="TextBox 22"/>
          <p:cNvSpPr txBox="1"/>
          <p:nvPr/>
        </p:nvSpPr>
        <p:spPr>
          <a:xfrm>
            <a:off x="1344168" y="4034332"/>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Plus de données signifie-t-il toujours plus de valeur ?</a:t>
            </a:r>
          </a:p>
        </p:txBody>
      </p:sp>
      <p:sp>
        <p:nvSpPr>
          <p:cNvPr id="24" name="Oval 23"/>
          <p:cNvSpPr/>
          <p:nvPr/>
        </p:nvSpPr>
        <p:spPr>
          <a:xfrm>
            <a:off x="713232" y="4796942"/>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833518"/>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05</a:t>
            </a:r>
          </a:p>
        </p:txBody>
      </p:sp>
      <p:sp>
        <p:nvSpPr>
          <p:cNvPr id="26" name="TextBox 25"/>
          <p:cNvSpPr txBox="1"/>
          <p:nvPr/>
        </p:nvSpPr>
        <p:spPr>
          <a:xfrm>
            <a:off x="1344168" y="4769510"/>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Un score de risque est-il une décision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Un modèle n’est qu’un maillon du SI</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L’IA reçoit des données et rend un résultat à un processus.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J1-005</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Sources</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CRM • ERP • capteurs</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Intégration</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Flux • stockage • qualité</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IA</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Entraînement • inférence</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Action</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Application • personne • règle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De l’observation à l’action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contexte transforme une donnée en information exploitable.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J1-006</a:t>
            </a:r>
          </a:p>
        </p:txBody>
      </p:sp>
      <p:sp>
        <p:nvSpPr>
          <p:cNvPr id="12" name="Trapezoid 11"/>
          <p:cNvSpPr/>
          <p:nvPr/>
        </p:nvSpPr>
        <p:spPr>
          <a:xfrm>
            <a:off x="4169664" y="1847088"/>
            <a:ext cx="3840480" cy="758952"/>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938528"/>
            <a:ext cx="2926080"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Décision</a:t>
            </a:r>
          </a:p>
        </p:txBody>
      </p:sp>
      <p:sp>
        <p:nvSpPr>
          <p:cNvPr id="14" name="TextBox 13"/>
          <p:cNvSpPr txBox="1"/>
          <p:nvPr/>
        </p:nvSpPr>
        <p:spPr>
          <a:xfrm>
            <a:off x="4626864" y="2231136"/>
            <a:ext cx="2926080" cy="256032"/>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FFFFFF"/>
                </a:solidFill>
                <a:latin typeface="Liberation Sans"/>
              </a:defRPr>
            </a:pPr>
            <a:r>
              <a:t>Inspecter avant la prochaine rotation</a:t>
            </a:r>
          </a:p>
        </p:txBody>
      </p:sp>
      <p:sp>
        <p:nvSpPr>
          <p:cNvPr id="15" name="Trapezoid 14"/>
          <p:cNvSpPr/>
          <p:nvPr/>
        </p:nvSpPr>
        <p:spPr>
          <a:xfrm>
            <a:off x="3557016" y="2697480"/>
            <a:ext cx="5065776" cy="758952"/>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14216" y="2788920"/>
            <a:ext cx="4151376"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Connaissance</a:t>
            </a:r>
          </a:p>
        </p:txBody>
      </p:sp>
      <p:sp>
        <p:nvSpPr>
          <p:cNvPr id="17" name="TextBox 16"/>
          <p:cNvSpPr txBox="1"/>
          <p:nvPr/>
        </p:nvSpPr>
        <p:spPr>
          <a:xfrm>
            <a:off x="4014216" y="3081528"/>
            <a:ext cx="4151376"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Un pattern précède parfois une panne</a:t>
            </a:r>
          </a:p>
        </p:txBody>
      </p:sp>
      <p:sp>
        <p:nvSpPr>
          <p:cNvPr id="18" name="Trapezoid 17"/>
          <p:cNvSpPr/>
          <p:nvPr/>
        </p:nvSpPr>
        <p:spPr>
          <a:xfrm>
            <a:off x="2944368" y="3547872"/>
            <a:ext cx="6291072" cy="758952"/>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01568" y="3639312"/>
            <a:ext cx="5376672"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Information</a:t>
            </a:r>
          </a:p>
        </p:txBody>
      </p:sp>
      <p:sp>
        <p:nvSpPr>
          <p:cNvPr id="20" name="TextBox 19"/>
          <p:cNvSpPr txBox="1"/>
          <p:nvPr/>
        </p:nvSpPr>
        <p:spPr>
          <a:xfrm>
            <a:off x="3401568" y="3931920"/>
            <a:ext cx="5376672"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La température dépasse l’habitude</a:t>
            </a:r>
          </a:p>
        </p:txBody>
      </p:sp>
      <p:sp>
        <p:nvSpPr>
          <p:cNvPr id="21" name="Trapezoid 20"/>
          <p:cNvSpPr/>
          <p:nvPr/>
        </p:nvSpPr>
        <p:spPr>
          <a:xfrm>
            <a:off x="2331720" y="4398264"/>
            <a:ext cx="7516368" cy="758952"/>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88920" y="4489704"/>
            <a:ext cx="6601968"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Donnée</a:t>
            </a:r>
          </a:p>
        </p:txBody>
      </p:sp>
      <p:sp>
        <p:nvSpPr>
          <p:cNvPr id="23" name="TextBox 22"/>
          <p:cNvSpPr txBox="1"/>
          <p:nvPr/>
        </p:nvSpPr>
        <p:spPr>
          <a:xfrm>
            <a:off x="2788920" y="4782312"/>
            <a:ext cx="6601968"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38,7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Quatre objets à ne pas confondre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Identifier la couche concernée évite les diagnostics imprécis.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J1-007</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observation disponible dans un contexte.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Algorithme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procédure de calcul ou d’apprentissage.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Modèle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représentation paramétrée obtenue ou construite.</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Système IA</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modèle, ses interfaces et son dispositif d’usage.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00" b="1">
                <a:solidFill>
                  <a:srgbClr val="132443"/>
                </a:solidFill>
                <a:latin typeface="Liberation Sans"/>
              </a:defRPr>
            </a:pPr>
            <a:r>
              <a:t>IA, apprentissage automatique, apprentissage profond</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L’IA d’entreprise ne se réduit pas au chatbot.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S05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J1-008</a:t>
            </a:r>
          </a:p>
        </p:txBody>
      </p:sp>
      <p:sp>
        <p:nvSpPr>
          <p:cNvPr id="12" name="Rounded Rectangle 11"/>
          <p:cNvSpPr/>
          <p:nvPr/>
        </p:nvSpPr>
        <p:spPr>
          <a:xfrm>
            <a:off x="685800" y="1828800"/>
            <a:ext cx="7406640" cy="370332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938528"/>
            <a:ext cx="6986016" cy="347472"/>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IA</a:t>
            </a:r>
          </a:p>
        </p:txBody>
      </p:sp>
      <p:sp>
        <p:nvSpPr>
          <p:cNvPr id="14" name="TextBox 13"/>
          <p:cNvSpPr txBox="1"/>
          <p:nvPr/>
        </p:nvSpPr>
        <p:spPr>
          <a:xfrm>
            <a:off x="896112" y="2322576"/>
            <a:ext cx="6986016" cy="320040"/>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Percevoir, raisonner, planifier, prédire</a:t>
            </a:r>
          </a:p>
        </p:txBody>
      </p:sp>
      <p:sp>
        <p:nvSpPr>
          <p:cNvPr id="15" name="Rounded Rectangle 14"/>
          <p:cNvSpPr/>
          <p:nvPr/>
        </p:nvSpPr>
        <p:spPr>
          <a:xfrm>
            <a:off x="1188720" y="2761488"/>
            <a:ext cx="6656831" cy="2834639"/>
          </a:xfrm>
          <a:prstGeom prst="roundRect">
            <a:avLst/>
          </a:prstGeom>
          <a:solidFill>
            <a:srgbClr val="DCE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99032" y="2871216"/>
            <a:ext cx="6236207" cy="347472"/>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Machine Learning</a:t>
            </a:r>
          </a:p>
        </p:txBody>
      </p:sp>
      <p:sp>
        <p:nvSpPr>
          <p:cNvPr id="17" name="TextBox 16"/>
          <p:cNvSpPr txBox="1"/>
          <p:nvPr/>
        </p:nvSpPr>
        <p:spPr>
          <a:xfrm>
            <a:off x="1399032" y="3255264"/>
            <a:ext cx="6236207" cy="320040"/>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Apprendre des régularités dans les données</a:t>
            </a:r>
          </a:p>
        </p:txBody>
      </p:sp>
      <p:sp>
        <p:nvSpPr>
          <p:cNvPr id="18" name="Rounded Rectangle 17"/>
          <p:cNvSpPr/>
          <p:nvPr/>
        </p:nvSpPr>
        <p:spPr>
          <a:xfrm>
            <a:off x="1691640" y="3694176"/>
            <a:ext cx="5907024" cy="1965960"/>
          </a:xfrm>
          <a:prstGeom prst="round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1952" y="3803904"/>
            <a:ext cx="5486400" cy="347472"/>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Deep Learning</a:t>
            </a:r>
          </a:p>
        </p:txBody>
      </p:sp>
      <p:sp>
        <p:nvSpPr>
          <p:cNvPr id="20" name="TextBox 19"/>
          <p:cNvSpPr txBox="1"/>
          <p:nvPr/>
        </p:nvSpPr>
        <p:spPr>
          <a:xfrm>
            <a:off x="1901952" y="4187952"/>
            <a:ext cx="5486400" cy="320040"/>
          </a:xfrm>
          <a:prstGeom prst="rect">
            <a:avLst/>
          </a:prstGeom>
          <a:noFill/>
        </p:spPr>
        <p:txBody>
          <a:bodyPr wrap="square" lIns="22860" rIns="22860" tIns="22860" bIns="22860" anchor="ctr">
            <a:spAutoFit/>
          </a:bodyPr>
          <a:lstStyle/>
          <a:p>
            <a:pPr>
              <a:spcBef>
                <a:spcPts val="0"/>
              </a:spcBef>
              <a:spcAft>
                <a:spcPts val="300"/>
              </a:spcAft>
              <a:defRPr sz="1700" b="0">
                <a:solidFill>
                  <a:srgbClr val="FFFFFF"/>
                </a:solidFill>
                <a:latin typeface="Liberation Sans"/>
              </a:defRPr>
            </a:pPr>
            <a:r>
              <a:t>Apprendre plusieurs niveaux de représentation</a:t>
            </a:r>
          </a:p>
        </p:txBody>
      </p:sp>
      <p:sp>
        <p:nvSpPr>
          <p:cNvPr id="21" name="Rounded Rectangle 20"/>
          <p:cNvSpPr/>
          <p:nvPr/>
        </p:nvSpPr>
        <p:spPr>
          <a:xfrm>
            <a:off x="8412480" y="2350008"/>
            <a:ext cx="3063240" cy="248716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2350008"/>
            <a:ext cx="54864" cy="248716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86215" y="2487168"/>
            <a:ext cx="2715768"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Génératif</a:t>
            </a:r>
          </a:p>
        </p:txBody>
      </p:sp>
      <p:sp>
        <p:nvSpPr>
          <p:cNvPr id="24" name="TextBox 23"/>
          <p:cNvSpPr txBox="1"/>
          <p:nvPr/>
        </p:nvSpPr>
        <p:spPr>
          <a:xfrm>
            <a:off x="8577072" y="3026664"/>
            <a:ext cx="2734056" cy="1664208"/>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type d’usage : produire du contenu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bonne famille dépend de la question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formulation du problème est déjà une décision technique.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J1-009</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Question</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Famille</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Sortie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Combien ?</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Régression / prévision</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Quantité</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Oui ou non ?</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Classification</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Classe ou score</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Qui se ressemble ?</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Regroupement</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Groupes</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Que proposer ?</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Recommandation</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Liste ordonnée</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Que produire ?</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Génération</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Contenu</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A01 • Classer huit situations métier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30 minutes • Cahier A01 • Réponse argumentée, pas mot-clé.</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J1-010</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Mission</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Associez chaque cas à une famille de traitement.</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Méthode</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Seul 5 min → groupe 15 min → justification 10 min.</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Livrable</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Fiche A01 : cible, sortie attendue, donnée nécessaire.</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Réussite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Justifier au moins six associations sans jargon vide.</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30 MINUTES POUR LA SÉQUENCE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Les cartes à répartir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même technique peut servir plusieurs métiers, avec des risques différents.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J1-011</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Finance</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Détecter des paiements suspects.</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Support</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Affecter un ticket à une équipe.</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Marketing</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Anticiper un départ dans 30 jours.</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Commerce</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Recommander trois articles.</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Opérations</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Prévoir le volume de demain.</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IT / RH</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Repérer des incidents ; classer des documents.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Corriger en explicitant les hypothèses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hypothèse explicite vaut mieux qu’un choix technologique prématuré.</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J1-012</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Réponse superficielle</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 Un réseau de neurones pour tout. »</a:t>
            </a:r>
          </a:p>
          <a:p>
            <a:pPr>
              <a:spcBef>
                <a:spcPts val="0"/>
              </a:spcBef>
              <a:spcAft>
                <a:spcPts val="300"/>
              </a:spcAft>
              <a:defRPr sz="2100" b="0">
                <a:solidFill>
                  <a:srgbClr val="0D0D0D"/>
                </a:solidFill>
                <a:latin typeface="Liberation Sans"/>
              </a:defRPr>
            </a:pPr>
            <a:r>
              <a:t>Aucune cible, aucune donnée, aucune action.</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Réponse exploitable</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 Classer les tickets selon l’équipe, à partir du texte historique étiqueté, avec revue des cas incertains.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Big Data : cinq questions, pas un seuil magique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volume est une contrainte ; la valeur est une finalité.</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J1-013</a:t>
            </a:r>
          </a:p>
        </p:txBody>
      </p:sp>
      <p:cxnSp>
        <p:nvCxnSpPr>
          <p:cNvPr id="12" name="Connector 11"/>
          <p:cNvCxnSpPr/>
          <p:nvPr/>
        </p:nvCxnSpPr>
        <p:spPr>
          <a:xfrm flipV="1">
            <a:off x="6080760" y="2359152"/>
            <a:ext cx="0" cy="143560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19472" y="195681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1768" y="201168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Volume</a:t>
            </a:r>
          </a:p>
        </p:txBody>
      </p:sp>
      <p:sp>
        <p:nvSpPr>
          <p:cNvPr id="15" name="TextBox 14"/>
          <p:cNvSpPr txBox="1"/>
          <p:nvPr/>
        </p:nvSpPr>
        <p:spPr>
          <a:xfrm>
            <a:off x="5001768" y="2322576"/>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Combien ?</a:t>
            </a:r>
          </a:p>
        </p:txBody>
      </p:sp>
      <p:cxnSp>
        <p:nvCxnSpPr>
          <p:cNvPr id="16" name="Connector 15"/>
          <p:cNvCxnSpPr/>
          <p:nvPr/>
        </p:nvCxnSpPr>
        <p:spPr>
          <a:xfrm flipV="1">
            <a:off x="6080760" y="3351132"/>
            <a:ext cx="3582941" cy="44362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02413" y="294879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84709" y="300366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Vélocité</a:t>
            </a:r>
          </a:p>
        </p:txBody>
      </p:sp>
      <p:sp>
        <p:nvSpPr>
          <p:cNvPr id="19" name="TextBox 18"/>
          <p:cNvSpPr txBox="1"/>
          <p:nvPr/>
        </p:nvSpPr>
        <p:spPr>
          <a:xfrm>
            <a:off x="8584709" y="3314556"/>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À quelle vitesse ?</a:t>
            </a:r>
          </a:p>
        </p:txBody>
      </p:sp>
      <p:cxnSp>
        <p:nvCxnSpPr>
          <p:cNvPr id="20" name="Connector 19"/>
          <p:cNvCxnSpPr/>
          <p:nvPr/>
        </p:nvCxnSpPr>
        <p:spPr>
          <a:xfrm>
            <a:off x="6080760" y="3794760"/>
            <a:ext cx="2214379" cy="1161431"/>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33851" y="4553855"/>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16147" y="4608719"/>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Variété</a:t>
            </a:r>
          </a:p>
        </p:txBody>
      </p:sp>
      <p:sp>
        <p:nvSpPr>
          <p:cNvPr id="23" name="TextBox 22"/>
          <p:cNvSpPr txBox="1"/>
          <p:nvPr/>
        </p:nvSpPr>
        <p:spPr>
          <a:xfrm>
            <a:off x="7216147" y="4919615"/>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Quelles formes ?</a:t>
            </a:r>
          </a:p>
        </p:txBody>
      </p:sp>
      <p:cxnSp>
        <p:nvCxnSpPr>
          <p:cNvPr id="24" name="Connector 23"/>
          <p:cNvCxnSpPr/>
          <p:nvPr/>
        </p:nvCxnSpPr>
        <p:spPr>
          <a:xfrm flipH="1">
            <a:off x="3866380" y="3794760"/>
            <a:ext cx="2214380" cy="1161431"/>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05092" y="4553855"/>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87388" y="4608719"/>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Véracité</a:t>
            </a:r>
          </a:p>
        </p:txBody>
      </p:sp>
      <p:sp>
        <p:nvSpPr>
          <p:cNvPr id="27" name="TextBox 26"/>
          <p:cNvSpPr txBox="1"/>
          <p:nvPr/>
        </p:nvSpPr>
        <p:spPr>
          <a:xfrm>
            <a:off x="2787388" y="4919615"/>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Quelle confiance ?</a:t>
            </a:r>
          </a:p>
        </p:txBody>
      </p:sp>
      <p:cxnSp>
        <p:nvCxnSpPr>
          <p:cNvPr id="28" name="Connector 27"/>
          <p:cNvCxnSpPr/>
          <p:nvPr/>
        </p:nvCxnSpPr>
        <p:spPr>
          <a:xfrm flipH="1" flipV="1">
            <a:off x="2497818" y="3351132"/>
            <a:ext cx="3582942" cy="44362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336530" y="294879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18826" y="300366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Valeur</a:t>
            </a:r>
          </a:p>
        </p:txBody>
      </p:sp>
      <p:sp>
        <p:nvSpPr>
          <p:cNvPr id="31" name="TextBox 30"/>
          <p:cNvSpPr txBox="1"/>
          <p:nvPr/>
        </p:nvSpPr>
        <p:spPr>
          <a:xfrm>
            <a:off x="1418826" y="3314556"/>
            <a:ext cx="2157984" cy="329184"/>
          </a:xfrm>
          <a:prstGeom prst="rect">
            <a:avLst/>
          </a:prstGeom>
          <a:noFill/>
        </p:spPr>
        <p:txBody>
          <a:bodyPr wrap="square" lIns="22860" rIns="22860" tIns="22860" bIns="22860" anchor="ctr">
            <a:spAutoFit/>
          </a:bodyPr>
          <a:lstStyle/>
          <a:p>
            <a:pPr algn="ctr">
              <a:spcBef>
                <a:spcPts val="0"/>
              </a:spcBef>
              <a:spcAft>
                <a:spcPts val="300"/>
              </a:spcAft>
              <a:defRPr sz="1450" b="0">
                <a:solidFill>
                  <a:srgbClr val="0D0D0D"/>
                </a:solidFill>
                <a:latin typeface="Liberation Sans"/>
              </a:defRPr>
            </a:pPr>
            <a:r>
              <a:t>Pour quelle décision ?</a:t>
            </a:r>
          </a:p>
        </p:txBody>
      </p:sp>
      <p:sp>
        <p:nvSpPr>
          <p:cNvPr id="32" name="Oval 31"/>
          <p:cNvSpPr/>
          <p:nvPr/>
        </p:nvSpPr>
        <p:spPr>
          <a:xfrm>
            <a:off x="5074920" y="3136392"/>
            <a:ext cx="2011680" cy="1316736"/>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75504" y="3236976"/>
            <a:ext cx="1810512" cy="111556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DÉCISION</a:t>
            </a:r>
          </a:p>
          <a:p>
            <a:pPr algn="ctr">
              <a:spcBef>
                <a:spcPts val="0"/>
              </a:spcBef>
              <a:spcAft>
                <a:spcPts val="300"/>
              </a:spcAft>
              <a:defRPr sz="2300" b="1">
                <a:solidFill>
                  <a:srgbClr val="FFFFFF"/>
                </a:solidFill>
                <a:latin typeface="Liberation Sans"/>
              </a:defRPr>
            </a:pPr>
            <a:r>
              <a:t>MÉTIER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Data Science est un processus collectif</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projet data commence par une question et se juge sur un résultat.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J1-014</a:t>
            </a:r>
          </a:p>
        </p:txBody>
      </p:sp>
      <p:cxnSp>
        <p:nvCxnSpPr>
          <p:cNvPr id="12" name="Connector 11"/>
          <p:cNvCxnSpPr/>
          <p:nvPr/>
        </p:nvCxnSpPr>
        <p:spPr>
          <a:xfrm>
            <a:off x="6080760" y="2359152"/>
            <a:ext cx="3262601"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rot="744477">
            <a:off x="7611476" y="2644902"/>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343361" y="3076956"/>
            <a:ext cx="0" cy="1435608"/>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rot="5400000">
            <a:off x="9242777" y="3721608"/>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6080760" y="4512564"/>
            <a:ext cx="3262601"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rot="10055523">
            <a:off x="7611476" y="4798314"/>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flipV="1">
            <a:off x="2818158" y="4512564"/>
            <a:ext cx="3262602"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rot="11544477">
            <a:off x="4348875" y="4798314"/>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818158" y="3076956"/>
            <a:ext cx="0" cy="1435608"/>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rot="16200000">
            <a:off x="2717574" y="3721608"/>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2818158" y="2359152"/>
            <a:ext cx="3262602" cy="717804"/>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rot="20855523">
            <a:off x="4348875" y="2644902"/>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19472" y="195681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1768" y="201168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Cadrer</a:t>
            </a:r>
          </a:p>
        </p:txBody>
      </p:sp>
      <p:sp>
        <p:nvSpPr>
          <p:cNvPr id="26" name="TextBox 25"/>
          <p:cNvSpPr txBox="1"/>
          <p:nvPr/>
        </p:nvSpPr>
        <p:spPr>
          <a:xfrm>
            <a:off x="5001768" y="2322576"/>
            <a:ext cx="2157984" cy="329184"/>
          </a:xfrm>
          <a:prstGeom prst="rect">
            <a:avLst/>
          </a:prstGeom>
          <a:noFill/>
        </p:spPr>
        <p:txBody>
          <a:bodyPr wrap="square" lIns="22860" rIns="22860" tIns="22860" bIns="22860" anchor="ctr">
            <a:spAutoFit/>
          </a:bodyPr>
          <a:lstStyle/>
          <a:p>
            <a:pPr algn="ctr">
              <a:spcBef>
                <a:spcPts val="0"/>
              </a:spcBef>
              <a:spcAft>
                <a:spcPts val="300"/>
              </a:spcAft>
              <a:defRPr sz="1350" b="0">
                <a:solidFill>
                  <a:srgbClr val="0D0D0D"/>
                </a:solidFill>
                <a:latin typeface="Liberation Sans"/>
              </a:defRPr>
            </a:pPr>
            <a:r>
              <a:t>Décision et hypothèse</a:t>
            </a:r>
          </a:p>
        </p:txBody>
      </p:sp>
      <p:sp>
        <p:nvSpPr>
          <p:cNvPr id="27" name="Rounded Rectangle 26"/>
          <p:cNvSpPr/>
          <p:nvPr/>
        </p:nvSpPr>
        <p:spPr>
          <a:xfrm>
            <a:off x="8182073"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4369"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Préparer</a:t>
            </a:r>
          </a:p>
        </p:txBody>
      </p:sp>
      <p:sp>
        <p:nvSpPr>
          <p:cNvPr id="29" name="TextBox 28"/>
          <p:cNvSpPr txBox="1"/>
          <p:nvPr/>
        </p:nvSpPr>
        <p:spPr>
          <a:xfrm>
            <a:off x="8264369"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Données et qualité</a:t>
            </a:r>
          </a:p>
        </p:txBody>
      </p:sp>
      <p:sp>
        <p:nvSpPr>
          <p:cNvPr id="30" name="Rounded Rectangle 29"/>
          <p:cNvSpPr/>
          <p:nvPr/>
        </p:nvSpPr>
        <p:spPr>
          <a:xfrm>
            <a:off x="8182073"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4369"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Comparer</a:t>
            </a:r>
          </a:p>
        </p:txBody>
      </p:sp>
      <p:sp>
        <p:nvSpPr>
          <p:cNvPr id="32" name="TextBox 31"/>
          <p:cNvSpPr txBox="1"/>
          <p:nvPr/>
        </p:nvSpPr>
        <p:spPr>
          <a:xfrm>
            <a:off x="8264369"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500" b="0">
                <a:solidFill>
                  <a:srgbClr val="0D0D0D"/>
                </a:solidFill>
                <a:latin typeface="Liberation Sans"/>
              </a:defRPr>
            </a:pPr>
            <a:r>
              <a:t>Référence et modèle</a:t>
            </a:r>
          </a:p>
        </p:txBody>
      </p:sp>
      <p:sp>
        <p:nvSpPr>
          <p:cNvPr id="33" name="Rounded Rectangle 32"/>
          <p:cNvSpPr/>
          <p:nvPr/>
        </p:nvSpPr>
        <p:spPr>
          <a:xfrm>
            <a:off x="4919472" y="4828032"/>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01768" y="4882896"/>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Intégrer</a:t>
            </a:r>
          </a:p>
        </p:txBody>
      </p:sp>
      <p:sp>
        <p:nvSpPr>
          <p:cNvPr id="35" name="TextBox 34"/>
          <p:cNvSpPr txBox="1"/>
          <p:nvPr/>
        </p:nvSpPr>
        <p:spPr>
          <a:xfrm>
            <a:off x="5001768" y="5193792"/>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Application et utilisateurs</a:t>
            </a:r>
          </a:p>
        </p:txBody>
      </p:sp>
      <p:sp>
        <p:nvSpPr>
          <p:cNvPr id="36" name="Rounded Rectangle 35"/>
          <p:cNvSpPr/>
          <p:nvPr/>
        </p:nvSpPr>
        <p:spPr>
          <a:xfrm>
            <a:off x="1656870"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39166"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Mesurer</a:t>
            </a:r>
          </a:p>
        </p:txBody>
      </p:sp>
      <p:sp>
        <p:nvSpPr>
          <p:cNvPr id="38" name="TextBox 37"/>
          <p:cNvSpPr txBox="1"/>
          <p:nvPr/>
        </p:nvSpPr>
        <p:spPr>
          <a:xfrm>
            <a:off x="1739166"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Résultat et erreurs</a:t>
            </a:r>
          </a:p>
        </p:txBody>
      </p:sp>
      <p:sp>
        <p:nvSpPr>
          <p:cNvPr id="39" name="Rounded Rectangle 38"/>
          <p:cNvSpPr/>
          <p:nvPr/>
        </p:nvSpPr>
        <p:spPr>
          <a:xfrm>
            <a:off x="1656870"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9166"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Réviser</a:t>
            </a:r>
          </a:p>
        </p:txBody>
      </p:sp>
      <p:sp>
        <p:nvSpPr>
          <p:cNvPr id="41" name="TextBox 40"/>
          <p:cNvSpPr txBox="1"/>
          <p:nvPr/>
        </p:nvSpPr>
        <p:spPr>
          <a:xfrm>
            <a:off x="1739166"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Contexte et limites</a:t>
            </a:r>
          </a:p>
        </p:txBody>
      </p:sp>
      <p:sp>
        <p:nvSpPr>
          <p:cNvPr id="42" name="Oval 41"/>
          <p:cNvSpPr/>
          <p:nvPr/>
        </p:nvSpPr>
        <p:spPr>
          <a:xfrm>
            <a:off x="5074920" y="3136392"/>
            <a:ext cx="2011680" cy="1316736"/>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236976"/>
            <a:ext cx="1810512" cy="111556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DÉCISION</a:t>
            </a:r>
          </a:p>
          <a:p>
            <a:pPr algn="ctr">
              <a:spcBef>
                <a:spcPts val="0"/>
              </a:spcBef>
              <a:spcAft>
                <a:spcPts val="300"/>
              </a:spcAft>
              <a:defRPr sz="2300" b="1">
                <a:solidFill>
                  <a:srgbClr val="FFFFFF"/>
                </a:solidFill>
                <a:latin typeface="Liberation Sans"/>
              </a:defRPr>
            </a:pPr>
            <a:r>
              <a:t>MÉTIER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Entraînement, inférence, décision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score n’a pas de politique commerciale implicite.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S02 · S30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J1-015</a:t>
            </a:r>
          </a:p>
        </p:txBody>
      </p:sp>
      <p:sp>
        <p:nvSpPr>
          <p:cNvPr id="12" name="Rounded Rectangle 11"/>
          <p:cNvSpPr/>
          <p:nvPr/>
        </p:nvSpPr>
        <p:spPr>
          <a:xfrm>
            <a:off x="594360"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Entraînement</a:t>
            </a:r>
          </a:p>
        </p:txBody>
      </p:sp>
      <p:sp>
        <p:nvSpPr>
          <p:cNvPr id="16" name="TextBox 15"/>
          <p:cNvSpPr txBox="1"/>
          <p:nvPr/>
        </p:nvSpPr>
        <p:spPr>
          <a:xfrm>
            <a:off x="758952"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Historique + réponses → paramètres</a:t>
            </a:r>
          </a:p>
        </p:txBody>
      </p:sp>
      <p:sp>
        <p:nvSpPr>
          <p:cNvPr id="17" name="Chevron 16"/>
          <p:cNvSpPr/>
          <p:nvPr/>
        </p:nvSpPr>
        <p:spPr>
          <a:xfrm>
            <a:off x="4122419"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55592"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559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9328"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4529328"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Inférence</a:t>
            </a:r>
          </a:p>
        </p:txBody>
      </p:sp>
      <p:sp>
        <p:nvSpPr>
          <p:cNvPr id="22" name="TextBox 21"/>
          <p:cNvSpPr txBox="1"/>
          <p:nvPr/>
        </p:nvSpPr>
        <p:spPr>
          <a:xfrm>
            <a:off x="4520184"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Nouvelle observation → score</a:t>
            </a:r>
          </a:p>
        </p:txBody>
      </p:sp>
      <p:sp>
        <p:nvSpPr>
          <p:cNvPr id="23" name="Chevron 22"/>
          <p:cNvSpPr/>
          <p:nvPr/>
        </p:nvSpPr>
        <p:spPr>
          <a:xfrm>
            <a:off x="7883651"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6824"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6824"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056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8290560"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Décision</a:t>
            </a:r>
          </a:p>
        </p:txBody>
      </p:sp>
      <p:sp>
        <p:nvSpPr>
          <p:cNvPr id="28" name="TextBox 27"/>
          <p:cNvSpPr txBox="1"/>
          <p:nvPr/>
        </p:nvSpPr>
        <p:spPr>
          <a:xfrm>
            <a:off x="8281416"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Score + règles + capacité →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Ce qui est disponible au moment de décider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Chaque variable doit exister avant la décision à améliorer.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J1-016</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Avant t₀</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Historique observé</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t₀</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Calcul du score</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Après t₀</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Résiliation éventuelle</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t₀ + 30 j</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Mesure de la cible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Généraliser plutôt que mémoriser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performance utile se mesure sur des situations non utilisées pour choisir.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J1-017</a:t>
            </a:r>
          </a:p>
        </p:txBody>
      </p:sp>
      <p:cxnSp>
        <p:nvCxnSpPr>
          <p:cNvPr id="12" name="Connector 11"/>
          <p:cNvCxnSpPr/>
          <p:nvPr/>
        </p:nvCxnSpPr>
        <p:spPr>
          <a:xfrm>
            <a:off x="749808" y="4343400"/>
            <a:ext cx="3337560" cy="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8" y="2057400"/>
            <a:ext cx="0" cy="228600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47724" y="3897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5855" y="391348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03985" y="34285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682115" y="37361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960244" y="329094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38375" y="324405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516505" y="3319880"/>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794635" y="280328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72765" y="310114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350894" y="270301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29025" y="2591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74980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9491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001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511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021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531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20420"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552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1062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5572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0082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4593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91033"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33613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38123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634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7144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51654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561646"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60674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5185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9695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4205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78715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832259"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87736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92246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96756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01266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05777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102872"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14797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19307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23817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28328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32838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373485"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41858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46369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50879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55389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59899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64409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689200"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73430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277940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82450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286960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291471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2959813"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00491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05001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09512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14022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18532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230426"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27552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32063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336573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41083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345593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3501039"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3546142"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591244"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636346"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681448"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726550"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771652"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816755"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3861857"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3906959"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3952061"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3997163" y="3429000"/>
            <a:ext cx="45102"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4042265" y="3429000"/>
            <a:ext cx="45103" cy="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9808" y="4599432"/>
            <a:ext cx="3337560" cy="411480"/>
          </a:xfrm>
          <a:prstGeom prst="rect">
            <a:avLst/>
          </a:prstGeom>
          <a:noFill/>
        </p:spPr>
        <p:txBody>
          <a:bodyPr wrap="square" lIns="22860" rIns="22860" tIns="22860" bIns="22860" anchor="ctr">
            <a:spAutoFit/>
          </a:bodyPr>
          <a:lstStyle/>
          <a:p>
            <a:pPr algn="ctr">
              <a:spcBef>
                <a:spcPts val="0"/>
              </a:spcBef>
              <a:spcAft>
                <a:spcPts val="300"/>
              </a:spcAft>
              <a:defRPr sz="2400" b="1">
                <a:solidFill>
                  <a:srgbClr val="23468C"/>
                </a:solidFill>
                <a:latin typeface="Liberation Sans"/>
              </a:defRPr>
            </a:pPr>
            <a:r>
              <a:t>Trop simple</a:t>
            </a:r>
          </a:p>
        </p:txBody>
      </p:sp>
      <p:sp>
        <p:nvSpPr>
          <p:cNvPr id="100" name="TextBox 99"/>
          <p:cNvSpPr txBox="1"/>
          <p:nvPr/>
        </p:nvSpPr>
        <p:spPr>
          <a:xfrm>
            <a:off x="749808" y="5047488"/>
            <a:ext cx="3337560" cy="475488"/>
          </a:xfrm>
          <a:prstGeom prst="rect">
            <a:avLst/>
          </a:prstGeom>
          <a:noFill/>
        </p:spPr>
        <p:txBody>
          <a:bodyPr wrap="square" lIns="22860" rIns="22860" tIns="22860" bIns="22860" anchor="ctr">
            <a:spAutoFit/>
          </a:bodyPr>
          <a:lstStyle/>
          <a:p>
            <a:pPr algn="ctr">
              <a:spcBef>
                <a:spcPts val="0"/>
              </a:spcBef>
              <a:spcAft>
                <a:spcPts val="300"/>
              </a:spcAft>
              <a:defRPr sz="1850" b="0">
                <a:solidFill>
                  <a:srgbClr val="0D0D0D"/>
                </a:solidFill>
                <a:latin typeface="Liberation Sans"/>
              </a:defRPr>
            </a:pPr>
            <a:r>
              <a:t>La tendance est manquée</a:t>
            </a:r>
          </a:p>
        </p:txBody>
      </p:sp>
      <p:cxnSp>
        <p:nvCxnSpPr>
          <p:cNvPr id="101" name="Connector 100"/>
          <p:cNvCxnSpPr/>
          <p:nvPr/>
        </p:nvCxnSpPr>
        <p:spPr>
          <a:xfrm>
            <a:off x="4526280" y="4343400"/>
            <a:ext cx="3337560" cy="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526280" y="2057400"/>
            <a:ext cx="0" cy="228600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4624197" y="3897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902327" y="391348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5180457" y="34285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5458587" y="37361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736717" y="329094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6014847" y="324405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6292977" y="3319880"/>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571107" y="280328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849237" y="310114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7127367" y="270301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7405497" y="2591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4" name="Connector 113"/>
          <p:cNvCxnSpPr/>
          <p:nvPr/>
        </p:nvCxnSpPr>
        <p:spPr>
          <a:xfrm flipV="1">
            <a:off x="4526280" y="398042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571382" y="396034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4616484" y="394026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4661586" y="3920181"/>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4706688" y="3900101"/>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4751790" y="3880021"/>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4796892" y="3859941"/>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4841995" y="3839862"/>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4887097" y="381978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4932199" y="379970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977301" y="377962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5022403" y="3759543"/>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5067505" y="3739463"/>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5112608" y="3719383"/>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157710" y="3699304"/>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202812" y="367922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247914" y="365914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293016" y="363906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5338118" y="3618985"/>
            <a:ext cx="45103"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5383221" y="359890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5428323" y="357882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5473425" y="355874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5518527" y="3538666"/>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5563629" y="3518586"/>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608731" y="3498506"/>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653834" y="3478427"/>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698936" y="345834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744038" y="343826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789140" y="341818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834242" y="3398108"/>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879344" y="3378028"/>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5924447" y="3357948"/>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969549" y="3337868"/>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6014651" y="3317789"/>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059753" y="3297709"/>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104855" y="3277629"/>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149957" y="3257550"/>
            <a:ext cx="45103"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195060" y="323747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240162" y="321739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6285264" y="3197310"/>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330366" y="3177231"/>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6375468" y="3157151"/>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6420570" y="3137071"/>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6465672" y="3116991"/>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6510775" y="3096912"/>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6555877" y="307683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6600979" y="305675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6646081" y="3036672"/>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6691183" y="3016593"/>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6736285" y="2996513"/>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781388" y="2976433"/>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6826490" y="2956354"/>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6871592" y="293627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6916694" y="291619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6961796" y="2896114"/>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006898" y="2876035"/>
            <a:ext cx="45103"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052001" y="285595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7097103" y="283587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7142205" y="2815795"/>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7187307" y="2795716"/>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7232409" y="2775636"/>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7277511" y="2755556"/>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7322614" y="2735477"/>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7367716" y="271539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7412818" y="269531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7457920" y="2675237"/>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7503022" y="2655158"/>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7548124" y="2635078"/>
            <a:ext cx="45103"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7593227" y="2614998"/>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7638329" y="2594918"/>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7683431" y="2574839"/>
            <a:ext cx="45102"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7728533" y="2554759"/>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7773635" y="2534679"/>
            <a:ext cx="45102" cy="200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7818737" y="2514600"/>
            <a:ext cx="45103" cy="2007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4526280" y="4599432"/>
            <a:ext cx="3337560" cy="411480"/>
          </a:xfrm>
          <a:prstGeom prst="rect">
            <a:avLst/>
          </a:prstGeom>
          <a:noFill/>
        </p:spPr>
        <p:txBody>
          <a:bodyPr wrap="square" lIns="22860" rIns="22860" tIns="22860" bIns="22860" anchor="ctr">
            <a:spAutoFit/>
          </a:bodyPr>
          <a:lstStyle/>
          <a:p>
            <a:pPr algn="ctr">
              <a:spcBef>
                <a:spcPts val="0"/>
              </a:spcBef>
              <a:spcAft>
                <a:spcPts val="300"/>
              </a:spcAft>
              <a:defRPr sz="2400" b="1">
                <a:solidFill>
                  <a:srgbClr val="23468C"/>
                </a:solidFill>
                <a:latin typeface="Liberation Sans"/>
              </a:defRPr>
            </a:pPr>
            <a:r>
              <a:t>Ajusté</a:t>
            </a:r>
          </a:p>
        </p:txBody>
      </p:sp>
      <p:sp>
        <p:nvSpPr>
          <p:cNvPr id="189" name="TextBox 188"/>
          <p:cNvSpPr txBox="1"/>
          <p:nvPr/>
        </p:nvSpPr>
        <p:spPr>
          <a:xfrm>
            <a:off x="4526280" y="5047488"/>
            <a:ext cx="3337560" cy="475488"/>
          </a:xfrm>
          <a:prstGeom prst="rect">
            <a:avLst/>
          </a:prstGeom>
          <a:noFill/>
        </p:spPr>
        <p:txBody>
          <a:bodyPr wrap="square" lIns="22860" rIns="22860" tIns="22860" bIns="22860" anchor="ctr">
            <a:spAutoFit/>
          </a:bodyPr>
          <a:lstStyle/>
          <a:p>
            <a:pPr algn="ctr">
              <a:spcBef>
                <a:spcPts val="0"/>
              </a:spcBef>
              <a:spcAft>
                <a:spcPts val="300"/>
              </a:spcAft>
              <a:defRPr sz="1700" b="0">
                <a:solidFill>
                  <a:srgbClr val="0D0D0D"/>
                </a:solidFill>
                <a:latin typeface="Liberation Sans"/>
              </a:defRPr>
            </a:pPr>
            <a:r>
              <a:t>La structure utile est captée</a:t>
            </a:r>
          </a:p>
        </p:txBody>
      </p:sp>
      <p:cxnSp>
        <p:nvCxnSpPr>
          <p:cNvPr id="190" name="Connector 189"/>
          <p:cNvCxnSpPr/>
          <p:nvPr/>
        </p:nvCxnSpPr>
        <p:spPr>
          <a:xfrm>
            <a:off x="8302752" y="4343400"/>
            <a:ext cx="3337560" cy="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8302752" y="2057400"/>
            <a:ext cx="0" cy="2286000"/>
          </a:xfrm>
          <a:prstGeom prst="line">
            <a:avLst/>
          </a:prstGeom>
          <a:ln w="12700">
            <a:solidFill>
              <a:srgbClr val="D9E1EB"/>
            </a:solidFill>
          </a:ln>
        </p:spPr>
        <p:style>
          <a:lnRef idx="2">
            <a:schemeClr val="accent1"/>
          </a:lnRef>
          <a:fillRef idx="0">
            <a:schemeClr val="accent1"/>
          </a:fillRef>
          <a:effectRef idx="1">
            <a:schemeClr val="accent1"/>
          </a:effectRef>
          <a:fontRef idx="minor">
            <a:schemeClr val="tx1"/>
          </a:fontRef>
        </p:style>
      </p:cxnSp>
      <p:sp>
        <p:nvSpPr>
          <p:cNvPr id="192" name="Oval 191"/>
          <p:cNvSpPr/>
          <p:nvPr/>
        </p:nvSpPr>
        <p:spPr>
          <a:xfrm>
            <a:off x="8400669" y="3897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8678799" y="391348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8956929" y="34285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9235059" y="3736123"/>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9513189" y="329094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9791319" y="324405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10069449" y="3319880"/>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347579" y="2803288"/>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10625709" y="3101142"/>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10903839" y="2703015"/>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11181969" y="2591439"/>
            <a:ext cx="82296" cy="82296"/>
          </a:xfrm>
          <a:prstGeom prst="ellipse">
            <a:avLst/>
          </a:prstGeom>
          <a:solidFill>
            <a:srgbClr val="58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3" name="Connector 202"/>
          <p:cNvCxnSpPr/>
          <p:nvPr/>
        </p:nvCxnSpPr>
        <p:spPr>
          <a:xfrm flipV="1">
            <a:off x="8302752" y="3816025"/>
            <a:ext cx="45102" cy="18447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8347854" y="3671800"/>
            <a:ext cx="45102" cy="14422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8392956" y="3598219"/>
            <a:ext cx="45102" cy="7358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8438058" y="3598219"/>
            <a:ext cx="45102" cy="1016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8483160" y="3608382"/>
            <a:ext cx="45102" cy="8650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8528262" y="3694885"/>
            <a:ext cx="45102" cy="13674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8573364" y="3831631"/>
            <a:ext cx="45103" cy="14859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618467" y="3980225"/>
            <a:ext cx="45102" cy="11914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663569" y="4099369"/>
            <a:ext cx="45102" cy="55608"/>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8708671" y="4128517"/>
            <a:ext cx="45102" cy="2646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8753773" y="4021552"/>
            <a:ext cx="45102" cy="10696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8798875" y="3855354"/>
            <a:ext cx="45102" cy="166198"/>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8843977" y="3665698"/>
            <a:ext cx="45103" cy="18965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8889080" y="3494103"/>
            <a:ext cx="45102" cy="17159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8934182" y="3377663"/>
            <a:ext cx="45102" cy="11644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8979284" y="3339973"/>
            <a:ext cx="45102" cy="3769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9024386" y="3339973"/>
            <a:ext cx="45102" cy="4537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9069488" y="3385343"/>
            <a:ext cx="45102" cy="11240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9114590" y="3497749"/>
            <a:ext cx="45103" cy="14700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9159693" y="3644754"/>
            <a:ext cx="45102" cy="14069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9204795" y="3785450"/>
            <a:ext cx="45102" cy="9502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9249897" y="3880473"/>
            <a:ext cx="45102" cy="2116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9294999" y="3838858"/>
            <a:ext cx="45102" cy="6278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9340101" y="3702577"/>
            <a:ext cx="45102" cy="13628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9385203" y="3521248"/>
            <a:ext cx="45103" cy="18132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9430306" y="3334351"/>
            <a:ext cx="45102" cy="186897"/>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9475408" y="3182729"/>
            <a:ext cx="45102" cy="151622"/>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9520510" y="3098588"/>
            <a:ext cx="45102" cy="8414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9565612" y="3097612"/>
            <a:ext cx="45102" cy="97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9610714" y="3097612"/>
            <a:ext cx="45102" cy="77512"/>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9655816" y="3175124"/>
            <a:ext cx="45103" cy="13210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9700919" y="3307230"/>
            <a:ext cx="45102" cy="14944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9746021" y="3456670"/>
            <a:ext cx="45102" cy="12527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9791123" y="3581940"/>
            <a:ext cx="45102" cy="65512"/>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836225" y="3632251"/>
            <a:ext cx="45102" cy="1520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9881327" y="3535143"/>
            <a:ext cx="45102" cy="97108"/>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9926429" y="3374986"/>
            <a:ext cx="45103" cy="160157"/>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9971532" y="3186077"/>
            <a:ext cx="45102" cy="18890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10016634" y="3009750"/>
            <a:ext cx="45102" cy="176327"/>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10061736" y="2884261"/>
            <a:ext cx="45102" cy="12548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10106838" y="2835418"/>
            <a:ext cx="45102" cy="4884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0151940" y="2835418"/>
            <a:ext cx="45102" cy="3484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10197042" y="2870262"/>
            <a:ext cx="45102" cy="10508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0242144" y="2975346"/>
            <a:ext cx="45103" cy="14468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0287247" y="3120027"/>
            <a:ext cx="45102" cy="143937"/>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10332349" y="3263964"/>
            <a:ext cx="45102" cy="103037"/>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10377451" y="3367001"/>
            <a:ext cx="45102" cy="3199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0422553" y="3347195"/>
            <a:ext cx="45102" cy="5180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0467655" y="3219369"/>
            <a:ext cx="45102" cy="12782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0512757" y="3041896"/>
            <a:ext cx="45103" cy="17747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0557860" y="2853312"/>
            <a:ext cx="45102" cy="18858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0602962" y="2694872"/>
            <a:ext cx="45102" cy="15844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0648064" y="2600452"/>
            <a:ext cx="45102" cy="9442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0693166" y="2588253"/>
            <a:ext cx="45102" cy="1219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10738268" y="2588253"/>
            <a:ext cx="45102" cy="68092"/>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10783370" y="2656345"/>
            <a:ext cx="45103" cy="12679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10828473" y="2783141"/>
            <a:ext cx="45102" cy="14954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10873575" y="2932681"/>
            <a:ext cx="45102" cy="130754"/>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0918677" y="3063435"/>
            <a:ext cx="45102" cy="7504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0963779" y="3134512"/>
            <a:ext cx="45102" cy="396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1008881" y="3047599"/>
            <a:ext cx="45102" cy="86913"/>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1053983" y="2894101"/>
            <a:ext cx="45103" cy="153498"/>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1099086" y="2706682"/>
            <a:ext cx="45102" cy="18741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1144188" y="2526313"/>
            <a:ext cx="45102" cy="18036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11189290" y="2392238"/>
            <a:ext cx="45102" cy="13407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11234392" y="2332368"/>
            <a:ext cx="45102" cy="59870"/>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11279494" y="2332368"/>
            <a:ext cx="45102" cy="2407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1324596" y="2356444"/>
            <a:ext cx="45103" cy="9721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1369699" y="2453655"/>
            <a:ext cx="45102" cy="141631"/>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1414801" y="2595286"/>
            <a:ext cx="45102" cy="14645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1459903" y="2741742"/>
            <a:ext cx="45102" cy="11050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1505005" y="2852251"/>
            <a:ext cx="45102" cy="42589"/>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11550107" y="2854165"/>
            <a:ext cx="45102" cy="40675"/>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11595209" y="2735269"/>
            <a:ext cx="45103" cy="118896"/>
          </a:xfrm>
          <a:prstGeom prst="line">
            <a:avLst/>
          </a:prstGeom>
          <a:ln w="25400">
            <a:solidFill>
              <a:srgbClr val="F24141"/>
            </a:solidFill>
          </a:ln>
        </p:spPr>
        <p:style>
          <a:lnRef idx="2">
            <a:schemeClr val="accent1"/>
          </a:lnRef>
          <a:fillRef idx="0">
            <a:schemeClr val="accent1"/>
          </a:fillRef>
          <a:effectRef idx="1">
            <a:schemeClr val="accent1"/>
          </a:effectRef>
          <a:fontRef idx="minor">
            <a:schemeClr val="tx1"/>
          </a:fontRef>
        </p:style>
      </p:cxnSp>
      <p:sp>
        <p:nvSpPr>
          <p:cNvPr id="277" name="TextBox 276"/>
          <p:cNvSpPr txBox="1"/>
          <p:nvPr/>
        </p:nvSpPr>
        <p:spPr>
          <a:xfrm>
            <a:off x="8302752" y="4599432"/>
            <a:ext cx="3337560" cy="411480"/>
          </a:xfrm>
          <a:prstGeom prst="rect">
            <a:avLst/>
          </a:prstGeom>
          <a:noFill/>
        </p:spPr>
        <p:txBody>
          <a:bodyPr wrap="square" lIns="22860" rIns="22860" tIns="22860" bIns="22860" anchor="ctr">
            <a:spAutoFit/>
          </a:bodyPr>
          <a:lstStyle/>
          <a:p>
            <a:pPr algn="ctr">
              <a:spcBef>
                <a:spcPts val="0"/>
              </a:spcBef>
              <a:spcAft>
                <a:spcPts val="300"/>
              </a:spcAft>
              <a:defRPr sz="2400" b="1">
                <a:solidFill>
                  <a:srgbClr val="23468C"/>
                </a:solidFill>
                <a:latin typeface="Liberation Sans"/>
              </a:defRPr>
            </a:pPr>
            <a:r>
              <a:t>Trop complexe</a:t>
            </a:r>
          </a:p>
        </p:txBody>
      </p:sp>
      <p:sp>
        <p:nvSpPr>
          <p:cNvPr id="278" name="TextBox 277"/>
          <p:cNvSpPr txBox="1"/>
          <p:nvPr/>
        </p:nvSpPr>
        <p:spPr>
          <a:xfrm>
            <a:off x="8302752" y="5047488"/>
            <a:ext cx="3337560" cy="475488"/>
          </a:xfrm>
          <a:prstGeom prst="rect">
            <a:avLst/>
          </a:prstGeom>
          <a:noFill/>
        </p:spPr>
        <p:txBody>
          <a:bodyPr wrap="square" lIns="22860" rIns="22860" tIns="22860" bIns="22860" anchor="ctr">
            <a:spAutoFit/>
          </a:bodyPr>
          <a:lstStyle/>
          <a:p>
            <a:pPr algn="ctr">
              <a:spcBef>
                <a:spcPts val="0"/>
              </a:spcBef>
              <a:spcAft>
                <a:spcPts val="300"/>
              </a:spcAft>
              <a:defRPr sz="1900" b="0">
                <a:solidFill>
                  <a:srgbClr val="0D0D0D"/>
                </a:solidFill>
                <a:latin typeface="Liberation Sans"/>
              </a:defRPr>
            </a:pPr>
            <a:r>
              <a:t>Le bruit est mémorisé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99 % peut signifier zéro fraude détectée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Exactitude = 9 900 / 10 000. Rappel de la fraude = 0 / 100.</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J1-018</a:t>
            </a:r>
          </a:p>
        </p:txBody>
      </p:sp>
      <p:sp>
        <p:nvSpPr>
          <p:cNvPr id="12" name="TextBox 11"/>
          <p:cNvSpPr txBox="1"/>
          <p:nvPr/>
        </p:nvSpPr>
        <p:spPr>
          <a:xfrm>
            <a:off x="731520" y="1965960"/>
            <a:ext cx="5486400" cy="1508760"/>
          </a:xfrm>
          <a:prstGeom prst="rect">
            <a:avLst/>
          </a:prstGeom>
          <a:noFill/>
        </p:spPr>
        <p:txBody>
          <a:bodyPr wrap="square" lIns="22860" rIns="22860" tIns="22860" bIns="22860" anchor="ctr">
            <a:spAutoFit/>
          </a:bodyPr>
          <a:lstStyle/>
          <a:p>
            <a:pPr>
              <a:spcBef>
                <a:spcPts val="0"/>
              </a:spcBef>
              <a:spcAft>
                <a:spcPts val="300"/>
              </a:spcAft>
              <a:defRPr sz="9300" b="1">
                <a:solidFill>
                  <a:srgbClr val="23468C"/>
                </a:solidFill>
                <a:latin typeface="Liberation Sans"/>
              </a:defRPr>
            </a:pPr>
            <a:r>
              <a:t>99 %</a:t>
            </a:r>
          </a:p>
        </p:txBody>
      </p:sp>
      <p:sp>
        <p:nvSpPr>
          <p:cNvPr id="13" name="TextBox 12"/>
          <p:cNvSpPr txBox="1"/>
          <p:nvPr/>
        </p:nvSpPr>
        <p:spPr>
          <a:xfrm>
            <a:off x="822960" y="3584448"/>
            <a:ext cx="5120640" cy="1051560"/>
          </a:xfrm>
          <a:prstGeom prst="rect">
            <a:avLst/>
          </a:prstGeom>
          <a:noFill/>
        </p:spPr>
        <p:txBody>
          <a:bodyPr wrap="square" lIns="22860" rIns="22860" tIns="22860" bIns="22860" anchor="ctr">
            <a:spAutoFit/>
          </a:bodyPr>
          <a:lstStyle/>
          <a:p>
            <a:pPr>
              <a:spcBef>
                <a:spcPts val="0"/>
              </a:spcBef>
              <a:spcAft>
                <a:spcPts val="300"/>
              </a:spcAft>
              <a:defRPr sz="2800" b="1">
                <a:solidFill>
                  <a:srgbClr val="132443"/>
                </a:solidFill>
                <a:latin typeface="Liberation Sans"/>
              </a:defRPr>
            </a:pPr>
            <a:r>
              <a:t>d’exactitude, malgré un rappel nul</a:t>
            </a:r>
          </a:p>
        </p:txBody>
      </p:sp>
      <p:sp>
        <p:nvSpPr>
          <p:cNvPr id="14" name="Rounded Rectangle 13"/>
          <p:cNvSpPr/>
          <p:nvPr/>
        </p:nvSpPr>
        <p:spPr>
          <a:xfrm>
            <a:off x="6583680" y="186537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6537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9128" y="195681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10 000</a:t>
            </a:r>
          </a:p>
        </p:txBody>
      </p:sp>
      <p:sp>
        <p:nvSpPr>
          <p:cNvPr id="17" name="TextBox 16"/>
          <p:cNvSpPr txBox="1"/>
          <p:nvPr/>
        </p:nvSpPr>
        <p:spPr>
          <a:xfrm>
            <a:off x="6739128" y="226771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paiements fictifs</a:t>
            </a:r>
          </a:p>
        </p:txBody>
      </p:sp>
      <p:sp>
        <p:nvSpPr>
          <p:cNvPr id="18" name="Rounded Rectangle 17"/>
          <p:cNvSpPr/>
          <p:nvPr/>
        </p:nvSpPr>
        <p:spPr>
          <a:xfrm>
            <a:off x="6583680" y="305409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3054096"/>
            <a:ext cx="54864"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314553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100</a:t>
            </a:r>
          </a:p>
        </p:txBody>
      </p:sp>
      <p:sp>
        <p:nvSpPr>
          <p:cNvPr id="21" name="TextBox 20"/>
          <p:cNvSpPr txBox="1"/>
          <p:nvPr/>
        </p:nvSpPr>
        <p:spPr>
          <a:xfrm>
            <a:off x="6739128" y="345643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fraudes réelles</a:t>
            </a:r>
          </a:p>
        </p:txBody>
      </p:sp>
      <p:sp>
        <p:nvSpPr>
          <p:cNvPr id="22" name="Rounded Rectangle 21"/>
          <p:cNvSpPr/>
          <p:nvPr/>
        </p:nvSpPr>
        <p:spPr>
          <a:xfrm>
            <a:off x="6583680" y="424281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0" y="424281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433425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0</a:t>
            </a:r>
          </a:p>
        </p:txBody>
      </p:sp>
      <p:sp>
        <p:nvSpPr>
          <p:cNvPr id="25" name="TextBox 24"/>
          <p:cNvSpPr txBox="1"/>
          <p:nvPr/>
        </p:nvSpPr>
        <p:spPr>
          <a:xfrm>
            <a:off x="6739128" y="464515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fraude détectée par « tout accepter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Quatre issues, quatre conséquences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Précision : fiabilité des alertes. Rappel : couverture des cas réels.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J1-019</a:t>
            </a:r>
          </a:p>
        </p:txBody>
      </p:sp>
      <p:sp>
        <p:nvSpPr>
          <p:cNvPr id="12" name="Rectangle 11"/>
          <p:cNvSpPr/>
          <p:nvPr/>
        </p:nvSpPr>
        <p:spPr>
          <a:xfrm>
            <a:off x="594360" y="1792224"/>
            <a:ext cx="3190067"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p>
        </p:txBody>
      </p:sp>
      <p:sp>
        <p:nvSpPr>
          <p:cNvPr id="14" name="Rectangle 13"/>
          <p:cNvSpPr/>
          <p:nvPr/>
        </p:nvSpPr>
        <p:spPr>
          <a:xfrm>
            <a:off x="3784427" y="1792224"/>
            <a:ext cx="385008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Fraude réelle</a:t>
            </a:r>
          </a:p>
        </p:txBody>
      </p:sp>
      <p:sp>
        <p:nvSpPr>
          <p:cNvPr id="16" name="Rectangle 15"/>
          <p:cNvSpPr/>
          <p:nvPr/>
        </p:nvSpPr>
        <p:spPr>
          <a:xfrm>
            <a:off x="7634508" y="1792224"/>
            <a:ext cx="396008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60350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Paiement légitime</a:t>
            </a:r>
          </a:p>
        </p:txBody>
      </p:sp>
      <p:cxnSp>
        <p:nvCxnSpPr>
          <p:cNvPr id="18" name="Connector 17"/>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78024"/>
            <a:ext cx="3190067"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5191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Alerte</a:t>
            </a:r>
          </a:p>
        </p:txBody>
      </p:sp>
      <p:sp>
        <p:nvSpPr>
          <p:cNvPr id="21" name="Rectangle 20"/>
          <p:cNvSpPr/>
          <p:nvPr/>
        </p:nvSpPr>
        <p:spPr>
          <a:xfrm>
            <a:off x="3784427" y="2478024"/>
            <a:ext cx="385008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519172"/>
            <a:ext cx="3630625"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Vrai positif</a:t>
            </a:r>
          </a:p>
          <a:p>
            <a:pPr>
              <a:spcBef>
                <a:spcPts val="0"/>
              </a:spcBef>
              <a:spcAft>
                <a:spcPts val="300"/>
              </a:spcAft>
              <a:defRPr sz="1850" b="0">
                <a:solidFill>
                  <a:srgbClr val="0D0D0D"/>
                </a:solidFill>
                <a:latin typeface="Liberation Sans"/>
              </a:defRPr>
            </a:pPr>
            <a:r>
              <a:t>Perte potentiellement évitée</a:t>
            </a:r>
          </a:p>
        </p:txBody>
      </p:sp>
      <p:sp>
        <p:nvSpPr>
          <p:cNvPr id="23" name="Rectangle 22"/>
          <p:cNvSpPr/>
          <p:nvPr/>
        </p:nvSpPr>
        <p:spPr>
          <a:xfrm>
            <a:off x="7634508" y="2478024"/>
            <a:ext cx="396008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519172"/>
            <a:ext cx="3740627"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Faux positif</a:t>
            </a:r>
          </a:p>
          <a:p>
            <a:pPr>
              <a:spcBef>
                <a:spcPts val="0"/>
              </a:spcBef>
              <a:spcAft>
                <a:spcPts val="300"/>
              </a:spcAft>
              <a:defRPr sz="1850" b="0">
                <a:solidFill>
                  <a:srgbClr val="0D0D0D"/>
                </a:solidFill>
                <a:latin typeface="Liberation Sans"/>
              </a:defRPr>
            </a:pPr>
            <a:r>
              <a:t>Client gêné ou bloqué</a:t>
            </a:r>
          </a:p>
        </p:txBody>
      </p:sp>
      <p:cxnSp>
        <p:nvCxnSpPr>
          <p:cNvPr id="25" name="Connector 24"/>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63824"/>
            <a:ext cx="3190067"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204972"/>
            <a:ext cx="2970611" cy="60350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Pas d’alerte</a:t>
            </a:r>
          </a:p>
        </p:txBody>
      </p:sp>
      <p:sp>
        <p:nvSpPr>
          <p:cNvPr id="28" name="Rectangle 27"/>
          <p:cNvSpPr/>
          <p:nvPr/>
        </p:nvSpPr>
        <p:spPr>
          <a:xfrm>
            <a:off x="3784427" y="3163824"/>
            <a:ext cx="385008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204972"/>
            <a:ext cx="3630625"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Faux négatif</a:t>
            </a:r>
          </a:p>
          <a:p>
            <a:pPr>
              <a:spcBef>
                <a:spcPts val="0"/>
              </a:spcBef>
              <a:spcAft>
                <a:spcPts val="300"/>
              </a:spcAft>
              <a:defRPr sz="1850" b="0">
                <a:solidFill>
                  <a:srgbClr val="0D0D0D"/>
                </a:solidFill>
                <a:latin typeface="Liberation Sans"/>
              </a:defRPr>
            </a:pPr>
            <a:r>
              <a:t>Fraude manquée</a:t>
            </a:r>
          </a:p>
        </p:txBody>
      </p:sp>
      <p:sp>
        <p:nvSpPr>
          <p:cNvPr id="30" name="Rectangle 29"/>
          <p:cNvSpPr/>
          <p:nvPr/>
        </p:nvSpPr>
        <p:spPr>
          <a:xfrm>
            <a:off x="7634508" y="3163824"/>
            <a:ext cx="396008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204972"/>
            <a:ext cx="3740627" cy="60350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Vrai négatif</a:t>
            </a:r>
          </a:p>
          <a:p>
            <a:pPr>
              <a:spcBef>
                <a:spcPts val="0"/>
              </a:spcBef>
              <a:spcAft>
                <a:spcPts val="300"/>
              </a:spcAft>
              <a:defRPr sz="1850" b="0">
                <a:solidFill>
                  <a:srgbClr val="0D0D0D"/>
                </a:solidFill>
                <a:latin typeface="Liberation Sans"/>
              </a:defRPr>
            </a:pPr>
            <a:r>
              <a:t>Paiement accepté</a:t>
            </a:r>
          </a:p>
        </p:txBody>
      </p:sp>
      <p:cxnSp>
        <p:nvCxnSpPr>
          <p:cNvPr id="32" name="Connector 31"/>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Novalia : une entreprise fictive, un SI concret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cas fil rouge est synthétique et ne représente aucun client.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J1-020</a:t>
            </a:r>
          </a:p>
        </p:txBody>
      </p:sp>
      <p:sp>
        <p:nvSpPr>
          <p:cNvPr id="12" name="Rounded Rectangle 11"/>
          <p:cNvSpPr/>
          <p:nvPr/>
        </p:nvSpPr>
        <p:spPr>
          <a:xfrm>
            <a:off x="5943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CRM</a:t>
            </a:r>
          </a:p>
        </p:txBody>
      </p:sp>
      <p:sp>
        <p:nvSpPr>
          <p:cNvPr id="15" name="TextBox 14"/>
          <p:cNvSpPr txBox="1"/>
          <p:nvPr/>
        </p:nvSpPr>
        <p:spPr>
          <a:xfrm>
            <a:off x="758952"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Clients et interactions</a:t>
            </a:r>
          </a:p>
        </p:txBody>
      </p:sp>
      <p:sp>
        <p:nvSpPr>
          <p:cNvPr id="16" name="Rounded Rectangle 15"/>
          <p:cNvSpPr/>
          <p:nvPr/>
        </p:nvSpPr>
        <p:spPr>
          <a:xfrm>
            <a:off x="43281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938528"/>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ERP</a:t>
            </a:r>
          </a:p>
        </p:txBody>
      </p:sp>
      <p:sp>
        <p:nvSpPr>
          <p:cNvPr id="19" name="TextBox 18"/>
          <p:cNvSpPr txBox="1"/>
          <p:nvPr/>
        </p:nvSpPr>
        <p:spPr>
          <a:xfrm>
            <a:off x="4492752"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Commandes, stock, factures</a:t>
            </a:r>
          </a:p>
        </p:txBody>
      </p:sp>
      <p:sp>
        <p:nvSpPr>
          <p:cNvPr id="20" name="Rounded Rectangle 19"/>
          <p:cNvSpPr/>
          <p:nvPr/>
        </p:nvSpPr>
        <p:spPr>
          <a:xfrm>
            <a:off x="80619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Support</a:t>
            </a:r>
          </a:p>
        </p:txBody>
      </p:sp>
      <p:sp>
        <p:nvSpPr>
          <p:cNvPr id="23" name="TextBox 22"/>
          <p:cNvSpPr txBox="1"/>
          <p:nvPr/>
        </p:nvSpPr>
        <p:spPr>
          <a:xfrm>
            <a:off x="8226551"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Tickets et catégories</a:t>
            </a:r>
          </a:p>
        </p:txBody>
      </p:sp>
      <p:sp>
        <p:nvSpPr>
          <p:cNvPr id="24" name="Rounded Rectangle 23"/>
          <p:cNvSpPr/>
          <p:nvPr/>
        </p:nvSpPr>
        <p:spPr>
          <a:xfrm>
            <a:off x="5943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730752"/>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Web</a:t>
            </a:r>
          </a:p>
        </p:txBody>
      </p:sp>
      <p:sp>
        <p:nvSpPr>
          <p:cNvPr id="27" name="TextBox 26"/>
          <p:cNvSpPr txBox="1"/>
          <p:nvPr/>
        </p:nvSpPr>
        <p:spPr>
          <a:xfrm>
            <a:off x="7589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Navigation et commandes</a:t>
            </a:r>
          </a:p>
        </p:txBody>
      </p:sp>
      <p:sp>
        <p:nvSpPr>
          <p:cNvPr id="28" name="Rounded Rectangle 27"/>
          <p:cNvSpPr/>
          <p:nvPr/>
        </p:nvSpPr>
        <p:spPr>
          <a:xfrm>
            <a:off x="43281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730752"/>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31" name="TextBox 30"/>
          <p:cNvSpPr txBox="1"/>
          <p:nvPr/>
        </p:nvSpPr>
        <p:spPr>
          <a:xfrm>
            <a:off x="44927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Consolidation analytique</a:t>
            </a:r>
          </a:p>
        </p:txBody>
      </p:sp>
      <p:sp>
        <p:nvSpPr>
          <p:cNvPr id="32" name="Rounded Rectangle 31"/>
          <p:cNvSpPr/>
          <p:nvPr/>
        </p:nvSpPr>
        <p:spPr>
          <a:xfrm>
            <a:off x="80619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730752"/>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Partenaires</a:t>
            </a:r>
          </a:p>
        </p:txBody>
      </p:sp>
      <p:sp>
        <p:nvSpPr>
          <p:cNvPr id="35" name="TextBox 34"/>
          <p:cNvSpPr txBox="1"/>
          <p:nvPr/>
        </p:nvSpPr>
        <p:spPr>
          <a:xfrm>
            <a:off x="8226551"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Paiement et livraison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A02 • Dessiner la chaîne de décision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30 minutes • Cahier A02 • Cinq blocs et un responsable.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J1-021</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Mission</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Choisir une décision Novalia à améliorer.</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Production</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Tracer source → préparation → score → action → mesure.</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Contraintes</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Nommer un utilisateur et une donnée indisponible.</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Critère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Chaque flèche doit représenter un échange compréhensible.</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30 MINUTES POUR LA SÉQUENCE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B1</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Débrief : le score doit atteindre quelqu’un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boucle de mesure ferme le système, pas seulement le diagramme.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J1-022</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Historique</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Usage et incidents</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1950" b="1">
                <a:solidFill>
                  <a:srgbClr val="238C33"/>
                </a:solidFill>
                <a:latin typeface="Liberation Sans"/>
              </a:defRPr>
            </a:pPr>
            <a:r>
              <a:t>Préparation</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Variables disponibles</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Score</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Risque de départ</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File CRM</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Cas prioritaires</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Résultat</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Action et départ observé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468C"/>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1  /  B2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02 • Les données créent de la valeur quand une action change</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Décision</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Résultat mesurable</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Modèle économique</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2 heures • 90 minutes de travaux pratiques</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Six mécanismes de création de valeur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Associer un indicateur principal à un indicateur de protection.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J1-024</a:t>
            </a:r>
          </a:p>
        </p:txBody>
      </p:sp>
      <p:cxnSp>
        <p:nvCxnSpPr>
          <p:cNvPr id="12" name="Connector 11"/>
          <p:cNvCxnSpPr/>
          <p:nvPr/>
        </p:nvCxnSpPr>
        <p:spPr>
          <a:xfrm flipV="1">
            <a:off x="6080760" y="2359152"/>
            <a:ext cx="0" cy="143560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19472" y="195681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1768" y="201168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Revenus</a:t>
            </a:r>
          </a:p>
        </p:txBody>
      </p:sp>
      <p:sp>
        <p:nvSpPr>
          <p:cNvPr id="15" name="TextBox 14"/>
          <p:cNvSpPr txBox="1"/>
          <p:nvPr/>
        </p:nvSpPr>
        <p:spPr>
          <a:xfrm>
            <a:off x="5001768" y="2322576"/>
            <a:ext cx="2157984" cy="329184"/>
          </a:xfrm>
          <a:prstGeom prst="rect">
            <a:avLst/>
          </a:prstGeom>
          <a:noFill/>
        </p:spPr>
        <p:txBody>
          <a:bodyPr wrap="square" lIns="22860" rIns="22860" tIns="22860" bIns="22860" anchor="ctr">
            <a:spAutoFit/>
          </a:bodyPr>
          <a:lstStyle/>
          <a:p>
            <a:pPr algn="ctr">
              <a:spcBef>
                <a:spcPts val="0"/>
              </a:spcBef>
              <a:spcAft>
                <a:spcPts val="300"/>
              </a:spcAft>
              <a:defRPr sz="1500" b="0">
                <a:solidFill>
                  <a:srgbClr val="0D0D0D"/>
                </a:solidFill>
                <a:latin typeface="Liberation Sans"/>
              </a:defRPr>
            </a:pPr>
            <a:r>
              <a:t>Mieux recommander</a:t>
            </a:r>
          </a:p>
        </p:txBody>
      </p:sp>
      <p:cxnSp>
        <p:nvCxnSpPr>
          <p:cNvPr id="16" name="Connector 15"/>
          <p:cNvCxnSpPr/>
          <p:nvPr/>
        </p:nvCxnSpPr>
        <p:spPr>
          <a:xfrm flipV="1">
            <a:off x="6080760" y="3076956"/>
            <a:ext cx="3262601" cy="717804"/>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182073"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4369"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Coûts</a:t>
            </a:r>
          </a:p>
        </p:txBody>
      </p:sp>
      <p:sp>
        <p:nvSpPr>
          <p:cNvPr id="19" name="TextBox 18"/>
          <p:cNvSpPr txBox="1"/>
          <p:nvPr/>
        </p:nvSpPr>
        <p:spPr>
          <a:xfrm>
            <a:off x="8264369"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Mieux planifier</a:t>
            </a:r>
          </a:p>
        </p:txBody>
      </p:sp>
      <p:cxnSp>
        <p:nvCxnSpPr>
          <p:cNvPr id="20" name="Connector 19"/>
          <p:cNvCxnSpPr/>
          <p:nvPr/>
        </p:nvCxnSpPr>
        <p:spPr>
          <a:xfrm>
            <a:off x="6080760" y="3794760"/>
            <a:ext cx="3262601" cy="717804"/>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82073"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4369"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Risque</a:t>
            </a:r>
          </a:p>
        </p:txBody>
      </p:sp>
      <p:sp>
        <p:nvSpPr>
          <p:cNvPr id="23" name="TextBox 22"/>
          <p:cNvSpPr txBox="1"/>
          <p:nvPr/>
        </p:nvSpPr>
        <p:spPr>
          <a:xfrm>
            <a:off x="8264369"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Mieux détecter</a:t>
            </a:r>
          </a:p>
        </p:txBody>
      </p:sp>
      <p:cxnSp>
        <p:nvCxnSpPr>
          <p:cNvPr id="24" name="Connector 23"/>
          <p:cNvCxnSpPr/>
          <p:nvPr/>
        </p:nvCxnSpPr>
        <p:spPr>
          <a:xfrm>
            <a:off x="6080760" y="3794760"/>
            <a:ext cx="0" cy="1435608"/>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919472" y="4828032"/>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01768" y="4882896"/>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Expérience</a:t>
            </a:r>
          </a:p>
        </p:txBody>
      </p:sp>
      <p:sp>
        <p:nvSpPr>
          <p:cNvPr id="27" name="TextBox 26"/>
          <p:cNvSpPr txBox="1"/>
          <p:nvPr/>
        </p:nvSpPr>
        <p:spPr>
          <a:xfrm>
            <a:off x="5001768" y="5193792"/>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Mieux orienter</a:t>
            </a:r>
          </a:p>
        </p:txBody>
      </p:sp>
      <p:cxnSp>
        <p:nvCxnSpPr>
          <p:cNvPr id="28" name="Connector 27"/>
          <p:cNvCxnSpPr/>
          <p:nvPr/>
        </p:nvCxnSpPr>
        <p:spPr>
          <a:xfrm flipH="1">
            <a:off x="2818158" y="3794760"/>
            <a:ext cx="3262602" cy="717804"/>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656870" y="4110228"/>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39166" y="4165092"/>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Service</a:t>
            </a:r>
          </a:p>
        </p:txBody>
      </p:sp>
      <p:sp>
        <p:nvSpPr>
          <p:cNvPr id="31" name="TextBox 30"/>
          <p:cNvSpPr txBox="1"/>
          <p:nvPr/>
        </p:nvSpPr>
        <p:spPr>
          <a:xfrm>
            <a:off x="1739166" y="4475988"/>
            <a:ext cx="2157984" cy="329184"/>
          </a:xfrm>
          <a:prstGeom prst="rect">
            <a:avLst/>
          </a:prstGeom>
          <a:noFill/>
        </p:spPr>
        <p:txBody>
          <a:bodyPr wrap="square" lIns="22860" rIns="22860" tIns="22860" bIns="22860" anchor="ctr">
            <a:spAutoFit/>
          </a:bodyPr>
          <a:lstStyle/>
          <a:p>
            <a:pPr algn="ctr">
              <a:spcBef>
                <a:spcPts val="0"/>
              </a:spcBef>
              <a:spcAft>
                <a:spcPts val="300"/>
              </a:spcAft>
              <a:defRPr sz="1500" b="0">
                <a:solidFill>
                  <a:srgbClr val="0D0D0D"/>
                </a:solidFill>
                <a:latin typeface="Liberation Sans"/>
              </a:defRPr>
            </a:pPr>
            <a:r>
              <a:t>Mieux accompagner</a:t>
            </a:r>
          </a:p>
        </p:txBody>
      </p:sp>
      <p:cxnSp>
        <p:nvCxnSpPr>
          <p:cNvPr id="32" name="Connector 31"/>
          <p:cNvCxnSpPr/>
          <p:nvPr/>
        </p:nvCxnSpPr>
        <p:spPr>
          <a:xfrm flipH="1" flipV="1">
            <a:off x="2818158" y="3076956"/>
            <a:ext cx="3262602" cy="717804"/>
          </a:xfrm>
          <a:prstGeom prst="line">
            <a:avLst/>
          </a:prstGeom>
          <a:ln w="2540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656870" y="2674620"/>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39166" y="2729484"/>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Écosystème</a:t>
            </a:r>
          </a:p>
        </p:txBody>
      </p:sp>
      <p:sp>
        <p:nvSpPr>
          <p:cNvPr id="35" name="TextBox 34"/>
          <p:cNvSpPr txBox="1"/>
          <p:nvPr/>
        </p:nvSpPr>
        <p:spPr>
          <a:xfrm>
            <a:off x="1739166" y="3040380"/>
            <a:ext cx="2157984" cy="329184"/>
          </a:xfrm>
          <a:prstGeom prst="rect">
            <a:avLst/>
          </a:prstGeom>
          <a:noFill/>
        </p:spPr>
        <p:txBody>
          <a:bodyPr wrap="square" lIns="22860" rIns="22860" tIns="22860" bIns="22860" anchor="ctr">
            <a:spAutoFit/>
          </a:bodyPr>
          <a:lstStyle/>
          <a:p>
            <a:pPr algn="ctr">
              <a:spcBef>
                <a:spcPts val="0"/>
              </a:spcBef>
              <a:spcAft>
                <a:spcPts val="300"/>
              </a:spcAft>
              <a:defRPr sz="1600" b="0">
                <a:solidFill>
                  <a:srgbClr val="0D0D0D"/>
                </a:solidFill>
                <a:latin typeface="Liberation Sans"/>
              </a:defRPr>
            </a:pPr>
            <a:r>
              <a:t>Mieux partager</a:t>
            </a:r>
          </a:p>
        </p:txBody>
      </p:sp>
      <p:sp>
        <p:nvSpPr>
          <p:cNvPr id="36" name="Oval 35"/>
          <p:cNvSpPr/>
          <p:nvPr/>
        </p:nvSpPr>
        <p:spPr>
          <a:xfrm>
            <a:off x="5074920" y="3136392"/>
            <a:ext cx="2011680" cy="1316736"/>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3236976"/>
            <a:ext cx="1810512" cy="1115568"/>
          </a:xfrm>
          <a:prstGeom prst="rect">
            <a:avLst/>
          </a:prstGeom>
          <a:noFill/>
        </p:spPr>
        <p:txBody>
          <a:bodyPr wrap="square" lIns="22860" rIns="22860" tIns="22860" bIns="22860" anchor="ctr">
            <a:spAutoFit/>
          </a:bodyPr>
          <a:lstStyle/>
          <a:p>
            <a:pPr algn="ctr">
              <a:spcBef>
                <a:spcPts val="0"/>
              </a:spcBef>
              <a:spcAft>
                <a:spcPts val="300"/>
              </a:spcAft>
              <a:defRPr sz="2100" b="1">
                <a:solidFill>
                  <a:srgbClr val="FFFFFF"/>
                </a:solidFill>
                <a:latin typeface="Liberation Sans"/>
              </a:defRPr>
            </a:pPr>
            <a:r>
              <a:t>DONNÉES</a:t>
            </a:r>
          </a:p>
          <a:p>
            <a:pPr algn="ctr">
              <a:spcBef>
                <a:spcPts val="0"/>
              </a:spcBef>
              <a:spcAft>
                <a:spcPts val="300"/>
              </a:spcAft>
              <a:defRPr sz="2100" b="1">
                <a:solidFill>
                  <a:srgbClr val="FFFFFF"/>
                </a:solidFill>
                <a:latin typeface="Liberation Sans"/>
              </a:defRPr>
            </a:pPr>
            <a:r>
              <a:t>MAÎTRISÉES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valeur n’est pas stockée dans le fichier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causalité métier ne se déduit pas d’un score prédictif.</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J1-025</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Donnée</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signal disponible</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Analyse</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650" b="0">
                <a:solidFill>
                  <a:srgbClr val="0D0D0D"/>
                </a:solidFill>
                <a:latin typeface="Liberation Sans"/>
              </a:defRPr>
            </a:pPr>
            <a:r>
              <a:t>Une interprétation</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Décision</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choix possible</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Action</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Un changement réel</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Impact</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résultat attribuable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Coût complet : regarder au-delà du modèle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coût d’un système IA se mesure sur son cycle de vie.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J1-026</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Construire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Cadrage, collecte, préparation, intégration.</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Exploiter</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Calcul, supervision, mises à jour, incidents.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Faire adopter</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Formation, processus, support, accompagnement.</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Gouverner</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Sécurité, droits, contrats, réversibilité.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Netflix : une recommandation est un système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documenté • Entreprise : Netflix • Publication scientifique historique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J1-027</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Besoin</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Aider une personne à trouver un contenu pertinent.</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Mécanisme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Plusieurs algorithmes, sélection et classement.</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Validation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Relier l’expérience à l’expérimentation.</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Limite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Article de 2015, pas photographie complète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Du catalogue à la liste recommandée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Architecture pédagogique, non schéma propriétaire de Netflix.</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J1-028</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Candidats</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Quels contenus considérer ?</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Scores</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pertinence estimée ?</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1900" b="1">
                <a:solidFill>
                  <a:srgbClr val="23468C"/>
                </a:solidFill>
                <a:latin typeface="Liberation Sans"/>
              </a:defRPr>
            </a:pPr>
            <a:r>
              <a:t>Classement</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Dans quel ordre ?</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1950" b="1">
                <a:solidFill>
                  <a:srgbClr val="238C33"/>
                </a:solidFill>
                <a:latin typeface="Liberation Sans"/>
              </a:defRPr>
            </a:pPr>
            <a:r>
              <a:t>Contraintes</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Diversité et disponibilité</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Interface</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Ce qui est réellement vu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Google Play : mémoriser et généraliser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documenté • 2016 • L’expérimentation départage les approches.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J1-029</a:t>
            </a:r>
          </a:p>
        </p:txBody>
      </p:sp>
      <p:sp>
        <p:nvSpPr>
          <p:cNvPr id="12" name="Rounded Rectangle 11"/>
          <p:cNvSpPr/>
          <p:nvPr/>
        </p:nvSpPr>
        <p:spPr>
          <a:xfrm>
            <a:off x="594360"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Voie large</a:t>
            </a:r>
          </a:p>
        </p:txBody>
      </p:sp>
      <p:sp>
        <p:nvSpPr>
          <p:cNvPr id="16" name="TextBox 15"/>
          <p:cNvSpPr txBox="1"/>
          <p:nvPr/>
        </p:nvSpPr>
        <p:spPr>
          <a:xfrm>
            <a:off x="758952"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Associations de caractéristiques déjà utiles.</a:t>
            </a:r>
          </a:p>
        </p:txBody>
      </p:sp>
      <p:sp>
        <p:nvSpPr>
          <p:cNvPr id="17" name="Chevron 16"/>
          <p:cNvSpPr/>
          <p:nvPr/>
        </p:nvSpPr>
        <p:spPr>
          <a:xfrm>
            <a:off x="4122419"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55592"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559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9328"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4529328"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Voie profonde</a:t>
            </a:r>
          </a:p>
        </p:txBody>
      </p:sp>
      <p:sp>
        <p:nvSpPr>
          <p:cNvPr id="22" name="TextBox 21"/>
          <p:cNvSpPr txBox="1"/>
          <p:nvPr/>
        </p:nvSpPr>
        <p:spPr>
          <a:xfrm>
            <a:off x="4520184"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Représentations apprises et combinaisons nouvelles.</a:t>
            </a:r>
          </a:p>
        </p:txBody>
      </p:sp>
      <p:sp>
        <p:nvSpPr>
          <p:cNvPr id="23" name="Chevron 22"/>
          <p:cNvSpPr/>
          <p:nvPr/>
        </p:nvSpPr>
        <p:spPr>
          <a:xfrm>
            <a:off x="7883651"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16824" y="1993392"/>
            <a:ext cx="3477768"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6824"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056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8290560" y="2514600"/>
            <a:ext cx="3130296"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Combinaison</a:t>
            </a:r>
          </a:p>
        </p:txBody>
      </p:sp>
      <p:sp>
        <p:nvSpPr>
          <p:cNvPr id="28" name="TextBox 27"/>
          <p:cNvSpPr txBox="1"/>
          <p:nvPr/>
        </p:nvSpPr>
        <p:spPr>
          <a:xfrm>
            <a:off x="8281416" y="3300984"/>
            <a:ext cx="3148584"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score confronté à un résultat en ligne.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050" b="1">
                <a:solidFill>
                  <a:srgbClr val="132443"/>
                </a:solidFill>
                <a:latin typeface="Liberation Sans"/>
              </a:defRPr>
            </a:pPr>
            <a:r>
              <a:t>A03 • Comparer deux moteurs de recommandation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30 minutes, lecture des cas incluse • Cahier A03</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 · S08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J1-030</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Travail</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Netflix et Google Play : même finalité, structures différentes.</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À documenter</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Données → mécanisme → interface → mesure.</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Question critique</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 effet non souhaité surveiller ?</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Restitution</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proposition transposable à Novalia, sans chiffre promis.</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30 MINUTES POUR LA SÉQUENCE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Stripe Radar : la fraude face à la conversion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documenté • Chiffres Stripe consultés le 14 septembre 2026</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J1-031</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70 000 Md</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Points de données annoncés par Stripe.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32 %</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Réduction moyenne de fraude annoncée.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Décision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Accepter, vérifier ou bloquer.</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Prudence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Résultats fournisseur, pas garantie pour Novalia.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Le coût des erreurs dépend du contexte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Mesurer une erreur exige de décrire l’action qu’elle déclenche.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S04 · S30</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J1-032</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Faux positif</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paiement légitime est signalé.</a:t>
            </a:r>
          </a:p>
          <a:p>
            <a:pPr>
              <a:spcBef>
                <a:spcPts val="0"/>
              </a:spcBef>
              <a:spcAft>
                <a:spcPts val="300"/>
              </a:spcAft>
              <a:defRPr sz="2100" b="0">
                <a:solidFill>
                  <a:srgbClr val="0D0D0D"/>
                </a:solidFill>
                <a:latin typeface="Liberation Sans"/>
              </a:defRPr>
            </a:pPr>
            <a:r>
              <a:t>Coût : revue, abandon, insatisfaction.</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Faux négatif</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fraude n’est pas signalée.</a:t>
            </a:r>
          </a:p>
          <a:p>
            <a:pPr>
              <a:spcBef>
                <a:spcPts val="0"/>
              </a:spcBef>
              <a:spcAft>
                <a:spcPts val="300"/>
              </a:spcAft>
              <a:defRPr sz="2100" b="0">
                <a:solidFill>
                  <a:srgbClr val="0D0D0D"/>
                </a:solidFill>
                <a:latin typeface="Liberation Sans"/>
              </a:defRPr>
            </a:pPr>
            <a:r>
              <a:t>Coût : perte, traitement et risque.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Trois niveaux de mesure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KPI du modèle ≠ KPI du service ≠ KPI de valeur.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J1-033</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Modèle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Précision, rappel, calibration, erreurs par segment.</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Système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Latence, disponibilité, fraîcheur et coûts.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Métier</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Pertes évitées, conversion, satisfaction, charge.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A04 • Quelle politique de fraude retenir ?</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Données entièrement fictives • 30 minutes • Cahier A04</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J1-034</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Scénario fictif</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Politique A</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Politique B</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Fraudes détectées</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80</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65</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Fraudes manquées</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20</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35</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Alertes légitimes</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400</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100</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Coût d’une fraude manquée</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100 €</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100 €</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Coût d’une fausse alerte</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5 €</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5 €</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Même coût, expériences différentes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seuil est un arbitrage économique documenté, pas une constante sacrée.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J1-035</a:t>
            </a:r>
          </a:p>
        </p:txBody>
      </p:sp>
      <p:sp>
        <p:nvSpPr>
          <p:cNvPr id="12" name="TextBox 11"/>
          <p:cNvSpPr txBox="1"/>
          <p:nvPr/>
        </p:nvSpPr>
        <p:spPr>
          <a:xfrm>
            <a:off x="731520" y="1965960"/>
            <a:ext cx="5486400" cy="1508760"/>
          </a:xfrm>
          <a:prstGeom prst="rect">
            <a:avLst/>
          </a:prstGeom>
          <a:noFill/>
        </p:spPr>
        <p:txBody>
          <a:bodyPr wrap="square" lIns="22860" rIns="22860" tIns="22860" bIns="22860" anchor="ctr">
            <a:spAutoFit/>
          </a:bodyPr>
          <a:lstStyle/>
          <a:p>
            <a:pPr>
              <a:spcBef>
                <a:spcPts val="0"/>
              </a:spcBef>
              <a:spcAft>
                <a:spcPts val="300"/>
              </a:spcAft>
              <a:defRPr sz="9300" b="1">
                <a:solidFill>
                  <a:srgbClr val="23468C"/>
                </a:solidFill>
                <a:latin typeface="Liberation Sans"/>
              </a:defRPr>
            </a:pPr>
            <a:r>
              <a:t>4 000 €</a:t>
            </a:r>
          </a:p>
        </p:txBody>
      </p:sp>
      <p:sp>
        <p:nvSpPr>
          <p:cNvPr id="13" name="TextBox 12"/>
          <p:cNvSpPr txBox="1"/>
          <p:nvPr/>
        </p:nvSpPr>
        <p:spPr>
          <a:xfrm>
            <a:off x="822960" y="3584448"/>
            <a:ext cx="5120640" cy="1051560"/>
          </a:xfrm>
          <a:prstGeom prst="rect">
            <a:avLst/>
          </a:prstGeom>
          <a:noFill/>
        </p:spPr>
        <p:txBody>
          <a:bodyPr wrap="square" lIns="22860" rIns="22860" tIns="22860" bIns="22860" anchor="ctr">
            <a:spAutoFit/>
          </a:bodyPr>
          <a:lstStyle/>
          <a:p>
            <a:pPr>
              <a:spcBef>
                <a:spcPts val="0"/>
              </a:spcBef>
              <a:spcAft>
                <a:spcPts val="300"/>
              </a:spcAft>
              <a:defRPr sz="2750" b="1">
                <a:solidFill>
                  <a:srgbClr val="132443"/>
                </a:solidFill>
                <a:latin typeface="Liberation Sans"/>
              </a:defRPr>
            </a:pPr>
            <a:r>
              <a:t>de coût dans chacune des deux politiques fictives</a:t>
            </a:r>
          </a:p>
        </p:txBody>
      </p:sp>
      <p:sp>
        <p:nvSpPr>
          <p:cNvPr id="14" name="Rounded Rectangle 13"/>
          <p:cNvSpPr/>
          <p:nvPr/>
        </p:nvSpPr>
        <p:spPr>
          <a:xfrm>
            <a:off x="6583680" y="186537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6537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9128" y="195681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A</a:t>
            </a:r>
          </a:p>
        </p:txBody>
      </p:sp>
      <p:sp>
        <p:nvSpPr>
          <p:cNvPr id="17" name="TextBox 16"/>
          <p:cNvSpPr txBox="1"/>
          <p:nvPr/>
        </p:nvSpPr>
        <p:spPr>
          <a:xfrm>
            <a:off x="6739128" y="226771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Rappel 80 % ; précision 16,7 %</a:t>
            </a:r>
          </a:p>
        </p:txBody>
      </p:sp>
      <p:sp>
        <p:nvSpPr>
          <p:cNvPr id="18" name="Rounded Rectangle 17"/>
          <p:cNvSpPr/>
          <p:nvPr/>
        </p:nvSpPr>
        <p:spPr>
          <a:xfrm>
            <a:off x="6583680" y="305409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3054096"/>
            <a:ext cx="54864"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314553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B</a:t>
            </a:r>
          </a:p>
        </p:txBody>
      </p:sp>
      <p:sp>
        <p:nvSpPr>
          <p:cNvPr id="21" name="TextBox 20"/>
          <p:cNvSpPr txBox="1"/>
          <p:nvPr/>
        </p:nvSpPr>
        <p:spPr>
          <a:xfrm>
            <a:off x="6739128" y="345643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Rappel 65 % ; précision 39,4 %</a:t>
            </a:r>
          </a:p>
        </p:txBody>
      </p:sp>
      <p:sp>
        <p:nvSpPr>
          <p:cNvPr id="22" name="Rounded Rectangle 21"/>
          <p:cNvSpPr/>
          <p:nvPr/>
        </p:nvSpPr>
        <p:spPr>
          <a:xfrm>
            <a:off x="6583680" y="424281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0" y="424281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433425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À 10 € / FP</a:t>
            </a:r>
          </a:p>
        </p:txBody>
      </p:sp>
      <p:sp>
        <p:nvSpPr>
          <p:cNvPr id="25" name="TextBox 24"/>
          <p:cNvSpPr txBox="1"/>
          <p:nvPr/>
        </p:nvSpPr>
        <p:spPr>
          <a:xfrm>
            <a:off x="6739128" y="464515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A : 6 000 € ; B : 4 500 €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050" b="1">
                <a:solidFill>
                  <a:srgbClr val="132443"/>
                </a:solidFill>
                <a:latin typeface="Liberation Sans"/>
              </a:defRPr>
            </a:pPr>
            <a:r>
              <a:t>Prédire un départ ne prouve pas l’effet d’une remise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Sélectionner qui risque de partir et savoir qui peut être retenu sont deux problèmes.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J1-036</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Prédiction</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 Cette personne risque de partir. »</a:t>
            </a:r>
          </a:p>
          <a:p>
            <a:pPr>
              <a:spcBef>
                <a:spcPts val="0"/>
              </a:spcBef>
              <a:spcAft>
                <a:spcPts val="300"/>
              </a:spcAft>
              <a:defRPr sz="2100" b="0">
                <a:solidFill>
                  <a:srgbClr val="0D0D0D"/>
                </a:solidFill>
                <a:latin typeface="Liberation Sans"/>
              </a:defRPr>
            </a:pPr>
            <a:r>
              <a:t>On estime une issue.</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Effet de l’action</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 Cette remise réduit son risque de départ. »</a:t>
            </a:r>
          </a:p>
          <a:p>
            <a:pPr>
              <a:spcBef>
                <a:spcPts val="0"/>
              </a:spcBef>
              <a:spcAft>
                <a:spcPts val="300"/>
              </a:spcAft>
              <a:defRPr sz="2100" b="0">
                <a:solidFill>
                  <a:srgbClr val="0D0D0D"/>
                </a:solidFill>
                <a:latin typeface="Liberation Sans"/>
              </a:defRPr>
            </a:pPr>
            <a:r>
              <a:t>On estime une différence causale.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Airbus Skywise : du signal à la maintenance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industriel documenté • Résultats rapportés par Airbus, pas essai indépendant.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J1-037</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Contexte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Données opérationnelles de flotte.</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Traitement</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Repérer des signes de défaillance.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Action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Inspection et planification par la maintenance.</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Mesure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Disponibilité, incidents et coûts évités.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Airbus : lire un résultat avec son périmètre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Toujours conserver : source, date, population et statut du résultat.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J1-038</a:t>
            </a:r>
          </a:p>
        </p:txBody>
      </p:sp>
      <p:sp>
        <p:nvSpPr>
          <p:cNvPr id="12" name="TextBox 11"/>
          <p:cNvSpPr txBox="1"/>
          <p:nvPr/>
        </p:nvSpPr>
        <p:spPr>
          <a:xfrm>
            <a:off x="731520" y="1965960"/>
            <a:ext cx="5486400" cy="1508760"/>
          </a:xfrm>
          <a:prstGeom prst="rect">
            <a:avLst/>
          </a:prstGeom>
          <a:noFill/>
        </p:spPr>
        <p:txBody>
          <a:bodyPr wrap="square" lIns="22860" rIns="22860" tIns="22860" bIns="22860" anchor="ctr">
            <a:spAutoFit/>
          </a:bodyPr>
          <a:lstStyle/>
          <a:p>
            <a:pPr>
              <a:spcBef>
                <a:spcPts val="0"/>
              </a:spcBef>
              <a:spcAft>
                <a:spcPts val="300"/>
              </a:spcAft>
              <a:defRPr sz="9300" b="1">
                <a:solidFill>
                  <a:srgbClr val="23468C"/>
                </a:solidFill>
                <a:latin typeface="Liberation Sans"/>
              </a:defRPr>
            </a:pPr>
            <a:r>
              <a:t>44 + 35</a:t>
            </a:r>
          </a:p>
        </p:txBody>
      </p:sp>
      <p:sp>
        <p:nvSpPr>
          <p:cNvPr id="13" name="TextBox 12"/>
          <p:cNvSpPr txBox="1"/>
          <p:nvPr/>
        </p:nvSpPr>
        <p:spPr>
          <a:xfrm>
            <a:off x="822960" y="3584448"/>
            <a:ext cx="5120640" cy="1051560"/>
          </a:xfrm>
          <a:prstGeom prst="rect">
            <a:avLst/>
          </a:prstGeom>
          <a:noFill/>
        </p:spPr>
        <p:txBody>
          <a:bodyPr wrap="square" lIns="22860" rIns="22860" tIns="22860" bIns="22860" anchor="ctr">
            <a:spAutoFit/>
          </a:bodyPr>
          <a:lstStyle/>
          <a:p>
            <a:pPr>
              <a:spcBef>
                <a:spcPts val="0"/>
              </a:spcBef>
              <a:spcAft>
                <a:spcPts val="300"/>
              </a:spcAft>
              <a:defRPr sz="2350" b="1">
                <a:solidFill>
                  <a:srgbClr val="132443"/>
                </a:solidFill>
                <a:latin typeface="Liberation Sans"/>
              </a:defRPr>
            </a:pPr>
            <a:r>
              <a:t>annulations évitées rapportées pour juillet puis août 2024</a:t>
            </a:r>
          </a:p>
        </p:txBody>
      </p:sp>
      <p:sp>
        <p:nvSpPr>
          <p:cNvPr id="14" name="Rounded Rectangle 13"/>
          <p:cNvSpPr/>
          <p:nvPr/>
        </p:nvSpPr>
        <p:spPr>
          <a:xfrm>
            <a:off x="6583680" y="186537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6537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9128" y="195681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Contexte</a:t>
            </a:r>
          </a:p>
        </p:txBody>
      </p:sp>
      <p:sp>
        <p:nvSpPr>
          <p:cNvPr id="17" name="TextBox 16"/>
          <p:cNvSpPr txBox="1"/>
          <p:nvPr/>
        </p:nvSpPr>
        <p:spPr>
          <a:xfrm>
            <a:off x="6739128" y="226771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easyJet, selon Airbus.</a:t>
            </a:r>
          </a:p>
        </p:txBody>
      </p:sp>
      <p:sp>
        <p:nvSpPr>
          <p:cNvPr id="18" name="Rounded Rectangle 17"/>
          <p:cNvSpPr/>
          <p:nvPr/>
        </p:nvSpPr>
        <p:spPr>
          <a:xfrm>
            <a:off x="6583680" y="305409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3054096"/>
            <a:ext cx="54864" cy="10698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314553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Mécanisme</a:t>
            </a:r>
          </a:p>
        </p:txBody>
      </p:sp>
      <p:sp>
        <p:nvSpPr>
          <p:cNvPr id="21" name="TextBox 20"/>
          <p:cNvSpPr txBox="1"/>
          <p:nvPr/>
        </p:nvSpPr>
        <p:spPr>
          <a:xfrm>
            <a:off x="6739128" y="345643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Défaillances anticipées puis action maintenance.</a:t>
            </a:r>
          </a:p>
        </p:txBody>
      </p:sp>
      <p:sp>
        <p:nvSpPr>
          <p:cNvPr id="22" name="Rounded Rectangle 21"/>
          <p:cNvSpPr/>
          <p:nvPr/>
        </p:nvSpPr>
        <p:spPr>
          <a:xfrm>
            <a:off x="6583680" y="4242816"/>
            <a:ext cx="5010912" cy="10698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0" y="4242816"/>
            <a:ext cx="54864" cy="10698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9128" y="4334256"/>
            <a:ext cx="470001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Limite</a:t>
            </a:r>
          </a:p>
        </p:txBody>
      </p:sp>
      <p:sp>
        <p:nvSpPr>
          <p:cNvPr id="25" name="TextBox 24"/>
          <p:cNvSpPr txBox="1"/>
          <p:nvPr/>
        </p:nvSpPr>
        <p:spPr>
          <a:xfrm>
            <a:off x="6739128" y="4645152"/>
            <a:ext cx="4700016" cy="612647"/>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Pas une garantie pour une nouvelle compagnie.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Michelin : du véhicule au service d’analyse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Cas français • Annonce du 29 juin 2026 • Pas de performance inventée.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J1-039</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Véhicule</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Données d’usage</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Plateforme</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Informations structurées</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Assistant</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Questions et réponses</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1750" b="1">
                <a:solidFill>
                  <a:srgbClr val="238C33"/>
                </a:solidFill>
                <a:latin typeface="Liberation Sans"/>
              </a:defRPr>
            </a:pPr>
            <a:r>
              <a:t>Gestionnaire</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1550" b="0">
                <a:solidFill>
                  <a:srgbClr val="0D0D0D"/>
                </a:solidFill>
                <a:latin typeface="Liberation Sans"/>
              </a:defRPr>
            </a:pPr>
            <a:r>
              <a:t>Décision opérationnelle</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Service</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1300" b="0">
                <a:solidFill>
                  <a:srgbClr val="0D0D0D"/>
                </a:solidFill>
                <a:latin typeface="Liberation Sans"/>
              </a:defRPr>
            </a:pPr>
            <a:r>
              <a:t>Accompagnement continu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A05 • Votre canevas de valeur des données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30 minutes, cas industriels inclus • Cahier A05</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J1-040</a:t>
            </a:r>
          </a:p>
        </p:txBody>
      </p:sp>
      <p:sp>
        <p:nvSpPr>
          <p:cNvPr id="12" name="Rounded Rectangle 11"/>
          <p:cNvSpPr/>
          <p:nvPr/>
        </p:nvSpPr>
        <p:spPr>
          <a:xfrm>
            <a:off x="5943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Problème</a:t>
            </a:r>
          </a:p>
        </p:txBody>
      </p:sp>
      <p:sp>
        <p:nvSpPr>
          <p:cNvPr id="15" name="TextBox 14"/>
          <p:cNvSpPr txBox="1"/>
          <p:nvPr/>
        </p:nvSpPr>
        <p:spPr>
          <a:xfrm>
            <a:off x="7498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Quelle friction ?</a:t>
            </a:r>
          </a:p>
        </p:txBody>
      </p:sp>
      <p:sp>
        <p:nvSpPr>
          <p:cNvPr id="16" name="Rounded Rectangle 15"/>
          <p:cNvSpPr/>
          <p:nvPr/>
        </p:nvSpPr>
        <p:spPr>
          <a:xfrm>
            <a:off x="43281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36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Utilisateur</a:t>
            </a:r>
          </a:p>
        </p:txBody>
      </p:sp>
      <p:sp>
        <p:nvSpPr>
          <p:cNvPr id="19" name="TextBox 18"/>
          <p:cNvSpPr txBox="1"/>
          <p:nvPr/>
        </p:nvSpPr>
        <p:spPr>
          <a:xfrm>
            <a:off x="44836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Qui agit ?</a:t>
            </a:r>
          </a:p>
        </p:txBody>
      </p:sp>
      <p:sp>
        <p:nvSpPr>
          <p:cNvPr id="20" name="Rounded Rectangle 19"/>
          <p:cNvSpPr/>
          <p:nvPr/>
        </p:nvSpPr>
        <p:spPr>
          <a:xfrm>
            <a:off x="8061960" y="1783080"/>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7408" y="1874519"/>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Action</a:t>
            </a:r>
          </a:p>
        </p:txBody>
      </p:sp>
      <p:sp>
        <p:nvSpPr>
          <p:cNvPr id="23" name="TextBox 22"/>
          <p:cNvSpPr txBox="1"/>
          <p:nvPr/>
        </p:nvSpPr>
        <p:spPr>
          <a:xfrm>
            <a:off x="8217408" y="2185416"/>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Qu’est-ce qui change ?</a:t>
            </a:r>
          </a:p>
        </p:txBody>
      </p:sp>
      <p:sp>
        <p:nvSpPr>
          <p:cNvPr id="24" name="Rounded Rectangle 23"/>
          <p:cNvSpPr/>
          <p:nvPr/>
        </p:nvSpPr>
        <p:spPr>
          <a:xfrm>
            <a:off x="5943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Données</a:t>
            </a:r>
          </a:p>
        </p:txBody>
      </p:sp>
      <p:sp>
        <p:nvSpPr>
          <p:cNvPr id="27" name="TextBox 26"/>
          <p:cNvSpPr txBox="1"/>
          <p:nvPr/>
        </p:nvSpPr>
        <p:spPr>
          <a:xfrm>
            <a:off x="7498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Qu’est-ce qui existe ?</a:t>
            </a:r>
          </a:p>
        </p:txBody>
      </p:sp>
      <p:sp>
        <p:nvSpPr>
          <p:cNvPr id="28" name="Rounded Rectangle 27"/>
          <p:cNvSpPr/>
          <p:nvPr/>
        </p:nvSpPr>
        <p:spPr>
          <a:xfrm>
            <a:off x="43281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145536"/>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36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Méthode</a:t>
            </a:r>
          </a:p>
        </p:txBody>
      </p:sp>
      <p:sp>
        <p:nvSpPr>
          <p:cNvPr id="31" name="TextBox 30"/>
          <p:cNvSpPr txBox="1"/>
          <p:nvPr/>
        </p:nvSpPr>
        <p:spPr>
          <a:xfrm>
            <a:off x="44836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Quelle famille ?</a:t>
            </a:r>
          </a:p>
        </p:txBody>
      </p:sp>
      <p:sp>
        <p:nvSpPr>
          <p:cNvPr id="32" name="Rounded Rectangle 31"/>
          <p:cNvSpPr/>
          <p:nvPr/>
        </p:nvSpPr>
        <p:spPr>
          <a:xfrm>
            <a:off x="8061960" y="3145536"/>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145536"/>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7408" y="3236976"/>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Mesure</a:t>
            </a:r>
          </a:p>
        </p:txBody>
      </p:sp>
      <p:sp>
        <p:nvSpPr>
          <p:cNvPr id="35" name="TextBox 34"/>
          <p:cNvSpPr txBox="1"/>
          <p:nvPr/>
        </p:nvSpPr>
        <p:spPr>
          <a:xfrm>
            <a:off x="8217408" y="3547872"/>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Modèle et métier</a:t>
            </a:r>
          </a:p>
        </p:txBody>
      </p:sp>
      <p:sp>
        <p:nvSpPr>
          <p:cNvPr id="36" name="Rounded Rectangle 35"/>
          <p:cNvSpPr/>
          <p:nvPr/>
        </p:nvSpPr>
        <p:spPr>
          <a:xfrm>
            <a:off x="5943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Erreurs</a:t>
            </a:r>
          </a:p>
        </p:txBody>
      </p:sp>
      <p:sp>
        <p:nvSpPr>
          <p:cNvPr id="39" name="TextBox 38"/>
          <p:cNvSpPr txBox="1"/>
          <p:nvPr/>
        </p:nvSpPr>
        <p:spPr>
          <a:xfrm>
            <a:off x="7498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À quel coût ?</a:t>
            </a:r>
          </a:p>
        </p:txBody>
      </p:sp>
      <p:sp>
        <p:nvSpPr>
          <p:cNvPr id="40" name="Rounded Rectangle 39"/>
          <p:cNvSpPr/>
          <p:nvPr/>
        </p:nvSpPr>
        <p:spPr>
          <a:xfrm>
            <a:off x="43281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28160" y="4507992"/>
            <a:ext cx="54864" cy="116128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36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8C33"/>
                </a:solidFill>
                <a:latin typeface="Liberation Sans"/>
              </a:defRPr>
            </a:pPr>
            <a:r>
              <a:t>Responsable</a:t>
            </a:r>
          </a:p>
        </p:txBody>
      </p:sp>
      <p:sp>
        <p:nvSpPr>
          <p:cNvPr id="43" name="TextBox 42"/>
          <p:cNvSpPr txBox="1"/>
          <p:nvPr/>
        </p:nvSpPr>
        <p:spPr>
          <a:xfrm>
            <a:off x="44836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Qui arbitre ?</a:t>
            </a:r>
          </a:p>
        </p:txBody>
      </p:sp>
      <p:sp>
        <p:nvSpPr>
          <p:cNvPr id="44" name="Rounded Rectangle 43"/>
          <p:cNvSpPr/>
          <p:nvPr/>
        </p:nvSpPr>
        <p:spPr>
          <a:xfrm>
            <a:off x="8061960" y="4507992"/>
            <a:ext cx="3532632" cy="116128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61960" y="4507992"/>
            <a:ext cx="54864" cy="116128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7408" y="4599431"/>
            <a:ext cx="3221736"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23468C"/>
                </a:solidFill>
                <a:latin typeface="Liberation Sans"/>
              </a:defRPr>
            </a:pPr>
            <a:r>
              <a:t>Intégration</a:t>
            </a:r>
          </a:p>
        </p:txBody>
      </p:sp>
      <p:sp>
        <p:nvSpPr>
          <p:cNvPr id="47" name="TextBox 46"/>
          <p:cNvSpPr txBox="1"/>
          <p:nvPr/>
        </p:nvSpPr>
        <p:spPr>
          <a:xfrm>
            <a:off x="8217408" y="4910328"/>
            <a:ext cx="3221736" cy="704088"/>
          </a:xfrm>
          <a:prstGeom prst="rect">
            <a:avLst/>
          </a:prstGeom>
          <a:noFill/>
        </p:spPr>
        <p:txBody>
          <a:bodyPr wrap="square" lIns="22860" rIns="22860" tIns="22860" bIns="22860" anchor="t">
            <a:spAutoFit/>
          </a:bodyPr>
          <a:lstStyle/>
          <a:p>
            <a:pPr>
              <a:spcBef>
                <a:spcPts val="0"/>
              </a:spcBef>
              <a:spcAft>
                <a:spcPts val="300"/>
              </a:spcAft>
              <a:defRPr sz="1600" b="0">
                <a:solidFill>
                  <a:srgbClr val="0D0D0D"/>
                </a:solidFill>
                <a:latin typeface="Liberation Sans"/>
              </a:defRPr>
            </a:pPr>
            <a:r>
              <a:t>Dans quel SI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B2</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Revue de valeur : trois portes avant le prototype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Ne pas financer un prototype pour compenser un problème mal défini.</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J1-041</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Utile ?</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décision et un indicateur métier.</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Faisable ?</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Des données disponibles et un SI intégrable.</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Acceptable ?</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Des droits, des risques et un responsable.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468C"/>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1  /  B3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03 • La confiance se construit avant la mise en production</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Qualité</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Responsabilités</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Sécurité et conformité</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2 heures • 80 minutes de travaux pratiques</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Gouverner : répondre à neuf questions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sécurité est une composante de la gouvernance, pas son synonyme.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 · S17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J1-043</a:t>
            </a:r>
          </a:p>
        </p:txBody>
      </p:sp>
      <p:sp>
        <p:nvSpPr>
          <p:cNvPr id="12" name="Chevron 11"/>
          <p:cNvSpPr/>
          <p:nvPr/>
        </p:nvSpPr>
        <p:spPr>
          <a:xfrm>
            <a:off x="731520" y="1920240"/>
            <a:ext cx="10698480" cy="603504"/>
          </a:xfrm>
          <a:prstGeom prst="chevron">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011680"/>
            <a:ext cx="10149840" cy="347472"/>
          </a:xfrm>
          <a:prstGeom prst="rect">
            <a:avLst/>
          </a:prstGeom>
          <a:noFill/>
        </p:spPr>
        <p:txBody>
          <a:bodyPr wrap="square" lIns="22860" rIns="22860" tIns="22860" bIns="22860" anchor="ctr">
            <a:spAutoFit/>
          </a:bodyPr>
          <a:lstStyle/>
          <a:p>
            <a:pPr algn="ctr">
              <a:spcBef>
                <a:spcPts val="0"/>
              </a:spcBef>
              <a:spcAft>
                <a:spcPts val="300"/>
              </a:spcAft>
              <a:defRPr sz="2100" b="1">
                <a:solidFill>
                  <a:srgbClr val="FFFFFF"/>
                </a:solidFill>
                <a:latin typeface="Liberation Sans"/>
              </a:defRPr>
            </a:pPr>
            <a:r>
              <a:t>CONFIANCE DANS LES DÉCISIONS</a:t>
            </a:r>
          </a:p>
        </p:txBody>
      </p:sp>
      <p:sp>
        <p:nvSpPr>
          <p:cNvPr id="14" name="Rounded Rectangle 13"/>
          <p:cNvSpPr/>
          <p:nvPr/>
        </p:nvSpPr>
        <p:spPr>
          <a:xfrm>
            <a:off x="594360" y="2761488"/>
            <a:ext cx="2039111" cy="26700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761488"/>
            <a:ext cx="54864" cy="26700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898648"/>
            <a:ext cx="1691639" cy="475488"/>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Responsabilités</a:t>
            </a:r>
          </a:p>
        </p:txBody>
      </p:sp>
      <p:sp>
        <p:nvSpPr>
          <p:cNvPr id="17" name="TextBox 16"/>
          <p:cNvSpPr txBox="1"/>
          <p:nvPr/>
        </p:nvSpPr>
        <p:spPr>
          <a:xfrm>
            <a:off x="758952" y="3438144"/>
            <a:ext cx="1709927" cy="1847088"/>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Qui définit et qui arbitre ?</a:t>
            </a:r>
          </a:p>
        </p:txBody>
      </p:sp>
      <p:sp>
        <p:nvSpPr>
          <p:cNvPr id="18" name="Rounded Rectangle 17"/>
          <p:cNvSpPr/>
          <p:nvPr/>
        </p:nvSpPr>
        <p:spPr>
          <a:xfrm>
            <a:off x="2834639" y="2761488"/>
            <a:ext cx="2039111" cy="26700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34639" y="2761488"/>
            <a:ext cx="54864" cy="26700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5" y="2898648"/>
            <a:ext cx="169163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Qualité</a:t>
            </a:r>
          </a:p>
        </p:txBody>
      </p:sp>
      <p:sp>
        <p:nvSpPr>
          <p:cNvPr id="21" name="TextBox 20"/>
          <p:cNvSpPr txBox="1"/>
          <p:nvPr/>
        </p:nvSpPr>
        <p:spPr>
          <a:xfrm>
            <a:off x="2999232" y="3438144"/>
            <a:ext cx="1709927" cy="1847088"/>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Quelles règles et quels contrôles ?</a:t>
            </a:r>
          </a:p>
        </p:txBody>
      </p:sp>
      <p:sp>
        <p:nvSpPr>
          <p:cNvPr id="22" name="Rounded Rectangle 21"/>
          <p:cNvSpPr/>
          <p:nvPr/>
        </p:nvSpPr>
        <p:spPr>
          <a:xfrm>
            <a:off x="5074920" y="2761488"/>
            <a:ext cx="2039111" cy="26700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74920" y="2761488"/>
            <a:ext cx="54864" cy="26700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8656" y="2898648"/>
            <a:ext cx="169163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Accès</a:t>
            </a:r>
          </a:p>
        </p:txBody>
      </p:sp>
      <p:sp>
        <p:nvSpPr>
          <p:cNvPr id="25" name="TextBox 24"/>
          <p:cNvSpPr txBox="1"/>
          <p:nvPr/>
        </p:nvSpPr>
        <p:spPr>
          <a:xfrm>
            <a:off x="5239512" y="3438144"/>
            <a:ext cx="1709927" cy="1847088"/>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Qui peut voir et modifier ?</a:t>
            </a:r>
          </a:p>
        </p:txBody>
      </p:sp>
      <p:sp>
        <p:nvSpPr>
          <p:cNvPr id="26" name="Rounded Rectangle 25"/>
          <p:cNvSpPr/>
          <p:nvPr/>
        </p:nvSpPr>
        <p:spPr>
          <a:xfrm>
            <a:off x="7315200" y="2761488"/>
            <a:ext cx="2039111" cy="26700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2761488"/>
            <a:ext cx="54864" cy="2670048"/>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2898648"/>
            <a:ext cx="169163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Traçabilité</a:t>
            </a:r>
          </a:p>
        </p:txBody>
      </p:sp>
      <p:sp>
        <p:nvSpPr>
          <p:cNvPr id="29" name="TextBox 28"/>
          <p:cNvSpPr txBox="1"/>
          <p:nvPr/>
        </p:nvSpPr>
        <p:spPr>
          <a:xfrm>
            <a:off x="7479792" y="3438144"/>
            <a:ext cx="1709927" cy="1847088"/>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D’où vient l’information ?</a:t>
            </a:r>
          </a:p>
        </p:txBody>
      </p:sp>
      <p:sp>
        <p:nvSpPr>
          <p:cNvPr id="30" name="Rounded Rectangle 29"/>
          <p:cNvSpPr/>
          <p:nvPr/>
        </p:nvSpPr>
        <p:spPr>
          <a:xfrm>
            <a:off x="9555480" y="2761488"/>
            <a:ext cx="2039111" cy="2670048"/>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55480" y="2761488"/>
            <a:ext cx="54864" cy="2670048"/>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9215" y="2898648"/>
            <a:ext cx="169163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Finalité</a:t>
            </a:r>
          </a:p>
        </p:txBody>
      </p:sp>
      <p:sp>
        <p:nvSpPr>
          <p:cNvPr id="33" name="TextBox 32"/>
          <p:cNvSpPr txBox="1"/>
          <p:nvPr/>
        </p:nvSpPr>
        <p:spPr>
          <a:xfrm>
            <a:off x="9720072" y="3438144"/>
            <a:ext cx="1709927" cy="1847088"/>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Pourquoi et jusqu’à quand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850" b="1">
                <a:solidFill>
                  <a:srgbClr val="132443"/>
                </a:solidFill>
                <a:latin typeface="Liberation Sans"/>
              </a:defRPr>
            </a:pPr>
            <a:r>
              <a:t>Une donnée a plusieurs responsables complémentaires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personne peut cumuler des fonctions ; une responsabilité ne doit pas disparaître.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J1-044</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Métier</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Sponsor : valeur. Responsable de domaine : définition.</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Données</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Référent qualité : règles. Ingénieur : flux.</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Modèle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Data scientist : évaluation. ML engineer : exploitation.</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Contrôle</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DSI, RSSI, DPO et juridique : expertise et validation selon leurs rôles.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qualité se lit dans les conséquences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règle de qualité utile est testable, attribuée et reliée à un impact.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S03 · S15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J1-045</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Complétude</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Des champs nécessaires sont absents.</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Validité</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valeur sort du domaine attendu.</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Cohérence</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Deux sources se contredisent.</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Unicité</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Un même objet apparaît plusieurs fois.</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Fraîcheur</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Le signal ne décrit plus la situation.</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Pertinence</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La donnée ne sert pas la finalité.</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700" b="1">
                <a:solidFill>
                  <a:srgbClr val="132443"/>
                </a:solidFill>
                <a:latin typeface="Liberation Sans"/>
              </a:defRPr>
            </a:pPr>
            <a:r>
              <a:t>Définition, provenance, usage : le triptyque documentaire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 sens métier fait partie du contrat de données.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J1-046</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Dictionnaire</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 signifie la variable ?</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Provenance</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D’où vient-elle et quand ?</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050" b="1">
                <a:solidFill>
                  <a:srgbClr val="23468C"/>
                </a:solidFill>
                <a:latin typeface="Liberation Sans"/>
              </a:defRPr>
            </a:pPr>
            <a:r>
              <a:t>Transformation</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Comment a-t-elle été calculée ?</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050" b="1">
                <a:solidFill>
                  <a:srgbClr val="238C33"/>
                </a:solidFill>
                <a:latin typeface="Liberation Sans"/>
              </a:defRPr>
            </a:pPr>
            <a:r>
              <a:t>Consommation</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Quels systèmes en dépendent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A06 • Sept anomalies et une variable du futur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35 minutes • Cahier A06 • Fichier d’audit séparé du fichier ML</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J1-047</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Fichier</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novalia_audit_qualite.csv</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Mission</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Trouver les défauts et leurs conséquences.</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Réponse</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Règle de détection, correction, responsable.</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Piège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colonne prédit parfaitement parce qu’elle arrive trop tard.</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35 MINUTES POUR LA SÉQUENCE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Lire les anomalies avant de les corriger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règle dépend du dictionnaire, pas seulement de l’apparence du nombre.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J1-048</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Champ</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Exemple défectueux</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Question</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monthly_spend</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-49</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Erreur ou avoir métier ?</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tenure_months</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-3</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Unité ou date de départ ?</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contract_type</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1950" b="0">
                <a:solidFill>
                  <a:srgbClr val="0D0D0D"/>
                </a:solidFill>
                <a:latin typeface="Liberation Sans"/>
              </a:defRPr>
            </a:pPr>
            <a:r>
              <a:t>« Mensuel » avec espaces</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Même catégorie ?</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satisfaction_score</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18 / 10</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Barème ou saisie ?</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last_refresh</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2024-01-01</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Encore pertinent ?</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050" b="1">
                <a:solidFill>
                  <a:srgbClr val="132443"/>
                </a:solidFill>
                <a:latin typeface="Liberation Sans"/>
              </a:defRPr>
            </a:pPr>
            <a:r>
              <a:t>La fuite de données peut se cacher dans un agrégat</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temporalité se vérifie avant le nom de l’algorithme.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S03 · S29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J1-049</a:t>
            </a:r>
          </a:p>
        </p:txBody>
      </p:sp>
      <p:sp>
        <p:nvSpPr>
          <p:cNvPr id="12" name="Rounded Rectangle 11"/>
          <p:cNvSpPr/>
          <p:nvPr/>
        </p:nvSpPr>
        <p:spPr>
          <a:xfrm>
            <a:off x="594360"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Historique autorisé</a:t>
            </a:r>
          </a:p>
        </p:txBody>
      </p:sp>
      <p:sp>
        <p:nvSpPr>
          <p:cNvPr id="16" name="TextBox 15"/>
          <p:cNvSpPr txBox="1"/>
          <p:nvPr/>
        </p:nvSpPr>
        <p:spPr>
          <a:xfrm>
            <a:off x="758952"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Tickets avant t₀</a:t>
            </a:r>
          </a:p>
        </p:txBody>
      </p:sp>
      <p:sp>
        <p:nvSpPr>
          <p:cNvPr id="17" name="Chevron 16"/>
          <p:cNvSpPr/>
          <p:nvPr/>
        </p:nvSpPr>
        <p:spPr>
          <a:xfrm>
            <a:off x="3182112"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5284"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15284"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589020"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Calcul du score</a:t>
            </a:r>
          </a:p>
        </p:txBody>
      </p:sp>
      <p:sp>
        <p:nvSpPr>
          <p:cNvPr id="22" name="TextBox 21"/>
          <p:cNvSpPr txBox="1"/>
          <p:nvPr/>
        </p:nvSpPr>
        <p:spPr>
          <a:xfrm>
            <a:off x="3579876"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t₀</a:t>
            </a:r>
          </a:p>
        </p:txBody>
      </p:sp>
      <p:sp>
        <p:nvSpPr>
          <p:cNvPr id="23" name="Chevron 22"/>
          <p:cNvSpPr/>
          <p:nvPr/>
        </p:nvSpPr>
        <p:spPr>
          <a:xfrm>
            <a:off x="600303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6208"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6409944"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Historique interdit</a:t>
            </a:r>
          </a:p>
        </p:txBody>
      </p:sp>
      <p:sp>
        <p:nvSpPr>
          <p:cNvPr id="28" name="TextBox 27"/>
          <p:cNvSpPr txBox="1"/>
          <p:nvPr/>
        </p:nvSpPr>
        <p:spPr>
          <a:xfrm>
            <a:off x="6400800"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Tickets après t₀</a:t>
            </a:r>
          </a:p>
        </p:txBody>
      </p:sp>
      <p:sp>
        <p:nvSpPr>
          <p:cNvPr id="29" name="Chevron 28"/>
          <p:cNvSpPr/>
          <p:nvPr/>
        </p:nvSpPr>
        <p:spPr>
          <a:xfrm>
            <a:off x="8823960"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7132" y="1993392"/>
            <a:ext cx="2537460"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7132"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0867"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9230867" y="2514600"/>
            <a:ext cx="2189988"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Cible</a:t>
            </a:r>
          </a:p>
        </p:txBody>
      </p:sp>
      <p:sp>
        <p:nvSpPr>
          <p:cNvPr id="34" name="TextBox 33"/>
          <p:cNvSpPr txBox="1"/>
          <p:nvPr/>
        </p:nvSpPr>
        <p:spPr>
          <a:xfrm>
            <a:off x="9221724" y="3300984"/>
            <a:ext cx="2208276"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Départ dans 30 jours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Corrigé : détecter, décider, attribuer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Une correction sans trace prépare une nouvelle erreur.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J1-050</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Anomalie</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Traitement proposé</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Responsable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Doublon d’identifiant</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Réconcilier avec la source</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Domaine client</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Catégorie divergente</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Normaliser avec table de correspondance</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Référent qualité</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Valeur manquante</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1750" b="0">
                <a:solidFill>
                  <a:srgbClr val="0D0D0D"/>
                </a:solidFill>
                <a:latin typeface="Liberation Sans"/>
              </a:defRPr>
            </a:pPr>
            <a:r>
              <a:t>Mesurer puis imputer si justifié</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Données + métier</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Donnée périmée</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Actualiser ou exclure</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Propriétaire du flux</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Variable future</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1950" b="0">
                <a:solidFill>
                  <a:srgbClr val="0D0D0D"/>
                </a:solidFill>
                <a:latin typeface="Liberation Sans"/>
              </a:defRPr>
            </a:pPr>
            <a:r>
              <a:t>Exclure du protocole défini</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Data scientist + métier</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Données personnelles : les réflexes CNIL</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disponibilité technique d’une donnée ne suffit pas à établir son droit d’usage.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 · S32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J1-051</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Finalité</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 usage précis et quel acteur responsable ?</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Licéité</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base et quels droits de réutilisation ?</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Minimisation</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Quelles variables réellement nécessaires ?</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Protection</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Accès, durée, sécurité, droits et AIPD si nécessaire.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Minimiser sans rendre le modèle aveugle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Justifier une variable, sa précision, sa durée et son accès.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J1-052</a:t>
            </a:r>
          </a:p>
        </p:txBody>
      </p:sp>
      <p:sp>
        <p:nvSpPr>
          <p:cNvPr id="12" name="Trapezoid 11"/>
          <p:cNvSpPr/>
          <p:nvPr/>
        </p:nvSpPr>
        <p:spPr>
          <a:xfrm>
            <a:off x="700887" y="1828800"/>
            <a:ext cx="10789920" cy="768096"/>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3807" y="1975104"/>
            <a:ext cx="9784080" cy="47548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Disponibles : Toutes les variables collectées</a:t>
            </a:r>
          </a:p>
        </p:txBody>
      </p:sp>
      <p:sp>
        <p:nvSpPr>
          <p:cNvPr id="14" name="Trapezoid 13"/>
          <p:cNvSpPr/>
          <p:nvPr/>
        </p:nvSpPr>
        <p:spPr>
          <a:xfrm>
            <a:off x="1455267" y="2706624"/>
            <a:ext cx="9281160" cy="768096"/>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58187" y="2852928"/>
            <a:ext cx="8275320" cy="47548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Pertinentes : Celles liées au besoin</a:t>
            </a:r>
          </a:p>
        </p:txBody>
      </p:sp>
      <p:sp>
        <p:nvSpPr>
          <p:cNvPr id="16" name="Trapezoid 15"/>
          <p:cNvSpPr/>
          <p:nvPr/>
        </p:nvSpPr>
        <p:spPr>
          <a:xfrm>
            <a:off x="2209647" y="3584448"/>
            <a:ext cx="7772400" cy="768096"/>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2567" y="3730752"/>
            <a:ext cx="6766560" cy="475488"/>
          </a:xfrm>
          <a:prstGeom prst="rect">
            <a:avLst/>
          </a:prstGeom>
          <a:noFill/>
        </p:spPr>
        <p:txBody>
          <a:bodyPr wrap="square" lIns="22860" rIns="22860" tIns="22860" bIns="22860" anchor="ctr">
            <a:spAutoFit/>
          </a:bodyPr>
          <a:lstStyle/>
          <a:p>
            <a:pPr algn="ctr">
              <a:spcBef>
                <a:spcPts val="0"/>
              </a:spcBef>
              <a:spcAft>
                <a:spcPts val="300"/>
              </a:spcAft>
              <a:defRPr sz="2150" b="1">
                <a:solidFill>
                  <a:srgbClr val="FFFFFF"/>
                </a:solidFill>
                <a:latin typeface="Liberation Sans"/>
              </a:defRPr>
            </a:pPr>
            <a:r>
              <a:t>Nécessaires : Celles dont l’utilité est justifiée</a:t>
            </a:r>
          </a:p>
        </p:txBody>
      </p:sp>
      <p:sp>
        <p:nvSpPr>
          <p:cNvPr id="18" name="Trapezoid 17"/>
          <p:cNvSpPr/>
          <p:nvPr/>
        </p:nvSpPr>
        <p:spPr>
          <a:xfrm>
            <a:off x="2964027" y="4462272"/>
            <a:ext cx="6263640" cy="768096"/>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66947" y="4608576"/>
            <a:ext cx="5257800" cy="475488"/>
          </a:xfrm>
          <a:prstGeom prst="rect">
            <a:avLst/>
          </a:prstGeom>
          <a:noFill/>
        </p:spPr>
        <p:txBody>
          <a:bodyPr wrap="square" lIns="22860" rIns="22860" tIns="22860" bIns="22860" anchor="ctr">
            <a:spAutoFit/>
          </a:bodyPr>
          <a:lstStyle/>
          <a:p>
            <a:pPr algn="ctr">
              <a:spcBef>
                <a:spcPts val="0"/>
              </a:spcBef>
              <a:spcAft>
                <a:spcPts val="300"/>
              </a:spcAft>
              <a:defRPr sz="1700" b="1">
                <a:solidFill>
                  <a:srgbClr val="FFFFFF"/>
                </a:solidFill>
                <a:latin typeface="Liberation Sans"/>
              </a:defRPr>
            </a:pPr>
            <a:r>
              <a:t>Autorisées : Celles utilisables dans ce cadre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Règlement IA : un calendrier progressif</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Veille au 14 septembre 2026 • Vérifier le cas concret avant chaque session.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S20 · S31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J1-053</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02 fév. 2025</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1850" b="0">
                <a:solidFill>
                  <a:srgbClr val="0D0D0D"/>
                </a:solidFill>
                <a:latin typeface="Liberation Sans"/>
              </a:defRPr>
            </a:pPr>
            <a:r>
              <a:t>Interdictions et maîtrise IA</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02 août 2025</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Modèles d’usage général</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02 août 2026</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1700" b="0">
                <a:solidFill>
                  <a:srgbClr val="0D0D0D"/>
                </a:solidFill>
                <a:latin typeface="Liberation Sans"/>
              </a:defRPr>
            </a:pPr>
            <a:r>
              <a:t>Transparence et règles applicables</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02 déc. 2027</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Haut risque, annexe III</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02 août 2028</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1700" b="0">
                <a:solidFill>
                  <a:srgbClr val="0D0D0D"/>
                </a:solidFill>
                <a:latin typeface="Liberation Sans"/>
              </a:defRPr>
            </a:pPr>
            <a:r>
              <a:t>Produits réglementés, annexe 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Qualifier l’usage, pas seulement la technologie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Même technologie, usages différents, obligations potentiellement différentes.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J1-054</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Usage</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 fait le système et pour qui ?</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Rôle</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Fournisseur, déployeur ou autre acteur ?</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Risque</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Effets sur les personnes et contexte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Former selon le rôle et le risque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maîtrise de l’IA doit être utile aux tâches réellement exercées.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J1-055</a:t>
            </a:r>
          </a:p>
        </p:txBody>
      </p:sp>
      <p:sp>
        <p:nvSpPr>
          <p:cNvPr id="12" name="Trapezoid 11"/>
          <p:cNvSpPr/>
          <p:nvPr/>
        </p:nvSpPr>
        <p:spPr>
          <a:xfrm>
            <a:off x="4169664" y="1847088"/>
            <a:ext cx="3840480" cy="758952"/>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938528"/>
            <a:ext cx="2926080"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Experts</a:t>
            </a:r>
          </a:p>
        </p:txBody>
      </p:sp>
      <p:sp>
        <p:nvSpPr>
          <p:cNvPr id="14" name="TextBox 13"/>
          <p:cNvSpPr txBox="1"/>
          <p:nvPr/>
        </p:nvSpPr>
        <p:spPr>
          <a:xfrm>
            <a:off x="4626864" y="2231136"/>
            <a:ext cx="2926080" cy="256032"/>
          </a:xfrm>
          <a:prstGeom prst="rect">
            <a:avLst/>
          </a:prstGeom>
          <a:noFill/>
        </p:spPr>
        <p:txBody>
          <a:bodyPr wrap="square" lIns="22860" rIns="22860" tIns="22860" bIns="22860" anchor="ctr">
            <a:spAutoFit/>
          </a:bodyPr>
          <a:lstStyle/>
          <a:p>
            <a:pPr algn="ctr">
              <a:spcBef>
                <a:spcPts val="0"/>
              </a:spcBef>
              <a:spcAft>
                <a:spcPts val="300"/>
              </a:spcAft>
              <a:defRPr sz="1350" b="0">
                <a:solidFill>
                  <a:srgbClr val="FFFFFF"/>
                </a:solidFill>
                <a:latin typeface="Liberation Sans"/>
              </a:defRPr>
            </a:pPr>
            <a:r>
              <a:t>Concevoir, sécuriser et valider</a:t>
            </a:r>
          </a:p>
        </p:txBody>
      </p:sp>
      <p:sp>
        <p:nvSpPr>
          <p:cNvPr id="15" name="Trapezoid 14"/>
          <p:cNvSpPr/>
          <p:nvPr/>
        </p:nvSpPr>
        <p:spPr>
          <a:xfrm>
            <a:off x="3557016" y="2697480"/>
            <a:ext cx="5065776" cy="758952"/>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14216" y="2788920"/>
            <a:ext cx="4151376"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Équipes IT/data</a:t>
            </a:r>
          </a:p>
        </p:txBody>
      </p:sp>
      <p:sp>
        <p:nvSpPr>
          <p:cNvPr id="17" name="TextBox 16"/>
          <p:cNvSpPr txBox="1"/>
          <p:nvPr/>
        </p:nvSpPr>
        <p:spPr>
          <a:xfrm>
            <a:off x="4014216" y="3081528"/>
            <a:ext cx="4151376"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Intégrer, évaluer et surveiller</a:t>
            </a:r>
          </a:p>
        </p:txBody>
      </p:sp>
      <p:sp>
        <p:nvSpPr>
          <p:cNvPr id="18" name="Trapezoid 17"/>
          <p:cNvSpPr/>
          <p:nvPr/>
        </p:nvSpPr>
        <p:spPr>
          <a:xfrm>
            <a:off x="2944368" y="3547872"/>
            <a:ext cx="6291072" cy="758952"/>
          </a:xfrm>
          <a:prstGeom prst="trapezoid">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01568" y="3639312"/>
            <a:ext cx="5376672"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Métiers / managers</a:t>
            </a:r>
          </a:p>
        </p:txBody>
      </p:sp>
      <p:sp>
        <p:nvSpPr>
          <p:cNvPr id="20" name="TextBox 19"/>
          <p:cNvSpPr txBox="1"/>
          <p:nvPr/>
        </p:nvSpPr>
        <p:spPr>
          <a:xfrm>
            <a:off x="3401568" y="3931920"/>
            <a:ext cx="5376672"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Cadrer, interpréter et superviser</a:t>
            </a:r>
          </a:p>
        </p:txBody>
      </p:sp>
      <p:sp>
        <p:nvSpPr>
          <p:cNvPr id="21" name="Trapezoid 20"/>
          <p:cNvSpPr/>
          <p:nvPr/>
        </p:nvSpPr>
        <p:spPr>
          <a:xfrm>
            <a:off x="2331720" y="4398264"/>
            <a:ext cx="7516368" cy="758952"/>
          </a:xfrm>
          <a:prstGeom prst="trapezoid">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88920" y="4489704"/>
            <a:ext cx="6601968" cy="274320"/>
          </a:xfrm>
          <a:prstGeom prst="rect">
            <a:avLst/>
          </a:prstGeom>
          <a:noFill/>
        </p:spPr>
        <p:txBody>
          <a:bodyPr wrap="square" lIns="22860" rIns="22860" tIns="22860" bIns="22860" anchor="ctr">
            <a:spAutoFit/>
          </a:bodyPr>
          <a:lstStyle/>
          <a:p>
            <a:pPr algn="ctr">
              <a:spcBef>
                <a:spcPts val="0"/>
              </a:spcBef>
              <a:spcAft>
                <a:spcPts val="300"/>
              </a:spcAft>
              <a:defRPr sz="1650" b="1">
                <a:solidFill>
                  <a:srgbClr val="FFFFFF"/>
                </a:solidFill>
                <a:latin typeface="Liberation Sans"/>
              </a:defRPr>
            </a:pPr>
            <a:r>
              <a:t>Utilisateurs</a:t>
            </a:r>
          </a:p>
        </p:txBody>
      </p:sp>
      <p:sp>
        <p:nvSpPr>
          <p:cNvPr id="23" name="TextBox 22"/>
          <p:cNvSpPr txBox="1"/>
          <p:nvPr/>
        </p:nvSpPr>
        <p:spPr>
          <a:xfrm>
            <a:off x="2788920" y="4782312"/>
            <a:ext cx="6601968" cy="256032"/>
          </a:xfrm>
          <a:prstGeom prst="rect">
            <a:avLst/>
          </a:prstGeom>
          <a:noFill/>
        </p:spPr>
        <p:txBody>
          <a:bodyPr wrap="square" lIns="22860" rIns="22860" tIns="22860" bIns="22860" anchor="ctr">
            <a:spAutoFit/>
          </a:bodyPr>
          <a:lstStyle/>
          <a:p>
            <a:pPr algn="ctr">
              <a:spcBef>
                <a:spcPts val="0"/>
              </a:spcBef>
              <a:spcAft>
                <a:spcPts val="300"/>
              </a:spcAft>
              <a:defRPr sz="1550" b="0">
                <a:solidFill>
                  <a:srgbClr val="FFFFFF"/>
                </a:solidFill>
                <a:latin typeface="Liberation Sans"/>
              </a:defRPr>
            </a:pPr>
            <a:r>
              <a:t>Comprendre, vérifier et signaler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APPORT</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050" b="1">
                <a:solidFill>
                  <a:srgbClr val="132443"/>
                </a:solidFill>
                <a:latin typeface="Liberation Sans"/>
              </a:defRPr>
            </a:pPr>
            <a:r>
              <a:t>Sécuriser toute la chaîne, pas seulement le modèle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Limiter ce que le système peut lire, appeler et déclencher.</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S16</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J1-056</a:t>
            </a:r>
          </a:p>
        </p:txBody>
      </p:sp>
      <p:sp>
        <p:nvSpPr>
          <p:cNvPr id="12" name="Rounded Rectangle 11"/>
          <p:cNvSpPr/>
          <p:nvPr/>
        </p:nvSpPr>
        <p:spPr>
          <a:xfrm>
            <a:off x="5943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15" name="TextBox 14"/>
          <p:cNvSpPr txBox="1"/>
          <p:nvPr/>
        </p:nvSpPr>
        <p:spPr>
          <a:xfrm>
            <a:off x="758952"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Altération ou accès excessif</a:t>
            </a:r>
          </a:p>
        </p:txBody>
      </p:sp>
      <p:sp>
        <p:nvSpPr>
          <p:cNvPr id="16" name="Rounded Rectangle 15"/>
          <p:cNvSpPr/>
          <p:nvPr/>
        </p:nvSpPr>
        <p:spPr>
          <a:xfrm>
            <a:off x="43281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938528"/>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Modèle</a:t>
            </a:r>
          </a:p>
        </p:txBody>
      </p:sp>
      <p:sp>
        <p:nvSpPr>
          <p:cNvPr id="19" name="TextBox 18"/>
          <p:cNvSpPr txBox="1"/>
          <p:nvPr/>
        </p:nvSpPr>
        <p:spPr>
          <a:xfrm>
            <a:off x="4492752" y="2615184"/>
            <a:ext cx="3203448" cy="768096"/>
          </a:xfrm>
          <a:prstGeom prst="rect">
            <a:avLst/>
          </a:prstGeom>
          <a:noFill/>
        </p:spPr>
        <p:txBody>
          <a:bodyPr wrap="square" lIns="22860" rIns="22860" tIns="22860" bIns="22860" anchor="t">
            <a:spAutoFit/>
          </a:bodyPr>
          <a:lstStyle/>
          <a:p>
            <a:pPr>
              <a:spcBef>
                <a:spcPts val="0"/>
              </a:spcBef>
              <a:spcAft>
                <a:spcPts val="300"/>
              </a:spcAft>
              <a:defRPr sz="1950" b="0">
                <a:solidFill>
                  <a:srgbClr val="0D0D0D"/>
                </a:solidFill>
                <a:latin typeface="Liberation Sans"/>
              </a:defRPr>
            </a:pPr>
            <a:r>
              <a:t>Version ou dépendance compromise</a:t>
            </a:r>
          </a:p>
        </p:txBody>
      </p:sp>
      <p:sp>
        <p:nvSpPr>
          <p:cNvPr id="20" name="Rounded Rectangle 19"/>
          <p:cNvSpPr/>
          <p:nvPr/>
        </p:nvSpPr>
        <p:spPr>
          <a:xfrm>
            <a:off x="8061960" y="1938528"/>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938528"/>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2075688"/>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Interfaces</a:t>
            </a:r>
          </a:p>
        </p:txBody>
      </p:sp>
      <p:sp>
        <p:nvSpPr>
          <p:cNvPr id="23" name="TextBox 22"/>
          <p:cNvSpPr txBox="1"/>
          <p:nvPr/>
        </p:nvSpPr>
        <p:spPr>
          <a:xfrm>
            <a:off x="8226551" y="2615184"/>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Entrée malveillante ou fuite</a:t>
            </a:r>
          </a:p>
        </p:txBody>
      </p:sp>
      <p:sp>
        <p:nvSpPr>
          <p:cNvPr id="24" name="Rounded Rectangle 23"/>
          <p:cNvSpPr/>
          <p:nvPr/>
        </p:nvSpPr>
        <p:spPr>
          <a:xfrm>
            <a:off x="5943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730752"/>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Actions</a:t>
            </a:r>
          </a:p>
        </p:txBody>
      </p:sp>
      <p:sp>
        <p:nvSpPr>
          <p:cNvPr id="27" name="TextBox 26"/>
          <p:cNvSpPr txBox="1"/>
          <p:nvPr/>
        </p:nvSpPr>
        <p:spPr>
          <a:xfrm>
            <a:off x="7589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Privilèges trop larges</a:t>
            </a:r>
          </a:p>
        </p:txBody>
      </p:sp>
      <p:sp>
        <p:nvSpPr>
          <p:cNvPr id="28" name="Rounded Rectangle 27"/>
          <p:cNvSpPr/>
          <p:nvPr/>
        </p:nvSpPr>
        <p:spPr>
          <a:xfrm>
            <a:off x="4328160" y="3730752"/>
            <a:ext cx="3532632"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730752"/>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867912"/>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Suivi</a:t>
            </a:r>
          </a:p>
        </p:txBody>
      </p:sp>
      <p:sp>
        <p:nvSpPr>
          <p:cNvPr id="31" name="TextBox 30"/>
          <p:cNvSpPr txBox="1"/>
          <p:nvPr/>
        </p:nvSpPr>
        <p:spPr>
          <a:xfrm>
            <a:off x="4492752" y="4407408"/>
            <a:ext cx="3203448"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Absence de trace ou d’alerte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700" b="1">
                <a:solidFill>
                  <a:srgbClr val="132443"/>
                </a:solidFill>
                <a:latin typeface="Liberation Sans"/>
              </a:defRPr>
            </a:pPr>
            <a:r>
              <a:t>A07 • Qui répond de la donnée, du modèle et de l’action ?</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45 minutes • Cahier A07 • Un A explicite pour chaque décision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J1-057</a:t>
            </a:r>
          </a:p>
        </p:txBody>
      </p:sp>
      <p:sp>
        <p:nvSpPr>
          <p:cNvPr id="12" name="Rounded Rectangle 11"/>
          <p:cNvSpPr/>
          <p:nvPr/>
        </p:nvSpPr>
        <p:spPr>
          <a:xfrm>
            <a:off x="594360"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65960"/>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Scénario</a:t>
            </a:r>
          </a:p>
        </p:txBody>
      </p:sp>
      <p:sp>
        <p:nvSpPr>
          <p:cNvPr id="15" name="TextBox 14"/>
          <p:cNvSpPr txBox="1"/>
          <p:nvPr/>
        </p:nvSpPr>
        <p:spPr>
          <a:xfrm>
            <a:off x="758952"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Score nocturne de départ, puis file commerciale.</a:t>
            </a:r>
          </a:p>
        </p:txBody>
      </p:sp>
      <p:sp>
        <p:nvSpPr>
          <p:cNvPr id="16" name="Rounded Rectangle 15"/>
          <p:cNvSpPr/>
          <p:nvPr/>
        </p:nvSpPr>
        <p:spPr>
          <a:xfrm>
            <a:off x="6195059" y="1965960"/>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965960"/>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10312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Livrable</a:t>
            </a:r>
          </a:p>
        </p:txBody>
      </p:sp>
      <p:sp>
        <p:nvSpPr>
          <p:cNvPr id="19" name="TextBox 18"/>
          <p:cNvSpPr txBox="1"/>
          <p:nvPr/>
        </p:nvSpPr>
        <p:spPr>
          <a:xfrm>
            <a:off x="6359651" y="2642616"/>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RACI + règles de qualité + registre de risques.</a:t>
            </a:r>
          </a:p>
        </p:txBody>
      </p:sp>
      <p:sp>
        <p:nvSpPr>
          <p:cNvPr id="20" name="Rounded Rectangle 19"/>
          <p:cNvSpPr/>
          <p:nvPr/>
        </p:nvSpPr>
        <p:spPr>
          <a:xfrm>
            <a:off x="594360"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758183"/>
            <a:ext cx="54864" cy="159105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À décider</a:t>
            </a:r>
          </a:p>
        </p:txBody>
      </p:sp>
      <p:sp>
        <p:nvSpPr>
          <p:cNvPr id="23" name="TextBox 22"/>
          <p:cNvSpPr txBox="1"/>
          <p:nvPr/>
        </p:nvSpPr>
        <p:spPr>
          <a:xfrm>
            <a:off x="758952"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Seuil, accès, conservation et mode dégradé.</a:t>
            </a:r>
          </a:p>
        </p:txBody>
      </p:sp>
      <p:sp>
        <p:nvSpPr>
          <p:cNvPr id="24" name="Rounded Rectangle 23"/>
          <p:cNvSpPr/>
          <p:nvPr/>
        </p:nvSpPr>
        <p:spPr>
          <a:xfrm>
            <a:off x="6195059" y="3758183"/>
            <a:ext cx="5399531" cy="159105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758183"/>
            <a:ext cx="54864" cy="159105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89534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À instruire</a:t>
            </a:r>
          </a:p>
        </p:txBody>
      </p:sp>
      <p:sp>
        <p:nvSpPr>
          <p:cNvPr id="27" name="TextBox 26"/>
          <p:cNvSpPr txBox="1"/>
          <p:nvPr/>
        </p:nvSpPr>
        <p:spPr>
          <a:xfrm>
            <a:off x="6359651" y="4434840"/>
            <a:ext cx="5070347" cy="76809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Questions juridiques non résolues, sans inventer une réponse.</a:t>
            </a:r>
          </a:p>
        </p:txBody>
      </p:sp>
      <p:sp>
        <p:nvSpPr>
          <p:cNvPr id="28" name="TextBox 27"/>
          <p:cNvSpPr txBox="1"/>
          <p:nvPr/>
        </p:nvSpPr>
        <p:spPr>
          <a:xfrm>
            <a:off x="630936" y="1655064"/>
            <a:ext cx="10058400" cy="228600"/>
          </a:xfrm>
          <a:prstGeom prst="rect">
            <a:avLst/>
          </a:prstGeom>
          <a:noFill/>
        </p:spPr>
        <p:txBody>
          <a:bodyPr wrap="square" lIns="22860" rIns="22860" tIns="22860" bIns="22860" anchor="ctr">
            <a:spAutoFit/>
          </a:bodyPr>
          <a:lstStyle/>
          <a:p>
            <a:pPr>
              <a:spcBef>
                <a:spcPts val="0"/>
              </a:spcBef>
              <a:spcAft>
                <a:spcPts val="300"/>
              </a:spcAft>
              <a:defRPr sz="1300" b="1">
                <a:solidFill>
                  <a:srgbClr val="238C33"/>
                </a:solidFill>
                <a:latin typeface="Liberation Sans"/>
              </a:defRPr>
            </a:pPr>
            <a:r>
              <a:t>ATELIER  /  45 MINUTES POUR LA SÉQUENCE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150" b="1">
                <a:solidFill>
                  <a:srgbClr val="132443"/>
                </a:solidFill>
                <a:latin typeface="Liberation Sans"/>
              </a:defRPr>
            </a:pPr>
            <a:r>
              <a:t>RACI : éviter les responsabilités collectives floues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Exemple pédagogique à adapter, non structure imposée.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J1-058</a:t>
            </a:r>
          </a:p>
        </p:txBody>
      </p:sp>
      <p:sp>
        <p:nvSpPr>
          <p:cNvPr id="12" name="Rectangle 11"/>
          <p:cNvSpPr/>
          <p:nvPr/>
        </p:nvSpPr>
        <p:spPr>
          <a:xfrm>
            <a:off x="594360" y="1792224"/>
            <a:ext cx="341007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3190615" cy="57302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Décision</a:t>
            </a:r>
          </a:p>
        </p:txBody>
      </p:sp>
      <p:sp>
        <p:nvSpPr>
          <p:cNvPr id="14" name="Rectangle 13"/>
          <p:cNvSpPr/>
          <p:nvPr/>
        </p:nvSpPr>
        <p:spPr>
          <a:xfrm>
            <a:off x="4004431" y="1792224"/>
            <a:ext cx="1897540"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159" y="1833372"/>
            <a:ext cx="1678084" cy="57302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Métier</a:t>
            </a:r>
          </a:p>
        </p:txBody>
      </p:sp>
      <p:sp>
        <p:nvSpPr>
          <p:cNvPr id="16" name="Rectangle 15"/>
          <p:cNvSpPr/>
          <p:nvPr/>
        </p:nvSpPr>
        <p:spPr>
          <a:xfrm>
            <a:off x="5901971" y="1792224"/>
            <a:ext cx="1897540"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11699" y="1833372"/>
            <a:ext cx="1678084" cy="57302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Data</a:t>
            </a:r>
          </a:p>
        </p:txBody>
      </p:sp>
      <p:sp>
        <p:nvSpPr>
          <p:cNvPr id="18" name="Rectangle 17"/>
          <p:cNvSpPr/>
          <p:nvPr/>
        </p:nvSpPr>
        <p:spPr>
          <a:xfrm>
            <a:off x="7799511" y="1792224"/>
            <a:ext cx="1897540"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239" y="1833372"/>
            <a:ext cx="1678084" cy="57302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IT</a:t>
            </a:r>
          </a:p>
        </p:txBody>
      </p:sp>
      <p:sp>
        <p:nvSpPr>
          <p:cNvPr id="20" name="Rectangle 19"/>
          <p:cNvSpPr/>
          <p:nvPr/>
        </p:nvSpPr>
        <p:spPr>
          <a:xfrm>
            <a:off x="9697051" y="1792224"/>
            <a:ext cx="1897540"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6779" y="1833372"/>
            <a:ext cx="1678084" cy="57302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DPO / RSSI</a:t>
            </a:r>
          </a:p>
        </p:txBody>
      </p:sp>
      <p:cxnSp>
        <p:nvCxnSpPr>
          <p:cNvPr id="22" name="Connector 21"/>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2447544"/>
            <a:ext cx="341007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2488692"/>
            <a:ext cx="3190615"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Finalité</a:t>
            </a:r>
          </a:p>
        </p:txBody>
      </p:sp>
      <p:sp>
        <p:nvSpPr>
          <p:cNvPr id="25" name="Rectangle 24"/>
          <p:cNvSpPr/>
          <p:nvPr/>
        </p:nvSpPr>
        <p:spPr>
          <a:xfrm>
            <a:off x="4004431" y="244754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159" y="248869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A/R</a:t>
            </a:r>
          </a:p>
        </p:txBody>
      </p:sp>
      <p:sp>
        <p:nvSpPr>
          <p:cNvPr id="27" name="Rectangle 26"/>
          <p:cNvSpPr/>
          <p:nvPr/>
        </p:nvSpPr>
        <p:spPr>
          <a:xfrm>
            <a:off x="5901971" y="244754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11699" y="248869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sp>
        <p:nvSpPr>
          <p:cNvPr id="29" name="Rectangle 28"/>
          <p:cNvSpPr/>
          <p:nvPr/>
        </p:nvSpPr>
        <p:spPr>
          <a:xfrm>
            <a:off x="7799511" y="244754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239" y="248869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sp>
        <p:nvSpPr>
          <p:cNvPr id="31" name="Rectangle 30"/>
          <p:cNvSpPr/>
          <p:nvPr/>
        </p:nvSpPr>
        <p:spPr>
          <a:xfrm>
            <a:off x="9697051" y="244754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06779" y="248869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cxnSp>
        <p:nvCxnSpPr>
          <p:cNvPr id="33" name="Connector 32"/>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94360" y="3102864"/>
            <a:ext cx="341007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144012"/>
            <a:ext cx="3190615"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Qualité métier</a:t>
            </a:r>
          </a:p>
        </p:txBody>
      </p:sp>
      <p:sp>
        <p:nvSpPr>
          <p:cNvPr id="36" name="Rectangle 35"/>
          <p:cNvSpPr/>
          <p:nvPr/>
        </p:nvSpPr>
        <p:spPr>
          <a:xfrm>
            <a:off x="4004431" y="310286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159" y="314401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a:t>
            </a:r>
          </a:p>
        </p:txBody>
      </p:sp>
      <p:sp>
        <p:nvSpPr>
          <p:cNvPr id="38" name="Rectangle 37"/>
          <p:cNvSpPr/>
          <p:nvPr/>
        </p:nvSpPr>
        <p:spPr>
          <a:xfrm>
            <a:off x="5901971" y="310286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11699" y="314401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a:t>
            </a:r>
          </a:p>
        </p:txBody>
      </p:sp>
      <p:sp>
        <p:nvSpPr>
          <p:cNvPr id="40" name="Rectangle 39"/>
          <p:cNvSpPr/>
          <p:nvPr/>
        </p:nvSpPr>
        <p:spPr>
          <a:xfrm>
            <a:off x="7799511" y="310286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9239" y="314401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a:t>
            </a:r>
          </a:p>
        </p:txBody>
      </p:sp>
      <p:sp>
        <p:nvSpPr>
          <p:cNvPr id="42" name="Rectangle 41"/>
          <p:cNvSpPr/>
          <p:nvPr/>
        </p:nvSpPr>
        <p:spPr>
          <a:xfrm>
            <a:off x="9697051" y="310286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6779" y="314401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cxnSp>
        <p:nvCxnSpPr>
          <p:cNvPr id="44" name="Connector 43"/>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94360" y="3758183"/>
            <a:ext cx="341007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 y="3799331"/>
            <a:ext cx="3190615"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Validation modèle</a:t>
            </a:r>
          </a:p>
        </p:txBody>
      </p:sp>
      <p:sp>
        <p:nvSpPr>
          <p:cNvPr id="47" name="Rectangle 46"/>
          <p:cNvSpPr/>
          <p:nvPr/>
        </p:nvSpPr>
        <p:spPr>
          <a:xfrm>
            <a:off x="4004431" y="3758183"/>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159" y="379933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a:t>
            </a:r>
          </a:p>
        </p:txBody>
      </p:sp>
      <p:sp>
        <p:nvSpPr>
          <p:cNvPr id="49" name="Rectangle 48"/>
          <p:cNvSpPr/>
          <p:nvPr/>
        </p:nvSpPr>
        <p:spPr>
          <a:xfrm>
            <a:off x="5901971" y="3758183"/>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11699" y="379933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a:t>
            </a:r>
          </a:p>
        </p:txBody>
      </p:sp>
      <p:sp>
        <p:nvSpPr>
          <p:cNvPr id="51" name="Rectangle 50"/>
          <p:cNvSpPr/>
          <p:nvPr/>
        </p:nvSpPr>
        <p:spPr>
          <a:xfrm>
            <a:off x="7799511" y="3758183"/>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09239" y="379933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sp>
        <p:nvSpPr>
          <p:cNvPr id="53" name="Rectangle 52"/>
          <p:cNvSpPr/>
          <p:nvPr/>
        </p:nvSpPr>
        <p:spPr>
          <a:xfrm>
            <a:off x="9697051" y="3758183"/>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06779" y="379933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cxnSp>
        <p:nvCxnSpPr>
          <p:cNvPr id="55" name="Connector 54"/>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594360" y="4413504"/>
            <a:ext cx="341007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8" y="4454651"/>
            <a:ext cx="3190615"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Exploitation</a:t>
            </a:r>
          </a:p>
        </p:txBody>
      </p:sp>
      <p:sp>
        <p:nvSpPr>
          <p:cNvPr id="58" name="Rectangle 57"/>
          <p:cNvSpPr/>
          <p:nvPr/>
        </p:nvSpPr>
        <p:spPr>
          <a:xfrm>
            <a:off x="4004431" y="441350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159" y="445465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sp>
        <p:nvSpPr>
          <p:cNvPr id="60" name="Rectangle 59"/>
          <p:cNvSpPr/>
          <p:nvPr/>
        </p:nvSpPr>
        <p:spPr>
          <a:xfrm>
            <a:off x="5901971" y="441350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11699" y="445465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sp>
        <p:nvSpPr>
          <p:cNvPr id="62" name="Rectangle 61"/>
          <p:cNvSpPr/>
          <p:nvPr/>
        </p:nvSpPr>
        <p:spPr>
          <a:xfrm>
            <a:off x="7799511" y="441350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09239" y="445465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A/R</a:t>
            </a:r>
          </a:p>
        </p:txBody>
      </p:sp>
      <p:sp>
        <p:nvSpPr>
          <p:cNvPr id="64" name="Rectangle 63"/>
          <p:cNvSpPr/>
          <p:nvPr/>
        </p:nvSpPr>
        <p:spPr>
          <a:xfrm>
            <a:off x="9697051" y="4413504"/>
            <a:ext cx="1897540"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06779" y="4454651"/>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cxnSp>
        <p:nvCxnSpPr>
          <p:cNvPr id="66" name="Connector 6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94360" y="5068824"/>
            <a:ext cx="341007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4088" y="5109972"/>
            <a:ext cx="3190615"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Traitement incident</a:t>
            </a:r>
          </a:p>
        </p:txBody>
      </p:sp>
      <p:sp>
        <p:nvSpPr>
          <p:cNvPr id="69" name="Rectangle 68"/>
          <p:cNvSpPr/>
          <p:nvPr/>
        </p:nvSpPr>
        <p:spPr>
          <a:xfrm>
            <a:off x="4004431" y="506882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114159" y="510997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A</a:t>
            </a:r>
          </a:p>
        </p:txBody>
      </p:sp>
      <p:sp>
        <p:nvSpPr>
          <p:cNvPr id="71" name="Rectangle 70"/>
          <p:cNvSpPr/>
          <p:nvPr/>
        </p:nvSpPr>
        <p:spPr>
          <a:xfrm>
            <a:off x="5901971" y="506882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011699" y="510997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a:t>
            </a:r>
          </a:p>
        </p:txBody>
      </p:sp>
      <p:sp>
        <p:nvSpPr>
          <p:cNvPr id="73" name="Rectangle 72"/>
          <p:cNvSpPr/>
          <p:nvPr/>
        </p:nvSpPr>
        <p:spPr>
          <a:xfrm>
            <a:off x="7799511" y="506882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09239" y="510997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R</a:t>
            </a:r>
          </a:p>
        </p:txBody>
      </p:sp>
      <p:sp>
        <p:nvSpPr>
          <p:cNvPr id="75" name="Rectangle 74"/>
          <p:cNvSpPr/>
          <p:nvPr/>
        </p:nvSpPr>
        <p:spPr>
          <a:xfrm>
            <a:off x="9697051" y="5068824"/>
            <a:ext cx="1897540"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806779" y="5109972"/>
            <a:ext cx="1678084" cy="57302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C</a:t>
            </a:r>
          </a:p>
        </p:txBody>
      </p:sp>
      <p:cxnSp>
        <p:nvCxnSpPr>
          <p:cNvPr id="77" name="Connector 76"/>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Gérer les risques avec quatre verbes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risque traité reste surveillé pendant l’exploitation.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S17 · S18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J1-059</a:t>
            </a:r>
          </a:p>
        </p:txBody>
      </p:sp>
      <p:sp>
        <p:nvSpPr>
          <p:cNvPr id="12" name="Rounded Rectangle 11"/>
          <p:cNvSpPr/>
          <p:nvPr/>
        </p:nvSpPr>
        <p:spPr>
          <a:xfrm>
            <a:off x="594360"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Gouverner</a:t>
            </a:r>
          </a:p>
        </p:txBody>
      </p:sp>
      <p:sp>
        <p:nvSpPr>
          <p:cNvPr id="15" name="TextBox 14"/>
          <p:cNvSpPr txBox="1"/>
          <p:nvPr/>
        </p:nvSpPr>
        <p:spPr>
          <a:xfrm>
            <a:off x="758952"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Attribuer et fixer les règles</a:t>
            </a:r>
          </a:p>
        </p:txBody>
      </p:sp>
      <p:sp>
        <p:nvSpPr>
          <p:cNvPr id="16" name="Rounded Rectangle 15"/>
          <p:cNvSpPr/>
          <p:nvPr/>
        </p:nvSpPr>
        <p:spPr>
          <a:xfrm>
            <a:off x="6195059" y="1783080"/>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Cartographier</a:t>
            </a:r>
          </a:p>
        </p:txBody>
      </p:sp>
      <p:sp>
        <p:nvSpPr>
          <p:cNvPr id="19" name="TextBox 18"/>
          <p:cNvSpPr txBox="1"/>
          <p:nvPr/>
        </p:nvSpPr>
        <p:spPr>
          <a:xfrm>
            <a:off x="6359651" y="2459736"/>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Comprendre contexte et dommages</a:t>
            </a:r>
          </a:p>
        </p:txBody>
      </p:sp>
      <p:sp>
        <p:nvSpPr>
          <p:cNvPr id="20" name="Rounded Rectangle 19"/>
          <p:cNvSpPr/>
          <p:nvPr/>
        </p:nvSpPr>
        <p:spPr>
          <a:xfrm>
            <a:off x="594360"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Mesurer</a:t>
            </a:r>
          </a:p>
        </p:txBody>
      </p:sp>
      <p:sp>
        <p:nvSpPr>
          <p:cNvPr id="23" name="TextBox 22"/>
          <p:cNvSpPr txBox="1"/>
          <p:nvPr/>
        </p:nvSpPr>
        <p:spPr>
          <a:xfrm>
            <a:off x="758952"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Tester les performances et risques</a:t>
            </a:r>
          </a:p>
        </p:txBody>
      </p:sp>
      <p:sp>
        <p:nvSpPr>
          <p:cNvPr id="24" name="Rounded Rectangle 23"/>
          <p:cNvSpPr/>
          <p:nvPr/>
        </p:nvSpPr>
        <p:spPr>
          <a:xfrm>
            <a:off x="6195059" y="3826764"/>
            <a:ext cx="5399531"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5059"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3963924"/>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Traiter</a:t>
            </a:r>
          </a:p>
        </p:txBody>
      </p:sp>
      <p:sp>
        <p:nvSpPr>
          <p:cNvPr id="27" name="TextBox 26"/>
          <p:cNvSpPr txBox="1"/>
          <p:nvPr/>
        </p:nvSpPr>
        <p:spPr>
          <a:xfrm>
            <a:off x="6359651" y="4503420"/>
            <a:ext cx="5070347"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Réduire, accepter, surveiller ou arrêter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TP</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Le registre de risques doit déclencher une action</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risque sans propriétaire est une alerte sans destinataire.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J1-060</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Risque</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Signal</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Réponse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Donnée périmée</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Âge supérieur au seuil</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Suspendre ou repli</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Score instable</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Distribution inhabituelle</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Analyse et revue</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Accès excessif</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Droits non justifiés</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Révoquer et limiter</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Faux positifs</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File trop chargée</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Réviser la politique</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Usage non prévu</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Nouveau processus</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Nouvelle validation</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B3</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ÉVALUATION</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Vérifier les acquis avant le jour 2</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Conservez votre canevas et votre registre : ils servent demain.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J1-061</a:t>
            </a:r>
          </a:p>
        </p:txBody>
      </p:sp>
      <p:sp>
        <p:nvSpPr>
          <p:cNvPr id="12" name="Oval 11"/>
          <p:cNvSpPr/>
          <p:nvPr/>
        </p:nvSpPr>
        <p:spPr>
          <a:xfrm>
            <a:off x="713232" y="1856231"/>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1892807"/>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01</a:t>
            </a:r>
          </a:p>
        </p:txBody>
      </p:sp>
      <p:sp>
        <p:nvSpPr>
          <p:cNvPr id="14" name="TextBox 13"/>
          <p:cNvSpPr txBox="1"/>
          <p:nvPr/>
        </p:nvSpPr>
        <p:spPr>
          <a:xfrm>
            <a:off x="1344168" y="1828800"/>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Citez une donnée qui arriverait trop tard.</a:t>
            </a:r>
          </a:p>
        </p:txBody>
      </p:sp>
      <p:sp>
        <p:nvSpPr>
          <p:cNvPr id="15" name="Oval 14"/>
          <p:cNvSpPr/>
          <p:nvPr/>
        </p:nvSpPr>
        <p:spPr>
          <a:xfrm>
            <a:off x="713232" y="2591409"/>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2627985"/>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02</a:t>
            </a:r>
          </a:p>
        </p:txBody>
      </p:sp>
      <p:sp>
        <p:nvSpPr>
          <p:cNvPr id="17" name="TextBox 16"/>
          <p:cNvSpPr txBox="1"/>
          <p:nvPr/>
        </p:nvSpPr>
        <p:spPr>
          <a:xfrm>
            <a:off x="1344168" y="2563977"/>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Distinguez score et décision.</a:t>
            </a:r>
          </a:p>
        </p:txBody>
      </p:sp>
      <p:sp>
        <p:nvSpPr>
          <p:cNvPr id="18" name="Oval 17"/>
          <p:cNvSpPr/>
          <p:nvPr/>
        </p:nvSpPr>
        <p:spPr>
          <a:xfrm>
            <a:off x="713232" y="3326587"/>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3363163"/>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03</a:t>
            </a:r>
          </a:p>
        </p:txBody>
      </p:sp>
      <p:sp>
        <p:nvSpPr>
          <p:cNvPr id="20" name="TextBox 19"/>
          <p:cNvSpPr txBox="1"/>
          <p:nvPr/>
        </p:nvSpPr>
        <p:spPr>
          <a:xfrm>
            <a:off x="1344168" y="3299155"/>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Donnez un coût de faux positif.</a:t>
            </a:r>
          </a:p>
        </p:txBody>
      </p:sp>
      <p:sp>
        <p:nvSpPr>
          <p:cNvPr id="21" name="Oval 20"/>
          <p:cNvSpPr/>
          <p:nvPr/>
        </p:nvSpPr>
        <p:spPr>
          <a:xfrm>
            <a:off x="713232" y="4061764"/>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098340"/>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04</a:t>
            </a:r>
          </a:p>
        </p:txBody>
      </p:sp>
      <p:sp>
        <p:nvSpPr>
          <p:cNvPr id="23" name="TextBox 22"/>
          <p:cNvSpPr txBox="1"/>
          <p:nvPr/>
        </p:nvSpPr>
        <p:spPr>
          <a:xfrm>
            <a:off x="1344168" y="4034332"/>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Nommez un responsable d’action.</a:t>
            </a:r>
          </a:p>
        </p:txBody>
      </p:sp>
      <p:sp>
        <p:nvSpPr>
          <p:cNvPr id="24" name="Oval 23"/>
          <p:cNvSpPr/>
          <p:nvPr/>
        </p:nvSpPr>
        <p:spPr>
          <a:xfrm>
            <a:off x="713232" y="4796942"/>
            <a:ext cx="429768" cy="429768"/>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833518"/>
            <a:ext cx="411480" cy="274320"/>
          </a:xfrm>
          <a:prstGeom prst="rect">
            <a:avLst/>
          </a:prstGeom>
          <a:noFill/>
        </p:spPr>
        <p:txBody>
          <a:bodyPr wrap="square" lIns="22860" rIns="22860" tIns="22860" bIns="22860" anchor="ctr">
            <a:spAutoFit/>
          </a:bodyPr>
          <a:lstStyle/>
          <a:p>
            <a:pPr algn="ctr">
              <a:spcBef>
                <a:spcPts val="0"/>
              </a:spcBef>
              <a:spcAft>
                <a:spcPts val="300"/>
              </a:spcAft>
              <a:defRPr sz="1500" b="1">
                <a:solidFill>
                  <a:srgbClr val="FFFFFF"/>
                </a:solidFill>
                <a:latin typeface="Liberation Sans"/>
              </a:defRPr>
            </a:pPr>
            <a:r>
              <a:t>05</a:t>
            </a:r>
          </a:p>
        </p:txBody>
      </p:sp>
      <p:sp>
        <p:nvSpPr>
          <p:cNvPr id="26" name="TextBox 25"/>
          <p:cNvSpPr txBox="1"/>
          <p:nvPr/>
        </p:nvSpPr>
        <p:spPr>
          <a:xfrm>
            <a:off x="1344168" y="4769510"/>
            <a:ext cx="10131552" cy="625449"/>
          </a:xfrm>
          <a:prstGeom prst="rect">
            <a:avLst/>
          </a:prstGeom>
          <a:noFill/>
        </p:spPr>
        <p:txBody>
          <a:bodyPr wrap="square" lIns="22860" rIns="22860" tIns="22860" bIns="22860" anchor="ctr">
            <a:spAutoFit/>
          </a:bodyPr>
          <a:lstStyle/>
          <a:p>
            <a:pPr>
              <a:spcBef>
                <a:spcPts val="0"/>
              </a:spcBef>
              <a:spcAft>
                <a:spcPts val="300"/>
              </a:spcAft>
              <a:defRPr sz="2500" b="0">
                <a:solidFill>
                  <a:srgbClr val="0D0D0D"/>
                </a:solidFill>
                <a:latin typeface="Liberation Sans"/>
              </a:defRPr>
            </a:pPr>
            <a:r>
              <a:t>Expliquez une condition d’ouverture des données.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3468C"/>
        </a:solidFill>
        <a:effectLst/>
      </p:bgPr>
    </p:bg>
    <p:spTree>
      <p:nvGrpSpPr>
        <p:cNvPr id="1" name=""/>
        <p:cNvGrpSpPr/>
        <p:nvPr/>
      </p:nvGrpSpPr>
      <p:grpSpPr/>
      <p:sp>
        <p:nvSpPr>
          <p:cNvPr id="2" name="TextBox 1"/>
          <p:cNvSpPr txBox="1"/>
          <p:nvPr/>
        </p:nvSpPr>
        <p:spPr>
          <a:xfrm>
            <a:off x="594360" y="457200"/>
            <a:ext cx="10058400" cy="365760"/>
          </a:xfrm>
          <a:prstGeom prst="rect">
            <a:avLst/>
          </a:prstGeom>
          <a:noFill/>
        </p:spPr>
        <p:txBody>
          <a:bodyPr wrap="square" lIns="22860" rIns="22860" tIns="22860" bIns="22860" anchor="ctr">
            <a:spAutoFit/>
          </a:bodyPr>
          <a:lstStyle/>
          <a:p>
            <a:pPr>
              <a:spcBef>
                <a:spcPts val="0"/>
              </a:spcBef>
              <a:spcAft>
                <a:spcPts val="300"/>
              </a:spcAft>
              <a:defRPr sz="1400" b="1">
                <a:solidFill>
                  <a:srgbClr val="FFFFFF"/>
                </a:solidFill>
                <a:latin typeface="Liberation Sans"/>
              </a:defRPr>
            </a:pPr>
            <a:r>
              <a:t>JOUR 1  /  ANNEXE  /  NIVEAU APPLICATION</a:t>
            </a:r>
          </a:p>
        </p:txBody>
      </p:sp>
      <p:sp>
        <p:nvSpPr>
          <p:cNvPr id="3" name="TextBox 2"/>
          <p:cNvSpPr txBox="1"/>
          <p:nvPr/>
        </p:nvSpPr>
        <p:spPr>
          <a:xfrm>
            <a:off x="594360" y="1353312"/>
            <a:ext cx="10607040" cy="1965960"/>
          </a:xfrm>
          <a:prstGeom prst="rect">
            <a:avLst/>
          </a:prstGeom>
          <a:noFill/>
        </p:spPr>
        <p:txBody>
          <a:bodyPr wrap="square" lIns="22860" rIns="22860" tIns="22860" bIns="22860" anchor="ctr">
            <a:spAutoFit/>
          </a:bodyPr>
          <a:lstStyle/>
          <a:p>
            <a:pPr>
              <a:spcBef>
                <a:spcPts val="0"/>
              </a:spcBef>
              <a:spcAft>
                <a:spcPts val="300"/>
              </a:spcAft>
              <a:defRPr sz="4200" b="1">
                <a:solidFill>
                  <a:srgbClr val="FFFFFF"/>
                </a:solidFill>
                <a:latin typeface="Liberation Sans"/>
              </a:defRPr>
            </a:pPr>
            <a:r>
              <a:t>Annexes du jour 1</a:t>
            </a:r>
          </a:p>
        </p:txBody>
      </p:sp>
      <p:sp>
        <p:nvSpPr>
          <p:cNvPr id="4" name="TextBox 3"/>
          <p:cNvSpPr txBox="1"/>
          <p:nvPr/>
        </p:nvSpPr>
        <p:spPr>
          <a:xfrm>
            <a:off x="658368" y="367588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01  Approfondissements</a:t>
            </a:r>
          </a:p>
        </p:txBody>
      </p:sp>
      <p:sp>
        <p:nvSpPr>
          <p:cNvPr id="5" name="TextBox 4"/>
          <p:cNvSpPr txBox="1"/>
          <p:nvPr/>
        </p:nvSpPr>
        <p:spPr>
          <a:xfrm>
            <a:off x="658368" y="4224527"/>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02  Corrigés de référence</a:t>
            </a:r>
          </a:p>
        </p:txBody>
      </p:sp>
      <p:sp>
        <p:nvSpPr>
          <p:cNvPr id="6" name="TextBox 5"/>
          <p:cNvSpPr txBox="1"/>
          <p:nvPr/>
        </p:nvSpPr>
        <p:spPr>
          <a:xfrm>
            <a:off x="658368" y="4773168"/>
            <a:ext cx="10789920" cy="457200"/>
          </a:xfrm>
          <a:prstGeom prst="rect">
            <a:avLst/>
          </a:prstGeom>
          <a:noFill/>
        </p:spPr>
        <p:txBody>
          <a:bodyPr wrap="square" lIns="22860" rIns="22860" tIns="22860" bIns="22860" anchor="ctr">
            <a:spAutoFit/>
          </a:bodyPr>
          <a:lstStyle/>
          <a:p>
            <a:pPr>
              <a:spcBef>
                <a:spcPts val="0"/>
              </a:spcBef>
              <a:spcAft>
                <a:spcPts val="300"/>
              </a:spcAft>
              <a:defRPr sz="2400" b="0">
                <a:solidFill>
                  <a:srgbClr val="FFFFFF"/>
                </a:solidFill>
                <a:latin typeface="Liberation Sans"/>
              </a:defRPr>
            </a:pPr>
            <a:r>
              <a:t>03  Sources</a:t>
            </a:r>
          </a:p>
        </p:txBody>
      </p:sp>
      <p:sp>
        <p:nvSpPr>
          <p:cNvPr id="7" name="TextBox 6"/>
          <p:cNvSpPr txBox="1"/>
          <p:nvPr/>
        </p:nvSpPr>
        <p:spPr>
          <a:xfrm>
            <a:off x="594360" y="6080760"/>
            <a:ext cx="10972800" cy="384048"/>
          </a:xfrm>
          <a:prstGeom prst="rect">
            <a:avLst/>
          </a:prstGeom>
          <a:noFill/>
        </p:spPr>
        <p:txBody>
          <a:bodyPr wrap="square" lIns="22860" rIns="22860" tIns="22860" bIns="22860" anchor="ctr">
            <a:spAutoFit/>
          </a:bodyPr>
          <a:lstStyle/>
          <a:p>
            <a:pPr>
              <a:spcBef>
                <a:spcPts val="0"/>
              </a:spcBef>
              <a:spcAft>
                <a:spcPts val="300"/>
              </a:spcAft>
              <a:defRPr sz="1800" b="1">
                <a:solidFill>
                  <a:srgbClr val="D9CF4A"/>
                </a:solidFill>
                <a:latin typeface="Liberation Sans"/>
              </a:defRPr>
            </a:pPr>
            <a:r>
              <a:t>Hors minutage • À sélectionner selon le groupe</a:t>
            </a:r>
          </a:p>
        </p:txBody>
      </p:sp>
      <p:sp>
        <p:nvSpPr>
          <p:cNvPr id="8" name="TextBox 7"/>
          <p:cNvSpPr txBox="1"/>
          <p:nvPr/>
        </p:nvSpPr>
        <p:spPr>
          <a:xfrm>
            <a:off x="594360" y="6556248"/>
            <a:ext cx="9144000" cy="146304"/>
          </a:xfrm>
          <a:prstGeom prst="rect">
            <a:avLst/>
          </a:prstGeom>
          <a:noFill/>
        </p:spPr>
        <p:txBody>
          <a:bodyPr wrap="square" lIns="22860" rIns="22860" tIns="22860" bIns="22860" anchor="ctr">
            <a:spAutoFit/>
          </a:bodyPr>
          <a:lstStyle/>
          <a:p>
            <a:pPr>
              <a:spcBef>
                <a:spcPts val="0"/>
              </a:spcBef>
              <a:spcAft>
                <a:spcPts val="300"/>
              </a:spcAft>
              <a:defRPr sz="1300" b="0">
                <a:solidFill>
                  <a:srgbClr val="FFFFFF"/>
                </a:solidFill>
                <a:latin typeface="Liberation Sans"/>
              </a:defRPr>
            </a:pPr>
            <a:r>
              <a:t>https://p2enjoy.studio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Lire une étude de cas avec sept questions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Transférer une méthode de raisonnement, pas recopier un pourcentage.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J1-063</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Contexte</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population et quelle période ?</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Problème</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décision est améliorée ?</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Données</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Quelles sources et quels droits ?</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Mécanisme</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 traitement est documenté ?</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Résultat</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mesure et quel comparateur ?</a:t>
            </a:r>
          </a:p>
        </p:txBody>
      </p:sp>
      <p:sp>
        <p:nvSpPr>
          <p:cNvPr id="32" name="Rounded Rectangle 31"/>
          <p:cNvSpPr/>
          <p:nvPr/>
        </p:nvSpPr>
        <p:spPr>
          <a:xfrm>
            <a:off x="80619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19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5695"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Limites</a:t>
            </a:r>
          </a:p>
        </p:txBody>
      </p:sp>
      <p:sp>
        <p:nvSpPr>
          <p:cNvPr id="35" name="TextBox 34"/>
          <p:cNvSpPr txBox="1"/>
          <p:nvPr/>
        </p:nvSpPr>
        <p:spPr>
          <a:xfrm>
            <a:off x="8226551"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Source intéressée ? Causalité établie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950" b="1">
                <a:solidFill>
                  <a:srgbClr val="132443"/>
                </a:solidFill>
                <a:latin typeface="Liberation Sans"/>
              </a:defRPr>
            </a:pPr>
            <a:r>
              <a:t>Netflix 2025 : une estimation n’est pas un KPI officiel</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Prépublication de novembre 2025 • Résultats conditionnels au protocole de recherche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J1-064</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Résultat rapporté</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Une étude contrefactuelle estime une baisse d’engagement de 4 % ou 12 % selon le système de remplacement.</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Interprétation correcte</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résultat de modèle appliqué à des données Netflix, avec des hypothèses ; pas une garantie industrielle universelle.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2550" b="1">
                <a:solidFill>
                  <a:srgbClr val="132443"/>
                </a:solidFill>
                <a:latin typeface="Liberation Sans"/>
              </a:defRPr>
            </a:pPr>
            <a:r>
              <a:t>Recommandation : la boucle peut renforcer ses propres biais</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Les décisions du système modifient ses futures données.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 · S28</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J1-065</a:t>
            </a:r>
          </a:p>
        </p:txBody>
      </p:sp>
      <p:cxnSp>
        <p:nvCxnSpPr>
          <p:cNvPr id="12" name="Connector 11"/>
          <p:cNvCxnSpPr/>
          <p:nvPr/>
        </p:nvCxnSpPr>
        <p:spPr>
          <a:xfrm>
            <a:off x="6080760" y="2359152"/>
            <a:ext cx="3582941" cy="9919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rot="928524">
            <a:off x="7771646" y="2781990"/>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8295139" y="3351132"/>
            <a:ext cx="1368562" cy="160505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rot="7827165">
            <a:off x="8878836" y="4080510"/>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3866380" y="4956191"/>
            <a:ext cx="4428759" cy="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rot="10800000">
            <a:off x="5980176" y="4883039"/>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flipV="1">
            <a:off x="2497818" y="3351132"/>
            <a:ext cx="1368562" cy="1605059"/>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rot="13772835">
            <a:off x="3081515" y="4080510"/>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497818" y="2359152"/>
            <a:ext cx="3582942" cy="991980"/>
          </a:xfrm>
          <a:prstGeom prst="line">
            <a:avLst/>
          </a:prstGeom>
          <a:ln w="25400">
            <a:solidFill>
              <a:srgbClr val="238C33"/>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rot="20671476">
            <a:off x="4188705" y="2781990"/>
            <a:ext cx="201168" cy="14630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19472" y="195681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1768" y="201168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Exposition</a:t>
            </a:r>
          </a:p>
        </p:txBody>
      </p:sp>
      <p:sp>
        <p:nvSpPr>
          <p:cNvPr id="24" name="TextBox 23"/>
          <p:cNvSpPr txBox="1"/>
          <p:nvPr/>
        </p:nvSpPr>
        <p:spPr>
          <a:xfrm>
            <a:off x="5001768" y="2322576"/>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Certains contenus sont montrés</a:t>
            </a:r>
          </a:p>
        </p:txBody>
      </p:sp>
      <p:sp>
        <p:nvSpPr>
          <p:cNvPr id="25" name="Rounded Rectangle 24"/>
          <p:cNvSpPr/>
          <p:nvPr/>
        </p:nvSpPr>
        <p:spPr>
          <a:xfrm>
            <a:off x="8502413" y="294879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84709" y="3003660"/>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Interaction</a:t>
            </a:r>
          </a:p>
        </p:txBody>
      </p:sp>
      <p:sp>
        <p:nvSpPr>
          <p:cNvPr id="27" name="TextBox 26"/>
          <p:cNvSpPr txBox="1"/>
          <p:nvPr/>
        </p:nvSpPr>
        <p:spPr>
          <a:xfrm>
            <a:off x="8584709" y="3314556"/>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Les utilisateurs choisissent parmi eux</a:t>
            </a:r>
          </a:p>
        </p:txBody>
      </p:sp>
      <p:sp>
        <p:nvSpPr>
          <p:cNvPr id="28" name="Rounded Rectangle 27"/>
          <p:cNvSpPr/>
          <p:nvPr/>
        </p:nvSpPr>
        <p:spPr>
          <a:xfrm>
            <a:off x="7133851" y="4553855"/>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16147" y="4608719"/>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Données</a:t>
            </a:r>
          </a:p>
        </p:txBody>
      </p:sp>
      <p:sp>
        <p:nvSpPr>
          <p:cNvPr id="30" name="TextBox 29"/>
          <p:cNvSpPr txBox="1"/>
          <p:nvPr/>
        </p:nvSpPr>
        <p:spPr>
          <a:xfrm>
            <a:off x="7216147" y="4919615"/>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Les clics deviennent des signaux</a:t>
            </a:r>
          </a:p>
        </p:txBody>
      </p:sp>
      <p:sp>
        <p:nvSpPr>
          <p:cNvPr id="31" name="Rounded Rectangle 30"/>
          <p:cNvSpPr/>
          <p:nvPr/>
        </p:nvSpPr>
        <p:spPr>
          <a:xfrm>
            <a:off x="2705092" y="4553855"/>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7388" y="4608719"/>
            <a:ext cx="2157984" cy="329184"/>
          </a:xfrm>
          <a:prstGeom prst="rect">
            <a:avLst/>
          </a:prstGeom>
          <a:noFill/>
        </p:spPr>
        <p:txBody>
          <a:bodyPr wrap="square" lIns="22860" rIns="22860" tIns="22860" bIns="22860" anchor="ctr">
            <a:spAutoFit/>
          </a:bodyPr>
          <a:lstStyle/>
          <a:p>
            <a:pPr algn="ctr">
              <a:spcBef>
                <a:spcPts val="0"/>
              </a:spcBef>
              <a:spcAft>
                <a:spcPts val="300"/>
              </a:spcAft>
              <a:defRPr sz="1900" b="1">
                <a:solidFill>
                  <a:srgbClr val="23468C"/>
                </a:solidFill>
                <a:latin typeface="Liberation Sans"/>
              </a:defRPr>
            </a:pPr>
            <a:r>
              <a:t>Apprentissage</a:t>
            </a:r>
          </a:p>
        </p:txBody>
      </p:sp>
      <p:sp>
        <p:nvSpPr>
          <p:cNvPr id="33" name="TextBox 32"/>
          <p:cNvSpPr txBox="1"/>
          <p:nvPr/>
        </p:nvSpPr>
        <p:spPr>
          <a:xfrm>
            <a:off x="2787388" y="4919615"/>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Le système renforce des associations</a:t>
            </a:r>
          </a:p>
        </p:txBody>
      </p:sp>
      <p:sp>
        <p:nvSpPr>
          <p:cNvPr id="34" name="Rounded Rectangle 33"/>
          <p:cNvSpPr/>
          <p:nvPr/>
        </p:nvSpPr>
        <p:spPr>
          <a:xfrm>
            <a:off x="1336530" y="2948796"/>
            <a:ext cx="2322576" cy="804672"/>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18826" y="3003660"/>
            <a:ext cx="2157984" cy="329184"/>
          </a:xfrm>
          <a:prstGeom prst="rect">
            <a:avLst/>
          </a:prstGeom>
          <a:noFill/>
        </p:spPr>
        <p:txBody>
          <a:bodyPr wrap="square" lIns="22860" rIns="22860" tIns="22860" bIns="22860" anchor="ctr">
            <a:spAutoFit/>
          </a:bodyPr>
          <a:lstStyle/>
          <a:p>
            <a:pPr algn="ctr">
              <a:spcBef>
                <a:spcPts val="0"/>
              </a:spcBef>
              <a:spcAft>
                <a:spcPts val="300"/>
              </a:spcAft>
              <a:defRPr sz="1550" b="1">
                <a:solidFill>
                  <a:srgbClr val="23468C"/>
                </a:solidFill>
                <a:latin typeface="Liberation Sans"/>
              </a:defRPr>
            </a:pPr>
            <a:r>
              <a:t>Nouvelle exposition</a:t>
            </a:r>
          </a:p>
        </p:txBody>
      </p:sp>
      <p:sp>
        <p:nvSpPr>
          <p:cNvPr id="36" name="TextBox 35"/>
          <p:cNvSpPr txBox="1"/>
          <p:nvPr/>
        </p:nvSpPr>
        <p:spPr>
          <a:xfrm>
            <a:off x="1418826" y="3314556"/>
            <a:ext cx="2157984" cy="329184"/>
          </a:xfrm>
          <a:prstGeom prst="rect">
            <a:avLst/>
          </a:prstGeom>
          <a:noFill/>
        </p:spPr>
        <p:txBody>
          <a:bodyPr wrap="square" lIns="22860" rIns="22860" tIns="22860" bIns="22860" anchor="ctr">
            <a:spAutoFit/>
          </a:bodyPr>
          <a:lstStyle/>
          <a:p>
            <a:pPr algn="ctr">
              <a:spcBef>
                <a:spcPts val="0"/>
              </a:spcBef>
              <a:spcAft>
                <a:spcPts val="300"/>
              </a:spcAft>
              <a:defRPr sz="1300" b="0">
                <a:solidFill>
                  <a:srgbClr val="0D0D0D"/>
                </a:solidFill>
                <a:latin typeface="Liberation Sans"/>
              </a:defRPr>
            </a:pPr>
            <a:r>
              <a:t>Le catalogue visible évolue</a:t>
            </a:r>
          </a:p>
        </p:txBody>
      </p:sp>
      <p:sp>
        <p:nvSpPr>
          <p:cNvPr id="37" name="Oval 36"/>
          <p:cNvSpPr/>
          <p:nvPr/>
        </p:nvSpPr>
        <p:spPr>
          <a:xfrm>
            <a:off x="5074920" y="3136392"/>
            <a:ext cx="2011680" cy="1316736"/>
          </a:xfrm>
          <a:prstGeom prst="ellipse">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75504" y="3236976"/>
            <a:ext cx="1810512" cy="1115568"/>
          </a:xfrm>
          <a:prstGeom prst="rect">
            <a:avLst/>
          </a:prstGeom>
          <a:noFill/>
        </p:spPr>
        <p:txBody>
          <a:bodyPr wrap="square" lIns="22860" rIns="22860" tIns="22860" bIns="22860" anchor="ctr">
            <a:spAutoFit/>
          </a:bodyPr>
          <a:lstStyle/>
          <a:p>
            <a:pPr algn="ctr">
              <a:spcBef>
                <a:spcPts val="0"/>
              </a:spcBef>
              <a:spcAft>
                <a:spcPts val="300"/>
              </a:spcAft>
              <a:defRPr sz="2300" b="1">
                <a:solidFill>
                  <a:srgbClr val="FFFFFF"/>
                </a:solidFill>
                <a:latin typeface="Liberation Sans"/>
              </a:defRPr>
            </a:pPr>
            <a:r>
              <a:t>DÉCISION</a:t>
            </a:r>
          </a:p>
          <a:p>
            <a:pPr algn="ctr">
              <a:spcBef>
                <a:spcPts val="0"/>
              </a:spcBef>
              <a:spcAft>
                <a:spcPts val="300"/>
              </a:spcAft>
              <a:defRPr sz="2300" b="1">
                <a:solidFill>
                  <a:srgbClr val="FFFFFF"/>
                </a:solidFill>
                <a:latin typeface="Liberation Sans"/>
              </a:defRPr>
            </a:pPr>
            <a:r>
              <a:t>MÉTIER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Airbus : la chaîne de preuve opérationnelle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maintenance prédictive relie statistiques et contraintes physiques.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S11</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J1-066</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Alerte</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Date et score</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Revue</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1650" b="0">
                <a:solidFill>
                  <a:srgbClr val="0D0D0D"/>
                </a:solidFill>
                <a:latin typeface="Liberation Sans"/>
              </a:defRPr>
            </a:pPr>
            <a:r>
              <a:t>Interprétation technique</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Décision</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Inspection ou intervention</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Exécution</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Action réellement effectuée</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1850" b="1">
                <a:solidFill>
                  <a:srgbClr val="23468C"/>
                </a:solidFill>
                <a:latin typeface="Liberation Sans"/>
              </a:defRPr>
            </a:pPr>
            <a:r>
              <a:t>Observation</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1900" b="0">
                <a:solidFill>
                  <a:srgbClr val="0D0D0D"/>
                </a:solidFill>
                <a:latin typeface="Liberation Sans"/>
              </a:defRPr>
            </a:pPr>
            <a:r>
              <a:t>État et disponibilité</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Comparer les cas : ce qu’ils apprennent au SI</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Comparer les mécanismes, pas les marques.</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S07 · S08 · S10 · S11 · S13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J1-067</a:t>
            </a:r>
          </a:p>
        </p:txBody>
      </p:sp>
      <p:sp>
        <p:nvSpPr>
          <p:cNvPr id="12" name="Rectangle 11"/>
          <p:cNvSpPr/>
          <p:nvPr/>
        </p:nvSpPr>
        <p:spPr>
          <a:xfrm>
            <a:off x="594360" y="1792224"/>
            <a:ext cx="3190067"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2970611"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Cas</a:t>
            </a:r>
          </a:p>
        </p:txBody>
      </p:sp>
      <p:sp>
        <p:nvSpPr>
          <p:cNvPr id="14" name="Rectangle 13"/>
          <p:cNvSpPr/>
          <p:nvPr/>
        </p:nvSpPr>
        <p:spPr>
          <a:xfrm>
            <a:off x="3784427" y="1792224"/>
            <a:ext cx="3850081"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94155" y="1833372"/>
            <a:ext cx="3630625"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Mécanisme</a:t>
            </a:r>
          </a:p>
        </p:txBody>
      </p:sp>
      <p:sp>
        <p:nvSpPr>
          <p:cNvPr id="16" name="Rectangle 15"/>
          <p:cNvSpPr/>
          <p:nvPr/>
        </p:nvSpPr>
        <p:spPr>
          <a:xfrm>
            <a:off x="7634508" y="1792224"/>
            <a:ext cx="3960083" cy="65532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236" y="1833372"/>
            <a:ext cx="3740627" cy="573024"/>
          </a:xfrm>
          <a:prstGeom prst="rect">
            <a:avLst/>
          </a:prstGeom>
          <a:noFill/>
        </p:spPr>
        <p:txBody>
          <a:bodyPr wrap="square" lIns="22860" rIns="22860" tIns="22860" bIns="22860" anchor="ctr">
            <a:spAutoFit/>
          </a:bodyPr>
          <a:lstStyle/>
          <a:p>
            <a:pPr>
              <a:spcBef>
                <a:spcPts val="0"/>
              </a:spcBef>
              <a:spcAft>
                <a:spcPts val="300"/>
              </a:spcAft>
              <a:defRPr sz="2100" b="1">
                <a:solidFill>
                  <a:srgbClr val="FFFFFF"/>
                </a:solidFill>
                <a:latin typeface="Liberation Sans"/>
              </a:defRPr>
            </a:pPr>
            <a:r>
              <a:t>Leçon transférable</a:t>
            </a:r>
          </a:p>
        </p:txBody>
      </p:sp>
      <p:cxnSp>
        <p:nvCxnSpPr>
          <p:cNvPr id="18" name="Connector 17"/>
          <p:cNvCxnSpPr/>
          <p:nvPr/>
        </p:nvCxnSpPr>
        <p:spPr>
          <a:xfrm>
            <a:off x="594360" y="24475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244754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8869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Netflix</a:t>
            </a:r>
          </a:p>
        </p:txBody>
      </p:sp>
      <p:sp>
        <p:nvSpPr>
          <p:cNvPr id="21" name="Rectangle 20"/>
          <p:cNvSpPr/>
          <p:nvPr/>
        </p:nvSpPr>
        <p:spPr>
          <a:xfrm>
            <a:off x="3784427" y="244754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4155" y="248869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Recommandation</a:t>
            </a:r>
          </a:p>
        </p:txBody>
      </p:sp>
      <p:sp>
        <p:nvSpPr>
          <p:cNvPr id="23" name="Rectangle 22"/>
          <p:cNvSpPr/>
          <p:nvPr/>
        </p:nvSpPr>
        <p:spPr>
          <a:xfrm>
            <a:off x="7634508" y="244754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236" y="2488692"/>
            <a:ext cx="3740627" cy="57302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Interface et expérimentation</a:t>
            </a:r>
          </a:p>
        </p:txBody>
      </p:sp>
      <p:cxnSp>
        <p:nvCxnSpPr>
          <p:cNvPr id="25" name="Connector 24"/>
          <p:cNvCxnSpPr/>
          <p:nvPr/>
        </p:nvCxnSpPr>
        <p:spPr>
          <a:xfrm>
            <a:off x="594360" y="310286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310286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14401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Google Play</a:t>
            </a:r>
          </a:p>
        </p:txBody>
      </p:sp>
      <p:sp>
        <p:nvSpPr>
          <p:cNvPr id="28" name="Rectangle 27"/>
          <p:cNvSpPr/>
          <p:nvPr/>
        </p:nvSpPr>
        <p:spPr>
          <a:xfrm>
            <a:off x="3784427" y="310286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4155" y="3144012"/>
            <a:ext cx="3630625" cy="573024"/>
          </a:xfrm>
          <a:prstGeom prst="rect">
            <a:avLst/>
          </a:prstGeom>
          <a:noFill/>
        </p:spPr>
        <p:txBody>
          <a:bodyPr wrap="square" lIns="22860" rIns="22860" tIns="22860" bIns="22860" anchor="ctr">
            <a:spAutoFit/>
          </a:bodyPr>
          <a:lstStyle/>
          <a:p>
            <a:pPr>
              <a:spcBef>
                <a:spcPts val="0"/>
              </a:spcBef>
              <a:spcAft>
                <a:spcPts val="300"/>
              </a:spcAft>
              <a:defRPr sz="2050" b="0">
                <a:solidFill>
                  <a:srgbClr val="0D0D0D"/>
                </a:solidFill>
                <a:latin typeface="Liberation Sans"/>
              </a:defRPr>
            </a:pPr>
            <a:r>
              <a:t>Combinaison de modèles</a:t>
            </a:r>
          </a:p>
        </p:txBody>
      </p:sp>
      <p:sp>
        <p:nvSpPr>
          <p:cNvPr id="30" name="Rectangle 29"/>
          <p:cNvSpPr/>
          <p:nvPr/>
        </p:nvSpPr>
        <p:spPr>
          <a:xfrm>
            <a:off x="7634508" y="310286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44236" y="3144012"/>
            <a:ext cx="3740627"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Mémoriser et généraliser</a:t>
            </a:r>
          </a:p>
        </p:txBody>
      </p:sp>
      <p:cxnSp>
        <p:nvCxnSpPr>
          <p:cNvPr id="32" name="Connector 31"/>
          <p:cNvCxnSpPr/>
          <p:nvPr/>
        </p:nvCxnSpPr>
        <p:spPr>
          <a:xfrm>
            <a:off x="594360" y="3758183"/>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94360" y="3758183"/>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79933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Stripe</a:t>
            </a:r>
          </a:p>
        </p:txBody>
      </p:sp>
      <p:sp>
        <p:nvSpPr>
          <p:cNvPr id="35" name="Rectangle 34"/>
          <p:cNvSpPr/>
          <p:nvPr/>
        </p:nvSpPr>
        <p:spPr>
          <a:xfrm>
            <a:off x="3784427" y="3758183"/>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94155" y="379933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Fraude</a:t>
            </a:r>
          </a:p>
        </p:txBody>
      </p:sp>
      <p:sp>
        <p:nvSpPr>
          <p:cNvPr id="37" name="Rectangle 36"/>
          <p:cNvSpPr/>
          <p:nvPr/>
        </p:nvSpPr>
        <p:spPr>
          <a:xfrm>
            <a:off x="7634508" y="3758183"/>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236" y="3799331"/>
            <a:ext cx="3740627" cy="573024"/>
          </a:xfrm>
          <a:prstGeom prst="rect">
            <a:avLst/>
          </a:prstGeom>
          <a:noFill/>
        </p:spPr>
        <p:txBody>
          <a:bodyPr wrap="square" lIns="22860" rIns="22860" tIns="22860" bIns="22860" anchor="ctr">
            <a:spAutoFit/>
          </a:bodyPr>
          <a:lstStyle/>
          <a:p>
            <a:pPr>
              <a:spcBef>
                <a:spcPts val="0"/>
              </a:spcBef>
              <a:spcAft>
                <a:spcPts val="300"/>
              </a:spcAft>
              <a:defRPr sz="1950" b="0">
                <a:solidFill>
                  <a:srgbClr val="0D0D0D"/>
                </a:solidFill>
                <a:latin typeface="Liberation Sans"/>
              </a:defRPr>
            </a:pPr>
            <a:r>
              <a:t>Coût des erreurs et rapidité</a:t>
            </a:r>
          </a:p>
        </p:txBody>
      </p:sp>
      <p:cxnSp>
        <p:nvCxnSpPr>
          <p:cNvPr id="39" name="Connector 38"/>
          <p:cNvCxnSpPr/>
          <p:nvPr/>
        </p:nvCxnSpPr>
        <p:spPr>
          <a:xfrm>
            <a:off x="594360" y="441350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413504"/>
            <a:ext cx="3190067"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454651"/>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Airbus</a:t>
            </a:r>
          </a:p>
        </p:txBody>
      </p:sp>
      <p:sp>
        <p:nvSpPr>
          <p:cNvPr id="42" name="Rectangle 41"/>
          <p:cNvSpPr/>
          <p:nvPr/>
        </p:nvSpPr>
        <p:spPr>
          <a:xfrm>
            <a:off x="3784427" y="4413504"/>
            <a:ext cx="3850081"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94155" y="4454651"/>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Maintenance</a:t>
            </a:r>
          </a:p>
        </p:txBody>
      </p:sp>
      <p:sp>
        <p:nvSpPr>
          <p:cNvPr id="44" name="Rectangle 43"/>
          <p:cNvSpPr/>
          <p:nvPr/>
        </p:nvSpPr>
        <p:spPr>
          <a:xfrm>
            <a:off x="7634508" y="4413504"/>
            <a:ext cx="3960083" cy="655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4236" y="4454651"/>
            <a:ext cx="3740627" cy="573024"/>
          </a:xfrm>
          <a:prstGeom prst="rect">
            <a:avLst/>
          </a:prstGeom>
          <a:noFill/>
        </p:spPr>
        <p:txBody>
          <a:bodyPr wrap="square" lIns="22860" rIns="22860" tIns="22860" bIns="22860" anchor="ctr">
            <a:spAutoFit/>
          </a:bodyPr>
          <a:lstStyle/>
          <a:p>
            <a:pPr>
              <a:spcBef>
                <a:spcPts val="0"/>
              </a:spcBef>
              <a:spcAft>
                <a:spcPts val="300"/>
              </a:spcAft>
              <a:defRPr sz="1850" b="0">
                <a:solidFill>
                  <a:srgbClr val="0D0D0D"/>
                </a:solidFill>
                <a:latin typeface="Liberation Sans"/>
              </a:defRPr>
            </a:pPr>
            <a:r>
              <a:t>Alerte reliée à une procédure</a:t>
            </a:r>
          </a:p>
        </p:txBody>
      </p:sp>
      <p:cxnSp>
        <p:nvCxnSpPr>
          <p:cNvPr id="46" name="Connector 45"/>
          <p:cNvCxnSpPr/>
          <p:nvPr/>
        </p:nvCxnSpPr>
        <p:spPr>
          <a:xfrm>
            <a:off x="594360" y="5068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94360" y="5068824"/>
            <a:ext cx="3190067"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5109972"/>
            <a:ext cx="2970611"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Michelin</a:t>
            </a:r>
          </a:p>
        </p:txBody>
      </p:sp>
      <p:sp>
        <p:nvSpPr>
          <p:cNvPr id="49" name="Rectangle 48"/>
          <p:cNvSpPr/>
          <p:nvPr/>
        </p:nvSpPr>
        <p:spPr>
          <a:xfrm>
            <a:off x="3784427" y="5068824"/>
            <a:ext cx="3850081"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4155" y="5109972"/>
            <a:ext cx="3630625" cy="573024"/>
          </a:xfrm>
          <a:prstGeom prst="rect">
            <a:avLst/>
          </a:prstGeom>
          <a:noFill/>
        </p:spPr>
        <p:txBody>
          <a:bodyPr wrap="square" lIns="22860" rIns="22860" tIns="22860" bIns="22860" anchor="ctr">
            <a:spAutoFit/>
          </a:bodyPr>
          <a:lstStyle/>
          <a:p>
            <a:pPr>
              <a:spcBef>
                <a:spcPts val="0"/>
              </a:spcBef>
              <a:spcAft>
                <a:spcPts val="300"/>
              </a:spcAft>
              <a:defRPr sz="2100" b="0">
                <a:solidFill>
                  <a:srgbClr val="0D0D0D"/>
                </a:solidFill>
                <a:latin typeface="Liberation Sans"/>
              </a:defRPr>
            </a:pPr>
            <a:r>
              <a:t>Service de données</a:t>
            </a:r>
          </a:p>
        </p:txBody>
      </p:sp>
      <p:sp>
        <p:nvSpPr>
          <p:cNvPr id="51" name="Rectangle 50"/>
          <p:cNvSpPr/>
          <p:nvPr/>
        </p:nvSpPr>
        <p:spPr>
          <a:xfrm>
            <a:off x="7634508" y="5068824"/>
            <a:ext cx="3960083" cy="65532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236" y="5109972"/>
            <a:ext cx="3740627" cy="573024"/>
          </a:xfrm>
          <a:prstGeom prst="rect">
            <a:avLst/>
          </a:prstGeom>
          <a:noFill/>
        </p:spPr>
        <p:txBody>
          <a:bodyPr wrap="square" lIns="22860" rIns="22860" tIns="22860" bIns="22860" anchor="ctr">
            <a:spAutoFit/>
          </a:bodyPr>
          <a:lstStyle/>
          <a:p>
            <a:pPr>
              <a:spcBef>
                <a:spcPts val="0"/>
              </a:spcBef>
              <a:spcAft>
                <a:spcPts val="300"/>
              </a:spcAft>
              <a:defRPr sz="1900" b="0">
                <a:solidFill>
                  <a:srgbClr val="0D0D0D"/>
                </a:solidFill>
                <a:latin typeface="Liberation Sans"/>
              </a:defRPr>
            </a:pPr>
            <a:r>
              <a:t>Accès métier à l’information</a:t>
            </a:r>
          </a:p>
        </p:txBody>
      </p:sp>
      <p:cxnSp>
        <p:nvCxnSpPr>
          <p:cNvPr id="53" name="Connector 52"/>
          <p:cNvCxnSpPr/>
          <p:nvPr/>
        </p:nvCxnSpPr>
        <p:spPr>
          <a:xfrm>
            <a:off x="594360" y="572414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250" b="1">
                <a:solidFill>
                  <a:srgbClr val="132443"/>
                </a:solidFill>
                <a:latin typeface="Liberation Sans"/>
              </a:defRPr>
            </a:pPr>
            <a:r>
              <a:t>Un essai commercial fictif : effet absolu et relatif</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Exemple arithmétique synthétique • Pas de résultat de campagne réelle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J1-068</a:t>
            </a:r>
          </a:p>
        </p:txBody>
      </p:sp>
      <p:sp>
        <p:nvSpPr>
          <p:cNvPr id="12" name="Rectangle 11"/>
          <p:cNvSpPr/>
          <p:nvPr/>
        </p:nvSpPr>
        <p:spPr>
          <a:xfrm>
            <a:off x="594360" y="1792224"/>
            <a:ext cx="3410071"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1833372"/>
            <a:ext cx="3190615"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Groupe fictif</a:t>
            </a:r>
          </a:p>
        </p:txBody>
      </p:sp>
      <p:sp>
        <p:nvSpPr>
          <p:cNvPr id="14" name="Rectangle 13"/>
          <p:cNvSpPr/>
          <p:nvPr/>
        </p:nvSpPr>
        <p:spPr>
          <a:xfrm>
            <a:off x="4004431"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159"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Effectif</a:t>
            </a:r>
          </a:p>
        </p:txBody>
      </p:sp>
      <p:sp>
        <p:nvSpPr>
          <p:cNvPr id="16" name="Rectangle 15"/>
          <p:cNvSpPr/>
          <p:nvPr/>
        </p:nvSpPr>
        <p:spPr>
          <a:xfrm>
            <a:off x="6534485"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4213"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Départs</a:t>
            </a:r>
          </a:p>
        </p:txBody>
      </p:sp>
      <p:sp>
        <p:nvSpPr>
          <p:cNvPr id="18" name="Rectangle 17"/>
          <p:cNvSpPr/>
          <p:nvPr/>
        </p:nvSpPr>
        <p:spPr>
          <a:xfrm>
            <a:off x="9064538" y="1792224"/>
            <a:ext cx="2530053" cy="685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4266" y="1833372"/>
            <a:ext cx="2310597" cy="603504"/>
          </a:xfrm>
          <a:prstGeom prst="rect">
            <a:avLst/>
          </a:prstGeom>
          <a:noFill/>
        </p:spPr>
        <p:txBody>
          <a:bodyPr wrap="square" lIns="22860" rIns="22860" tIns="22860" bIns="22860" anchor="ctr">
            <a:spAutoFit/>
          </a:bodyPr>
          <a:lstStyle/>
          <a:p>
            <a:pPr>
              <a:spcBef>
                <a:spcPts val="0"/>
              </a:spcBef>
              <a:spcAft>
                <a:spcPts val="300"/>
              </a:spcAft>
              <a:defRPr sz="1800" b="1">
                <a:solidFill>
                  <a:srgbClr val="FFFFFF"/>
                </a:solidFill>
                <a:latin typeface="Liberation Sans"/>
              </a:defRPr>
            </a:pPr>
            <a:r>
              <a:t>Taux</a:t>
            </a:r>
          </a:p>
        </p:txBody>
      </p:sp>
      <p:cxnSp>
        <p:nvCxnSpPr>
          <p:cNvPr id="20" name="Connector 19"/>
          <p:cNvCxnSpPr/>
          <p:nvPr/>
        </p:nvCxnSpPr>
        <p:spPr>
          <a:xfrm>
            <a:off x="594360" y="24780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94360" y="24780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25191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Témoin</a:t>
            </a:r>
          </a:p>
        </p:txBody>
      </p:sp>
      <p:sp>
        <p:nvSpPr>
          <p:cNvPr id="23" name="Rectangle 22"/>
          <p:cNvSpPr/>
          <p:nvPr/>
        </p:nvSpPr>
        <p:spPr>
          <a:xfrm>
            <a:off x="4004431"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159"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500</a:t>
            </a:r>
          </a:p>
        </p:txBody>
      </p:sp>
      <p:sp>
        <p:nvSpPr>
          <p:cNvPr id="25" name="Rectangle 24"/>
          <p:cNvSpPr/>
          <p:nvPr/>
        </p:nvSpPr>
        <p:spPr>
          <a:xfrm>
            <a:off x="6534485"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4213"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50</a:t>
            </a:r>
          </a:p>
        </p:txBody>
      </p:sp>
      <p:sp>
        <p:nvSpPr>
          <p:cNvPr id="27" name="Rectangle 26"/>
          <p:cNvSpPr/>
          <p:nvPr/>
        </p:nvSpPr>
        <p:spPr>
          <a:xfrm>
            <a:off x="9064538" y="24780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74266" y="25191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10 %</a:t>
            </a:r>
          </a:p>
        </p:txBody>
      </p:sp>
      <p:cxnSp>
        <p:nvCxnSpPr>
          <p:cNvPr id="29" name="Connector 28"/>
          <p:cNvCxnSpPr/>
          <p:nvPr/>
        </p:nvCxnSpPr>
        <p:spPr>
          <a:xfrm>
            <a:off x="594360" y="31638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94360" y="3163824"/>
            <a:ext cx="341007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2049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Traité</a:t>
            </a:r>
          </a:p>
        </p:txBody>
      </p:sp>
      <p:sp>
        <p:nvSpPr>
          <p:cNvPr id="32" name="Rectangle 31"/>
          <p:cNvSpPr/>
          <p:nvPr/>
        </p:nvSpPr>
        <p:spPr>
          <a:xfrm>
            <a:off x="4004431"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159"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500</a:t>
            </a:r>
          </a:p>
        </p:txBody>
      </p:sp>
      <p:sp>
        <p:nvSpPr>
          <p:cNvPr id="34" name="Rectangle 33"/>
          <p:cNvSpPr/>
          <p:nvPr/>
        </p:nvSpPr>
        <p:spPr>
          <a:xfrm>
            <a:off x="6534485"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44213"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35</a:t>
            </a:r>
          </a:p>
        </p:txBody>
      </p:sp>
      <p:sp>
        <p:nvSpPr>
          <p:cNvPr id="36" name="Rectangle 35"/>
          <p:cNvSpPr/>
          <p:nvPr/>
        </p:nvSpPr>
        <p:spPr>
          <a:xfrm>
            <a:off x="9064538" y="31638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74266" y="32049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7 %</a:t>
            </a:r>
          </a:p>
        </p:txBody>
      </p:sp>
      <p:cxnSp>
        <p:nvCxnSpPr>
          <p:cNvPr id="38" name="Connector 37"/>
          <p:cNvCxnSpPr/>
          <p:nvPr/>
        </p:nvCxnSpPr>
        <p:spPr>
          <a:xfrm>
            <a:off x="594360" y="38496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94360" y="3849624"/>
            <a:ext cx="3410071"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38907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Écart absolu</a:t>
            </a:r>
          </a:p>
        </p:txBody>
      </p:sp>
      <p:sp>
        <p:nvSpPr>
          <p:cNvPr id="41" name="Rectangle 40"/>
          <p:cNvSpPr/>
          <p:nvPr/>
        </p:nvSpPr>
        <p:spPr>
          <a:xfrm>
            <a:off x="4004431"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159"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p>
        </p:txBody>
      </p:sp>
      <p:sp>
        <p:nvSpPr>
          <p:cNvPr id="43" name="Rectangle 42"/>
          <p:cNvSpPr/>
          <p:nvPr/>
        </p:nvSpPr>
        <p:spPr>
          <a:xfrm>
            <a:off x="6534485"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4213"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15 de moins</a:t>
            </a:r>
          </a:p>
        </p:txBody>
      </p:sp>
      <p:sp>
        <p:nvSpPr>
          <p:cNvPr id="45" name="Rectangle 44"/>
          <p:cNvSpPr/>
          <p:nvPr/>
        </p:nvSpPr>
        <p:spPr>
          <a:xfrm>
            <a:off x="9064538" y="3849624"/>
            <a:ext cx="2530053" cy="685800"/>
          </a:xfrm>
          <a:prstGeom prst="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74266" y="38907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3 points</a:t>
            </a:r>
          </a:p>
        </p:txBody>
      </p:sp>
      <p:cxnSp>
        <p:nvCxnSpPr>
          <p:cNvPr id="47" name="Connector 46"/>
          <p:cNvCxnSpPr/>
          <p:nvPr/>
        </p:nvCxnSpPr>
        <p:spPr>
          <a:xfrm>
            <a:off x="594360" y="45354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94360" y="4535424"/>
            <a:ext cx="3410071"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 y="4576572"/>
            <a:ext cx="3190615"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Écart relatif</a:t>
            </a:r>
          </a:p>
        </p:txBody>
      </p:sp>
      <p:sp>
        <p:nvSpPr>
          <p:cNvPr id="50" name="Rectangle 49"/>
          <p:cNvSpPr/>
          <p:nvPr/>
        </p:nvSpPr>
        <p:spPr>
          <a:xfrm>
            <a:off x="4004431"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159"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p>
        </p:txBody>
      </p:sp>
      <p:sp>
        <p:nvSpPr>
          <p:cNvPr id="52" name="Rectangle 51"/>
          <p:cNvSpPr/>
          <p:nvPr/>
        </p:nvSpPr>
        <p:spPr>
          <a:xfrm>
            <a:off x="6534485"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44213"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p>
        </p:txBody>
      </p:sp>
      <p:sp>
        <p:nvSpPr>
          <p:cNvPr id="54" name="Rectangle 53"/>
          <p:cNvSpPr/>
          <p:nvPr/>
        </p:nvSpPr>
        <p:spPr>
          <a:xfrm>
            <a:off x="9064538" y="4535424"/>
            <a:ext cx="2530053"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74266" y="4576572"/>
            <a:ext cx="2310597" cy="603504"/>
          </a:xfrm>
          <a:prstGeom prst="rect">
            <a:avLst/>
          </a:prstGeom>
          <a:noFill/>
        </p:spPr>
        <p:txBody>
          <a:bodyPr wrap="square" lIns="22860" rIns="22860" tIns="22860" bIns="22860" anchor="ctr">
            <a:spAutoFit/>
          </a:bodyPr>
          <a:lstStyle/>
          <a:p>
            <a:pPr>
              <a:spcBef>
                <a:spcPts val="0"/>
              </a:spcBef>
              <a:spcAft>
                <a:spcPts val="300"/>
              </a:spcAft>
              <a:defRPr sz="1800" b="0">
                <a:solidFill>
                  <a:srgbClr val="0D0D0D"/>
                </a:solidFill>
                <a:latin typeface="Liberation Sans"/>
              </a:defRPr>
            </a:pPr>
            <a:r>
              <a:t>30 % de moins</a:t>
            </a:r>
          </a:p>
        </p:txBody>
      </p:sp>
      <p:cxnSp>
        <p:nvCxnSpPr>
          <p:cNvPr id="56" name="Connector 55"/>
          <p:cNvCxnSpPr/>
          <p:nvPr/>
        </p:nvCxnSpPr>
        <p:spPr>
          <a:xfrm>
            <a:off x="594360" y="5221224"/>
            <a:ext cx="11000232" cy="0"/>
          </a:xfrm>
          <a:prstGeom prst="line">
            <a:avLst/>
          </a:prstGeom>
          <a:ln w="7620">
            <a:solidFill>
              <a:srgbClr val="D9E1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La donnée n’est pas du pétrole</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La valeur dépend de l’usage maîtrisé, pas seulement de la possession.</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J1-069</a:t>
            </a:r>
          </a:p>
        </p:txBody>
      </p:sp>
      <p:sp>
        <p:nvSpPr>
          <p:cNvPr id="12" name="Rounded Rectangle 11"/>
          <p:cNvSpPr/>
          <p:nvPr/>
        </p:nvSpPr>
        <p:spPr>
          <a:xfrm>
            <a:off x="594360"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38862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Analogie utile</a:t>
            </a:r>
          </a:p>
        </p:txBody>
      </p:sp>
      <p:sp>
        <p:nvSpPr>
          <p:cNvPr id="15" name="TextBox 14"/>
          <p:cNvSpPr txBox="1"/>
          <p:nvPr/>
        </p:nvSpPr>
        <p:spPr>
          <a:xfrm>
            <a:off x="758952"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Un actif qui peut soutenir un service et des décisions.</a:t>
            </a:r>
          </a:p>
        </p:txBody>
      </p:sp>
      <p:sp>
        <p:nvSpPr>
          <p:cNvPr id="16" name="Rounded Rectangle 15"/>
          <p:cNvSpPr/>
          <p:nvPr/>
        </p:nvSpPr>
        <p:spPr>
          <a:xfrm>
            <a:off x="6195059" y="1783080"/>
            <a:ext cx="5399531" cy="38862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5059" y="1783080"/>
            <a:ext cx="54864" cy="38862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920240"/>
            <a:ext cx="5052059"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Analogie trompeuse</a:t>
            </a:r>
          </a:p>
        </p:txBody>
      </p:sp>
      <p:sp>
        <p:nvSpPr>
          <p:cNvPr id="19" name="TextBox 18"/>
          <p:cNvSpPr txBox="1"/>
          <p:nvPr/>
        </p:nvSpPr>
        <p:spPr>
          <a:xfrm>
            <a:off x="6359651" y="2459736"/>
            <a:ext cx="5070347" cy="306324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La donnée n’est pas consommée par un seul usage ; sa valeur dépend du contexte, de sa qualité et de ses droits.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Dix signaux d’alerte dans un projet IA</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Un signal d’alerte déclenche une question et une action correctrice.</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J1-070</a:t>
            </a:r>
          </a:p>
        </p:txBody>
      </p:sp>
      <p:sp>
        <p:nvSpPr>
          <p:cNvPr id="12" name="Rounded Rectangle 11"/>
          <p:cNvSpPr/>
          <p:nvPr/>
        </p:nvSpPr>
        <p:spPr>
          <a:xfrm>
            <a:off x="5943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1 / 2</a:t>
            </a:r>
          </a:p>
        </p:txBody>
      </p:sp>
      <p:sp>
        <p:nvSpPr>
          <p:cNvPr id="15" name="TextBox 14"/>
          <p:cNvSpPr txBox="1"/>
          <p:nvPr/>
        </p:nvSpPr>
        <p:spPr>
          <a:xfrm>
            <a:off x="758952" y="2459736"/>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Technologie avant le problème ; volume avant la valeur.</a:t>
            </a:r>
          </a:p>
        </p:txBody>
      </p:sp>
      <p:sp>
        <p:nvSpPr>
          <p:cNvPr id="16" name="Rounded Rectangle 15"/>
          <p:cNvSpPr/>
          <p:nvPr/>
        </p:nvSpPr>
        <p:spPr>
          <a:xfrm>
            <a:off x="43281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60" y="1783080"/>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1896"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3 / 4</a:t>
            </a:r>
          </a:p>
        </p:txBody>
      </p:sp>
      <p:sp>
        <p:nvSpPr>
          <p:cNvPr id="19" name="TextBox 18"/>
          <p:cNvSpPr txBox="1"/>
          <p:nvPr/>
        </p:nvSpPr>
        <p:spPr>
          <a:xfrm>
            <a:off x="4492752" y="2459736"/>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Métrique flatteuse ; prototype pris pour la production.</a:t>
            </a:r>
          </a:p>
        </p:txBody>
      </p:sp>
      <p:sp>
        <p:nvSpPr>
          <p:cNvPr id="20" name="Rounded Rectangle 19"/>
          <p:cNvSpPr/>
          <p:nvPr/>
        </p:nvSpPr>
        <p:spPr>
          <a:xfrm>
            <a:off x="8061960" y="1783080"/>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1960" y="1783080"/>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5695" y="1920240"/>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5 / 6</a:t>
            </a:r>
          </a:p>
        </p:txBody>
      </p:sp>
      <p:sp>
        <p:nvSpPr>
          <p:cNvPr id="23" name="TextBox 22"/>
          <p:cNvSpPr txBox="1"/>
          <p:nvPr/>
        </p:nvSpPr>
        <p:spPr>
          <a:xfrm>
            <a:off x="8226551" y="2459736"/>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Sécurité tardive ; responsabilité laissée au modèle.</a:t>
            </a:r>
          </a:p>
        </p:txBody>
      </p:sp>
      <p:sp>
        <p:nvSpPr>
          <p:cNvPr id="24" name="Rounded Rectangle 23"/>
          <p:cNvSpPr/>
          <p:nvPr/>
        </p:nvSpPr>
        <p:spPr>
          <a:xfrm>
            <a:off x="5943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826764"/>
            <a:ext cx="54864" cy="1842516"/>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8C33"/>
                </a:solidFill>
                <a:latin typeface="Liberation Sans"/>
              </a:defRPr>
            </a:pPr>
            <a:r>
              <a:t>7 / 8</a:t>
            </a:r>
          </a:p>
        </p:txBody>
      </p:sp>
      <p:sp>
        <p:nvSpPr>
          <p:cNvPr id="27" name="TextBox 26"/>
          <p:cNvSpPr txBox="1"/>
          <p:nvPr/>
        </p:nvSpPr>
        <p:spPr>
          <a:xfrm>
            <a:off x="758952" y="4503420"/>
            <a:ext cx="3203448" cy="1019556"/>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Pas de suivi ; partage de toute la base.</a:t>
            </a:r>
          </a:p>
        </p:txBody>
      </p:sp>
      <p:sp>
        <p:nvSpPr>
          <p:cNvPr id="28" name="Rounded Rectangle 27"/>
          <p:cNvSpPr/>
          <p:nvPr/>
        </p:nvSpPr>
        <p:spPr>
          <a:xfrm>
            <a:off x="4328160" y="3826764"/>
            <a:ext cx="3532632" cy="1842516"/>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8160" y="3826764"/>
            <a:ext cx="54864" cy="1842516"/>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1896" y="3963924"/>
            <a:ext cx="3185160" cy="475488"/>
          </a:xfrm>
          <a:prstGeom prst="rect">
            <a:avLst/>
          </a:prstGeom>
          <a:noFill/>
        </p:spPr>
        <p:txBody>
          <a:bodyPr wrap="square" lIns="22860" rIns="22860" tIns="22860" bIns="22860" anchor="ctr">
            <a:spAutoFit/>
          </a:bodyPr>
          <a:lstStyle/>
          <a:p>
            <a:pPr>
              <a:spcBef>
                <a:spcPts val="0"/>
              </a:spcBef>
              <a:spcAft>
                <a:spcPts val="300"/>
              </a:spcAft>
              <a:defRPr sz="2300" b="1">
                <a:solidFill>
                  <a:srgbClr val="23468C"/>
                </a:solidFill>
                <a:latin typeface="Liberation Sans"/>
              </a:defRPr>
            </a:pPr>
            <a:r>
              <a:t>9 / 10</a:t>
            </a:r>
          </a:p>
        </p:txBody>
      </p:sp>
      <p:sp>
        <p:nvSpPr>
          <p:cNvPr id="31" name="TextBox 30"/>
          <p:cNvSpPr txBox="1"/>
          <p:nvPr/>
        </p:nvSpPr>
        <p:spPr>
          <a:xfrm>
            <a:off x="4492752" y="4503420"/>
            <a:ext cx="3203448" cy="1019556"/>
          </a:xfrm>
          <a:prstGeom prst="rect">
            <a:avLst/>
          </a:prstGeom>
          <a:noFill/>
        </p:spPr>
        <p:txBody>
          <a:bodyPr wrap="square" lIns="22860" rIns="22860" tIns="22860" bIns="22860" anchor="t">
            <a:spAutoFit/>
          </a:bodyPr>
          <a:lstStyle/>
          <a:p>
            <a:pPr>
              <a:spcBef>
                <a:spcPts val="0"/>
              </a:spcBef>
              <a:spcAft>
                <a:spcPts val="300"/>
              </a:spcAft>
              <a:defRPr sz="2050" b="0">
                <a:solidFill>
                  <a:srgbClr val="0D0D0D"/>
                </a:solidFill>
                <a:latin typeface="Liberation Sans"/>
              </a:defRPr>
            </a:pPr>
            <a:r>
              <a:t>Achat confondu avec stratégie ; génératif imposé partout.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Ce que la gouvernance doit pouvoir prouver</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Tracer ce qui permettra de comprendre et corriger, sans journaliser inutilement tout.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 · S17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J1-071</a:t>
            </a:r>
          </a:p>
        </p:txBody>
      </p:sp>
      <p:sp>
        <p:nvSpPr>
          <p:cNvPr id="12" name="Rounded Rectangle 11"/>
          <p:cNvSpPr/>
          <p:nvPr/>
        </p:nvSpPr>
        <p:spPr>
          <a:xfrm>
            <a:off x="594360"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01</a:t>
            </a:r>
          </a:p>
        </p:txBody>
      </p:sp>
      <p:sp>
        <p:nvSpPr>
          <p:cNvPr id="15" name="TextBox 14"/>
          <p:cNvSpPr txBox="1"/>
          <p:nvPr/>
        </p:nvSpPr>
        <p:spPr>
          <a:xfrm>
            <a:off x="768096"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Finalité</a:t>
            </a:r>
          </a:p>
        </p:txBody>
      </p:sp>
      <p:sp>
        <p:nvSpPr>
          <p:cNvPr id="16" name="TextBox 15"/>
          <p:cNvSpPr txBox="1"/>
          <p:nvPr/>
        </p:nvSpPr>
        <p:spPr>
          <a:xfrm>
            <a:off x="758952"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Pourquoi ce traitement ?</a:t>
            </a:r>
          </a:p>
        </p:txBody>
      </p:sp>
      <p:sp>
        <p:nvSpPr>
          <p:cNvPr id="17" name="Chevron 16"/>
          <p:cNvSpPr/>
          <p:nvPr/>
        </p:nvSpPr>
        <p:spPr>
          <a:xfrm>
            <a:off x="2617927"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51099"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1099"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835"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02</a:t>
            </a:r>
          </a:p>
        </p:txBody>
      </p:sp>
      <p:sp>
        <p:nvSpPr>
          <p:cNvPr id="21" name="TextBox 20"/>
          <p:cNvSpPr txBox="1"/>
          <p:nvPr/>
        </p:nvSpPr>
        <p:spPr>
          <a:xfrm>
            <a:off x="3024835"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Données</a:t>
            </a:r>
          </a:p>
        </p:txBody>
      </p:sp>
      <p:sp>
        <p:nvSpPr>
          <p:cNvPr id="22" name="TextBox 21"/>
          <p:cNvSpPr txBox="1"/>
          <p:nvPr/>
        </p:nvSpPr>
        <p:spPr>
          <a:xfrm>
            <a:off x="3015691"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Origine et qualité</a:t>
            </a:r>
          </a:p>
        </p:txBody>
      </p:sp>
      <p:sp>
        <p:nvSpPr>
          <p:cNvPr id="23" name="Chevron 22"/>
          <p:cNvSpPr/>
          <p:nvPr/>
        </p:nvSpPr>
        <p:spPr>
          <a:xfrm>
            <a:off x="4874666"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07838"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7838"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1574"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03</a:t>
            </a:r>
          </a:p>
        </p:txBody>
      </p:sp>
      <p:sp>
        <p:nvSpPr>
          <p:cNvPr id="27" name="TextBox 26"/>
          <p:cNvSpPr txBox="1"/>
          <p:nvPr/>
        </p:nvSpPr>
        <p:spPr>
          <a:xfrm>
            <a:off x="5281574"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Version</a:t>
            </a:r>
          </a:p>
        </p:txBody>
      </p:sp>
      <p:sp>
        <p:nvSpPr>
          <p:cNvPr id="28" name="TextBox 27"/>
          <p:cNvSpPr txBox="1"/>
          <p:nvPr/>
        </p:nvSpPr>
        <p:spPr>
          <a:xfrm>
            <a:off x="5272430"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 modèle et quel code ?</a:t>
            </a:r>
          </a:p>
        </p:txBody>
      </p:sp>
      <p:sp>
        <p:nvSpPr>
          <p:cNvPr id="29" name="Chevron 28"/>
          <p:cNvSpPr/>
          <p:nvPr/>
        </p:nvSpPr>
        <p:spPr>
          <a:xfrm>
            <a:off x="7131405"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4577"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4577" y="1993392"/>
            <a:ext cx="54864" cy="29718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8313"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8C33"/>
                </a:solidFill>
                <a:latin typeface="Liberation Sans"/>
              </a:defRPr>
            </a:pPr>
            <a:r>
              <a:t>04</a:t>
            </a:r>
          </a:p>
        </p:txBody>
      </p:sp>
      <p:sp>
        <p:nvSpPr>
          <p:cNvPr id="33" name="TextBox 32"/>
          <p:cNvSpPr txBox="1"/>
          <p:nvPr/>
        </p:nvSpPr>
        <p:spPr>
          <a:xfrm>
            <a:off x="7538313"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8C33"/>
                </a:solidFill>
                <a:latin typeface="Liberation Sans"/>
              </a:defRPr>
            </a:pPr>
            <a:r>
              <a:t>Décision</a:t>
            </a:r>
          </a:p>
        </p:txBody>
      </p:sp>
      <p:sp>
        <p:nvSpPr>
          <p:cNvPr id="34" name="TextBox 33"/>
          <p:cNvSpPr txBox="1"/>
          <p:nvPr/>
        </p:nvSpPr>
        <p:spPr>
          <a:xfrm>
            <a:off x="7529169"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Quelle politique et qui ?</a:t>
            </a:r>
          </a:p>
        </p:txBody>
      </p:sp>
      <p:sp>
        <p:nvSpPr>
          <p:cNvPr id="35" name="Chevron 34"/>
          <p:cNvSpPr/>
          <p:nvPr/>
        </p:nvSpPr>
        <p:spPr>
          <a:xfrm>
            <a:off x="9388144" y="3360420"/>
            <a:ext cx="182880" cy="237744"/>
          </a:xfrm>
          <a:prstGeom prst="chevron">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21316" y="1993392"/>
            <a:ext cx="1973275" cy="297180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21316" y="1993392"/>
            <a:ext cx="54864" cy="29718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95052" y="2121408"/>
            <a:ext cx="502920" cy="283464"/>
          </a:xfrm>
          <a:prstGeom prst="rect">
            <a:avLst/>
          </a:prstGeom>
          <a:noFill/>
        </p:spPr>
        <p:txBody>
          <a:bodyPr wrap="square" lIns="22860" rIns="22860" tIns="22860" bIns="22860" anchor="ctr">
            <a:spAutoFit/>
          </a:bodyPr>
          <a:lstStyle/>
          <a:p>
            <a:pPr>
              <a:spcBef>
                <a:spcPts val="0"/>
              </a:spcBef>
              <a:spcAft>
                <a:spcPts val="300"/>
              </a:spcAft>
              <a:defRPr sz="1500" b="1">
                <a:solidFill>
                  <a:srgbClr val="23468C"/>
                </a:solidFill>
                <a:latin typeface="Liberation Sans"/>
              </a:defRPr>
            </a:pPr>
            <a:r>
              <a:t>05</a:t>
            </a:r>
          </a:p>
        </p:txBody>
      </p:sp>
      <p:sp>
        <p:nvSpPr>
          <p:cNvPr id="39" name="TextBox 38"/>
          <p:cNvSpPr txBox="1"/>
          <p:nvPr/>
        </p:nvSpPr>
        <p:spPr>
          <a:xfrm>
            <a:off x="9795052" y="2514600"/>
            <a:ext cx="1625803" cy="704088"/>
          </a:xfrm>
          <a:prstGeom prst="rect">
            <a:avLst/>
          </a:prstGeom>
          <a:noFill/>
        </p:spPr>
        <p:txBody>
          <a:bodyPr wrap="square" lIns="22860" rIns="22860" tIns="22860" bIns="22860" anchor="ctr">
            <a:spAutoFit/>
          </a:bodyPr>
          <a:lstStyle/>
          <a:p>
            <a:pPr>
              <a:spcBef>
                <a:spcPts val="0"/>
              </a:spcBef>
              <a:spcAft>
                <a:spcPts val="300"/>
              </a:spcAft>
              <a:defRPr sz="2100" b="1">
                <a:solidFill>
                  <a:srgbClr val="23468C"/>
                </a:solidFill>
                <a:latin typeface="Liberation Sans"/>
              </a:defRPr>
            </a:pPr>
            <a:r>
              <a:t>Suivi</a:t>
            </a:r>
          </a:p>
        </p:txBody>
      </p:sp>
      <p:sp>
        <p:nvSpPr>
          <p:cNvPr id="40" name="TextBox 39"/>
          <p:cNvSpPr txBox="1"/>
          <p:nvPr/>
        </p:nvSpPr>
        <p:spPr>
          <a:xfrm>
            <a:off x="9785908" y="3300984"/>
            <a:ext cx="1644091" cy="1508760"/>
          </a:xfrm>
          <a:prstGeom prst="rect">
            <a:avLst/>
          </a:prstGeom>
          <a:noFill/>
        </p:spPr>
        <p:txBody>
          <a:bodyPr wrap="square" lIns="22860" rIns="22860" tIns="22860" bIns="22860" anchor="t">
            <a:spAutoFit/>
          </a:bodyPr>
          <a:lstStyle/>
          <a:p>
            <a:pPr>
              <a:spcBef>
                <a:spcPts val="0"/>
              </a:spcBef>
              <a:spcAft>
                <a:spcPts val="300"/>
              </a:spcAft>
              <a:defRPr sz="2100" b="0">
                <a:solidFill>
                  <a:srgbClr val="0D0D0D"/>
                </a:solidFill>
                <a:latin typeface="Liberation Sans"/>
              </a:defRPr>
            </a:pPr>
            <a:r>
              <a:t>Quels résultats et incidents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1</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S01 · S02 · S04 · S05 · S07</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J1-072</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S01</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Référentiel et dossier fournis par Martino</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Texte fourni dans la conversation</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S02</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guide utilisateur</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https://scikit-learn.org/stable/user_guide.html</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S04</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scikit-learn : métriques et scores</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https://scikit-learn.org/stable/modules/model_evaluation.html</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S05</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LeCun, Bengio et Hinton : apprentissage profond</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https://www.nature.com/articles/nature14539</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S07</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Gomez-Uribe et Hunt : le système de recommandation Netflix</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https://doi.org/10.1145/2843948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2</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S08 · S09 · S10 · S11 · S13</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J1-073</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S08</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Cheng et al. : Wide &amp; Deep pour la recommandation</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https://research.google/pubs/wide-deep-learning-for-recommender-systems/</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S09</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Zielnicki et al. : valeur des recommandations Netflix</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https://arxiv.org/abs/2511.07280</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S10</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Stripe Radar : données et performance déclarées</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https://stripe.com/radar</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S11</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Airbus : maintenir les flottes en vol</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https://www.aircraft.airbus.com/en/newsroom/news/2024-10-keeping-the-fleet-flying</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S13</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Michelin : assistant IA de gestion de flotte</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https://www.michelin.com/publications/produits-et-services/michelin-connected-fleet-performance-op%C3%A9rationnelle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3</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S15 · S16 · S17 · S18 · S19</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J1-074</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S15</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CNIL : fiches pratiques IA</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https://www.cnil.fr/fr/les-fiches-pratiques-ia</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S16</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ANSSI : sécurité d’un système d’IA générative</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https://messervices.cyber.gouv.fr/guides/recommandations-de-securite-pour-un-systeme-dia-generative</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S17</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NIST : fonctions du cadre AI RMF 1.0</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https://airc.nist.gov/airmf-resources/airmf/5-sec-core/</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S18</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ISO/IEC 42001 : système de management de l’IA</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https://www.iso.org/fr/standard/81230.html</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S19</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cadre réglementaire IA</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https://digital-strategy.ec.europa.eu/en/policies/regulatory-framework-ai</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7315200" cy="256032"/>
          </a:xfrm>
          <a:prstGeom prst="rect">
            <a:avLst/>
          </a:prstGeom>
          <a:noFill/>
        </p:spPr>
        <p:txBody>
          <a:bodyPr wrap="square" lIns="22860" rIns="22860" tIns="22860" bIns="22860" anchor="ctr">
            <a:spAutoFit/>
          </a:bodyPr>
          <a:lstStyle/>
          <a:p>
            <a:pPr>
              <a:spcBef>
                <a:spcPts val="0"/>
              </a:spcBef>
              <a:spcAft>
                <a:spcPts val="300"/>
              </a:spcAft>
              <a:defRPr sz="1300" b="1">
                <a:solidFill>
                  <a:srgbClr val="586777"/>
                </a:solidFill>
                <a:latin typeface="Liberation Sans"/>
              </a:defRPr>
            </a:pPr>
            <a:r>
              <a:t>FORMATION 4-020   /   JOUR 1   /   ANNEXE</a:t>
            </a:r>
          </a:p>
        </p:txBody>
      </p:sp>
      <p:sp>
        <p:nvSpPr>
          <p:cNvPr id="4" name="Rounded Rectangle 3"/>
          <p:cNvSpPr/>
          <p:nvPr/>
        </p:nvSpPr>
        <p:spPr>
          <a:xfrm>
            <a:off x="9784080" y="237744"/>
            <a:ext cx="1810512" cy="320040"/>
          </a:xfrm>
          <a:prstGeom prst="roundRect">
            <a:avLst/>
          </a:prstGeom>
          <a:solidFill>
            <a:srgbClr val="F1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7232" y="256032"/>
            <a:ext cx="1664208" cy="265176"/>
          </a:xfrm>
          <a:prstGeom prst="rect">
            <a:avLst/>
          </a:prstGeom>
          <a:noFill/>
        </p:spPr>
        <p:txBody>
          <a:bodyPr wrap="square" lIns="22860" rIns="22860" tIns="22860" bIns="22860" anchor="ctr">
            <a:spAutoFit/>
          </a:bodyPr>
          <a:lstStyle/>
          <a:p>
            <a:pPr algn="ctr">
              <a:spcBef>
                <a:spcPts val="0"/>
              </a:spcBef>
              <a:spcAft>
                <a:spcPts val="300"/>
              </a:spcAft>
              <a:defRPr sz="1300" b="1">
                <a:solidFill>
                  <a:srgbClr val="23468C"/>
                </a:solidFill>
                <a:latin typeface="Liberation Sans"/>
              </a:defRPr>
            </a:pPr>
            <a:r>
              <a:t>RESSOURCE</a:t>
            </a:r>
          </a:p>
        </p:txBody>
      </p:sp>
      <p:sp>
        <p:nvSpPr>
          <p:cNvPr id="6" name="TextBox 5"/>
          <p:cNvSpPr txBox="1"/>
          <p:nvPr/>
        </p:nvSpPr>
        <p:spPr>
          <a:xfrm>
            <a:off x="594360" y="786384"/>
            <a:ext cx="11000232" cy="804672"/>
          </a:xfrm>
          <a:prstGeom prst="rect">
            <a:avLst/>
          </a:prstGeom>
          <a:noFill/>
        </p:spPr>
        <p:txBody>
          <a:bodyPr wrap="square" lIns="22860" rIns="22860" tIns="22860" bIns="22860" anchor="ctr">
            <a:spAutoFit/>
          </a:bodyPr>
          <a:lstStyle/>
          <a:p>
            <a:pPr>
              <a:spcBef>
                <a:spcPts val="0"/>
              </a:spcBef>
              <a:spcAft>
                <a:spcPts val="300"/>
              </a:spcAft>
              <a:defRPr sz="3300" b="1">
                <a:solidFill>
                  <a:srgbClr val="132443"/>
                </a:solidFill>
                <a:latin typeface="Liberation Sans"/>
              </a:defRPr>
            </a:pPr>
            <a:r>
              <a:t>Références et approfondissements 4</a:t>
            </a:r>
          </a:p>
        </p:txBody>
      </p:sp>
      <p:sp>
        <p:nvSpPr>
          <p:cNvPr id="7" name="Rectangle 6"/>
          <p:cNvSpPr/>
          <p:nvPr/>
        </p:nvSpPr>
        <p:spPr>
          <a:xfrm>
            <a:off x="594360" y="5897880"/>
            <a:ext cx="11000232" cy="475488"/>
          </a:xfrm>
          <a:prstGeom prst="rect">
            <a:avLst/>
          </a:prstGeom>
          <a:solidFill>
            <a:srgbClr val="132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61888"/>
            <a:ext cx="10652760" cy="329184"/>
          </a:xfrm>
          <a:prstGeom prst="rect">
            <a:avLst/>
          </a:prstGeom>
          <a:noFill/>
        </p:spPr>
        <p:txBody>
          <a:bodyPr wrap="square" lIns="22860" rIns="22860" tIns="22860" bIns="22860" anchor="ctr">
            <a:spAutoFit/>
          </a:bodyPr>
          <a:lstStyle/>
          <a:p>
            <a:pPr>
              <a:spcBef>
                <a:spcPts val="0"/>
              </a:spcBef>
              <a:spcAft>
                <a:spcPts val="300"/>
              </a:spcAft>
              <a:defRPr sz="1600" b="1">
                <a:solidFill>
                  <a:srgbClr val="FFFFFF"/>
                </a:solidFill>
                <a:latin typeface="Liberation Sans"/>
              </a:defRPr>
            </a:pPr>
            <a:r>
              <a:t>Bibliographie complète et statut des preuves dans les annexes du kit.</a:t>
            </a:r>
          </a:p>
        </p:txBody>
      </p:sp>
      <p:sp>
        <p:nvSpPr>
          <p:cNvPr id="9" name="TextBox 8"/>
          <p:cNvSpPr txBox="1"/>
          <p:nvPr/>
        </p:nvSpPr>
        <p:spPr>
          <a:xfrm>
            <a:off x="594360" y="6537960"/>
            <a:ext cx="6400800" cy="164592"/>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t>P2ENJOY  ·  https://p2enjoy.studio</a:t>
            </a:r>
          </a:p>
        </p:txBody>
      </p:sp>
      <p:sp>
        <p:nvSpPr>
          <p:cNvPr id="10" name="TextBox 9"/>
          <p:cNvSpPr txBox="1"/>
          <p:nvPr/>
        </p:nvSpPr>
        <p:spPr>
          <a:xfrm>
            <a:off x="6492240" y="6537960"/>
            <a:ext cx="4114800" cy="164592"/>
          </a:xfrm>
          <a:prstGeom prst="rect">
            <a:avLst/>
          </a:prstGeom>
          <a:noFill/>
        </p:spPr>
        <p:txBody>
          <a:bodyPr wrap="square" lIns="22860" rIns="22860" tIns="22860" bIns="22860" anchor="ctr">
            <a:spAutoFit/>
          </a:bodyPr>
          <a:lstStyle/>
          <a:p>
            <a:pPr algn="r">
              <a:spcBef>
                <a:spcPts val="0"/>
              </a:spcBef>
              <a:spcAft>
                <a:spcPts val="300"/>
              </a:spcAft>
              <a:defRPr sz="1300" b="0">
                <a:solidFill>
                  <a:srgbClr val="586777"/>
                </a:solidFill>
                <a:latin typeface="Liberation Sans"/>
              </a:defRPr>
            </a:pPr>
            <a:r>
              <a:t>S20 · S21 · S27 · S31 · S32</a:t>
            </a:r>
          </a:p>
        </p:txBody>
      </p:sp>
      <p:sp>
        <p:nvSpPr>
          <p:cNvPr id="11" name="TextBox 10"/>
          <p:cNvSpPr txBox="1"/>
          <p:nvPr/>
        </p:nvSpPr>
        <p:spPr>
          <a:xfrm>
            <a:off x="10835640" y="6492240"/>
            <a:ext cx="768096" cy="256032"/>
          </a:xfrm>
          <a:prstGeom prst="rect">
            <a:avLst/>
          </a:prstGeom>
          <a:noFill/>
        </p:spPr>
        <p:txBody>
          <a:bodyPr wrap="square" lIns="22860" rIns="22860" tIns="22860" bIns="22860" anchor="ctr">
            <a:spAutoFit/>
          </a:bodyPr>
          <a:lstStyle/>
          <a:p>
            <a:pPr algn="r">
              <a:spcBef>
                <a:spcPts val="0"/>
              </a:spcBef>
              <a:spcAft>
                <a:spcPts val="300"/>
              </a:spcAft>
              <a:defRPr sz="1300" b="1">
                <a:solidFill>
                  <a:srgbClr val="23468C"/>
                </a:solidFill>
                <a:latin typeface="Liberation Sans"/>
              </a:defRPr>
            </a:pPr>
            <a:r>
              <a:t>J1-075</a:t>
            </a:r>
          </a:p>
        </p:txBody>
      </p:sp>
      <p:sp>
        <p:nvSpPr>
          <p:cNvPr id="12" name="TextBox 11"/>
          <p:cNvSpPr txBox="1"/>
          <p:nvPr/>
        </p:nvSpPr>
        <p:spPr>
          <a:xfrm>
            <a:off x="658368" y="180136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S20</a:t>
            </a:r>
          </a:p>
        </p:txBody>
      </p:sp>
      <p:sp>
        <p:nvSpPr>
          <p:cNvPr id="13" name="TextBox 12"/>
          <p:cNvSpPr txBox="1"/>
          <p:nvPr/>
        </p:nvSpPr>
        <p:spPr>
          <a:xfrm>
            <a:off x="1417320" y="180136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calendrier d’application IA</a:t>
            </a:r>
          </a:p>
        </p:txBody>
      </p:sp>
      <p:sp>
        <p:nvSpPr>
          <p:cNvPr id="14" name="TextBox 13"/>
          <p:cNvSpPr txBox="1"/>
          <p:nvPr/>
        </p:nvSpPr>
        <p:spPr>
          <a:xfrm>
            <a:off x="1417320" y="210312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2"/>
              </a:rPr>
              <a:t>https://ai-act-service-desk.ec.europa.eu/en/ai-act/eu-ai-act-implementation-timeline</a:t>
            </a:r>
          </a:p>
        </p:txBody>
      </p:sp>
      <p:sp>
        <p:nvSpPr>
          <p:cNvPr id="15" name="TextBox 14"/>
          <p:cNvSpPr txBox="1"/>
          <p:nvPr/>
        </p:nvSpPr>
        <p:spPr>
          <a:xfrm>
            <a:off x="658368" y="257860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S21</a:t>
            </a:r>
          </a:p>
        </p:txBody>
      </p:sp>
      <p:sp>
        <p:nvSpPr>
          <p:cNvPr id="16" name="TextBox 15"/>
          <p:cNvSpPr txBox="1"/>
          <p:nvPr/>
        </p:nvSpPr>
        <p:spPr>
          <a:xfrm>
            <a:off x="1417320" y="257860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maîtrise de l’IA</a:t>
            </a:r>
          </a:p>
        </p:txBody>
      </p:sp>
      <p:sp>
        <p:nvSpPr>
          <p:cNvPr id="17" name="TextBox 16"/>
          <p:cNvSpPr txBox="1"/>
          <p:nvPr/>
        </p:nvSpPr>
        <p:spPr>
          <a:xfrm>
            <a:off x="1417320" y="288036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3"/>
              </a:rPr>
              <a:t>https://digital-strategy.ec.europa.eu/en/faqs/ai-literacy-questions-answers</a:t>
            </a:r>
          </a:p>
        </p:txBody>
      </p:sp>
      <p:sp>
        <p:nvSpPr>
          <p:cNvPr id="18" name="TextBox 17"/>
          <p:cNvSpPr txBox="1"/>
          <p:nvPr/>
        </p:nvSpPr>
        <p:spPr>
          <a:xfrm>
            <a:off x="658368" y="335584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S27</a:t>
            </a:r>
          </a:p>
        </p:txBody>
      </p:sp>
      <p:sp>
        <p:nvSpPr>
          <p:cNvPr id="19" name="TextBox 18"/>
          <p:cNvSpPr txBox="1"/>
          <p:nvPr/>
        </p:nvSpPr>
        <p:spPr>
          <a:xfrm>
            <a:off x="1417320" y="335584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NIST : architecture de référence Big Data</a:t>
            </a:r>
          </a:p>
        </p:txBody>
      </p:sp>
      <p:sp>
        <p:nvSpPr>
          <p:cNvPr id="20" name="TextBox 19"/>
          <p:cNvSpPr txBox="1"/>
          <p:nvPr/>
        </p:nvSpPr>
        <p:spPr>
          <a:xfrm>
            <a:off x="1417320" y="365760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4"/>
              </a:rPr>
              <a:t>https://www.nist.gov/publications/nist-big-data-interoperability-framework-volume-6-reference-architecture</a:t>
            </a:r>
          </a:p>
        </p:txBody>
      </p:sp>
      <p:sp>
        <p:nvSpPr>
          <p:cNvPr id="21" name="TextBox 20"/>
          <p:cNvSpPr txBox="1"/>
          <p:nvPr/>
        </p:nvSpPr>
        <p:spPr>
          <a:xfrm>
            <a:off x="658368" y="4133087"/>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S31</a:t>
            </a:r>
          </a:p>
        </p:txBody>
      </p:sp>
      <p:sp>
        <p:nvSpPr>
          <p:cNvPr id="22" name="TextBox 21"/>
          <p:cNvSpPr txBox="1"/>
          <p:nvPr/>
        </p:nvSpPr>
        <p:spPr>
          <a:xfrm>
            <a:off x="1417320" y="4133087"/>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Commission européenne : entrée en vigueur de l’AI Omnibus</a:t>
            </a:r>
          </a:p>
        </p:txBody>
      </p:sp>
      <p:sp>
        <p:nvSpPr>
          <p:cNvPr id="23" name="TextBox 22"/>
          <p:cNvSpPr txBox="1"/>
          <p:nvPr/>
        </p:nvSpPr>
        <p:spPr>
          <a:xfrm>
            <a:off x="1417320" y="443484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5"/>
              </a:rPr>
              <a:t>https://digital-strategy.ec.europa.eu/en/news/ai-omnibus-enters-force</a:t>
            </a:r>
          </a:p>
        </p:txBody>
      </p:sp>
      <p:sp>
        <p:nvSpPr>
          <p:cNvPr id="24" name="TextBox 23"/>
          <p:cNvSpPr txBox="1"/>
          <p:nvPr/>
        </p:nvSpPr>
        <p:spPr>
          <a:xfrm>
            <a:off x="658368" y="4910328"/>
            <a:ext cx="612648" cy="274320"/>
          </a:xfrm>
          <a:prstGeom prst="rect">
            <a:avLst/>
          </a:prstGeom>
          <a:noFill/>
        </p:spPr>
        <p:txBody>
          <a:bodyPr wrap="square" lIns="22860" rIns="22860" tIns="22860" bIns="22860" anchor="ctr">
            <a:spAutoFit/>
          </a:bodyPr>
          <a:lstStyle/>
          <a:p>
            <a:pPr>
              <a:spcBef>
                <a:spcPts val="0"/>
              </a:spcBef>
              <a:spcAft>
                <a:spcPts val="300"/>
              </a:spcAft>
              <a:defRPr sz="1300" b="1">
                <a:solidFill>
                  <a:srgbClr val="23468C"/>
                </a:solidFill>
                <a:latin typeface="Liberation Sans"/>
              </a:defRPr>
            </a:pPr>
            <a:r>
              <a:t>S32</a:t>
            </a:r>
          </a:p>
        </p:txBody>
      </p:sp>
      <p:sp>
        <p:nvSpPr>
          <p:cNvPr id="25" name="TextBox 24"/>
          <p:cNvSpPr txBox="1"/>
          <p:nvPr/>
        </p:nvSpPr>
        <p:spPr>
          <a:xfrm>
            <a:off x="1417320" y="4910328"/>
            <a:ext cx="10012680" cy="274320"/>
          </a:xfrm>
          <a:prstGeom prst="rect">
            <a:avLst/>
          </a:prstGeom>
          <a:noFill/>
        </p:spPr>
        <p:txBody>
          <a:bodyPr wrap="square" lIns="22860" rIns="22860" tIns="22860" bIns="22860" anchor="ctr">
            <a:spAutoFit/>
          </a:bodyPr>
          <a:lstStyle/>
          <a:p>
            <a:pPr>
              <a:spcBef>
                <a:spcPts val="0"/>
              </a:spcBef>
              <a:spcAft>
                <a:spcPts val="300"/>
              </a:spcAft>
              <a:defRPr sz="1650" b="1">
                <a:solidFill>
                  <a:srgbClr val="132443"/>
                </a:solidFill>
                <a:latin typeface="Liberation Sans"/>
              </a:defRPr>
            </a:pPr>
            <a:r>
              <a:t>CNIL : recommandations relatives à l’intérêt légitime</a:t>
            </a:r>
          </a:p>
        </p:txBody>
      </p:sp>
      <p:sp>
        <p:nvSpPr>
          <p:cNvPr id="26" name="TextBox 25"/>
          <p:cNvSpPr txBox="1"/>
          <p:nvPr/>
        </p:nvSpPr>
        <p:spPr>
          <a:xfrm>
            <a:off x="1417320" y="5212080"/>
            <a:ext cx="10012680" cy="292608"/>
          </a:xfrm>
          <a:prstGeom prst="rect">
            <a:avLst/>
          </a:prstGeom>
          <a:noFill/>
        </p:spPr>
        <p:txBody>
          <a:bodyPr wrap="square" lIns="22860" rIns="22860" tIns="22860" bIns="22860" anchor="ctr">
            <a:spAutoFit/>
          </a:bodyPr>
          <a:lstStyle/>
          <a:p>
            <a:pPr>
              <a:spcBef>
                <a:spcPts val="0"/>
              </a:spcBef>
              <a:spcAft>
                <a:spcPts val="300"/>
              </a:spcAft>
              <a:defRPr sz="1300" b="0">
                <a:solidFill>
                  <a:srgbClr val="586777"/>
                </a:solidFill>
                <a:latin typeface="Liberation Sans"/>
              </a:defRPr>
            </a:pPr>
            <a:r>
              <a:rPr>
                <a:hlinkClick r:id="rId6"/>
              </a:rPr>
              <a:t>https://cnil.fr/fr/recommandations-developpement-ia-interet-legitime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4-020, Jour 1</dc:title>
  <dc:subject>IA appliquée aux systèmes d’information de l’entreprise</dc:subject>
  <dc:creator>P2Enjoy 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