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001 | Type REPÈRE | Niveau Application | Support projection + notes]</a:t>
            </a:r>
          </a:p>
          <a:p/>
          <a:p>
            <a:r>
              <a:t>OBJECTIF OBSERVABLE</a:t>
            </a:r>
          </a:p>
          <a:p>
            <a:r>
              <a:t>Comprendre. Construire. Vérifier. Le participant doit pouvoir expliquer ou réaliser les éléments suivants : 18 heures • 3 journées ; DGFiP • 21 au 23 septembre 2026 ; Référence 4-024 • Niveau Application.</a:t>
            </a:r>
          </a:p>
          <a:p/>
          <a:p>
            <a:r>
              <a:t>EXPLICATION ET ANIMATION</a:t>
            </a:r>
          </a:p>
          <a:p>
            <a:r>
              <a:t>Pendant trois jours, nous ne cherchons pas à construire le réseau le plus volumineux. Nous apprenons à définir une tâche, organiser des données, entraîner un prototype et défendre une interprétation limitée à ce que les résultats autorisent. Le dossier fourni reste la base des contenus et des cas. Les données d’exercice sont publiques ou synthétiques. Les représentations visuelles sont des schémas pédagogiques originaux, et non des captures des systèmes internes de la DGFiP.</a:t>
            </a:r>
          </a:p>
          <a:p/>
          <a:p>
            <a:r>
              <a:t>QUESTION À POSER</a:t>
            </a:r>
          </a:p>
          <a:p>
            <a:r>
              <a:t>Quelle décision professionnelle souhaitez-vous mieux éclairer ?</a:t>
            </a:r>
          </a:p>
          <a:p/>
          <a:p>
            <a:r>
              <a:t>RÉPONSE ATTENDUE ET CORRECTION</a:t>
            </a:r>
          </a:p>
          <a:p>
            <a:r>
              <a:t>Recueillir des tâches concrètes plutôt que des demandes générales de « faire de l’IA ».</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002 | Type CONCEPT | Niveau Application | Support projection + notes]</a:t>
            </a:r>
          </a:p>
          <a:p/>
          <a:p>
            <a:r>
              <a:t>OBJECTIF OBSERVABLE</a:t>
            </a:r>
          </a:p>
          <a:p>
            <a:r>
              <a:t>Un prototype défendable, pas une boîte magique. Le participant doit pouvoir expliquer ou réaliser les éléments suivants : Formuler une cible et un moment de prédiction ; Construire et comparer des modèles ; Diagnostiquer, documenter et décider.</a:t>
            </a:r>
          </a:p>
          <a:p/>
          <a:p>
            <a:r>
              <a:t>EXPLICATION ET ANIMATION</a:t>
            </a:r>
          </a:p>
          <a:p>
            <a:r>
              <a:t>Le niveau Application se vérifie dans des actes observables : exécuter un notebook, corriger une dimension, choisir une perte cohérente, comparer une référence et lire les erreurs. Il ne signifie pas concevoir une architecture de recherche ou autoriser un déploiement sensible. Une bonne recommandation peut être de conserver une solution plus simple.</a:t>
            </a:r>
          </a:p>
          <a:p/>
          <a:p>
            <a:r>
              <a:t>QUESTION À POSER</a:t>
            </a:r>
          </a:p>
          <a:p>
            <a:r>
              <a:t>Quel résultat prouverait votre progression ?</a:t>
            </a:r>
          </a:p>
          <a:p/>
          <a:p>
            <a:r>
              <a:t>RÉPONSE ATTENDUE ET CORRECTION</a:t>
            </a:r>
          </a:p>
          <a:p>
            <a:r>
              <a:t>Un notebook reproductible, un protocole d’évaluation explicite et une recommandation argumentée.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003 | Type CONCEPT | Niveau Application | Support projection + notes]</a:t>
            </a:r>
          </a:p>
          <a:p/>
          <a:p>
            <a:r>
              <a:t>OBJECTIF OBSERVABLE</a:t>
            </a:r>
          </a:p>
          <a:p>
            <a:r>
              <a:t>Même démarche, données différentes. Le participant doit pouvoir expliquer ou réaliser les éléments suivants : J1 : fondamentaux, outils et premier réseau ; J2 : vision, séquences et diagnostic ; J3 : cas métiers et projet en équipe.</a:t>
            </a:r>
          </a:p>
          <a:p/>
          <a:p>
            <a:r>
              <a:t>EXPLICATION ET ANIMATION</a:t>
            </a:r>
          </a:p>
          <a:p>
            <a:r>
              <a:t>Les pauses et le déjeuner sont hors des 18 heures pédagogiques. Chaque journée comporte six heures effectives. Les plages de pratique du conducteur correspondent à une production par les stagiaires ; une démonstration regardée ou un quiz ne sont pas artificiellement comptés comme un TP. Les extensions servent aux plus rapides et ne rallongent pas le socle.</a:t>
            </a:r>
          </a:p>
          <a:p/>
          <a:p>
            <a:r>
              <a:t>QUESTION À POSER</a:t>
            </a:r>
          </a:p>
          <a:p>
            <a:r>
              <a:t>Quelles connaissances relient les trois journées ?</a:t>
            </a:r>
          </a:p>
          <a:p/>
          <a:p>
            <a:r>
              <a:t>RÉPONSE ATTENDUE ET CORRECTION</a:t>
            </a:r>
          </a:p>
          <a:p>
            <a:r>
              <a:t>Données, cible, perte, optimisation, séparation, métrique et décision.</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004 | Type ATELIER | Niveau Application | Support projection + notes]</a:t>
            </a:r>
          </a:p>
          <a:p/>
          <a:p>
            <a:r>
              <a:t>OBJECTIF OBSERVABLE</a:t>
            </a:r>
          </a:p>
          <a:p>
            <a:r>
              <a:t>Il ne s’agit pas de vous noter. Le participant doit pouvoir expliquer ou réaliser les éléments suivants : Python et manipulation des données ; Validation, paramètres et métriques ; Un exemple métier par participant.</a:t>
            </a:r>
          </a:p>
          <a:p/>
          <a:p>
            <a:r>
              <a:t>EXPLICATION ET ANIMATION</a:t>
            </a:r>
          </a:p>
          <a:p>
            <a:r>
              <a:t>Faire répondre individuellement avant les échanges. Les questions portent sur la différence validation/test, la normalisation, les paramètres appris, une exactitude de 95 % et le gradient. Le formateur adapte la profondeur des explications, pas les objectifs contractuels. Les participants moins à l’aise disposent de cellules guidées.</a:t>
            </a:r>
          </a:p>
          <a:p/>
          <a:p>
            <a:r>
              <a:t>QUESTION À POSER</a:t>
            </a:r>
          </a:p>
          <a:p>
            <a:r>
              <a:t>À quoi sert un jeu de validation ?</a:t>
            </a:r>
          </a:p>
          <a:p/>
          <a:p>
            <a:r>
              <a:t>RÉPONSE ATTENDUE ET CORRECTION</a:t>
            </a:r>
          </a:p>
          <a:p>
            <a:r>
              <a:t>Il aide à choisir des hyperparamètres et des décisions de conception sans utiliser le test final.</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005 | Type CONCEPT | Niveau Application | Support projection + notes]</a:t>
            </a:r>
          </a:p>
          <a:p/>
          <a:p>
            <a:r>
              <a:t>OBJECTIF OBSERVABLE</a:t>
            </a:r>
          </a:p>
          <a:p>
            <a:r>
              <a:t>Quatre expressions, pas quatre synonymes. Le participant doit pouvoir expliquer ou réaliser les éléments suivants : IA : famille de systèmes ; Apprentissage automatique : comportement appris ; Apprentissage profond : transformations neuronales.</a:t>
            </a:r>
          </a:p>
          <a:p/>
          <a:p>
            <a:r>
              <a:t>EXPLICATION ET ANIMATION</a:t>
            </a:r>
          </a:p>
          <a:p>
            <a:r>
              <a:t>L’IA ne se réduit pas à l’apprentissage automatique : un système de règles peut aussi entrer dans une définition large de l’IA. Le Deep Learning est une famille de l’apprentissage automatique. La génération décrit une tâche, pas un quatrième cercle qui contiendrait tous les modèles. Un CNN qui classe une image relève du Deep Learning sans être génératif.</a:t>
            </a:r>
          </a:p>
          <a:p/>
          <a:p>
            <a:r>
              <a:t>QUESTION À POSER</a:t>
            </a:r>
          </a:p>
          <a:p>
            <a:r>
              <a:t>Un classifieur neuronal est-il nécessairement génératif ?</a:t>
            </a:r>
          </a:p>
          <a:p/>
          <a:p>
            <a:r>
              <a:t>RÉPONSE ATTENDUE ET CORRECTION</a:t>
            </a:r>
          </a:p>
          <a:p>
            <a:r>
              <a:t>Non. Il peut simplement associer une entrée à une classe.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r>
              <a:t>[R01] Équipe Keras. Keras 3 et démarrage. https://keras.io/keras_3/</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a:r>
              <a:t>[R01] Équipe Keras. Keras 3 et démarrage. Documentation consultée le 14 septembre 2026. https://keras.io/keras_3/</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006 | Type CONCEPT | Niveau Application | Support projection + notes]</a:t>
            </a:r>
          </a:p>
          <a:p/>
          <a:p>
            <a:r>
              <a:t>OBJECTIF OBSERVABLE</a:t>
            </a:r>
          </a:p>
          <a:p>
            <a:r>
              <a:t>Commencer par savoir ce que l’on cherche. Le participant doit pouvoir expliquer ou réaliser les éléments suivants : Supervisé : exemples et cibles connues ; Non supervisé : structure sans cible fournie ; Auto-supervisé : cible construite depuis les données.</a:t>
            </a:r>
          </a:p>
          <a:p/>
          <a:p>
            <a:r>
              <a:t>EXPLICATION ET ANIMATION</a:t>
            </a:r>
          </a:p>
          <a:p>
            <a:r>
              <a:t>Dans l’apprentissage supervisé, une cible est fournie pour apprendre une relation entre variables et résultat. Dans un regroupement non supervisé, aucune classe métier n’est automatiquement établie par les groupes trouvés. L’auto-supervision construit une tâche à partir des données elles-mêmes ; elle ne supprime ni les choix de conception ni le besoin d’évaluer l’usage final. Cette distinction est un complément pédagogique explicite au dossier.</a:t>
            </a:r>
          </a:p>
          <a:p/>
          <a:p>
            <a:r>
              <a:t>QUESTION À POSER</a:t>
            </a:r>
          </a:p>
          <a:p>
            <a:r>
              <a:t>Un groupe atypique est-il une preuve de fraude ?</a:t>
            </a:r>
          </a:p>
          <a:p/>
          <a:p>
            <a:r>
              <a:t>RÉPONSE ATTENDUE ET CORRECTION</a:t>
            </a:r>
          </a:p>
          <a:p>
            <a:r>
              <a:t>Non. Une anomalie statistique demande une interprétation et des vérifications.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007 | Type ATELIER | Niveau Application | Support projection + notes]</a:t>
            </a:r>
          </a:p>
          <a:p/>
          <a:p>
            <a:r>
              <a:t>OBJECTIF OBSERVABLE</a:t>
            </a:r>
          </a:p>
          <a:p>
            <a:r>
              <a:t>Prédire, classer, segmenter ou générer ? Le participant doit pouvoir expliquer ou réaliser les éléments suivants : Classe : catégorie discrète ; Valeur : quantité continue ; Structure : localisation, texte ou masque.</a:t>
            </a:r>
          </a:p>
          <a:p/>
          <a:p>
            <a:r>
              <a:t>EXPLICATION ET ANIMATION</a:t>
            </a:r>
          </a:p>
          <a:p>
            <a:r>
              <a:t>Faire classer quatre besoins : prioriser un dossier, prévoir un volume, localiser un objet dans une image et rédiger une synthèse. Un même besoin peut contenir plusieurs tâches. Foncier Innovant illustre une chaîne, pas seulement une classification. Le choix d’un réseau ne remplace pas la définition de la sortie attendue et de l’action autorisée.</a:t>
            </a:r>
          </a:p>
          <a:p/>
          <a:p>
            <a:r>
              <a:t>QUESTION À POSER</a:t>
            </a:r>
          </a:p>
          <a:p>
            <a:r>
              <a:t>« Repérer une piscine » est-il une tâche entièrement définie ?</a:t>
            </a:r>
          </a:p>
          <a:p/>
          <a:p>
            <a:r>
              <a:t>RÉPONSE ATTENDUE ET CORRECTION</a:t>
            </a:r>
          </a:p>
          <a:p>
            <a:r>
              <a:t>Non : il manque la sortie précise, la granularité, les données et l’usage autorisé.</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008 | Type CONCEPT | Niveau Application | Support projection + notes]</a:t>
            </a:r>
          </a:p>
          <a:p/>
          <a:p>
            <a:r>
              <a:t>OBJECTIF OBSERVABLE</a:t>
            </a:r>
          </a:p>
          <a:p>
            <a:r>
              <a:t>Chaque ligne doit avoir une signification. Le participant doit pouvoir expliquer ou réaliser les éléments suivants : Une observation et sa date ; Des variables disponibles au bon moment ; Une cible et un procédé d’annotation.</a:t>
            </a:r>
          </a:p>
          <a:p/>
          <a:p>
            <a:r>
              <a:t>EXPLICATION ET ANIMATION</a:t>
            </a:r>
          </a:p>
          <a:p>
            <a:r>
              <a:t>Le jeu tabulaire fourni est synthétique. Les colonnes v00 à v19 sont des caractéristiques numériques artificielles, sans correspondance avec des critères fiscaux réels. La cible « examen_utile » ne constate aucune fraude. Une colonne « resultat_apres_examen » existe uniquement pour l’exercice de fuite et doit être exclue du pipeline normal. Les identifiants ne sont jamais employés comme variables.</a:t>
            </a:r>
          </a:p>
          <a:p/>
          <a:p>
            <a:r>
              <a:t>QUESTION À POSER</a:t>
            </a:r>
          </a:p>
          <a:p>
            <a:r>
              <a:t>Quelles colonnes seront connues au moment de prédire ?</a:t>
            </a:r>
          </a:p>
          <a:p/>
          <a:p>
            <a:r>
              <a:t>RÉPONSE ATTENDUE ET CORRECTION</a:t>
            </a:r>
          </a:p>
          <a:p>
            <a:r>
              <a:t>Uniquement les variables définies comme disponibles avant l’examen, jamais son résultat.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009 | Type CONCEPT | Niveau Application | Support projection + notes]</a:t>
            </a:r>
          </a:p>
          <a:p/>
          <a:p>
            <a:r>
              <a:t>OBJECTIF OBSERVABLE</a:t>
            </a:r>
          </a:p>
          <a:p>
            <a:r>
              <a:t>Apprendre les paramètres, puis les utiliser. Le participant doit pouvoir expliquer ou réaliser les éléments suivants : Entraînement : données + cibles + mise à jour ; Inférence : nouvelles entrées + paramètres figés ; Évaluation : comparer à une vérité disponible.</a:t>
            </a:r>
          </a:p>
          <a:p/>
          <a:p>
            <a:r>
              <a:t>EXPLICATION ET ANIMATION</a:t>
            </a:r>
          </a:p>
          <a:p>
            <a:r>
              <a:t>Pendant l’entraînement, les paramètres évoluent sous l’effet des gradients et de l’optimiseur. À l’inférence, on calcule une sortie avec un état sauvegardé du modèle. On doit aussi réutiliser le prétraitement appris. Les couches comme dropout et BatchNorm se comportent différemment selon le mode ; ce point sera expérimenté au deuxième jour.</a:t>
            </a:r>
          </a:p>
          <a:p/>
          <a:p>
            <a:r>
              <a:t>QUESTION À POSER</a:t>
            </a:r>
          </a:p>
          <a:p>
            <a:r>
              <a:t>Faut-il réajuster le scaler sur chaque nouveau dossier ?</a:t>
            </a:r>
          </a:p>
          <a:p/>
          <a:p>
            <a:r>
              <a:t>RÉPONSE ATTENDUE ET CORRECTION</a:t>
            </a:r>
          </a:p>
          <a:p>
            <a:r>
              <a:t>Non. Il faut appliquer le scaler appris sur les données d’entraînement.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[R02] Équipe PyTorch. Tutoriel de démarrage. https://docs.pytorch.org/tutorials/beginner/basics/quickstart_tutorial.html</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010 | Type CONCEPT | Niveau Application | Support projection + notes]</a:t>
            </a:r>
          </a:p>
          <a:p/>
          <a:p>
            <a:r>
              <a:t>OBJECTIF OBSERVABLE</a:t>
            </a:r>
          </a:p>
          <a:p>
            <a:r>
              <a:t>Une somme pondérée suivie d’une activation. Le participant doit pouvoir expliquer ou réaliser les éléments suivants : z = w₁x₁ + w₂x₂ + b ; a = activation(z) ; Les poids et le biais sont appris.</a:t>
            </a:r>
          </a:p>
          <a:p/>
          <a:p>
            <a:r>
              <a:t>EXPLICATION ET ANIMATION</a:t>
            </a:r>
          </a:p>
          <a:p>
            <a:r>
              <a:t>Exemple à calculer : x₁ = 2, x₂ = 1, w₁ = 0,5, w₂ = -1 et b = 0,2. La somme vaut 0,2. Avec ReLU, la sortie vaut 0,2. Ce calcul ne devient un apprentissage que lorsque les poids sont ajustés à partir d’un objectif. L’humain choisit les données, le type de réseau, la perte et le protocole.</a:t>
            </a:r>
          </a:p>
          <a:p/>
          <a:p>
            <a:r>
              <a:t>QUESTION À POSER</a:t>
            </a:r>
          </a:p>
          <a:p>
            <a:r>
              <a:t>Que vaut z dans cet exemple ?</a:t>
            </a:r>
          </a:p>
          <a:p/>
          <a:p>
            <a:r>
              <a:t>RÉPONSE ATTENDUE ET CORRECTION</a:t>
            </a:r>
          </a:p>
          <a:p>
            <a:r>
              <a:t>0,5 × 2 + (-1) × 1 + 0,2 = 0,2.</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[R01] Équipe Keras. Keras 3 et démarrage. https://keras.io/keras_3/</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011 | Type CONCEPT | Niveau Application | Support projection + notes]</a:t>
            </a:r>
          </a:p>
          <a:p/>
          <a:p>
            <a:r>
              <a:t>OBJECTIF OBSERVABLE</a:t>
            </a:r>
          </a:p>
          <a:p>
            <a:r>
              <a:t>XOR ne se sépare pas par une seule droite. Le participant doit pouvoir expliquer ou réaliser les éléments suivants : Entrées : deux bits ; Sortie 1 si les bits diffèrent ; Des non-linéarités changent la représentation.</a:t>
            </a:r>
          </a:p>
          <a:p/>
          <a:p>
            <a:r>
              <a:t>EXPLICATION ET ANIMATION</a:t>
            </a:r>
          </a:p>
          <a:p>
            <a:r>
              <a:t>Tracer les quatre points du XOR. Les points positifs occupent deux coins opposés, les négatifs les deux autres. Une frontière linéaire unique ne peut les séparer parfaitement. Des transformations non linéaires intermédiaires permettent de représenter ce motif. Empiler des couches strictement linéaires ne résout pas cette limite : leur composition reste linéaire.</a:t>
            </a:r>
          </a:p>
          <a:p/>
          <a:p>
            <a:r>
              <a:t>QUESTION À POSER</a:t>
            </a:r>
          </a:p>
          <a:p>
            <a:r>
              <a:t>Que se passe-t-il si toutes les activations sont linéaires ?</a:t>
            </a:r>
          </a:p>
          <a:p/>
          <a:p>
            <a:r>
              <a:t>RÉPONSE ATTENDUE ET CORRECTION</a:t>
            </a:r>
          </a:p>
          <a:p>
            <a:r>
              <a:t>L’empilement reste équivalent à une transformation linéaire.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012 | Type CONCEPT | Niveau Application | Support projection + notes]</a:t>
            </a:r>
          </a:p>
          <a:p/>
          <a:p>
            <a:r>
              <a:t>OBJECTIF OBSERVABLE</a:t>
            </a:r>
          </a:p>
          <a:p>
            <a:r>
              <a:t>La sortie doit correspondre à la tâche. Le participant doit pouvoir expliquer ou réaliser les éléments suivants : ReLU : max(0, z) ; Sigmoïde : score binaire entre 0 et 1 ; Softmax : scores normalisés entre classes.</a:t>
            </a:r>
          </a:p>
          <a:p/>
          <a:p>
            <a:r>
              <a:t>EXPLICATION ET ANIMATION</a:t>
            </a:r>
          </a:p>
          <a:p>
            <a:r>
              <a:t>ReLU est utilisée ici dans les couches cachées. La sigmoïde associe un logit à une valeur entre zéro et un ; celle-ci n’est pas automatiquement une probabilité bien calibrée. Softmax normalise des logits pour une classification multiclasses exclusive. En PyTorch, CrossEntropyLoss attend les logits : ajouter un softmax avant cette perte est inutile et généralement inadéquat.</a:t>
            </a:r>
          </a:p>
          <a:p/>
          <a:p>
            <a:r>
              <a:t>QUESTION À POSER</a:t>
            </a:r>
          </a:p>
          <a:p>
            <a:r>
              <a:t>Pourquoi éviter softmax avant CrossEntropyLoss ?</a:t>
            </a:r>
          </a:p>
          <a:p/>
          <a:p>
            <a:r>
              <a:t>RÉPONSE ATTENDUE ET CORRECTION</a:t>
            </a:r>
          </a:p>
          <a:p>
            <a:r>
              <a:t>La perte intègre déjà l’opération adaptée aux logits.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[R01] Équipe Keras. Keras 3 et démarrage. https://keras.io/keras_3/</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013 | Type CONCEPT | Niveau Application | Support projection + notes]</a:t>
            </a:r>
          </a:p>
          <a:p/>
          <a:p>
            <a:r>
              <a:t>OBJECTIF OBSERVABLE</a:t>
            </a:r>
          </a:p>
          <a:p>
            <a:r>
              <a:t>Le premier diagnostic : afficher la forme. Le participant doit pouvoir expliquer ou réaliser les éléments suivants : Scalaire → vecteur → matrice ; Image : hauteur, largeur, canaux ; Lot : dimension supplémentaire.</a:t>
            </a:r>
          </a:p>
          <a:p/>
          <a:p>
            <a:r>
              <a:t>EXPLICATION ET ANIMATION</a:t>
            </a:r>
          </a:p>
          <a:p>
            <a:r>
              <a:t>Un tenseur est une structure de nombres organisée selon plusieurs axes. L’ordre des axes fait partie du contrat du modèle. Dans les notebooks vision PyTorch, la convention est N × C × H × W. Pour les couches Keras habituelles, le format retenu est N × H × W × C. Les images d’exercice sont en niveaux de gris, de taille 8 × 8, avec un canal.</a:t>
            </a:r>
          </a:p>
          <a:p/>
          <a:p>
            <a:r>
              <a:t>QUESTION À POSER</a:t>
            </a:r>
          </a:p>
          <a:p>
            <a:r>
              <a:t>Quelle forme attend notre CNN PyTorch pour 32 images ?</a:t>
            </a:r>
          </a:p>
          <a:p/>
          <a:p>
            <a:r>
              <a:t>RÉPONSE ATTENDUE ET CORRECTION</a:t>
            </a:r>
          </a:p>
          <a:p>
            <a:r>
              <a:t>(32, 1, 8, 8).</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[R02] Équipe PyTorch. Tutoriel de démarrage. https://docs.pytorch.org/tutorials/beginner/basics/quickstart_tutorial.html</a:t>
            </a:r>
          </a:p>
          <a:p>
            <a:r>
              <a:t>[R05] Équipe scikit-learn. load_digits. https://scikit-learn.org/stable/modules/generated/sklearn.datasets.load_digits.html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a:r>
              <a:t>[R05] Équipe scikit-learn. load_digits. Documentation consultée le 14 septembre 2026. https://scikit-learn.org/stable/modules/generated/sklearn.datasets.load_digits.html</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014 | Type ATELIER | Niveau Application | Support projection + notes]</a:t>
            </a:r>
          </a:p>
          <a:p/>
          <a:p>
            <a:r>
              <a:t>OBJECTIF OBSERVABLE</a:t>
            </a:r>
          </a:p>
          <a:p>
            <a:r>
              <a:t>Provoquer une erreur, puis la comprendre. Le participant doit pouvoir expliquer ou réaliser les éléments suivants : Créer une matrice 2 × 3 ; Multiplier par une matrice 3 × 4 ; Expliquer pourquoi 2 × 3 fois 2 × 4 échoue.</a:t>
            </a:r>
          </a:p>
          <a:p/>
          <a:p>
            <a:r>
              <a:t>EXPLICATION ET ANIMATION</a:t>
            </a:r>
          </a:p>
          <a:p>
            <a:r>
              <a:t>Faire annoncer le résultat attendu avant l’exécution. Les dimensions internes doivent être compatibles ; la sortie du produit 2 × 3 par 3 × 4 est 2 × 4. Une opération reshape conserve le nombre total d’éléments, mais ne garantit pas que la nouvelle organisation conserve le sens métier. Ne pas corriger une erreur de dimension à l’aveugle.</a:t>
            </a:r>
          </a:p>
          <a:p/>
          <a:p>
            <a:r>
              <a:t>QUESTION À POSER</a:t>
            </a:r>
          </a:p>
          <a:p>
            <a:r>
              <a:t>Peut-on transformer six valeurs en une matrice 2 × 4 ?</a:t>
            </a:r>
          </a:p>
          <a:p/>
          <a:p>
            <a:r>
              <a:t>RÉPONSE ATTENDUE ET CORRECTION</a:t>
            </a:r>
          </a:p>
          <a:p>
            <a:r>
              <a:t>Non. Il manque deux valeurs ; changer les dimensions ne crée pas de données.</a:t>
            </a:r>
          </a:p>
          <a:p/>
          <a:p>
            <a:r>
              <a:t>VÉRIFICATION</a:t>
            </a:r>
          </a:p>
          <a:p>
            <a:r>
              <a:t>Demander une reformulation avec un exemple ou une preuve issue du notebook. Ne pas accepter une réponse limitée au nom d’une bibliothèque. Ouvrir le notebook 01 ; conserver les résultats et le journal.</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015 | Type CONCEPT | Niveau Application | Support projection + notes]</a:t>
            </a:r>
          </a:p>
          <a:p/>
          <a:p>
            <a:r>
              <a:t>OBJECTIF OBSERVABLE</a:t>
            </a:r>
          </a:p>
          <a:p>
            <a:r>
              <a:t>Une combinaison incohérente peut tout bloquer. Le participant doit pouvoir expliquer ou réaliser les éléments suivants : Binaire : un logit + BCEWithLogitsLoss ; Multiclasse : K logits + CrossEntropyLoss ; Régression : sortie réelle + MSE ou MAE.</a:t>
            </a:r>
          </a:p>
          <a:p/>
          <a:p>
            <a:r>
              <a:t>EXPLICATION ET ANIMATION</a:t>
            </a:r>
          </a:p>
          <a:p>
            <a:r>
              <a:t>La perte est le signal optimisé, alors que les métriques servent à évaluer. Elles ne sont pas interchangeables. Pour un modèle Keras binaire avec sigmoïde, binary_crossentropy sans from_logits convient. En PyTorch binaire, un logit brut associé à BCEWithLogitsLoss évite une sigmoïde explicite dans le modèle. Documenter aussi le type de la cible.</a:t>
            </a:r>
          </a:p>
          <a:p/>
          <a:p>
            <a:r>
              <a:t>QUESTION À POSER</a:t>
            </a:r>
          </a:p>
          <a:p>
            <a:r>
              <a:t>Peut-on remplacer la perte par l’accuracy pour entraîner simplement ?</a:t>
            </a:r>
          </a:p>
          <a:p/>
          <a:p>
            <a:r>
              <a:t>RÉPONSE ATTENDUE ET CORRECTION</a:t>
            </a:r>
          </a:p>
          <a:p>
            <a:r>
              <a:t>Non : l’accuracy discrète ne fournit pas le gradient utile à cette boucle.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[R01] Équipe Keras. Keras 3 et démarrage. https://keras.io/keras_3/</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016 | Type CONCEPT | Niveau Application | Support projection + notes]</a:t>
            </a:r>
          </a:p>
          <a:p/>
          <a:p>
            <a:r>
              <a:t>OBJECTIF OBSERVABLE</a:t>
            </a:r>
          </a:p>
          <a:p>
            <a:r>
              <a:t>Que change une petite variation du poids ? Le participant doit pouvoir expliquer ou réaliser les éléments suivants : Perte simple : L(w) = (w - 3)² ; Pente : 2 × (w - 3) ; Minimum : w = 3.</a:t>
            </a:r>
          </a:p>
          <a:p/>
          <a:p>
            <a:r>
              <a:t>EXPLICATION ET ANIMATION</a:t>
            </a:r>
          </a:p>
          <a:p>
            <a:r>
              <a:t>La dérivée indique comment la perte varie localement quand un paramètre change. Pour w = -4, le gradient de l’exemple vaut -14. Avec un taux de 0,1, le nouveau poids vaut -2,6. Le gradient ne cherche pas directement une signification métier ; il agit sur la fonction d’erreur choisie. Le notebook compare plusieurs taux pour rendre la dynamique visible.</a:t>
            </a:r>
          </a:p>
          <a:p/>
          <a:p>
            <a:r>
              <a:t>QUESTION À POSER</a:t>
            </a:r>
          </a:p>
          <a:p>
            <a:r>
              <a:t>Quel est le premier déplacement avec un taux de 0,1 ?</a:t>
            </a:r>
          </a:p>
          <a:p/>
          <a:p>
            <a:r>
              <a:t>RÉPONSE ATTENDUE ET CORRECTION</a:t>
            </a:r>
          </a:p>
          <a:p>
            <a:r>
              <a:t>w devient -4 - 0,1 × (-14), soit -2,6.</a:t>
            </a:r>
          </a:p>
          <a:p/>
          <a:p>
            <a:r>
              <a:t>VÉRIFICATION</a:t>
            </a:r>
          </a:p>
          <a:p>
            <a:r>
              <a:t>Demander une reformulation avec un exemple ou une preuve issue du notebook. Ne pas accepter une réponse limitée au nom d’une bibliothèque. Ouvrir le notebook 01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017 | Type ATELIER | Niveau Application | Support projection + notes]</a:t>
            </a:r>
          </a:p>
          <a:p/>
          <a:p>
            <a:r>
              <a:t>OBJECTIF OBSERVABLE</a:t>
            </a:r>
          </a:p>
          <a:p>
            <a:r>
              <a:t>Trop petit : lent. Trop grand : instable. Le participant doit pouvoir expliquer ou réaliser les éléments suivants : Taux 0,01 : progression lente ; Taux 0,1 : rapprochement du minimum ; Taux 1,1 : divergence sur cette parabole.</a:t>
            </a:r>
          </a:p>
          <a:p/>
          <a:p>
            <a:r>
              <a:t>EXPLICATION ET ANIMATION</a:t>
            </a:r>
          </a:p>
          <a:p>
            <a:r>
              <a:t>Les trois courbes représentent la même fonction et le même point initial. Pour cette parabole précise, la convergence de cette itération nécessite un taux strictement compris entre zéro et un. Ce résultat analytique n’est pas une règle générale de réglage des réseaux profonds. On demande aux participants de distinguer propriété du jouet mathématique et conseil d’ingénierie.</a:t>
            </a:r>
          </a:p>
          <a:p/>
          <a:p>
            <a:r>
              <a:t>QUESTION À POSER</a:t>
            </a:r>
          </a:p>
          <a:p>
            <a:r>
              <a:t>Un taux de 0,1 est-il toujours un bon choix ?</a:t>
            </a:r>
          </a:p>
          <a:p/>
          <a:p>
            <a:r>
              <a:t>RÉPONSE ATTENDUE ET CORRECTION</a:t>
            </a:r>
          </a:p>
          <a:p>
            <a:r>
              <a:t>Non. Il dépend du problème, de l’optimiseur, de l’échelle des données et de l’architecture.</a:t>
            </a:r>
          </a:p>
          <a:p/>
          <a:p>
            <a:r>
              <a:t>VÉRIFICATION</a:t>
            </a:r>
          </a:p>
          <a:p>
            <a:r>
              <a:t>Demander une reformulation avec un exemple ou une preuve issue du notebook. Ne pas accepter une réponse limitée au nom d’une bibliothèque. Ouvrir le notebook 01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018 | Type CONCEPT | Niveau Application | Support projection + notes]</a:t>
            </a:r>
          </a:p>
          <a:p/>
          <a:p>
            <a:r>
              <a:t>OBJECTIF OBSERVABLE</a:t>
            </a:r>
          </a:p>
          <a:p>
            <a:r>
              <a:t>Calculer un gradient ne modifie pas encore le poids. Le participant doit pouvoir expliquer ou réaliser les éléments suivants : Propagation avant : produire la sortie ; Rétropropagation : calculer les gradients ; Optimiseur : appliquer la mise à jour.</a:t>
            </a:r>
          </a:p>
          <a:p/>
          <a:p>
            <a:r>
              <a:t>EXPLICATION ET ANIMATION</a:t>
            </a:r>
          </a:p>
          <a:p>
            <a:r>
              <a:t>La règle de chaîne relie les dérivées locales des opérations successives. La différentiation automatique évite de les coder une à une, mais ne valide pas la formulation du problème. Dans PyTorch, backward calcule les gradients ; step modifie les paramètres. Ils s’accumulent par défaut, d’où la remise à zéro à chaque lot pour la boucle standard étudiée.</a:t>
            </a:r>
          </a:p>
          <a:p/>
          <a:p>
            <a:r>
              <a:t>QUESTION À POSER</a:t>
            </a:r>
          </a:p>
          <a:p>
            <a:r>
              <a:t>Pourquoi appeler zero_grad dans cette boucle ?</a:t>
            </a:r>
          </a:p>
          <a:p/>
          <a:p>
            <a:r>
              <a:t>RÉPONSE ATTENDUE ET CORRECTION</a:t>
            </a:r>
          </a:p>
          <a:p>
            <a:r>
              <a:t>Pour éviter d’additionner involontairement les gradients des lots précédents.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019 | Type CONCEPT | Niveau Application | Support projection + notes]</a:t>
            </a:r>
          </a:p>
          <a:p/>
          <a:p>
            <a:r>
              <a:t>OBJECTIF OBSERVABLE</a:t>
            </a:r>
          </a:p>
          <a:p>
            <a:r>
              <a:t>Ne pas confondre ce qui est appris et ce qui est réglé. Le participant doit pouvoir expliquer ou réaliser les éléments suivants : Lot : sous-ensemble traité ensemble ; Époque : parcours du jeu d’entraînement ; Hyperparamètre : décision de configuration.</a:t>
            </a:r>
          </a:p>
          <a:p/>
          <a:p>
            <a:r>
              <a:t>EXPLICATION ET ANIMATION</a:t>
            </a:r>
          </a:p>
          <a:p>
            <a:r>
              <a:t>Les poids et biais sont des paramètres appris. Le taux d’apprentissage, la taille des lots, le nombre maximal d’époques et le nombre de couches sont des hyperparamètres. Avec 1 000 exemples et des lots de 100, une époque contient dix étapes, sous réserve de la gestion du dernier lot. Une époque n’est pas un unique pas d’optimisation.</a:t>
            </a:r>
          </a:p>
          <a:p/>
          <a:p>
            <a:r>
              <a:t>QUESTION À POSER</a:t>
            </a:r>
          </a:p>
          <a:p>
            <a:r>
              <a:t>Avec 1 000 observations et des lots de 100, combien de mises à jour ?</a:t>
            </a:r>
          </a:p>
          <a:p/>
          <a:p>
            <a:r>
              <a:t>RÉPONSE ATTENDUE ET CORRECTION</a:t>
            </a:r>
          </a:p>
          <a:p>
            <a:r>
              <a:t>Dix mises à jour par époque dans ce cas exact.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[R01] Équipe Keras. Keras 3 et démarrage. https://keras.io/keras_3/</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020 | Type CONCEPT | Niveau Application | Support projection + notes]</a:t>
            </a:r>
          </a:p>
          <a:p/>
          <a:p>
            <a:r>
              <a:t>OBJECTIF OBSERVABLE</a:t>
            </a:r>
          </a:p>
          <a:p>
            <a:r>
              <a:t>L’histoire sert à comprendre les architectures. Le participant doit pouvoir expliquer ou réaliser les éléments suivants : 1997 : LSTM et mémoire séquentielle ; 2012 : AlexNet, CNN et GPU ; 2015 : BatchNorm/ResNet • 2017 : attention.</a:t>
            </a:r>
          </a:p>
          <a:p/>
          <a:p>
            <a:r>
              <a:t>EXPLICATION ET ANIMATION</a:t>
            </a:r>
          </a:p>
          <a:p>
            <a:r>
              <a:t>Présenter ces repères comme une sélection pédagogique, pas une histoire exhaustive. AlexNet illustre une convergence de données, calcul et architecture. ResNet facilite l’optimisation de réseaux profonds via des connexions résiduelles. Le Transformer introduit une architecture de traduction fondée sur l’attention sans récurrence. Les LSTM restent au programme, sans être présentés comme dominants dans tout le langage moderne.</a:t>
            </a:r>
          </a:p>
          <a:p/>
          <a:p>
            <a:r>
              <a:t>QUESTION À POSER</a:t>
            </a:r>
          </a:p>
          <a:p>
            <a:r>
              <a:t>Quelle difficulté chaque innovation cherche-t-elle à résoudre ?</a:t>
            </a:r>
          </a:p>
          <a:p/>
          <a:p>
            <a:r>
              <a:t>RÉPONSE ATTENDUE ET CORRECTION</a:t>
            </a:r>
          </a:p>
          <a:p>
            <a:r>
              <a:t>Mémoire temporelle, vision à grande échelle, optimisation profonde et relations entre éléments.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[R08] Krizhevsky, Sutskever et Hinton. ImageNet Classification with Deep Convolutional Neural Networks. https://proceedings.neurips.cc/paper/2012/hash/c399862d3b9d6b76c8436e924a68c45b-Abstract.html</a:t>
            </a:r>
          </a:p>
          <a:p>
            <a:r>
              <a:t>[R09] Hochreiter et Schmidhuber. Long Short-Term Memory. https://doi.org/10.1162/neco.1997.9.8.1735</a:t>
            </a:r>
          </a:p>
          <a:p>
            <a:r>
              <a:t>[R12] Ioffe et Szegedy. Batch Normalization. https://arxiv.org/abs/1502.03167</a:t>
            </a:r>
          </a:p>
          <a:p>
            <a:r>
              <a:t>[R13] He et coauteurs. Deep Residual Learning for Image Recognition. https://arxiv.org/abs/1512.03385</a:t>
            </a:r>
          </a:p>
          <a:p>
            <a:r>
              <a:t>[R14] Vaswani et coauteurs. Attention Is All You Need. https://arxiv.org/abs/1706.03762</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[R08] Krizhevsky, Sutskever et Hinton. ImageNet Classification with Deep Convolutional Neural Networks. 2012. https://proceedings.neurips.cc/paper/2012/hash/c399862d3b9d6b76c8436e924a68c45b-Abstract.html</a:t>
            </a:r>
          </a:p>
          <a:p>
            <a:r>
              <a:t>[R09] Hochreiter et Schmidhuber. Long Short-Term Memory. 1997. https://doi.org/10.1162/neco.1997.9.8.1735</a:t>
            </a:r>
          </a:p>
          <a:p>
            <a:r>
              <a:t>[R12] Ioffe et Szegedy. Batch Normalization. 2015. https://arxiv.org/abs/1502.03167</a:t>
            </a:r>
          </a:p>
          <a:p>
            <a:r>
              <a:t>[R13] He et coauteurs. Deep Residual Learning for Image Recognition. 2015/2016. https://arxiv.org/abs/1512.03385</a:t>
            </a:r>
          </a:p>
          <a:p>
            <a:r>
              <a:t>[R14] Vaswani et coauteurs. Attention Is All You Need. 2017. https://arxiv.org/abs/1706.03762</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021 | Type CONCEPT | Niveau Application | Support projection + notes]</a:t>
            </a:r>
          </a:p>
          <a:p/>
          <a:p>
            <a:r>
              <a:t>OBJECTIF OBSERVABLE</a:t>
            </a:r>
          </a:p>
          <a:p>
            <a:r>
              <a:t>Une convergence, pas une cause unique. Le participant doit pouvoir expliquer ou réaliser les éléments suivants : Données disponibles ; Accélérateurs et architectures ; Optimisation et logiciels ouverts.</a:t>
            </a:r>
          </a:p>
          <a:p/>
          <a:p>
            <a:r>
              <a:t>EXPLICATION ET ANIMATION</a:t>
            </a:r>
          </a:p>
          <a:p>
            <a:r>
              <a:t>Éviter une causalité simpliste attribuée uniquement aux GPU ou à une découverte. Les grands benchmarks rendent les comparaisons possibles ; les logiciels réutilisables abaissent le coût de l’expérimentation ; le préentraînement réutilise des représentations. Ces avantages n’éliminent ni le besoin de données pertinentes ni le coût d’un protocole sérieux.</a:t>
            </a:r>
          </a:p>
          <a:p/>
          <a:p>
            <a:r>
              <a:t>QUESTION À POSER</a:t>
            </a:r>
          </a:p>
          <a:p>
            <a:r>
              <a:t>Un GPU corrige-t-il un mauvais jeu de données ?</a:t>
            </a:r>
          </a:p>
          <a:p/>
          <a:p>
            <a:r>
              <a:t>RÉPONSE ATTENDUE ET CORRECTION</a:t>
            </a:r>
          </a:p>
          <a:p>
            <a:r>
              <a:t>Non. Il accélère aussi l’apprentissage de mauvaises corrélations.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[R08] Krizhevsky, Sutskever et Hinton. ImageNet Classification with Deep Convolutional Neural Networks. https://proceedings.neurips.cc/paper/2012/hash/c399862d3b9d6b76c8436e924a68c45b-Abstract.html</a:t>
            </a:r>
          </a:p>
          <a:p>
            <a:r>
              <a:t>[R01] Équipe Keras. Keras 3 et démarrage. https://keras.io/keras_3/</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[R08] Krizhevsky, Sutskever et Hinton. ImageNet Classification with Deep Convolutional Neural Networks. 2012. https://proceedings.neurips.cc/paper/2012/hash/c399862d3b9d6b76c8436e924a68c45b-Abstract.html</a:t>
            </a:r>
          </a:p>
          <a:p>
            <a:r>
              <a:t>[R01] Équipe Keras. Keras 3 et démarrage. Documentation consultée le 14 septembre 2026. https://keras.io/keras_3/</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1A | Diapositive 022 | Type CONCEPT | Niveau Application | Support projection + notes]</a:t>
            </a:r>
          </a:p>
          <a:p/>
          <a:p>
            <a:r>
              <a:t>OBJECTIF OBSERVABLE</a:t>
            </a:r>
          </a:p>
          <a:p>
            <a:r>
              <a:t>Comparer vaut mieux que croire. Le participant doit pouvoir expliquer ou réaliser les éléments suivants : Prédiction constante ou naïve ; Modèle linéaire et modèle à arbres ; Même séparation et même métrique.</a:t>
            </a:r>
          </a:p>
          <a:p/>
          <a:p>
            <a:r>
              <a:t>EXPLICATION ET ANIMATION</a:t>
            </a:r>
          </a:p>
          <a:p>
            <a:r>
              <a:t>L’étude de Grinsztajn et ses coauteurs, publiée en 2022, compare des modèles sur 45 jeux tabulaires dans un protocole précis et souligne la force des arbres sur des tailles intermédiaires. Ce résultat historique ne prouve pas qu’aucun réseau ne puisse être meilleur. Le TP rend cette question empirique : la comparaison locale décide, sans généraliser abusivement.</a:t>
            </a:r>
          </a:p>
          <a:p/>
          <a:p>
            <a:r>
              <a:t>QUESTION À POSER</a:t>
            </a:r>
          </a:p>
          <a:p>
            <a:r>
              <a:t>Que faire si l’arbre bat le MLP ?</a:t>
            </a:r>
          </a:p>
          <a:p/>
          <a:p>
            <a:r>
              <a:t>RÉPONSE ATTENDUE ET CORRECTION</a:t>
            </a:r>
          </a:p>
          <a:p>
            <a:r>
              <a:t>Conserver ce résultat, analyser les coûts et ne pas chercher à sauver artificiellement le réseau.</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[R15] Grinsztajn, Oyallon et Varoquaux. Why do tree-based models still outperform deep learning on tabular data?. https://arxiv.org/abs/2207.08815</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[R15] Grinsztajn, Oyallon et Varoquaux. Why do tree-based models still outperform deep learning on tabular data?. 2022. https://arxiv.org/abs/2207.08815</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1B | Diapositive 023 | Type CONCEPT | Niveau Application | Support projection + notes]</a:t>
            </a:r>
          </a:p>
          <a:p/>
          <a:p>
            <a:r>
              <a:t>OBJECTIF OBSERVABLE</a:t>
            </a:r>
          </a:p>
          <a:p>
            <a:r>
              <a:t>Keras est une API multi-moteur. Le participant doit pouvoir expliquer ou réaliser les éléments suivants : TensorFlow : moteur et écosystème ; PyTorch : tenseurs, modules et autograd ; Keras 3 : API de modèles de haut niveau.</a:t>
            </a:r>
          </a:p>
          <a:p/>
          <a:p>
            <a:r>
              <a:t>EXPLICATION ET ANIMATION</a:t>
            </a:r>
          </a:p>
          <a:p>
            <a:r>
              <a:t>La documentation Keras précise sa compatibilité avec TensorFlow, PyTorch et JAX pour l’entraînement. La présentation ne prétend pas énumérer tous ses moteurs d’inférence. Dans le kit, PyTorch expose la boucle ; Keras réduit le volume de syntaxe. Le moteur est sélectionné avant import et doit être tracé. La branche TensorFlow est fournie, mais son exécution locale n’est pas validée dans l’environnement de production de ce kit.</a:t>
            </a:r>
          </a:p>
          <a:p/>
          <a:p>
            <a:r>
              <a:t>QUESTION À POSER</a:t>
            </a:r>
          </a:p>
          <a:p>
            <a:r>
              <a:t>Keras 3 est-il nécessairement limité à TensorFlow ?</a:t>
            </a:r>
          </a:p>
          <a:p/>
          <a:p>
            <a:r>
              <a:t>RÉPONSE ATTENDUE ET CORRECTION</a:t>
            </a:r>
          </a:p>
          <a:p>
            <a:r>
              <a:t>Non. Il peut notamment fonctionner avec PyTorch ou JAX.</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[R01] Équipe Keras. Keras 3 et démarrage. https://keras.io/keras_3/</a:t>
            </a:r>
          </a:p>
          <a:p>
            <a:r>
              <a:t>[R23] Équipe TensorFlow. Démarrage TensorFlow 2. https://www.tensorflow.org/tutorials/quickstart/beginner</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a:r>
              <a:t>[R23] Équipe TensorFlow. Démarrage TensorFlow 2. Documentation consultée le 14 septembre 2026. https://www.tensorflow.org/tutorials/quickstart/beginner</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1B | Diapositive 024 | Type CONCEPT | Niveau Application | Support projection + notes]</a:t>
            </a:r>
          </a:p>
          <a:p/>
          <a:p>
            <a:r>
              <a:t>OBJECTIF OBSERVABLE</a:t>
            </a:r>
          </a:p>
          <a:p>
            <a:r>
              <a:t>Comprendre une fois, reconnaître plusieurs API. Le participant doit pouvoir expliquer ou réaliser les éléments suivants : Keras : construire rapidement ; PyTorch natif : rendre la boucle explicite ; TensorFlow natif : tenseurs et différentiation.</a:t>
            </a:r>
          </a:p>
          <a:p/>
          <a:p>
            <a:r>
              <a:t>EXPLICATION ET ANIMATION</a:t>
            </a:r>
          </a:p>
          <a:p>
            <a:r>
              <a:t>Ne pas passer trois fois deux heures à traduire le même programme. Le premier réseau Keras et le réseau PyTorch partagent les choix de fond : dimensions, architecture, perte, optimisation et évaluation. Le notebook environnement contient aussi une branche TensorFlow indépendante, activable dans un environnement équipé. Les écarts de performance entre exécutions ne doivent pas être interprétés comme un classement des frameworks.</a:t>
            </a:r>
          </a:p>
          <a:p/>
          <a:p>
            <a:r>
              <a:t>QUESTION À POSER</a:t>
            </a:r>
          </a:p>
          <a:p>
            <a:r>
              <a:t>Quels éléments restent identiques entre les API ?</a:t>
            </a:r>
          </a:p>
          <a:p/>
          <a:p>
            <a:r>
              <a:t>RÉPONSE ATTENDUE ET CORRECTION</a:t>
            </a:r>
          </a:p>
          <a:p>
            <a:r>
              <a:t>La tâche, les données, la perte, le protocole et les métriques.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[R01] Équipe Keras. Keras 3 et démarrage. https://keras.io/keras_3/</a:t>
            </a:r>
          </a:p>
          <a:p>
            <a:r>
              <a:t>[R02] Équipe PyTorch. Tutoriel de démarrage. https://docs.pytorch.org/tutorials/beginner/basics/quickstart_tutorial.html</a:t>
            </a:r>
          </a:p>
          <a:p>
            <a:r>
              <a:t>[R23] Équipe TensorFlow. Démarrage TensorFlow 2. https://www.tensorflow.org/tutorials/quickstart/beginner</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a:r>
              <a:t>[R02] Équipe PyTorch. Tutoriel de démarrage. Documentation consultée le 14 septembre 2026. https://docs.pytorch.org/tutorials/beginner/basics/quickstart_tutorial.html</a:t>
            </a:r>
          </a:p>
          <a:p>
            <a:r>
              <a:t>[R23] Équipe TensorFlow. Démarrage TensorFlow 2. Documentation consultée le 14 septembre 2026. https://www.tensorflow.org/tutorials/quickstart/beginner</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1B | Diapositive 025 | Type CONCEPT | Niveau Application | Support projection + notes]</a:t>
            </a:r>
          </a:p>
          <a:p/>
          <a:p>
            <a:r>
              <a:t>OBJECTIF OBSERVABLE</a:t>
            </a:r>
          </a:p>
          <a:p>
            <a:r>
              <a:t>Le GPU accélère ; il n’est pas obligatoire. Le participant doit pouvoir expliquer ou réaliser les éléments suivants : Jupyter local avec fichiers du kit ; Colab si autorisé et disponible ; Données sensibles exclues des services externes.</a:t>
            </a:r>
          </a:p>
          <a:p/>
          <a:p>
            <a:r>
              <a:t>EXPLICATION ET ANIMATION</a:t>
            </a:r>
          </a:p>
          <a:p>
            <a:r>
              <a:t>Le mode local CPU est le socle de continuité. Les données nécessaires aux parcours obligatoires sont dans le kit. L’installation initiale des bibliothèques exige un accès réseau ou un dépôt interne préparé ; l’absence d’Internet pendant la session n’implique pas une installation magique hors ligne. Pour Colab, décompresser le kit et ajuster le répertoire de travail. Aucun service externe n’est présumé autorisé par le client.</a:t>
            </a:r>
          </a:p>
          <a:p/>
          <a:p>
            <a:r>
              <a:t>QUESTION À POSER</a:t>
            </a:r>
          </a:p>
          <a:p>
            <a:r>
              <a:t>Que faut-il préparer avant une session sans Internet ?</a:t>
            </a:r>
          </a:p>
          <a:p/>
          <a:p>
            <a:r>
              <a:t>RÉPONSE ATTENDUE ET CORRECTION</a:t>
            </a:r>
          </a:p>
          <a:p>
            <a:r>
              <a:t>L’environnement déjà installé, les datasets locaux, les notebooks et les résultats de secours.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[R20] CNIL. Développement des systèmes d’IA : recommandations pour respecter le RGPD. https://www.cnil.fr/fr/developpement-des-systemes-dia-les-recommandations-de-la-cnil-pour-respecter-le-rgpd</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[R20] CNIL. Développement des systèmes d’IA : recommandations pour respecter le RGPD. Consultées le 14 septembre 2026. https://www.cnil.fr/fr/developpement-des-systemes-dia-les-recommandations-de-la-cnil-pour-respecter-le-rgpd</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1B | Diapositive 026 | Type ATELIER | Niveau Application | Support projection + notes]</a:t>
            </a:r>
          </a:p>
          <a:p/>
          <a:p>
            <a:r>
              <a:t>OBJECTIF OBSERVABLE</a:t>
            </a:r>
          </a:p>
          <a:p>
            <a:r>
              <a:t>Exécuter toutes les cellules depuis un noyau neuf. Le participant doit pouvoir expliquer ou réaliser les éléments suivants : Imports et versions ; CPU/GPU détecté ; Tenseurs, gradients et fichier de sortie.</a:t>
            </a:r>
          </a:p>
          <a:p/>
          <a:p>
            <a:r>
              <a:t>EXPLICATION ET ANIMATION</a:t>
            </a:r>
          </a:p>
          <a:p>
            <a:r>
              <a:t>Ce notebook vérifie les bibliothèques disponibles, imprime l’environnement et teste une petite différentiation. Les contrôles n’installent pas de paquets silencieusement. L’absence de TensorFlow est rendue visible ; elle n’empêche pas les exercices Keras sur moteur PyTorch, mais elle interdit de prétendre avoir testé TensorFlow. Chaque équipe enregistre son diagnostic avant le premier entraînement.</a:t>
            </a:r>
          </a:p>
          <a:p/>
          <a:p>
            <a:r>
              <a:t>QUESTION À POSER</a:t>
            </a:r>
          </a:p>
          <a:p>
            <a:r>
              <a:t>Quelle est la preuve minimale d’un environnement prêt ?</a:t>
            </a:r>
          </a:p>
          <a:p/>
          <a:p>
            <a:r>
              <a:t>RÉPONSE ATTENDUE ET CORRECTION</a:t>
            </a:r>
          </a:p>
          <a:p>
            <a:r>
              <a:t>Un diagnostic conservé et le passage effectif des cellules, pas seulement un import isolé.</a:t>
            </a:r>
          </a:p>
          <a:p/>
          <a:p>
            <a:r>
              <a:t>VÉRIFICATION</a:t>
            </a:r>
          </a:p>
          <a:p>
            <a:r>
              <a:t>Demander une reformulation avec un exemple ou une preuve issue du notebook. Ne pas accepter une réponse limitée au nom d’une bibliothèque. Ouvrir le notebook 00 ; conserver les résultats et le journal.</a:t>
            </a:r>
          </a:p>
          <a:p/>
          <a:p>
            <a:r>
              <a:t>REPÈRES DE SOURCE</a:t>
            </a:r>
          </a:p>
          <a:p>
            <a:r>
              <a:t>[R01] Équipe Keras. Keras 3 et démarrage. https://keras.io/keras_3/</a:t>
            </a:r>
          </a:p>
          <a:p>
            <a:r>
              <a:t>[R02] Équipe PyTorch. Tutoriel de démarrage. https://docs.pytorch.org/tutorials/beginner/basics/quickstart_tutorial.html</a:t>
            </a:r>
          </a:p>
          <a:p>
            <a:r>
              <a:t>[R23] Équipe TensorFlow. Démarrage TensorFlow 2. https://www.tensorflow.org/tutorials/quickstart/beginner</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a:r>
              <a:t>[R02] Équipe PyTorch. Tutoriel de démarrage. Documentation consultée le 14 septembre 2026. https://docs.pytorch.org/tutorials/beginner/basics/quickstart_tutorial.html</a:t>
            </a:r>
          </a:p>
          <a:p>
            <a:r>
              <a:t>[R23] Équipe TensorFlow. Démarrage TensorFlow 2. Documentation consultée le 14 septembre 2026. https://www.tensorflow.org/tutorials/quickstart/beginner</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1B | Diapositive 027 | Type CONCEPT | Niveau Application | Support projection + notes]</a:t>
            </a:r>
          </a:p>
          <a:p/>
          <a:p>
            <a:r>
              <a:t>OBJECTIF OBSERVABLE</a:t>
            </a:r>
          </a:p>
          <a:p>
            <a:r>
              <a:t>Documenter les conditions de l’expérience. Le participant doit pouvoir expliquer ou réaliser les éléments suivants : Graine et indices de séparation ; Versions et matériel ; Données, configuration et état du modèle.</a:t>
            </a:r>
          </a:p>
          <a:p/>
          <a:p>
            <a:r>
              <a:t>EXPLICATION ET ANIMATION</a:t>
            </a:r>
          </a:p>
          <a:p>
            <a:r>
              <a:t>Une graine fixe certaines sources d’aléa, sans garantir une identité entre versions, plateformes ou opérations. Les indices de séparation sont sauvegardés et les métriques sont produites par le code. Le rapport de validation indique la machine d’exécution et les bibliothèques réellement utilisées. Un fichier de dépendances ne remplace pas un test.</a:t>
            </a:r>
          </a:p>
          <a:p/>
          <a:p>
            <a:r>
              <a:t>QUESTION À POSER</a:t>
            </a:r>
          </a:p>
          <a:p>
            <a:r>
              <a:t>Deux scores légèrement différents signifient-ils nécessairement un bug ?</a:t>
            </a:r>
          </a:p>
          <a:p/>
          <a:p>
            <a:r>
              <a:t>RÉPONSE ATTENDUE ET CORRECTION</a:t>
            </a:r>
          </a:p>
          <a:p>
            <a:r>
              <a:t>Non. Il faut contrôler le protocole, le hasard et l’environnement avant de conclure.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[R07] Équipe PyTorch. Reproductibilité. https://docs.pytorch.org/docs/stable/notes/randomness.html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[R07] Équipe PyTorch. Reproductibilité. Documentation consultée le 14 septembre 2026. https://docs.pytorch.org/docs/stable/notes/randomness.html</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1B | Diapositive 028 | Type CONCEPT | Niveau Application | Support projection + notes]</a:t>
            </a:r>
          </a:p>
          <a:p/>
          <a:p>
            <a:r>
              <a:t>OBJECTIF OBSERVABLE</a:t>
            </a:r>
          </a:p>
          <a:p>
            <a:r>
              <a:t>La chaîne entière réalise l’apprentissage. Le participant doit pouvoir expliquer ou réaliser les éléments suivants : zero_grad → forward ; loss → backward ; step → lot suivant.</a:t>
            </a:r>
          </a:p>
          <a:p/>
          <a:p>
            <a:r>
              <a:t>EXPLICATION ET ANIMATION</a:t>
            </a:r>
          </a:p>
          <a:p>
            <a:r>
              <a:t>Faire annoter chaque ligne avec son rôle. Le code complet ajoute model.train, le placement des tenseurs sur le bon appareil, la vérification des types et le suivi de la perte moyenne. La boucle d’évaluation utilise model.eval et no_grad. Un modèle en mode évaluation peut toujours produire des gradients si le contexte ne les désactive pas ; ces deux mécanismes sont distincts.</a:t>
            </a:r>
          </a:p>
          <a:p/>
          <a:p>
            <a:r>
              <a:t>QUESTION À POSER</a:t>
            </a:r>
          </a:p>
          <a:p>
            <a:r>
              <a:t>Quelle ligne applique réellement les nouveaux poids ?</a:t>
            </a:r>
          </a:p>
          <a:p/>
          <a:p>
            <a:r>
              <a:t>RÉPONSE ATTENDUE ET CORRECTION</a:t>
            </a:r>
          </a:p>
          <a:p>
            <a:r>
              <a:t>optimizer.step(), après le calcul des gradients par backward.</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1B | Diapositive 029 | Type CONCEPT | Niveau Application | Support projection + notes]</a:t>
            </a:r>
          </a:p>
          <a:p/>
          <a:p>
            <a:r>
              <a:t>OBJECTIF OBSERVABLE</a:t>
            </a:r>
          </a:p>
          <a:p>
            <a:r>
              <a:t>compile, fit, predict ne retirent pas les choix. Le participant doit pouvoir expliquer ou réaliser les éléments suivants : Définir les couches et l’entrée ; Associer optimiseur, perte et métriques ; Fournir une validation explicite.</a:t>
            </a:r>
          </a:p>
          <a:p/>
          <a:p>
            <a:r>
              <a:t>EXPLICATION ET ANIMATION</a:t>
            </a:r>
          </a:p>
          <a:p>
            <a:r>
              <a:t>Expliquer chaque argument plutôt que faire copier le code. Le modèle d’exercice reçoit 20 variables standardisées, utilise deux couches cachées ReLU puis une sortie sigmoïde. Les données de validation sont passées explicitement. Le test n’est pas transmis à fit. Un changement de moteur demande un redémarrage et une exécution complète des cellules.</a:t>
            </a:r>
          </a:p>
          <a:p/>
          <a:p>
            <a:r>
              <a:t>QUESTION À POSER</a:t>
            </a:r>
          </a:p>
          <a:p>
            <a:r>
              <a:t>Pourquoi fournir X_val et y_val à fit, mais pas X_test ?</a:t>
            </a:r>
          </a:p>
          <a:p/>
          <a:p>
            <a:r>
              <a:t>RÉPONSE ATTENDUE ET CORRECTION</a:t>
            </a:r>
          </a:p>
          <a:p>
            <a:r>
              <a:t>La validation guide l’entraînement et le choix ; le test doit rester réservé.</a:t>
            </a:r>
          </a:p>
          <a:p/>
          <a:p>
            <a:r>
              <a:t>VÉRIFICATION</a:t>
            </a:r>
          </a:p>
          <a:p>
            <a:r>
              <a:t>Demander une reformulation avec un exemple ou une preuve issue du notebook. Ne pas accepter une réponse limitée au nom d’une bibliothèque. Ouvrir le notebook 02 ; conserver les résultats et le journal.</a:t>
            </a:r>
          </a:p>
          <a:p/>
          <a:p>
            <a:r>
              <a:t>REPÈRES DE SOURCE</a:t>
            </a:r>
          </a:p>
          <a:p>
            <a:r>
              <a:t>[R01] Équipe Keras. Keras 3 et démarrage. https://keras.io/keras_3/</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1B | Diapositive 030 | Type CONCEPT | Niveau Application | Support projection + notes]</a:t>
            </a:r>
          </a:p>
          <a:p/>
          <a:p>
            <a:r>
              <a:t>OBJECTIF OBSERVABLE</a:t>
            </a:r>
          </a:p>
          <a:p>
            <a:r>
              <a:t>Les poids ne suffisent pas à reproduire une décision. Le participant doit pouvoir expliquer ou réaliser les éléments suivants : Architecture et état des paramètres ; Prétraitement et ordre des variables ; Seuil, métriques, données et versions.</a:t>
            </a:r>
          </a:p>
          <a:p/>
          <a:p>
            <a:r>
              <a:t>EXPLICATION ET ANIMATION</a:t>
            </a:r>
          </a:p>
          <a:p>
            <a:r>
              <a:t>Le kit sauvegarde des états PyTorch et des fichiers Keras dans le dossier resultats. Le prétraitement et la liste des colonnes doivent être conservés avec le modèle tabulaire. Un test de rechargement compare les sorties avant et après la sauvegarde avec une tolérance numérique. Ne jamais charger des sérialisations d’origine non fiable.</a:t>
            </a:r>
          </a:p>
          <a:p/>
          <a:p>
            <a:r>
              <a:t>QUESTION À POSER</a:t>
            </a:r>
          </a:p>
          <a:p>
            <a:r>
              <a:t>Que manque-t-il à un fichier de poids utilisé seul ?</a:t>
            </a:r>
          </a:p>
          <a:p/>
          <a:p>
            <a:r>
              <a:t>RÉPONSE ATTENDUE ET CORRECTION</a:t>
            </a:r>
          </a:p>
          <a:p>
            <a:r>
              <a:t>Le prétraitement, la structure, les variables, le seuil et le contexte de validation.</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[R01] Équipe Keras. Keras 3 et démarrage. https://keras.io/keras_3/</a:t>
            </a:r>
          </a:p>
          <a:p>
            <a:r>
              <a:t>[R02] Équipe PyTorch. Tutoriel de démarrage. https://docs.pytorch.org/tutorials/beginner/basics/quickstart_tutorial.html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[R01] Équipe Keras. Keras 3 et démarrage. Documentation consultée le 14 septembre 2026. https://keras.io/keras_3/</a:t>
            </a:r>
          </a:p>
          <a:p>
            <a:r>
              <a:t>[R02] Équipe PyTorch. Tutoriel de démarrage. Documentation consultée le 14 septembre 2026. https://docs.pytorch.org/tutorials/beginner/basics/quickstart_tutorial.html</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031 | Type CONCEPT | Niveau Application | Support projection + notes]</a:t>
            </a:r>
          </a:p>
          <a:p/>
          <a:p>
            <a:r>
              <a:t>OBJECTIF OBSERVABLE</a:t>
            </a:r>
          </a:p>
          <a:p>
            <a:r>
              <a:t>Trois ensembles, trois usages. Le participant doit pouvoir expliquer ou réaliser les éléments suivants : Entraînement : ajuster les paramètres ; Validation : sélectionner et régler ; Test : estimer le résultat final.</a:t>
            </a:r>
          </a:p>
          <a:p/>
          <a:p>
            <a:r>
              <a:t>EXPLICATION ET ANIMATION</a:t>
            </a:r>
          </a:p>
          <a:p>
            <a:r>
              <a:t>Le ratio 70/15/15 est l’exemple du dossier, pas une loi. Le kit utilise des indices stratifiés pour les tâches de classification et une séparation chronologique pour les séries. La stratification préserve approximativement la proportion des classes ; elle n’empêche pas une fuite par individus répétés, doublons ou temporalité. Toujours réfléchir à l’unité indépendante.</a:t>
            </a:r>
          </a:p>
          <a:p/>
          <a:p>
            <a:r>
              <a:t>QUESTION À POSER</a:t>
            </a:r>
          </a:p>
          <a:p>
            <a:r>
              <a:t>Un split aléatoire suffit-il si un contribuable apparaît plusieurs fois ?</a:t>
            </a:r>
          </a:p>
          <a:p/>
          <a:p>
            <a:r>
              <a:t>RÉPONSE ATTENDUE ET CORRECTION</a:t>
            </a:r>
          </a:p>
          <a:p>
            <a:r>
              <a:t>Non. Il faut considérer une séparation par entité ou un protocole adapté.</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032 | Type CONCEPT | Niveau Application | Support projection + notes]</a:t>
            </a:r>
          </a:p>
          <a:p/>
          <a:p>
            <a:r>
              <a:t>OBJECTIF OBSERVABLE</a:t>
            </a:r>
          </a:p>
          <a:p>
            <a:r>
              <a:t>Une information du futur ne doit pas entrer. Le participant doit pouvoir expliquer ou réaliser les éléments suivants : Résultat après examen ; Prétraitement ajusté sur le test ; Doublons ou même entité des deux côtés.</a:t>
            </a:r>
          </a:p>
          <a:p/>
          <a:p>
            <a:r>
              <a:t>EXPLICATION ET ANIMATION</a:t>
            </a:r>
          </a:p>
          <a:p>
            <a:r>
              <a:t>La colonne piège resultat_apres_examen est construite à partir de la cible synthétique. Un modèle qui l’utilise peut devenir très performant sans apporter aucune capacité prospective. Un scaler ajusté sur toutes les données produit une autre forme de contamination. L’effet numérique peut être petit sur ce jeu, mais le défaut de protocole subsiste.</a:t>
            </a:r>
          </a:p>
          <a:p/>
          <a:p>
            <a:r>
              <a:t>QUESTION À POSER</a:t>
            </a:r>
          </a:p>
          <a:p>
            <a:r>
              <a:t>Pourquoi un score spectaculaire peut-il être une mauvaise nouvelle ?</a:t>
            </a:r>
          </a:p>
          <a:p/>
          <a:p>
            <a:r>
              <a:t>RÉPONSE ATTENDUE ET CORRECTION</a:t>
            </a:r>
          </a:p>
          <a:p>
            <a:r>
              <a:t>Il peut signaler une fuite, un doublon ou une variable inaccessible en usage réel.</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033 | Type CONCEPT | Niveau Application | Support projection + notes]</a:t>
            </a:r>
          </a:p>
          <a:p/>
          <a:p>
            <a:r>
              <a:t>OBJECTIF OBSERVABLE</a:t>
            </a:r>
          </a:p>
          <a:p>
            <a:r>
              <a:t>Apprendre le prétraitement uniquement sur train. Le participant doit pouvoir expliquer ou réaliser les éléments suivants : fit sur l’entraînement ; transform sur validation et test ; Conserver le même objet pour l’inférence.</a:t>
            </a:r>
          </a:p>
          <a:p/>
          <a:p>
            <a:r>
              <a:t>EXPLICATION ET ANIMATION</a:t>
            </a:r>
          </a:p>
          <a:p>
            <a:r>
              <a:t>Le scaler apprend une moyenne et un écart-type par variable sur l’entraînement. Il applique ces statistiques aux autres ensembles. Le pipeline de la baseline linéaire garantit la même discipline. Les arbres et le réseau n’ont pas nécessairement besoin des mêmes prétraitements, mais leurs comparaisons doivent utiliser les mêmes observations et la même métrique finale.</a:t>
            </a:r>
          </a:p>
          <a:p/>
          <a:p>
            <a:r>
              <a:t>QUESTION À POSER</a:t>
            </a:r>
          </a:p>
          <a:p>
            <a:r>
              <a:t>Quelle différence entre fit et transform ?</a:t>
            </a:r>
          </a:p>
          <a:p/>
          <a:p>
            <a:r>
              <a:t>RÉPONSE ATTENDUE ET CORRECTION</a:t>
            </a:r>
          </a:p>
          <a:p>
            <a:r>
              <a:t>fit estime les paramètres du prétraitement ; transform les applique.</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034 | Type ATELIER | Niveau Application | Support projection + notes]</a:t>
            </a:r>
          </a:p>
          <a:p/>
          <a:p>
            <a:r>
              <a:t>OBJECTIF OBSERVABLE</a:t>
            </a:r>
          </a:p>
          <a:p>
            <a:r>
              <a:t>Un score pour une revue, pas un verdict. Le participant doit pouvoir expliquer ou réaliser les éléments suivants : 20 variables artificielles ; Cible : examen_utile ; Aucune donnée fiscale réelle.</a:t>
            </a:r>
          </a:p>
          <a:p/>
          <a:p>
            <a:r>
              <a:t>EXPLICATION ET ANIMATION</a:t>
            </a:r>
          </a:p>
          <a:p>
            <a:r>
              <a:t>Le TP part du fichier dossiers_synthetiques.csv. Les stagiaires contrôlent les valeurs manquantes, la prévalence de la cible, les colonnes exclues et les indices. Le réseau est comparé à une régression logistique et à un modèle à arbres. La réussite ne dépend pas d’un score minimal arbitraire, mais du protocole et de la qualité de l’analyse.</a:t>
            </a:r>
          </a:p>
          <a:p/>
          <a:p>
            <a:r>
              <a:t>QUESTION À POSER</a:t>
            </a:r>
          </a:p>
          <a:p>
            <a:r>
              <a:t>Quel intitulé de cible évite une interprétation abusive ?</a:t>
            </a:r>
          </a:p>
          <a:p/>
          <a:p>
            <a:r>
              <a:t>RÉPONSE ATTENDUE ET CORRECTION</a:t>
            </a:r>
          </a:p>
          <a:p>
            <a:r>
              <a:t>« examen_utile », explicitement simulé, plutôt qu’une affirmation de fraude.</a:t>
            </a:r>
          </a:p>
          <a:p/>
          <a:p>
            <a:r>
              <a:t>VÉRIFICATION</a:t>
            </a:r>
          </a:p>
          <a:p>
            <a:r>
              <a:t>Demander une reformulation avec un exemple ou une preuve issue du notebook. Ne pas accepter une réponse limitée au nom d’une bibliothèque. Ouvrir le notebook 02 ; conserver les résultats et le journal.</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035 | Type ATELIER | Niveau Application | Support projection + notes]</a:t>
            </a:r>
          </a:p>
          <a:p/>
          <a:p>
            <a:r>
              <a:t>OBJECTIF OBSERVABLE</a:t>
            </a:r>
          </a:p>
          <a:p>
            <a:r>
              <a:t>Aucun entraînement avant les contrôles. Le participant doit pouvoir expliquer ou réaliser les éléments suivants : Exclure identifiant et résultat futur ; Vérifier les ensembles disjoints ; Contrôler forme, types et valeurs finies.</a:t>
            </a:r>
          </a:p>
          <a:p/>
          <a:p>
            <a:r>
              <a:t>EXPLICATION ET ANIMATION</a:t>
            </a:r>
          </a:p>
          <a:p>
            <a:r>
              <a:t>Chaque groupe renseigne les effectifs et la proportion de positifs des trois sous-ensembles. Les assertions bloquent les intersections d’indices et les valeurs non finies. Les colonnes retenues sont déclarées explicitement. Le formateur demande un accord oral sur la signification du moment de prédiction avant de laisser lancer fit.</a:t>
            </a:r>
          </a:p>
          <a:p/>
          <a:p>
            <a:r>
              <a:t>QUESTION À POSER</a:t>
            </a:r>
          </a:p>
          <a:p>
            <a:r>
              <a:t>Quelle preuve gardez-vous de la séparation ?</a:t>
            </a:r>
          </a:p>
          <a:p/>
          <a:p>
            <a:r>
              <a:t>RÉPONSE ATTENDUE ET CORRECTION</a:t>
            </a:r>
          </a:p>
          <a:p>
            <a:r>
              <a:t>Les indices, les effectifs et le résultat des assertions, conservés avec l’expérience.</a:t>
            </a:r>
          </a:p>
          <a:p/>
          <a:p>
            <a:r>
              <a:t>VÉRIFICATION</a:t>
            </a:r>
          </a:p>
          <a:p>
            <a:r>
              <a:t>Demander une reformulation avec un exemple ou une preuve issue du notebook. Ne pas accepter une réponse limitée au nom d’une bibliothèque. Ouvrir le notebook 02 ; conserver les résultats et le journal.</a:t>
            </a:r>
          </a:p>
          <a:p/>
          <a:p>
            <a:r>
              <a:t>REPÈRES DE SOURCE</a:t>
            </a:r>
          </a:p>
          <a:p>
            <a:r>
              <a:t>[R03] Équipe scikit-learn. Pièges courants et bonnes pratiques. https://scikit-learn.org/stable/common_pitfalls.html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[R03] Équipe scikit-learn. Pièges courants et bonnes pratiques. Documentation consultée le 14 septembre 2026. https://scikit-learn.org/stable/common_pitfalls.html</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036 | Type ATELIER | Niveau Application | Support projection + notes]</a:t>
            </a:r>
          </a:p>
          <a:p/>
          <a:p>
            <a:r>
              <a:t>OBJECTIF OBSERVABLE</a:t>
            </a:r>
          </a:p>
          <a:p>
            <a:r>
              <a:t>La baseline a le droit de gagner. Le participant doit pouvoir expliquer ou réaliser les éléments suivants : Même train et même validation ; Budget d’essais annoncé ; Tableau métriques + coût + limites.</a:t>
            </a:r>
          </a:p>
          <a:p/>
          <a:p>
            <a:r>
              <a:t>EXPLICATION ET ANIMATION</a:t>
            </a:r>
          </a:p>
          <a:p>
            <a:r>
              <a:t>Le résultat produit par le notebook est local au jeu synthétique, aux graines et aux hyperparamètres. Il ne devient pas une étude comparative universelle. Les stagiaires doivent expliquer une éventuelle différence entre discrimination, rappel au seuil choisi et coût du modèle. Une hausse de capacité sans gain utile n’est pas automatiquement un progrès.</a:t>
            </a:r>
          </a:p>
          <a:p/>
          <a:p>
            <a:r>
              <a:t>QUESTION À POSER</a:t>
            </a:r>
          </a:p>
          <a:p>
            <a:r>
              <a:t>Que doit contenir la comparaison au-delà du score ?</a:t>
            </a:r>
          </a:p>
          <a:p/>
          <a:p>
            <a:r>
              <a:t>RÉPONSE ATTENDUE ET CORRECTION</a:t>
            </a:r>
          </a:p>
          <a:p>
            <a:r>
              <a:t>Le protocole, le temps, les paramètres, la métrique métier et les limites.</a:t>
            </a:r>
          </a:p>
          <a:p/>
          <a:p>
            <a:r>
              <a:t>VÉRIFICATION</a:t>
            </a:r>
          </a:p>
          <a:p>
            <a:r>
              <a:t>Demander une reformulation avec un exemple ou une preuve issue du notebook. Ne pas accepter une réponse limitée au nom d’une bibliothèque. Ouvrir le notebook 02 ; conserver les résultats et le journal.</a:t>
            </a:r>
          </a:p>
          <a:p/>
          <a:p>
            <a:r>
              <a:t>REPÈRES DE SOURCE</a:t>
            </a:r>
          </a:p>
          <a:p>
            <a:r>
              <a:t>[R15] Grinsztajn, Oyallon et Varoquaux. Why do tree-based models still outperform deep learning on tabular data?. https://arxiv.org/abs/2207.08815</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[R15] Grinsztajn, Oyallon et Varoquaux. Why do tree-based models still outperform deep learning on tabular data?. 2022. https://arxiv.org/abs/2207.08815</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037 | Type CONCEPT | Niveau Application | Support projection + notes]</a:t>
            </a:r>
          </a:p>
          <a:p/>
          <a:p>
            <a:r>
              <a:t>OBJECTIF OBSERVABLE</a:t>
            </a:r>
          </a:p>
          <a:p>
            <a:r>
              <a:t>Le comportement compte autant que le dernier chiffre. Le participant doit pouvoir expliquer ou réaliser les éléments suivants : Perte train qui diminue ; Perte validation qui stagne ou remonte ; Écart à interpréter avec le protocole.</a:t>
            </a:r>
          </a:p>
          <a:p/>
          <a:p>
            <a:r>
              <a:t>EXPLICATION ET ANIMATION</a:t>
            </a:r>
          </a:p>
          <a:p>
            <a:r>
              <a:t>Le surapprentissage est une hypothèse lorsqu’un modèle améliore fortement le train sans améliorer la validation. Une différence de distributions, des modes train/eval différents ou une régularisation active peuvent aussi modifier les courbes. Le TP trace les pertes calculées réellement. Les dessins de cette diapositive sont annoncés comme schématiques et ne sont pas les résultats du TP.</a:t>
            </a:r>
          </a:p>
          <a:p/>
          <a:p>
            <a:r>
              <a:t>QUESTION À POSER</a:t>
            </a:r>
          </a:p>
          <a:p>
            <a:r>
              <a:t>Une perte train inférieure à la validation suffit-elle à condamner le modèle ?</a:t>
            </a:r>
          </a:p>
          <a:p/>
          <a:p>
            <a:r>
              <a:t>RÉPONSE ATTENDUE ET CORRECTION</a:t>
            </a:r>
          </a:p>
          <a:p>
            <a:r>
              <a:t>Non. Il faut examiner l’ampleur, la tendance, les métriques et la qualité du split.</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038 | Type CONCEPT | Niveau Application | Support projection + notes]</a:t>
            </a:r>
          </a:p>
          <a:p/>
          <a:p>
            <a:r>
              <a:t>OBJECTIF OBSERVABLE</a:t>
            </a:r>
          </a:p>
          <a:p>
            <a:r>
              <a:t>Ignorer tous les cas positifs peut sembler excellent. Le participant doit pouvoir expliquer ou réaliser les éléments suivants : 10 000 observations ; 100 positifs seulement ; Toujours négatif : 99 % d’exactitude.</a:t>
            </a:r>
          </a:p>
          <a:p/>
          <a:p>
            <a:r>
              <a:t>EXPLICATION ET ANIMATION</a:t>
            </a:r>
          </a:p>
          <a:p>
            <a:r>
              <a:t>Cette illustration est un calcul fictif : 9 900 négatifs sur 10 000 donnent 99 % d’exactitude pour le classifieur constant. Son rappel de la classe positive est nul. Le message n’est pas d’interdire l’accuracy, mais d’en comprendre le dénominateur. La prévalence et la matrice de confusion doivent accompagner toute comparaison sur classes rares.</a:t>
            </a:r>
          </a:p>
          <a:p/>
          <a:p>
            <a:r>
              <a:t>QUESTION À POSER</a:t>
            </a:r>
          </a:p>
          <a:p>
            <a:r>
              <a:t>Quel est le rappel du classifieur toujours négatif ?</a:t>
            </a:r>
          </a:p>
          <a:p/>
          <a:p>
            <a:r>
              <a:t>RÉPONSE ATTENDUE ET CORRECTION</a:t>
            </a:r>
          </a:p>
          <a:p>
            <a:r>
              <a:t>Zéro : aucun des 100 cas positifs n’est détecté.</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039 | Type CONCEPT | Niveau Application | Support projection + notes]</a:t>
            </a:r>
          </a:p>
          <a:p/>
          <a:p>
            <a:r>
              <a:t>OBJECTIF OBSERVABLE</a:t>
            </a:r>
          </a:p>
          <a:p>
            <a:r>
              <a:t>Chaque case représente une conséquence. Le participant doit pouvoir expliquer ou réaliser les éléments suivants : Précision = VP / (VP + FP) ; Rappel = VP / (VP + FN) ; F1 : équilibre harmonique précision/rappel.</a:t>
            </a:r>
          </a:p>
          <a:p/>
          <a:p>
            <a:r>
              <a:t>EXPLICATION ET ANIMATION</a:t>
            </a:r>
          </a:p>
          <a:p>
            <a:r>
              <a:t>Lire les axes avant de calculer. Sur l’exemple fictif VP = 60, FP = 40, FN = 40, VN = 860, la précision et le rappel valent tous deux 60 %. Les faux positifs mobilisent une revue inutile ; les faux négatifs correspondent à des dossiers pertinents manqués. Le coût de ces cas dépend du workflow, pas seulement du modèle.</a:t>
            </a:r>
          </a:p>
          <a:p/>
          <a:p>
            <a:r>
              <a:t>QUESTION À POSER</a:t>
            </a:r>
          </a:p>
          <a:p>
            <a:r>
              <a:t>Avec 60 VP et 40 FP, quelle précision ?</a:t>
            </a:r>
          </a:p>
          <a:p/>
          <a:p>
            <a:r>
              <a:t>RÉPONSE ATTENDUE ET CORRECTION</a:t>
            </a:r>
          </a:p>
          <a:p>
            <a:r>
              <a:t>60 / 100, soit 60 %.</a:t>
            </a:r>
          </a:p>
          <a:p/>
          <a:p>
            <a:r>
              <a:t>VÉRIFICATION</a:t>
            </a:r>
          </a:p>
          <a:p>
            <a:r>
              <a:t>Demander une reformulation avec un exemple ou une preuve issue du notebook. Ne pas accepter une réponse limitée au nom d’une bibliothèque. Ouvrir le notebook 03 ; conserver les résultats et le journal.</a:t>
            </a:r>
          </a:p>
          <a:p/>
          <a:p>
            <a:r>
              <a:t>REPÈRES DE SOURCE</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040 | Type CONCEPT | Niveau Application | Support projection + notes]</a:t>
            </a:r>
          </a:p>
          <a:p/>
          <a:p>
            <a:r>
              <a:t>OBJECTIF OBSERVABLE</a:t>
            </a:r>
          </a:p>
          <a:p>
            <a:r>
              <a:t>0,5 n’est pas une obligation. Le participant doit pouvoir expliquer ou réaliser les éléments suivants : Choisir le seuil sur la validation ; Relier précision, rappel et charge ; Fixer la règle avant le test.</a:t>
            </a:r>
          </a:p>
          <a:p/>
          <a:p>
            <a:r>
              <a:t>EXPLICATION ET ANIMATION</a:t>
            </a:r>
          </a:p>
          <a:p>
            <a:r>
              <a:t>Le notebook calcule une table de seuils sur la validation. Réduire le seuil augmente généralement le nombre d’alertes et le rappel ; la précision n’est pas garantie monotone sur tous les échantillons. Un score de 0,72 ne signifie pas forcément 72 % de probabilité réelle. L’équipe sélectionne une règle puis ne l’ajuste plus à partir des résultats du test.</a:t>
            </a:r>
          </a:p>
          <a:p/>
          <a:p>
            <a:r>
              <a:t>QUESTION À POSER</a:t>
            </a:r>
          </a:p>
          <a:p>
            <a:r>
              <a:t>Pourquoi ne pas chercher le meilleur seuil sur le test ?</a:t>
            </a:r>
          </a:p>
          <a:p/>
          <a:p>
            <a:r>
              <a:t>RÉPONSE ATTENDUE ET CORRECTION</a:t>
            </a:r>
          </a:p>
          <a:p>
            <a:r>
              <a:t>Cela transformerait le test en ensemble de sélection.</a:t>
            </a:r>
          </a:p>
          <a:p/>
          <a:p>
            <a:r>
              <a:t>VÉRIFICATION</a:t>
            </a:r>
          </a:p>
          <a:p>
            <a:r>
              <a:t>Demander une reformulation avec un exemple ou une preuve issue du notebook. Ne pas accepter une réponse limitée au nom d’une bibliothèque. Ouvrir le notebook 03 ; conserver les résultats et le journal.</a:t>
            </a:r>
          </a:p>
          <a:p/>
          <a:p>
            <a:r>
              <a:t>REPÈRES DE SOURCE</a:t>
            </a:r>
          </a:p>
          <a:p>
            <a:r>
              <a:t>[R04] Équipe scikit-learn. Métriques et évaluation des modèles. https://scikit-learn.org/stable/modules/model_evaluation.html</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[R04] Équipe scikit-learn. Métriques et évaluation des modèles. Documentation consultée le 14 septembre 2026. https://scikit-learn.org/stable/modules/model_evaluation.html</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041 | Type ATELIER | Niveau Application | Support projection + notes]</a:t>
            </a:r>
          </a:p>
          <a:p/>
          <a:p>
            <a:r>
              <a:t>OBJECTIF OBSERVABLE</a:t>
            </a:r>
          </a:p>
          <a:p>
            <a:r>
              <a:t>Une hypothèse, une modification, une trace. Le participant doit pouvoir expliquer ou réaliser les éléments suivants : Hypothèse et effet attendu ; Résultat mesuré ; Interprétation et prochain test.</a:t>
            </a:r>
          </a:p>
          <a:p/>
          <a:p>
            <a:r>
              <a:t>EXPLICATION ET ANIMATION</a:t>
            </a:r>
          </a:p>
          <a:p>
            <a:r>
              <a:t>Le journal CSV fourni est prêt à compléter. Les participants indiquent le code de l’expérience, la graine, les données, le changement et les métriques de validation. Changer simultanément l’architecture, le taux et le split empêche d’attribuer un gain à une cause. Les essais multiples augmentent aussi le risque de sélectionner du bruit.</a:t>
            </a:r>
          </a:p>
          <a:p/>
          <a:p>
            <a:r>
              <a:t>QUESTION À POSER</a:t>
            </a:r>
          </a:p>
          <a:p>
            <a:r>
              <a:t>Qu’est-ce qu’un résultat négatif utile ?</a:t>
            </a:r>
          </a:p>
          <a:p/>
          <a:p>
            <a:r>
              <a:t>RÉPONSE ATTENDUE ET CORRECTION</a:t>
            </a:r>
          </a:p>
          <a:p>
            <a:r>
              <a:t>Un essai correctement documenté qui réfute l’hypothèse et évite une mauvaise décision.</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[MÉTA | J1 | Séquence 1C | Diapositive 042 | Type ATELIER | Niveau Application | Support projection + notes]</a:t>
            </a:r>
          </a:p>
          <a:p/>
          <a:p>
            <a:r>
              <a:t>OBJECTIF OBSERVABLE</a:t>
            </a:r>
          </a:p>
          <a:p>
            <a:r>
              <a:t>Expliquer sans lire son code. Le participant doit pouvoir expliquer ou réaliser les éléments suivants : Une époque est… ; Je reconnais une fuite lorsque… ; Avant de croire un score, je vérifie….</a:t>
            </a:r>
          </a:p>
          <a:p/>
          <a:p>
            <a:r>
              <a:t>EXPLICATION ET ANIMATION</a:t>
            </a:r>
          </a:p>
          <a:p>
            <a:r>
              <a:t>Faire répondre individuellement puis en binôme. Vérifier que chaque équipe sait ouvrir ses résultats, retrouver son split et citer les colonnes exclues. Le devoir optionnel consiste à relire les métriques et à noter une question, pas à lancer une recherche d’hyperparamètres. Le lendemain, le passage aux images reprend exactement cette discipline.</a:t>
            </a:r>
          </a:p>
          <a:p/>
          <a:p>
            <a:r>
              <a:t>QUESTION À POSER</a:t>
            </a:r>
          </a:p>
          <a:p>
            <a:r>
              <a:t>Pouvez-vous recharger et expliquer votre expérience ?</a:t>
            </a:r>
          </a:p>
          <a:p/>
          <a:p>
            <a:r>
              <a:t>RÉPONSE ATTENDUE ET CORRECTION</a:t>
            </a:r>
          </a:p>
          <a:p>
            <a:r>
              <a:t>Oui si le notebook, les fichiers, les colonnes, le seuil et la comparaison sont documentés.</a:t>
            </a:r>
          </a:p>
          <a:p/>
          <a:p>
            <a:r>
              <a:t>VÉRIFICATION</a:t>
            </a:r>
          </a:p>
          <a:p>
            <a:r>
              <a:t>Demander une reformulation avec un exemple ou une preuve issue du notebook. Ne pas accepter une réponse limitée au nom d’une bibliothèque. Relier ce point à la décision de conception étudiée.</a:t>
            </a:r>
          </a:p>
          <a:p/>
          <a:p>
            <a:r>
              <a:t>REPÈRES DE SOURCE</a:t>
            </a:r>
          </a:p>
          <a:p>
            <a:r>
              <a:t>[R00] Dossier fourni par Martino Bettucci. Dossier de préparation pédagogique ultime, référence 4-024. Fichier Dossier_original_fourni.txt</a:t>
            </a:r>
          </a:p>
          <a:p/>
          <a:p>
            <a:r>
              <a:t>LÉGENDE DE L’ILLUSTRATION</a:t>
            </a:r>
          </a:p>
          <a:p>
            <a:r>
              <a:t>Schéma de formation. Les valeurs montrées dans les graphiques conceptuels sont illustratives. Les exemples d’images sont issus du jeu local de chiffres manuscrits. Les cas DGFiP ne reproduisent pas des systèmes internes.</a:t>
            </a:r>
          </a:p>
          <a:p/>
          <a:p>
            <a:r>
              <a:t>RÉFÉRENCES CONSULTABLES</a:t>
            </a:r>
          </a:p>
          <a:p>
            <a:r>
              <a:t>[R00] Dossier fourni par Martino Bettucci. Dossier de préparation pédagogique ultime, référence 4-024. 14 septembre 2026. Fichier Dossier_original_fourni.txt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441"/>
        </a:solidFill>
        <a:effectLst/>
      </p:bgPr>
    </p:bg>
    <p:spTree>
      <p:nvGrpSpPr>
        <p:cNvPr id="1" name=""/>
        <p:cNvGrpSpPr/>
        <p:nvPr/>
      </p:nvGrpSpPr>
      <p:grpSpPr/>
      <p:sp>
        <p:nvSpPr>
          <p:cNvPr id="2" name="Rectangle 1"/>
          <p:cNvSpPr/>
          <p:nvPr/>
        </p:nvSpPr>
        <p:spPr>
          <a:xfrm>
            <a:off x="0" y="0"/>
            <a:ext cx="173736" cy="6858000"/>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8229600" cy="320040"/>
          </a:xfrm>
          <a:prstGeom prst="rect">
            <a:avLst/>
          </a:prstGeom>
          <a:noFill/>
        </p:spPr>
        <p:txBody>
          <a:bodyPr wrap="square" lIns="0" rIns="0" tIns="0" bIns="0">
            <a:spAutoFit/>
          </a:bodyPr>
          <a:lstStyle/>
          <a:p>
            <a:pPr>
              <a:lnSpc>
                <a:spcPct val="108000"/>
              </a:lnSpc>
              <a:spcBef>
                <a:spcPts val="0"/>
              </a:spcBef>
              <a:spcAft>
                <a:spcPts val="0"/>
              </a:spcAft>
              <a:defRPr sz="1100" b="1">
                <a:solidFill>
                  <a:srgbClr val="FFFFFF"/>
                </a:solidFill>
                <a:latin typeface="DejaVu Sans"/>
              </a:defRPr>
            </a:pPr>
            <a:r>
              <a:t>P2ENJOY  /  FORMATION PROFESSIONNELLE  /  RÉF. 4-024</a:t>
            </a:r>
          </a:p>
        </p:txBody>
      </p:sp>
      <p:sp>
        <p:nvSpPr>
          <p:cNvPr id="4" name="TextBox 3"/>
          <p:cNvSpPr txBox="1"/>
          <p:nvPr/>
        </p:nvSpPr>
        <p:spPr>
          <a:xfrm>
            <a:off x="548640" y="1024128"/>
            <a:ext cx="5943600" cy="1554480"/>
          </a:xfrm>
          <a:prstGeom prst="rect">
            <a:avLst/>
          </a:prstGeom>
          <a:noFill/>
        </p:spPr>
        <p:txBody>
          <a:bodyPr wrap="square" lIns="0" rIns="0" tIns="0" bIns="0">
            <a:spAutoFit/>
          </a:bodyPr>
          <a:lstStyle/>
          <a:p>
            <a:pPr>
              <a:lnSpc>
                <a:spcPct val="108000"/>
              </a:lnSpc>
              <a:spcBef>
                <a:spcPts val="0"/>
              </a:spcBef>
              <a:spcAft>
                <a:spcPts val="0"/>
              </a:spcAft>
              <a:defRPr sz="3900" b="1">
                <a:solidFill>
                  <a:srgbClr val="FFFFFF"/>
                </a:solidFill>
                <a:latin typeface="DejaVu Sans"/>
              </a:defRPr>
            </a:pPr>
            <a:r>
              <a:t>Deep Learning par la pratique</a:t>
            </a:r>
          </a:p>
        </p:txBody>
      </p:sp>
      <p:sp>
        <p:nvSpPr>
          <p:cNvPr id="5" name="TextBox 4"/>
          <p:cNvSpPr txBox="1"/>
          <p:nvPr/>
        </p:nvSpPr>
        <p:spPr>
          <a:xfrm>
            <a:off x="566928" y="2779776"/>
            <a:ext cx="5303520" cy="786384"/>
          </a:xfrm>
          <a:prstGeom prst="rect">
            <a:avLst/>
          </a:prstGeom>
          <a:noFill/>
        </p:spPr>
        <p:txBody>
          <a:bodyPr wrap="square" lIns="0" rIns="0" tIns="0" bIns="0">
            <a:spAutoFit/>
          </a:bodyPr>
          <a:lstStyle/>
          <a:p>
            <a:pPr>
              <a:lnSpc>
                <a:spcPct val="108000"/>
              </a:lnSpc>
              <a:spcBef>
                <a:spcPts val="0"/>
              </a:spcBef>
              <a:spcAft>
                <a:spcPts val="0"/>
              </a:spcAft>
              <a:defRPr sz="2200" b="0">
                <a:solidFill>
                  <a:srgbClr val="FFFFFF"/>
                </a:solidFill>
                <a:latin typeface="DejaVu Sans"/>
              </a:defRPr>
            </a:pPr>
            <a:r>
              <a:t>Comprendre. Construire. Vérifier.</a:t>
            </a:r>
          </a:p>
        </p:txBody>
      </p:sp>
      <p:sp>
        <p:nvSpPr>
          <p:cNvPr id="6" name="TextBox 5"/>
          <p:cNvSpPr txBox="1"/>
          <p:nvPr/>
        </p:nvSpPr>
        <p:spPr>
          <a:xfrm>
            <a:off x="585216" y="3877056"/>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18 heures • 3 journées</a:t>
            </a:r>
          </a:p>
        </p:txBody>
      </p:sp>
      <p:sp>
        <p:nvSpPr>
          <p:cNvPr id="7" name="TextBox 6"/>
          <p:cNvSpPr txBox="1"/>
          <p:nvPr/>
        </p:nvSpPr>
        <p:spPr>
          <a:xfrm>
            <a:off x="585216" y="4306824"/>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DGFiP • 21 au 23 septembre 2026</a:t>
            </a:r>
          </a:p>
        </p:txBody>
      </p:sp>
      <p:sp>
        <p:nvSpPr>
          <p:cNvPr id="8" name="TextBox 7"/>
          <p:cNvSpPr txBox="1"/>
          <p:nvPr/>
        </p:nvSpPr>
        <p:spPr>
          <a:xfrm>
            <a:off x="585216" y="4736592"/>
            <a:ext cx="5303520" cy="384048"/>
          </a:xfrm>
          <a:prstGeom prst="rect">
            <a:avLst/>
          </a:prstGeom>
          <a:noFill/>
        </p:spPr>
        <p:txBody>
          <a:bodyPr wrap="square" lIns="0" rIns="0" tIns="0" bIns="0">
            <a:spAutoFit/>
          </a:bodyPr>
          <a:lstStyle/>
          <a:p>
            <a:pPr>
              <a:lnSpc>
                <a:spcPct val="108000"/>
              </a:lnSpc>
              <a:spcBef>
                <a:spcPts val="0"/>
              </a:spcBef>
              <a:spcAft>
                <a:spcPts val="0"/>
              </a:spcAft>
              <a:defRPr sz="1700" b="0">
                <a:solidFill>
                  <a:srgbClr val="FFFFFF"/>
                </a:solidFill>
                <a:latin typeface="DejaVu Sans"/>
              </a:defRPr>
            </a:pPr>
            <a:r>
              <a:t>Référence 4-024 • Niveau Application</a:t>
            </a:r>
          </a:p>
        </p:txBody>
      </p:sp>
      <p:sp>
        <p:nvSpPr>
          <p:cNvPr id="9" name="Rounded Rectangle 8"/>
          <p:cNvSpPr/>
          <p:nvPr/>
        </p:nvSpPr>
        <p:spPr>
          <a:xfrm>
            <a:off x="6080760" y="1572768"/>
            <a:ext cx="5650992" cy="3072384"/>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01_hero.png"/>
          <p:cNvPicPr>
            <a:picLocks noChangeAspect="1"/>
          </p:cNvPicPr>
          <p:nvPr/>
        </p:nvPicPr>
        <p:blipFill>
          <a:blip r:embed="rId2"/>
          <a:stretch>
            <a:fillRect/>
          </a:stretch>
        </p:blipFill>
        <p:spPr>
          <a:xfrm>
            <a:off x="6227064" y="1746504"/>
            <a:ext cx="5367528" cy="2688336"/>
          </a:xfrm>
          <a:prstGeom prst="rect">
            <a:avLst/>
          </a:prstGeom>
        </p:spPr>
      </p:pic>
      <p:pic>
        <p:nvPicPr>
          <p:cNvPr id="11" name="Picture 10" descr="detail_reseau_imagegen.png"/>
          <p:cNvPicPr>
            <a:picLocks noChangeAspect="1"/>
          </p:cNvPicPr>
          <p:nvPr/>
        </p:nvPicPr>
        <p:blipFill>
          <a:blip r:embed="rId3"/>
          <a:stretch>
            <a:fillRect/>
          </a:stretch>
        </p:blipFill>
        <p:spPr>
          <a:xfrm>
            <a:off x="9674352" y="374904"/>
            <a:ext cx="2039112" cy="813816"/>
          </a:xfrm>
          <a:prstGeom prst="rect">
            <a:avLst/>
          </a:prstGeom>
        </p:spPr>
      </p:pic>
      <p:sp>
        <p:nvSpPr>
          <p:cNvPr id="12" name="Rounded Rectangle 11"/>
          <p:cNvSpPr/>
          <p:nvPr/>
        </p:nvSpPr>
        <p:spPr>
          <a:xfrm>
            <a:off x="576072" y="5742432"/>
            <a:ext cx="11055096" cy="530352"/>
          </a:xfrm>
          <a:prstGeom prst="roundRect">
            <a:avLst>
              <a:gd name="adj" fmla="val 9000"/>
            </a:avLst>
          </a:prstGeom>
          <a:solidFill>
            <a:srgbClr val="213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852160"/>
            <a:ext cx="10652760" cy="310896"/>
          </a:xfrm>
          <a:prstGeom prst="rect">
            <a:avLst/>
          </a:prstGeom>
          <a:noFill/>
        </p:spPr>
        <p:txBody>
          <a:bodyPr wrap="square" lIns="0" rIns="0" tIns="0" bIns="0">
            <a:spAutoFit/>
          </a:bodyPr>
          <a:lstStyle/>
          <a:p>
            <a:pPr>
              <a:lnSpc>
                <a:spcPct val="108000"/>
              </a:lnSpc>
              <a:spcBef>
                <a:spcPts val="0"/>
              </a:spcBef>
              <a:spcAft>
                <a:spcPts val="0"/>
              </a:spcAft>
              <a:defRPr sz="1500" b="0">
                <a:solidFill>
                  <a:srgbClr val="FFFFFF"/>
                </a:solidFill>
                <a:latin typeface="DejaVu Sans"/>
              </a:defRPr>
            </a:pPr>
            <a:r>
              <a:t>Quelle décision professionnelle souhaitez-vous mieux éclairer ?</a:t>
            </a:r>
          </a:p>
        </p:txBody>
      </p:sp>
      <p:sp>
        <p:nvSpPr>
          <p:cNvPr id="14" name="TextBox 13"/>
          <p:cNvSpPr txBox="1"/>
          <p:nvPr/>
        </p:nvSpPr>
        <p:spPr>
          <a:xfrm>
            <a:off x="585216" y="6492240"/>
            <a:ext cx="7315200" cy="201168"/>
          </a:xfrm>
          <a:prstGeom prst="rect">
            <a:avLst/>
          </a:prstGeom>
          <a:noFill/>
        </p:spPr>
        <p:txBody>
          <a:bodyPr wrap="square" lIns="0" rIns="0" tIns="0" bIns="0">
            <a:spAutoFit/>
          </a:bodyPr>
          <a:lstStyle/>
          <a:p>
            <a:pPr>
              <a:lnSpc>
                <a:spcPct val="108000"/>
              </a:lnSpc>
              <a:spcBef>
                <a:spcPts val="0"/>
              </a:spcBef>
              <a:spcAft>
                <a:spcPts val="0"/>
              </a:spcAft>
              <a:defRPr sz="900" b="0">
                <a:solidFill>
                  <a:srgbClr val="FFFFFF"/>
                </a:solidFill>
                <a:latin typeface="DejaVu Sans"/>
              </a:defRPr>
            </a:pPr>
            <a:r>
              <a:t>https://p2enjoy.studio  •  DGFiP  •  Asnières-sur-Seine</a:t>
            </a:r>
          </a:p>
        </p:txBody>
      </p:sp>
      <p:sp>
        <p:nvSpPr>
          <p:cNvPr id="15" name="TextBox 14"/>
          <p:cNvSpPr txBox="1"/>
          <p:nvPr/>
        </p:nvSpPr>
        <p:spPr>
          <a:xfrm>
            <a:off x="10607040" y="6428232"/>
            <a:ext cx="996696" cy="292608"/>
          </a:xfrm>
          <a:prstGeom prst="rect">
            <a:avLst/>
          </a:prstGeom>
          <a:noFill/>
        </p:spPr>
        <p:txBody>
          <a:bodyPr wrap="square" lIns="0" rIns="0" tIns="0" bIns="0">
            <a:spAutoFit/>
          </a:bodyPr>
          <a:lstStyle/>
          <a:p>
            <a:pPr algn="r">
              <a:lnSpc>
                <a:spcPct val="108000"/>
              </a:lnSpc>
              <a:spcBef>
                <a:spcPts val="0"/>
              </a:spcBef>
              <a:spcAft>
                <a:spcPts val="0"/>
              </a:spcAft>
              <a:defRPr sz="1200" b="1">
                <a:solidFill>
                  <a:srgbClr val="FFFFFF"/>
                </a:solidFill>
                <a:latin typeface="DejaVu Sans"/>
              </a:defRPr>
            </a:pPr>
            <a:r>
              <a:t>JOUR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Ce que vous saurez réellement faire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prototype défendable, pas une boîte magique.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Formuler une cible et un moment de prédiction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Construire et comparer des modèles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Diagnostiquer, documenter et décider</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02_pipelin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résultat prouverait votre progression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002 / 126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Le parcours des trois jours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Même démarche, données différentes.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J1 : fondamentaux, outils et premier réseau</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J2 : vision, séquences et diagnostic</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J3 : cas métiers et projet en équipe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03_journey.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Quelles connaissances relient les trois journées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003 / 126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Diagnostic de départ</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Il ne s’agit pas de vous noter.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Python et manipulation des données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Validation, paramètres et métriques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 exemple métier par participant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04_diagnostic.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À quoi sert un jeu de validation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004 / 126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IA, apprentissage et réseaux profonds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Quatre expressions, pas quatre synonymes.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IA : famille de systèmes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Apprentissage automatique : comportement appris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Apprentissage profond : transformations neuronales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05_taxonomy.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classifieur neuronal est-il nécessairement génératif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R01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005 / 126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Apprendre avec ou sans étiquettes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Commencer par savoir ce que l’on cherche.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Supervisé : exemples et cibles connues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Non supervisé : structure sans cible fournie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Auto-supervisé : cible construite depuis les données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06_learningtype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groupe atypique est-il une preuve de fraude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006 / 126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Une tâche avant une architecture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Prédire, classer, segmenter ou générer ?</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Classe : catégorie discrète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Valeur : quantité continue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Structure : localisation, texte ou masque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07_taskcard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 Repérer une piscine » est-il une tâche entièrement définie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007 / 126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Lire un jeu de données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Chaque ligne doit avoir une signification.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observation et sa date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Des variables disponibles au bon moment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cible et un procédé d’annotation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08_datase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Quelles colonnes seront connues au moment de prédire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008 / 126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Entraînement et inférence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Apprendre les paramètres, puis les utiliser.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Entraînement : données + cibles + mise à jour</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Inférence : nouvelles entrées + paramètres figés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Évaluation : comparer à une vérité disponible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09_traininfer.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Faut-il réajuster le scaler sur chaque nouveau dossier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009 / 126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Un neurone, sans métaphore biologique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somme pondérée suivie d’une activation.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z = w₁x₁ + w₂x₂ + b</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 = activation(z)</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Les poids et le biais sont appris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0_neur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vaut z dans cet exemple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010 / 126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Pourquoi ajouter une couche cachée ?</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XOR ne se sépare pas par une seule droite.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Entrées : deux bits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Sortie 1 si les bits diffèrent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Des non-linéarités changent la représentation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1_xor.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se passe-t-il si toutes les activations sont linéaires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011 / 126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Trois activations à reconnaître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La sortie doit correspondre à la tâche.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ReLU : max(0, z)</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Sigmoïde : score binaire entre 0 et 1</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Softmax : scores normalisés entre classes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2_activation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éviter softmax avant CrossEntropyLoss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012 / 126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Les tenseurs donnent les dimensions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premier diagnostic : afficher la forme.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Scalaire → vecteur → matrice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Image : hauteur, largeur, canaux</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Lot : dimension supplémentaire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3_tensor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forme attend notre CNN PyTorch pour 32 images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R05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013 / 126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01 : diagnostiquer une forme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Provoquer une erreur, puis la comprendre.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Créer une matrice 2 × 3</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Multiplier par une matrice 3 × 4</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Expliquer pourquoi 2 × 3 fois 2 × 4 échoue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4_shap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transformer six valeurs en une matrice 2 × 4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014 / 126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Sortie et fonction de perte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combinaison incohérente peut tout bloquer.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Binaire : un logit + BCEWithLogitsLoss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Multiclasse : K logits + CrossEntropyLoss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Régression : sortie réelle + MSE ou MAE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5_los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Peut-on remplacer la perte par l’accuracy pour entraîner simplement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015 / 126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Le gradient mesure une sensibilité</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Que change une petite variation du poids ?</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Perte simple : L(w) = (w - 3)²</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Pente : 2 × (w - 3)</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Minimum : w = 3</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6_gradie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est le premier déplacement avec un taux de 0,1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016 / 126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01 : choisir un taux d’apprentissage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Trop petit : lent. Trop grand : instable.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Taux 0,01 : progression lente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Taux 0,1 : rapprochement du minimum</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Taux 1,1 : divergence sur cette parabole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7_lr.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taux de 0,1 est-il toujours un bon choix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017 / 126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Rétropropager puis mettre à jour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Calculer un gradient ne modifie pas encore le poids.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Propagation avant : produire la sortie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Rétropropagation : calculer les gradients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Optimiseur : appliquer la mise à jour</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8_backprop.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appeler zero_grad dans cette boucle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018 / 126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Lot, époque et hyperparamètres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Ne pas confondre ce qui est appris et ce qui est réglé.</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Lot : sous-ensemble traité ensemble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Époque : parcours du jeu d’entraînement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Hyperparamètre : décision de configuration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9_batch.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Avec 1 000 observations et des lots de 100, combien de mises à jour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019 / 126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Quatre jalons qui expliquent les choix</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L’histoire sert à comprendre les architectures.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1997 : LSTM et mémoire séquentielle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2012 : AlexNet, CNN et GPU</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2015 : BatchNorm/ResNet • 2017 : attention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0_timelin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difficulté chaque innovation cherche-t-elle à résoudre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R08, R09, R12, R13, R14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020 / 126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Pourquoi le Deep Learning s’est développé</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convergence, pas une cause unique.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disponibles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Accélérateurs et architectures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Optimisation et logiciels ouverts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1_driver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GPU corrige-t-il un mauvais jeu de données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R08, R01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021 / 126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1A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Avant le réseau : une référence simple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Comparer vaut mieux que croire.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Prédiction constante ou naïve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Modèle linéaire et modèle à arbres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Même séparation et même métrique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2_baselin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faire si l’arbre bat le MLP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R15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022 / 126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TensorFlow, PyTorch et Keras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Keras est une API multi-moteur.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TensorFlow : moteur et écosystème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PyTorch : tenseurs, modules et autograd</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Keras 3 : API de modèles de haut niveau</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3_framework.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Keras 3 est-il nécessairement limité à TensorFlow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R23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023 / 126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Choisir la bonne couche d’abstraction</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Comprendre une fois, reconnaître plusieurs API.</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Keras : construire rapidement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PyTorch natif : rendre la boucle explicite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TensorFlow natif : tenseurs et différentiation</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4_stack.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Quels éléments restent identiques entre les API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R02, R23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024 / 126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Deux chemins vers le même notebook</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GPU accélère ; il n’est pas obligatoire.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Jupyter local avec fichiers du kit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Colab si autorisé et disponible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sensibles exclues des services externes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5_environme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faut-il préparer avant une session sans Internet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R20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025 / 126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1B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00 : vérifier avant d’enseigner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Exécuter toutes les cellules depuis un noyau neuf.</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Imports et versions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CPU/GPU détecté</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Tenseurs, gradients et fichier de sortie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6_checklis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est la preuve minimale d’un environnement prêt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R02, R23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026 / 126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Reproductibilité : plus qu’une graine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Documenter les conditions de l’expérience.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Graine et indices de séparation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Versions et matériel</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Données, configuration et état du modèle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7_repro.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Deux scores légèrement différents signifient-ils nécessairement un bug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R07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027 / 126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boucle PyTorch, ligne par ligne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La chaîne entière réalise l’apprentissage.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zero_grad → forward</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loss → backward</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step → lot suivant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8_code_torch.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ligne applique réellement les nouveaux poids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028 / 126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Keras : une boucle de haut niveau</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compile, fit, predict ne retirent pas les choix.</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Définir les couches et l’entrée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Associer optimiseur, perte et métriques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Fournir une validation explicite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29_code_kera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fournir X_val et y_val à fit, mais pas X_test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029 / 126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1B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2900" b="1">
                <a:solidFill>
                  <a:srgbClr val="122441"/>
                </a:solidFill>
                <a:latin typeface="DejaVu Sans"/>
              </a:defRPr>
            </a:pPr>
            <a:r>
              <a:t>Sauvegarder un système, pas seulement un réseau</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Les poids ne suffisent pas à reproduire une décision.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Architecture et état des paramètres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Prétraitement et ordre des variables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Seuil, métriques, données et versions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0_checkpoi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manque-t-il à un fichier de poids utilisé seul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R01, R02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030 / 126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Séparer avant de transformer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Trois ensembles, trois usages.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Entraînement : ajuster les paramètres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Validation : sélectionner et régler</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Test : estimer le résultat final</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1_spli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 split aléatoire suffit-il si un contribuable apparaît plusieurs fois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031 / 126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fuite de données crée de faux succès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information du futur ne doit pas entrer.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Résultat après examen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Prétraitement ajusté sur le test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Doublons ou même entité des deux côtés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2_leakag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un score spectaculaire peut-il être une mauvaise nouvelle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032 / 126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Normaliser sans contaminer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Apprendre le prétraitement uniquement sur train.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fit sur l’entraînement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transform sur validation et test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Conserver le même objet pour l’inférence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3_scaler.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différence entre fit et transform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033 / 126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02 : prioriser des dossiers fictifs</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 score pour une revue, pas un verdict.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20 variables artificielles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Cible : examen_utile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Aucune donnée fiscale réelle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4_tpboard.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intitulé de cible évite une interprétation abusive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034 / 126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02 : préparer, puis vérifier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Aucun entraînement avant les contrôles.</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Exclure identifiant et résultat futur</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Vérifier les ensembles disjoints</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Contrôler forme, types et valeurs finies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5_pipelin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Quelle preuve gardez-vous de la séparation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R03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035 / 126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TP 02 : comparer sans favoritisme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La baseline a le droit de gagner.</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Même train et même validation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Budget d’essais annoncé</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Tableau métriques + coût + limites</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6_compar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 doit contenir la comparaison au-delà du score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R15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036 / 126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Lire les courbes d’apprentissage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Le comportement compte autant que le dernier chiffre.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Perte train qui diminue</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Perte validation qui stagne ou remonte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Écart à interpréter avec le protocole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7_curves.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Une perte train inférieure à la validation suffit-elle à condamner le modèle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037 / 126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Le piège des 99 %</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Ignorer tous les cas positifs peut sembler excellent.</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10 000 observations</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100 positifs seulement</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Toujours négatif : 99 % d’exactitude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8_imbalance.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Quel est le rappel du classifieur toujours négatif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038 / 126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La matrice de confusion parle métier</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Chaque case représente une conséquence.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Précision = VP / (VP + FP)</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Rappel = VP / (VP + FN)</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F1 : équilibre harmonique précision/rappel</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39_confusion.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Avec 60 VP et 40 FP, quelle précision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039 / 126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REPÈRE ET MÉTHODE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Du score au seuil de revue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0,5 n’est pas une obligation.</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Choisir le seuil sur la validation</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Relier précision, rappel et charge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Fixer la règle avant le test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0_threshold.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DISCUTER</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Pourquoi ne pas chercher le meilleur seuil sur le test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R04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040 / 126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Tenir un journal d’expérience</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Une hypothèse, une modification, une trace.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Hypothèse et effet attendu</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Résultat mesuré</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Interprétation et prochain test</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1_journal.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Qu’est-ce qu’un résultat négatif utile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041 / 126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93776" y="320040"/>
            <a:ext cx="758952" cy="292608"/>
          </a:xfrm>
          <a:prstGeom prst="roundRect">
            <a:avLst>
              <a:gd name="adj" fmla="val 9000"/>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70332"/>
            <a:ext cx="685800" cy="201168"/>
          </a:xfrm>
          <a:prstGeom prst="rect">
            <a:avLst/>
          </a:prstGeom>
          <a:noFill/>
        </p:spPr>
        <p:txBody>
          <a:bodyPr wrap="square" lIns="0" rIns="0" tIns="0" bIns="0">
            <a:spAutoFit/>
          </a:bodyPr>
          <a:lstStyle/>
          <a:p>
            <a:pPr algn="ctr">
              <a:lnSpc>
                <a:spcPct val="108000"/>
              </a:lnSpc>
              <a:spcBef>
                <a:spcPts val="0"/>
              </a:spcBef>
              <a:spcAft>
                <a:spcPts val="0"/>
              </a:spcAft>
              <a:defRPr sz="900" b="1">
                <a:solidFill>
                  <a:srgbClr val="FFFFFF"/>
                </a:solidFill>
                <a:latin typeface="DejaVu Sans"/>
              </a:defRPr>
            </a:pPr>
            <a:r>
              <a:t>JOUR 1</a:t>
            </a:r>
          </a:p>
        </p:txBody>
      </p:sp>
      <p:sp>
        <p:nvSpPr>
          <p:cNvPr id="5" name="TextBox 4"/>
          <p:cNvSpPr txBox="1"/>
          <p:nvPr/>
        </p:nvSpPr>
        <p:spPr>
          <a:xfrm>
            <a:off x="1399032" y="365760"/>
            <a:ext cx="8229600" cy="274320"/>
          </a:xfrm>
          <a:prstGeom prst="rect">
            <a:avLst/>
          </a:prstGeom>
          <a:noFill/>
        </p:spPr>
        <p:txBody>
          <a:bodyPr wrap="square" lIns="0" rIns="0" tIns="0" bIns="0">
            <a:spAutoFit/>
          </a:bodyPr>
          <a:lstStyle/>
          <a:p>
            <a:pPr>
              <a:lnSpc>
                <a:spcPct val="108000"/>
              </a:lnSpc>
              <a:spcBef>
                <a:spcPts val="0"/>
              </a:spcBef>
              <a:spcAft>
                <a:spcPts val="0"/>
              </a:spcAft>
              <a:defRPr sz="1100" b="1">
                <a:solidFill>
                  <a:srgbClr val="56677F"/>
                </a:solidFill>
                <a:latin typeface="DejaVu Sans"/>
              </a:defRPr>
            </a:pPr>
            <a:r>
              <a:t>1C  /  MISE EN PRATIQUE</a:t>
            </a:r>
          </a:p>
        </p:txBody>
      </p:sp>
      <p:sp>
        <p:nvSpPr>
          <p:cNvPr id="6" name="TextBox 5"/>
          <p:cNvSpPr txBox="1"/>
          <p:nvPr/>
        </p:nvSpPr>
        <p:spPr>
          <a:xfrm>
            <a:off x="9372600" y="356616"/>
            <a:ext cx="2304288" cy="274320"/>
          </a:xfrm>
          <a:prstGeom prst="rect">
            <a:avLst/>
          </a:prstGeom>
          <a:noFill/>
        </p:spPr>
        <p:txBody>
          <a:bodyPr wrap="square" lIns="0" rIns="0" tIns="0" bIns="0">
            <a:spAutoFit/>
          </a:bodyPr>
          <a:lstStyle/>
          <a:p>
            <a:pPr algn="r">
              <a:lnSpc>
                <a:spcPct val="108000"/>
              </a:lnSpc>
              <a:spcBef>
                <a:spcPts val="0"/>
              </a:spcBef>
              <a:spcAft>
                <a:spcPts val="0"/>
              </a:spcAft>
              <a:defRPr sz="1100" b="1">
                <a:solidFill>
                  <a:srgbClr val="23468C"/>
                </a:solidFill>
                <a:latin typeface="DejaVu Sans"/>
              </a:defRPr>
            </a:pPr>
            <a:r>
              <a:t>P2ENJOY.STUDIO</a:t>
            </a:r>
          </a:p>
        </p:txBody>
      </p:sp>
      <p:sp>
        <p:nvSpPr>
          <p:cNvPr id="7" name="TextBox 6"/>
          <p:cNvSpPr txBox="1"/>
          <p:nvPr/>
        </p:nvSpPr>
        <p:spPr>
          <a:xfrm>
            <a:off x="512064" y="859536"/>
            <a:ext cx="11137392" cy="886968"/>
          </a:xfrm>
          <a:prstGeom prst="rect">
            <a:avLst/>
          </a:prstGeom>
          <a:noFill/>
        </p:spPr>
        <p:txBody>
          <a:bodyPr wrap="square" lIns="0" rIns="0" tIns="0" bIns="0">
            <a:spAutoFit/>
          </a:bodyPr>
          <a:lstStyle/>
          <a:p>
            <a:pPr>
              <a:lnSpc>
                <a:spcPct val="108000"/>
              </a:lnSpc>
              <a:spcBef>
                <a:spcPts val="0"/>
              </a:spcBef>
              <a:spcAft>
                <a:spcPts val="0"/>
              </a:spcAft>
              <a:defRPr sz="3100" b="1">
                <a:solidFill>
                  <a:srgbClr val="122441"/>
                </a:solidFill>
                <a:latin typeface="DejaVu Sans"/>
              </a:defRPr>
            </a:pPr>
            <a:r>
              <a:t>Point de contrôle du jour 1</a:t>
            </a:r>
          </a:p>
        </p:txBody>
      </p:sp>
      <p:sp>
        <p:nvSpPr>
          <p:cNvPr id="8" name="TextBox 7"/>
          <p:cNvSpPr txBox="1"/>
          <p:nvPr/>
        </p:nvSpPr>
        <p:spPr>
          <a:xfrm>
            <a:off x="548640" y="1719072"/>
            <a:ext cx="11064240" cy="493776"/>
          </a:xfrm>
          <a:prstGeom prst="rect">
            <a:avLst/>
          </a:prstGeom>
          <a:noFill/>
        </p:spPr>
        <p:txBody>
          <a:bodyPr wrap="square" lIns="0" rIns="0" tIns="0" bIns="0">
            <a:spAutoFit/>
          </a:bodyPr>
          <a:lstStyle/>
          <a:p>
            <a:pPr>
              <a:lnSpc>
                <a:spcPct val="108000"/>
              </a:lnSpc>
              <a:spcBef>
                <a:spcPts val="0"/>
              </a:spcBef>
              <a:spcAft>
                <a:spcPts val="0"/>
              </a:spcAft>
              <a:defRPr sz="1800" b="0">
                <a:solidFill>
                  <a:srgbClr val="56677F"/>
                </a:solidFill>
                <a:latin typeface="DejaVu Sans"/>
              </a:defRPr>
            </a:pPr>
            <a:r>
              <a:t>Expliquer sans lire son code.</a:t>
            </a:r>
          </a:p>
        </p:txBody>
      </p:sp>
      <p:sp>
        <p:nvSpPr>
          <p:cNvPr id="9" name="Rounded Rectangle 8"/>
          <p:cNvSpPr/>
          <p:nvPr/>
        </p:nvSpPr>
        <p:spPr>
          <a:xfrm>
            <a:off x="548640" y="2395728"/>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95728"/>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42032"/>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Une époque est…</a:t>
            </a:r>
          </a:p>
        </p:txBody>
      </p:sp>
      <p:sp>
        <p:nvSpPr>
          <p:cNvPr id="12" name="Rounded Rectangle 11"/>
          <p:cNvSpPr/>
          <p:nvPr/>
        </p:nvSpPr>
        <p:spPr>
          <a:xfrm>
            <a:off x="548640" y="3337560"/>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37560"/>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483864"/>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Je reconnais une fuite lorsque…</a:t>
            </a:r>
          </a:p>
        </p:txBody>
      </p:sp>
      <p:sp>
        <p:nvSpPr>
          <p:cNvPr id="15" name="Rounded Rectangle 14"/>
          <p:cNvSpPr/>
          <p:nvPr/>
        </p:nvSpPr>
        <p:spPr>
          <a:xfrm>
            <a:off x="548640" y="4279392"/>
            <a:ext cx="4114800" cy="832104"/>
          </a:xfrm>
          <a:prstGeom prst="roundRect">
            <a:avLst>
              <a:gd name="adj" fmla="val 9000"/>
            </a:avLst>
          </a:prstGeom>
          <a:solidFill>
            <a:srgbClr val="EF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279392"/>
            <a:ext cx="50292" cy="832104"/>
          </a:xfrm>
          <a:prstGeom prst="rect">
            <a:avLst/>
          </a:prstGeom>
          <a:solidFill>
            <a:srgbClr val="23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425696"/>
            <a:ext cx="3703320" cy="594360"/>
          </a:xfrm>
          <a:prstGeom prst="rect">
            <a:avLst/>
          </a:prstGeom>
          <a:noFill/>
        </p:spPr>
        <p:txBody>
          <a:bodyPr wrap="square" lIns="0" rIns="0" tIns="0" bIns="0">
            <a:spAutoFit/>
          </a:bodyPr>
          <a:lstStyle/>
          <a:p>
            <a:pPr>
              <a:lnSpc>
                <a:spcPct val="108000"/>
              </a:lnSpc>
              <a:spcBef>
                <a:spcPts val="0"/>
              </a:spcBef>
              <a:spcAft>
                <a:spcPts val="0"/>
              </a:spcAft>
              <a:defRPr sz="1850" b="0">
                <a:solidFill>
                  <a:srgbClr val="0D0D0D"/>
                </a:solidFill>
                <a:latin typeface="DejaVu Sans"/>
              </a:defRPr>
            </a:pPr>
            <a:r>
              <a:t>Avant de croire un score, je vérifie…</a:t>
            </a:r>
          </a:p>
        </p:txBody>
      </p:sp>
      <p:sp>
        <p:nvSpPr>
          <p:cNvPr id="18" name="Rounded Rectangle 17"/>
          <p:cNvSpPr/>
          <p:nvPr/>
        </p:nvSpPr>
        <p:spPr>
          <a:xfrm>
            <a:off x="4873752" y="2258568"/>
            <a:ext cx="6766560" cy="3584448"/>
          </a:xfrm>
          <a:prstGeom prst="roundRect">
            <a:avLst>
              <a:gd name="adj" fmla="val 9000"/>
            </a:avLst>
          </a:prstGeom>
          <a:solidFill>
            <a:srgbClr val="FFFFFF"/>
          </a:solidFill>
          <a:ln>
            <a:solidFill>
              <a:srgbClr val="D8E1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42_checkpoint.png"/>
          <p:cNvPicPr>
            <a:picLocks noChangeAspect="1"/>
          </p:cNvPicPr>
          <p:nvPr/>
        </p:nvPicPr>
        <p:blipFill>
          <a:blip r:embed="rId2"/>
          <a:stretch>
            <a:fillRect/>
          </a:stretch>
        </p:blipFill>
        <p:spPr>
          <a:xfrm>
            <a:off x="5001768" y="2377440"/>
            <a:ext cx="6510528" cy="3255264"/>
          </a:xfrm>
          <a:prstGeom prst="rect">
            <a:avLst/>
          </a:prstGeom>
        </p:spPr>
      </p:pic>
      <p:sp>
        <p:nvSpPr>
          <p:cNvPr id="20" name="Rounded Rectangle 19"/>
          <p:cNvSpPr/>
          <p:nvPr/>
        </p:nvSpPr>
        <p:spPr>
          <a:xfrm>
            <a:off x="548640" y="5916168"/>
            <a:ext cx="11100816" cy="512064"/>
          </a:xfrm>
          <a:prstGeom prst="roundRect">
            <a:avLst>
              <a:gd name="adj" fmla="val 9000"/>
            </a:avLst>
          </a:prstGeom>
          <a:solidFill>
            <a:srgbClr val="122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053328"/>
            <a:ext cx="1353312" cy="210312"/>
          </a:xfrm>
          <a:prstGeom prst="rect">
            <a:avLst/>
          </a:prstGeom>
          <a:noFill/>
        </p:spPr>
        <p:txBody>
          <a:bodyPr wrap="square" lIns="0" rIns="0" tIns="0" bIns="0">
            <a:spAutoFit/>
          </a:bodyPr>
          <a:lstStyle/>
          <a:p>
            <a:pPr>
              <a:lnSpc>
                <a:spcPct val="108000"/>
              </a:lnSpc>
              <a:spcBef>
                <a:spcPts val="0"/>
              </a:spcBef>
              <a:spcAft>
                <a:spcPts val="0"/>
              </a:spcAft>
              <a:defRPr sz="1050" b="1">
                <a:solidFill>
                  <a:srgbClr val="D9CF4A"/>
                </a:solidFill>
                <a:latin typeface="DejaVu Sans"/>
              </a:defRPr>
            </a:pPr>
            <a:r>
              <a:t>À FAIRE</a:t>
            </a:r>
          </a:p>
        </p:txBody>
      </p:sp>
      <p:sp>
        <p:nvSpPr>
          <p:cNvPr id="22" name="TextBox 21"/>
          <p:cNvSpPr txBox="1"/>
          <p:nvPr/>
        </p:nvSpPr>
        <p:spPr>
          <a:xfrm>
            <a:off x="2130552" y="6025896"/>
            <a:ext cx="9308592" cy="320040"/>
          </a:xfrm>
          <a:prstGeom prst="rect">
            <a:avLst/>
          </a:prstGeom>
          <a:noFill/>
        </p:spPr>
        <p:txBody>
          <a:bodyPr wrap="square" lIns="0" rIns="0" tIns="0" bIns="0">
            <a:spAutoFit/>
          </a:bodyPr>
          <a:lstStyle/>
          <a:p>
            <a:pPr>
              <a:lnSpc>
                <a:spcPct val="108000"/>
              </a:lnSpc>
              <a:spcBef>
                <a:spcPts val="0"/>
              </a:spcBef>
              <a:spcAft>
                <a:spcPts val="0"/>
              </a:spcAft>
              <a:defRPr sz="1350" b="0">
                <a:solidFill>
                  <a:srgbClr val="FFFFFF"/>
                </a:solidFill>
                <a:latin typeface="DejaVu Sans"/>
              </a:defRPr>
            </a:pPr>
            <a:r>
              <a:t>Pouvez-vous recharger et expliquer votre expérience ?</a:t>
            </a:r>
          </a:p>
        </p:txBody>
      </p:sp>
      <p:sp>
        <p:nvSpPr>
          <p:cNvPr id="23" name="TextBox 22"/>
          <p:cNvSpPr txBox="1"/>
          <p:nvPr/>
        </p:nvSpPr>
        <p:spPr>
          <a:xfrm>
            <a:off x="557784" y="6592824"/>
            <a:ext cx="9601200" cy="164592"/>
          </a:xfrm>
          <a:prstGeom prst="rect">
            <a:avLst/>
          </a:prstGeom>
          <a:noFill/>
        </p:spPr>
        <p:txBody>
          <a:bodyPr wrap="square" lIns="0" rIns="0" tIns="0" bIns="0">
            <a:spAutoFit/>
          </a:bodyPr>
          <a:lstStyle/>
          <a:p>
            <a:pPr>
              <a:lnSpc>
                <a:spcPct val="108000"/>
              </a:lnSpc>
              <a:spcBef>
                <a:spcPts val="0"/>
              </a:spcBef>
              <a:spcAft>
                <a:spcPts val="0"/>
              </a:spcAft>
              <a:defRPr sz="850" b="0">
                <a:solidFill>
                  <a:srgbClr val="56677F"/>
                </a:solidFill>
                <a:latin typeface="DejaVu Sans"/>
              </a:defRPr>
            </a:pPr>
            <a:r>
              <a:t>4-024  •  R00  •  Sources complètes et explications dans les notes</a:t>
            </a:r>
          </a:p>
        </p:txBody>
      </p:sp>
      <p:sp>
        <p:nvSpPr>
          <p:cNvPr id="24" name="TextBox 23"/>
          <p:cNvSpPr txBox="1"/>
          <p:nvPr/>
        </p:nvSpPr>
        <p:spPr>
          <a:xfrm>
            <a:off x="10351008" y="6547104"/>
            <a:ext cx="1307592" cy="246888"/>
          </a:xfrm>
          <a:prstGeom prst="rect">
            <a:avLst/>
          </a:prstGeom>
          <a:noFill/>
        </p:spPr>
        <p:txBody>
          <a:bodyPr wrap="square" lIns="0" rIns="0" tIns="0" bIns="0">
            <a:spAutoFit/>
          </a:bodyPr>
          <a:lstStyle/>
          <a:p>
            <a:pPr algn="r">
              <a:lnSpc>
                <a:spcPct val="108000"/>
              </a:lnSpc>
              <a:spcBef>
                <a:spcPts val="0"/>
              </a:spcBef>
              <a:spcAft>
                <a:spcPts val="0"/>
              </a:spcAft>
              <a:defRPr sz="1050" b="1">
                <a:solidFill>
                  <a:srgbClr val="23468C"/>
                </a:solidFill>
                <a:latin typeface="DejaVu Sans"/>
              </a:defRPr>
            </a:pPr>
            <a:r>
              <a:t>042 / 126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Intelligence artificielle : Deep Learning par la pratique</dc:title>
  <dc:subject>Formation 4-024, DGFiP, 21 au 23 septembre 2026</dc:subject>
  <dc:creator>Martino Bettucci | P2Enjoy</dc:creator>
  <cp:keywords>Deep Learning, 4-024, DGFiP, formation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fr-FR</dc:language>
</cp:coreProperties>
</file>