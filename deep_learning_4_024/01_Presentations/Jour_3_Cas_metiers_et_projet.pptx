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J3 | Séquence 3A | Diapositive 085 | Type REPÈRE | Niveau Application | Support projection + notes]</a:t>
            </a:r>
          </a:p>
          <a:p/>
          <a:p>
            <a:r>
              <a:t>OBJECTIF OBSERVABLE</a:t>
            </a:r>
          </a:p>
          <a:p>
            <a:r>
              <a:t>Des preuves, des limites et une décision humaine. Le participant doit pouvoir expliquer ou réaliser les éléments suivants : Cas DGFiP, finance, santé et textes ; Gouvernance dans le workflow ; Projet final en équipe.</a:t>
            </a:r>
          </a:p>
          <a:p/>
          <a:p>
            <a:r>
              <a:t>EXPLICATION ET ANIMATION</a:t>
            </a:r>
          </a:p>
          <a:p>
            <a:r>
              <a:t>Le troisième jour conserve tous les cas du dossier et distingue leur statut. Les applications publiques sont décrites avec leurs sources ; les chiffres des exercices sont fictifs ; le code n’est pas une reproduction des systèmes internes. Les participants formulent ensuite une transposition adaptée à leur contexte, avec données, critères et responsabilité.</a:t>
            </a:r>
          </a:p>
          <a:p/>
          <a:p>
            <a:r>
              <a:t>QUESTION À POSER</a:t>
            </a:r>
          </a:p>
          <a:p>
            <a:r>
              <a:t>Qu’est-ce qui manque encore à un notebook correct ?</a:t>
            </a:r>
          </a:p>
          <a:p/>
          <a:p>
            <a:r>
              <a:t>RÉPONSE ATTENDUE ET CORRECTION</a:t>
            </a:r>
          </a:p>
          <a:p>
            <a:r>
              <a:t>Une finalité, un processus d’usage, une gouvernance et un suivi.</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[R00] Dossier fourni par Martino Bettucci. Dossier de préparation pédagogique ultime, référence 4-024. Fichier Dossier_original_fourni.txt</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[R00] Dossier fourni par Martino Bettucci. Dossier de préparation pédagogique ultime, référence 4-024. 14 septembre 2026. Fichier Dossier_original_fourni.txt</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J3 | Séquence 3A | Diapositive 086 | Type ATELIER | Niveau Application | Support projection + notes]</a:t>
            </a:r>
          </a:p>
          <a:p/>
          <a:p>
            <a:r>
              <a:t>OBJECTIF OBSERVABLE</a:t>
            </a:r>
          </a:p>
          <a:p>
            <a:r>
              <a:t>Ne jamais s’arrêter à « ils ont utilisé l’IA ». Le participant doit pouvoir expliquer ou réaliser les éléments suivants : Problème, données et cible ; Modèle, métrique et résultat documenté ; Humain, erreurs et transposition.</a:t>
            </a:r>
          </a:p>
          <a:p/>
          <a:p>
            <a:r>
              <a:t>EXPLICATION ET ANIMATION</a:t>
            </a:r>
          </a:p>
          <a:p>
            <a:r>
              <a:t>La grille évite les récits promotionnels. Une architecture non publiée reste inconnue. Une proportion d’usage n’est pas une exactitude. Une expérience de recherche n’est pas une autorisation de déploiement. Chaque équipe doit distinguer faits de source, inférences et propositions. La fiche de cas comporte un champ explicite pour ces trois catégories.</a:t>
            </a:r>
          </a:p>
          <a:p/>
          <a:p>
            <a:r>
              <a:t>QUESTION À POSER</a:t>
            </a:r>
          </a:p>
          <a:p>
            <a:r>
              <a:t>Que noter lorsqu’une architecture n’est pas documentée ?</a:t>
            </a:r>
          </a:p>
          <a:p/>
          <a:p>
            <a:r>
              <a:t>RÉPONSE ATTENDUE ET CORRECTION</a:t>
            </a:r>
          </a:p>
          <a:p>
            <a:r>
              <a:t>« Architecture non précisée par la source consultée », sans inventer de réseau.</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[R00] Dossier fourni par Martino Bettucci. Dossier de préparation pédagogique ultime, référence 4-024. Fichier Dossier_original_fourni.txt</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[R00] Dossier fourni par Martino Bettucci. Dossier de préparation pédagogique ultime, référence 4-024. 14 septembre 2026. Fichier Dossier_original_fourni.txt</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J3 | Séquence 3A | Diapositive 087 | Type CONCEPT | Niveau Application | Support projection + notes]</a:t>
            </a:r>
          </a:p>
          <a:p/>
          <a:p>
            <a:r>
              <a:t>OBJECTIF OBSERVABLE</a:t>
            </a:r>
          </a:p>
          <a:p>
            <a:r>
              <a:t>Vision aérienne et vérification par un agent. Le participant doit pouvoir expliquer ou réaliser les éléments suivants : Images aériennes publiques de l’IGN ; Rapprochement cadastral et déclaratif ; Vérification manuelle des anomalies.</a:t>
            </a:r>
          </a:p>
          <a:p/>
          <a:p>
            <a:r>
              <a:t>EXPLICATION ET ANIMATION</a:t>
            </a:r>
          </a:p>
          <a:p>
            <a:r>
              <a:t>La présentation officielle de Bercy décrit des algorithmes repérant des éléments sur des images aériennes, puis un rapprochement avec les informations cadastrales et déclaratives. L’agent vérifie les anomalies avant les suites éventuelles. La source ne documente pas un backbone CNN, un seuil ou une performance détaillée. Le schéma est une reconstitution pédagogique du workflow publié.</a:t>
            </a:r>
          </a:p>
          <a:p/>
          <a:p>
            <a:r>
              <a:t>QUESTION À POSER</a:t>
            </a:r>
          </a:p>
          <a:p>
            <a:r>
              <a:t>À quelle étape le score devient-il une décision administrative ?</a:t>
            </a:r>
          </a:p>
          <a:p/>
          <a:p>
            <a:r>
              <a:t>RÉPONSE ATTENDUE ET CORRECTION</a:t>
            </a:r>
          </a:p>
          <a:p>
            <a:r>
              <a:t>Pas au simple repérage : des vérifications et la procédure applicable restent nécessaires.</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[R16] Ministère de l’Économie. Détection des fraudes, analyse de données : comment l’IA a fait son entrée à Bercy. https://www.economie.gouv.fr/actualites/detection-des-fraudes-analyse-de-donnees-comment-lia-fait-son-entree-bercy</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[R16] Ministère de l’Économie. Détection des fraudes, analyse de données : comment l’IA a fait son entrée à Bercy. 2025, consulté le 14 septembre 2026. https://www.economie.gouv.fr/actualites/detection-des-fraudes-analyse-de-donnees-comment-lia-fait-son-entree-bercy</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J3 | Séquence 3A | Diapositive 088 | Type ATELIER | Niveau Application | Support projection + notes]</a:t>
            </a:r>
          </a:p>
          <a:p/>
          <a:p>
            <a:r>
              <a:t>OBJECTIF OBSERVABLE</a:t>
            </a:r>
          </a:p>
          <a:p>
            <a:r>
              <a:t>Détecter un objet ne suffit pas à qualifier une situation. Le participant doit pouvoir expliquer ou réaliser les éléments suivants : Image → objet candidat ; Objet → rapprochement de références ; Anomalie potentielle → revue humaine.</a:t>
            </a:r>
          </a:p>
          <a:p/>
          <a:p>
            <a:r>
              <a:t>EXPLICATION ET ANIMATION</a:t>
            </a:r>
          </a:p>
          <a:p>
            <a:r>
              <a:t>Demander quels défauts peuvent apparaître à chaque interface : détection visuelle erronée, décalage de date, mauvais rapprochement ou information déclarative manquante. Ce sont des hypothèses de risques, pas des défauts attribués au système réel. Le TP de chiffres n’imite ni les données ni l’architecture interne. Il enseigne seulement des mécanismes généraux de vision et de validation.</a:t>
            </a:r>
          </a:p>
          <a:p/>
          <a:p>
            <a:r>
              <a:t>QUESTION À POSER</a:t>
            </a:r>
          </a:p>
          <a:p>
            <a:r>
              <a:t>Quelle erreur n’est pas nécessairement une erreur du réseau de vision ?</a:t>
            </a:r>
          </a:p>
          <a:p/>
          <a:p>
            <a:r>
              <a:t>RÉPONSE ATTENDUE ET CORRECTION</a:t>
            </a:r>
          </a:p>
          <a:p>
            <a:r>
              <a:t>Un mauvais rapprochement entre l’objet détecté et la référence cadastrale.</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[R16] Ministère de l’Économie. Détection des fraudes, analyse de données : comment l’IA a fait son entrée à Bercy. https://www.economie.gouv.fr/actualites/detection-des-fraudes-analyse-de-donnees-comment-lia-fait-son-entree-bercy</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[R16] Ministère de l’Économie. Détection des fraudes, analyse de données : comment l’IA a fait son entrée à Bercy. 2025, consulté le 14 septembre 2026. https://www.economie.gouv.fr/actualites/detection-des-fraudes-analyse-de-donnees-comment-lia-fait-son-entree-bercy</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J3 | Séquence 3A | Diapositive 089 | Type ATELIER | Niveau Application | Support projection + notes]</a:t>
            </a:r>
          </a:p>
          <a:p/>
          <a:p>
            <a:r>
              <a:t>OBJECTIF OBSERVABLE</a:t>
            </a:r>
          </a:p>
          <a:p>
            <a:r>
              <a:t>Les vignettes sont entièrement fictives. Le participant doit pouvoir expliquer ou réaliser les éléments suivants : Objet pertinent correctement signalé ; Objet ressemblant mais non pertinent ; Objet pertinent manqué.</a:t>
            </a:r>
          </a:p>
          <a:p/>
          <a:p>
            <a:r>
              <a:t>EXPLICATION ET ANIMATION</a:t>
            </a:r>
          </a:p>
          <a:p>
            <a:r>
              <a:t>Les quatre vignettes schématiques ne sont pas des vues de propriétés réelles. Elles illustrent la matrice de confusion au niveau de la détection d’un objet, pas la qualification fiscale finale. Faire remarquer que la définition exacte d’un positif dépend de l’étape du pipeline. Le raisonnement évite de fusionner « objet visible », « anomalie possible » et « infraction établie ».</a:t>
            </a:r>
          </a:p>
          <a:p/>
          <a:p>
            <a:r>
              <a:t>QUESTION À POSER</a:t>
            </a:r>
          </a:p>
          <a:p>
            <a:r>
              <a:t>Un bassin visible suffit-il à conclure à une anomalie déclarative ?</a:t>
            </a:r>
          </a:p>
          <a:p/>
          <a:p>
            <a:r>
              <a:t>RÉPONSE ATTENDUE ET CORRECTION</a:t>
            </a:r>
          </a:p>
          <a:p>
            <a:r>
              <a:t>Non. L’image seule ne contient pas toutes les informations nécessaires.</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[R16] Ministère de l’Économie. Détection des fraudes, analyse de données : comment l’IA a fait son entrée à Bercy. https://www.economie.gouv.fr/actualites/detection-des-fraudes-analyse-de-donnees-comment-lia-fait-son-entree-bercy</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[R16] Ministère de l’Économie. Détection des fraudes, analyse de données : comment l’IA a fait son entrée à Bercy. 2025, consulté le 14 septembre 2026. https://www.economie.gouv.fr/actualites/detection-des-fraudes-analyse-de-donnees-comment-lia-fait-son-entree-bercy</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J3 | Séquence 3A | Diapositive 090 | Type CONCEPT | Niveau Application | Support projection + notes]</a:t>
            </a:r>
          </a:p>
          <a:p/>
          <a:p>
            <a:r>
              <a:t>OBJECTIF OBSERVABLE</a:t>
            </a:r>
          </a:p>
          <a:p>
            <a:r>
              <a:t>Le datamining alimente l’examen des dossiers. Le participant doit pouvoir expliquer ou réaliser les éléments suivants : Dispositif développé à partir de 2014 ; Architecture neuronale non documentée ici ; 56 % : mobilisation de l’IA en 2024, pas précision.</a:t>
            </a:r>
          </a:p>
          <a:p/>
          <a:p>
            <a:r>
              <a:t>EXPLICATION ET ANIMATION</a:t>
            </a:r>
          </a:p>
          <a:p>
            <a:r>
              <a:t>Bercy décrit CFVR comme un usage de datamining visant à repérer des anomalies ou fraudes possibles avant examen par les agents. Le communiqué d’activité 2024 mentionne une mobilisation de l’IA dans 56 % des contrôles professionnels. Cette proportion porte sur un usage administratif ; elle n’est ni une accuracy ni une preuve d’emploi exclusif du Deep Learning.</a:t>
            </a:r>
          </a:p>
          <a:p/>
          <a:p>
            <a:r>
              <a:t>QUESTION À POSER</a:t>
            </a:r>
          </a:p>
          <a:p>
            <a:r>
              <a:t>Peut-on dire « le réseau CFVR est exact à 56 % » ?</a:t>
            </a:r>
          </a:p>
          <a:p/>
          <a:p>
            <a:r>
              <a:t>RÉPONSE ATTENDUE ET CORRECTION</a:t>
            </a:r>
          </a:p>
          <a:p>
            <a:r>
              <a:t>Non. Ce serait confondre proportion d’utilisation et performance prédictive.</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[R16] Ministère de l’Économie. Détection des fraudes, analyse de données : comment l’IA a fait son entrée à Bercy. https://www.economie.gouv.fr/actualites/detection-des-fraudes-analyse-de-donnees-comment-lia-fait-son-entree-bercy</a:t>
            </a:r>
          </a:p>
          <a:p>
            <a:r>
              <a:t>[R17] DGFiP / Ministère de l’Économie. Publication du rapport d’activité 2024. https://presse.economie.gouv.fr/la-dgfip-publie-son-rapport-dactivite-2024-une-annee-de-transformation-dengagement-et-de-resultats/</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[R16] Ministère de l’Économie. Détection des fraudes, analyse de données : comment l’IA a fait son entrée à Bercy. 2025, consulté le 14 septembre 2026. https://www.economie.gouv.fr/actualites/detection-des-fraudes-analyse-de-donnees-comment-lia-fait-son-entree-bercy</a:t>
            </a:r>
          </a:p>
          <a:p>
            <a:r>
              <a:t>[R17] DGFiP / Ministère de l’Économie. Publication du rapport d’activité 2024. 12 juin 2025. https://presse.economie.gouv.fr/la-dgfip-publie-son-rapport-dactivite-2024-une-annee-de-transformation-dengagement-et-de-resultats/</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J3 | Séquence 3A | Diapositive 091 | Type ATELIER | Niveau Application | Support projection + notes]</a:t>
            </a:r>
          </a:p>
          <a:p/>
          <a:p>
            <a:r>
              <a:t>OBJECTIF OBSERVABLE</a:t>
            </a:r>
          </a:p>
          <a:p>
            <a:r>
              <a:t>Un classement sert un budget opérationnel. Le participant doit pouvoir expliquer ou réaliser les éléments suivants : Capacité fictive : 50 dossiers par jour ; Précision parmi les 50 premiers ; Rappel et coût des cas manqués.</a:t>
            </a:r>
          </a:p>
          <a:p/>
          <a:p>
            <a:r>
              <a:t>EXPLICATION ET ANIMATION</a:t>
            </a:r>
          </a:p>
          <a:p>
            <a:r>
              <a:t>Dans l’exemple fictif, comparer un modèle qui place 20 cas pertinents dans les 50 premières positions à un autre qui en place 35. La comparaison locale peut être plus utile que la seule AUC globale. Le top-k exige de définir la période et la quantité de dossiers entrants. Le notebook utilise un k proportionnel à son lot de validation puis l’explicite.</a:t>
            </a:r>
          </a:p>
          <a:p/>
          <a:p>
            <a:r>
              <a:t>QUESTION À POSER</a:t>
            </a:r>
          </a:p>
          <a:p>
            <a:r>
              <a:t>Quelle métrique relie directement le classement au travail quotidien ?</a:t>
            </a:r>
          </a:p>
          <a:p/>
          <a:p>
            <a:r>
              <a:t>RÉPONSE ATTENDUE ET CORRECTION</a:t>
            </a:r>
          </a:p>
          <a:p>
            <a:r>
              <a:t>La précision@k, complétée par le rappel, la charge et les coûts.</a:t>
            </a:r>
          </a:p>
          <a:p/>
          <a:p>
            <a:r>
              <a:t>VÉRIFICATION</a:t>
            </a:r>
          </a:p>
          <a:p>
            <a:r>
              <a:t>Demander une reformulation avec un exemple ou une preuve issue du notebook. Ne pas accepter une réponse limitée au nom d’une bibliothèque. Ouvrir le notebook 09 ; conserver les résultats et le journal.</a:t>
            </a:r>
          </a:p>
          <a:p/>
          <a:p>
            <a:r>
              <a:t>REPÈRES DE SOURCE</a:t>
            </a:r>
          </a:p>
          <a:p>
            <a:r>
              <a:t>[R04] Équipe scikit-learn. Métriques et évaluation des modèles. https://scikit-learn.org/stable/modules/model_evaluation.html</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[R04] Équipe scikit-learn. Métriques et évaluation des modèles. Documentation consultée le 14 septembre 2026. https://scikit-learn.org/stable/modules/model_evaluation.html</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J3 | Séquence 3A | Diapositive 092 | Type CONCEPT | Niveau Application | Support projection + notes]</a:t>
            </a:r>
          </a:p>
          <a:p/>
          <a:p>
            <a:r>
              <a:t>OBJECTIF OBSERVABLE</a:t>
            </a:r>
          </a:p>
          <a:p>
            <a:r>
              <a:t>Une petite partie des transactions est expertisée. Le participant doit pouvoir expliquer ou réaliser les éléments suivants : Fort déséquilibre ; Vérité terrain retardée ; Arbitrage exploration / exploitation.</a:t>
            </a:r>
          </a:p>
          <a:p/>
          <a:p>
            <a:r>
              <a:t>EXPLICATION ET ANIMATION</a:t>
            </a:r>
          </a:p>
          <a:p>
            <a:r>
              <a:t>Carcillo et ses coauteurs étudient des stratégies d’apprentissage actif dans une détection réelle de fraude carte. L’article met en évidence le flux, la non-stationnarité et la capacité limitée d’investigation. Il ne constitue pas ici la preuve qu’un réseau profond est toujours supérieur. Le point transférable est que la sélection des exemples expertisés modifie les labels disponibles.</a:t>
            </a:r>
          </a:p>
          <a:p/>
          <a:p>
            <a:r>
              <a:t>QUESTION À POSER</a:t>
            </a:r>
          </a:p>
          <a:p>
            <a:r>
              <a:t>Quel biais si l’on n’observe que les dossiers déjà bien classés ?</a:t>
            </a:r>
          </a:p>
          <a:p/>
          <a:p>
            <a:r>
              <a:t>RÉPONSE ATTENDUE ET CORRECTION</a:t>
            </a:r>
          </a:p>
          <a:p>
            <a:r>
              <a:t>On peut ne jamais apprendre certaines erreurs et renforcer les choix passés.</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[R19] Carcillo, Le Borgne, Caelen et Bontempi. Streaming Active Learning Strategies for Real-Life Credit Card Fraud Detection. https://arxiv.org/abs/1804.07481</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[R19] Carcillo, Le Borgne, Caelen et Bontempi. Streaming Active Learning Strategies for Real-Life Credit Card Fraud Detection. 2018. https://arxiv.org/abs/1804.07481</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J3 | Séquence 3A | Diapositive 093 | Type CONCEPT | Niveau Application | Support projection + notes]</a:t>
            </a:r>
          </a:p>
          <a:p/>
          <a:p>
            <a:r>
              <a:t>OBJECTIF OBSERVABLE</a:t>
            </a:r>
          </a:p>
          <a:p>
            <a:r>
              <a:t>Une validation historique n’est pas éternelle. Le participant doit pouvoir expliquer ou réaliser les éléments suivants : Les entrées changent ; La prévalence change ; La relation entre entrées et cible change.</a:t>
            </a:r>
          </a:p>
          <a:p/>
          <a:p>
            <a:r>
              <a:t>EXPLICATION ET ANIMATION</a:t>
            </a:r>
          </a:p>
          <a:p>
            <a:r>
              <a:t>Distinguer dérive des variables, évolution de la fréquence positive et changement de la relation. Un changement des entrées n’implique pas nécessairement une baisse de performance ; une baisse peut aussi survenir avec des variables marginales stables. Les labels tardifs imposent de surveiller des indicateurs provisoires sans les confondre avec une preuve d’exactitude.</a:t>
            </a:r>
          </a:p>
          <a:p/>
          <a:p>
            <a:r>
              <a:t>QUESTION À POSER</a:t>
            </a:r>
          </a:p>
          <a:p>
            <a:r>
              <a:t>Peut-on garantir la qualité actuelle sans labels récents ?</a:t>
            </a:r>
          </a:p>
          <a:p/>
          <a:p>
            <a:r>
              <a:t>RÉPONSE ATTENDUE ET CORRECTION</a:t>
            </a:r>
          </a:p>
          <a:p>
            <a:r>
              <a:t>Non. On peut surveiller des signaux indirects, mais leurs limites doivent être annoncées.</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[R19] Carcillo, Le Borgne, Caelen et Bontempi. Streaming Active Learning Strategies for Real-Life Credit Card Fraud Detection. https://arxiv.org/abs/1804.07481</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[R19] Carcillo, Le Borgne, Caelen et Bontempi. Streaming Active Learning Strategies for Real-Life Credit Card Fraud Detection. 2018. https://arxiv.org/abs/1804.07481</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J3 | Séquence 3A | Diapositive 094 | Type CONCEPT | Niveau Application | Support projection + notes]</a:t>
            </a:r>
          </a:p>
          <a:p/>
          <a:p>
            <a:r>
              <a:t>OBJECTIF OBSERVABLE</a:t>
            </a:r>
          </a:p>
          <a:p>
            <a:r>
              <a:t>Une performance publiée dans un protocole précis. Le participant doit pouvoir expliquer ou réaliser les éléments suivants : De Fauw et coauteurs, 2018 ; 14 884 scans d’entraînement ; Recommandation d’orientation dans l’étude.</a:t>
            </a:r>
          </a:p>
          <a:p/>
          <a:p>
            <a:r>
              <a:t>EXPLICATION ET ANIMATION</a:t>
            </a:r>
          </a:p>
          <a:p>
            <a:r>
              <a:t>L’étude de De Fauw et ses coauteurs porte sur des volumes OCT de patients adressés à un hôpital spécialisé. Les auteurs rapportent une performance d’orientation atteignant ou dépassant celle d’experts dans le protocole étudié. Ce résultat ne signifie pas remplacement général des professionnels, validation universelle ou autorisation de tous les usages. Le cours ne propose aucun diagnostic sur des images médicales réelles.</a:t>
            </a:r>
          </a:p>
          <a:p/>
          <a:p>
            <a:r>
              <a:t>QUESTION À POSER</a:t>
            </a:r>
          </a:p>
          <a:p>
            <a:r>
              <a:t>Quelle généralisation le résultat n’autorise-t-il pas ?</a:t>
            </a:r>
          </a:p>
          <a:p/>
          <a:p>
            <a:r>
              <a:t>RÉPONSE ATTENDUE ET CORRECTION</a:t>
            </a:r>
          </a:p>
          <a:p>
            <a:r>
              <a:t>Une équivalence clinique universelle sur tous les patients, appareils et contextes.</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[R18] De Fauw et coauteurs. Clinically applicable deep learning for diagnosis and referral in retinal disease. https://www.nature.com/articles/s41591-018-0107-6</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[R18] De Fauw et coauteurs. Clinically applicable deep learning for diagnosis and referral in retinal disease. 13 août 2018. https://www.nature.com/articles/s41591-018-0107-6</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J3 | Séquence 3A | Diapositive 095 | Type ATELIER | Niveau Application | Support projection + notes]</a:t>
            </a:r>
          </a:p>
          <a:p/>
          <a:p>
            <a:r>
              <a:t>OBJECTIF OBSERVABLE</a:t>
            </a:r>
          </a:p>
          <a:p>
            <a:r>
              <a:t>Décomposer peut aider la robustesse et la lecture. Le participant doit pouvoir expliquer ou réaliser les éléments suivants : Volume OCT ; Segmentation des tissus ; Classification et orientation.</a:t>
            </a:r>
          </a:p>
          <a:p/>
          <a:p>
            <a:r>
              <a:t>EXPLICATION ET ANIMATION</a:t>
            </a:r>
          </a:p>
          <a:p>
            <a:r>
              <a:t>La chaîne de segmentation puis d’orientation est présentée de manière simplifiée à partir du dossier. La représentation intermédiaire aide à discuter ce que le modèle extrait et à distinguer l’erreur de segmentation de l’erreur d’orientation. Le schéma est conceptuel, sans reproduire une image clinique ou les paramètres exacts du réseau.</a:t>
            </a:r>
          </a:p>
          <a:p/>
          <a:p>
            <a:r>
              <a:t>QUESTION À POSER</a:t>
            </a:r>
          </a:p>
          <a:p>
            <a:r>
              <a:t>Pourquoi inspecter la segmentation plutôt que seulement le score final ?</a:t>
            </a:r>
          </a:p>
          <a:p/>
          <a:p>
            <a:r>
              <a:t>RÉPONSE ATTENDUE ET CORRECTION</a:t>
            </a:r>
          </a:p>
          <a:p>
            <a:r>
              <a:t>Pour localiser une partie des erreurs et discuter la représentation utilisée.</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[R18] De Fauw et coauteurs. Clinically applicable deep learning for diagnosis and referral in retinal disease. https://www.nature.com/articles/s41591-018-0107-6</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[R18] De Fauw et coauteurs. Clinically applicable deep learning for diagnosis and referral in retinal disease. 13 août 2018. https://www.nature.com/articles/s41591-018-0107-6</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J3 | Séquence 3A | Diapositive 096 | Type ATELIER | Niveau Application | Support projection + notes]</a:t>
            </a:r>
          </a:p>
          <a:p/>
          <a:p>
            <a:r>
              <a:t>OBJECTIF OBSERVABLE</a:t>
            </a:r>
          </a:p>
          <a:p>
            <a:r>
              <a:t>Même matrice, conséquences différentes. Le participant doit pouvoir expliquer ou réaliser les éléments suivants : Urgence manquée ; Orientation urgente non nécessaire ; Qualité du signal et incertitude.</a:t>
            </a:r>
          </a:p>
          <a:p/>
          <a:p>
            <a:r>
              <a:t>EXPLICATION ET ANIMATION</a:t>
            </a:r>
          </a:p>
          <a:p>
            <a:r>
              <a:t>L’atelier utilise des situations fictives et ne demande aucune expertise diagnostique. Les groupes proposent une matrice qualitative de coûts et un mécanisme d’abstention ou de revue. Les paramètres médicaux réels doivent être définis avec les professionnels et les autorités compétents. Le principe pédagogique est d’intégrer les conséquences de l’erreur avant de choisir un seuil.</a:t>
            </a:r>
          </a:p>
          <a:p/>
          <a:p>
            <a:r>
              <a:t>QUESTION À POSER</a:t>
            </a:r>
          </a:p>
          <a:p>
            <a:r>
              <a:t>Pourquoi l’accuracy seule ne choisit-elle pas une politique d’orientation ?</a:t>
            </a:r>
          </a:p>
          <a:p/>
          <a:p>
            <a:r>
              <a:t>RÉPONSE ATTENDUE ET CORRECTION</a:t>
            </a:r>
          </a:p>
          <a:p>
            <a:r>
              <a:t>Elle traite des erreurs de conséquences différentes comme des unités identiques.</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[R18] De Fauw et coauteurs. Clinically applicable deep learning for diagnosis and referral in retinal disease. https://www.nature.com/articles/s41591-018-0107-6</a:t>
            </a:r>
          </a:p>
          <a:p>
            <a:r>
              <a:t>[R04] Équipe scikit-learn. Métriques et évaluation des modèles. https://scikit-learn.org/stable/modules/model_evaluation.html</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[R18] De Fauw et coauteurs. Clinically applicable deep learning for diagnosis and referral in retinal disease. 13 août 2018. https://www.nature.com/articles/s41591-018-0107-6</a:t>
            </a:r>
          </a:p>
          <a:p>
            <a:r>
              <a:t>[R04] Équipe scikit-learn. Métriques et évaluation des modèles. Documentation consultée le 14 septembre 2026. https://scikit-learn.org/stable/modules/model_evaluation.html</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J3 | Séquence 3A | Diapositive 097 | Type CONCEPT | Niveau Application | Support projection + notes]</a:t>
            </a:r>
          </a:p>
          <a:p/>
          <a:p>
            <a:r>
              <a:t>OBJECTIF OBSERVABLE</a:t>
            </a:r>
          </a:p>
          <a:p>
            <a:r>
              <a:t>Deux tâches distinctes sur des textes. Le participant doit pouvoir expliquer ou réaliser les éléments suivants : Expérimentation autour du PLF 2024 ; Près de 7 000 amendements traités ; Aide aux équipes, pas preuve d’exactitude absolue.</a:t>
            </a:r>
          </a:p>
          <a:p/>
          <a:p>
            <a:r>
              <a:t>EXPLICATION ET ANIMATION</a:t>
            </a:r>
          </a:p>
          <a:p>
            <a:r>
              <a:t>La page officielle de Bercy indique l’analyse et l’attribution d’environ 7 000 amendements fiscaux, ainsi que la génération de résumés. Le volume traité ne mesure pas à lui seul la qualité du routage ou des synthèses. Pour transposer le cas, il faut évaluer séparément le classement, la fidélité factuelle, les omissions et le processus de validation.</a:t>
            </a:r>
          </a:p>
          <a:p/>
          <a:p>
            <a:r>
              <a:t>QUESTION À POSER</a:t>
            </a:r>
          </a:p>
          <a:p>
            <a:r>
              <a:t>Une bonne classification garantit-elle un résumé fidèle ?</a:t>
            </a:r>
          </a:p>
          <a:p/>
          <a:p>
            <a:r>
              <a:t>RÉPONSE ATTENDUE ET CORRECTION</a:t>
            </a:r>
          </a:p>
          <a:p>
            <a:r>
              <a:t>Non. Ce sont deux tâches et deux évaluations différentes.</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[R16] Ministère de l’Économie. Détection des fraudes, analyse de données : comment l’IA a fait son entrée à Bercy. https://www.economie.gouv.fr/actualites/detection-des-fraudes-analyse-de-donnees-comment-lia-fait-son-entree-bercy</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[R16] Ministère de l’Économie. Détection des fraudes, analyse de données : comment l’IA a fait son entrée à Bercy. 2025, consulté le 14 septembre 2026. https://www.economie.gouv.fr/actualites/detection-des-fraudes-analyse-de-donnees-comment-lia-fait-son-entree-bercy</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J3 | Séquence 3A | Diapositive 098 | Type CONCEPT | Niveau Application | Support projection + notes]</a:t>
            </a:r>
          </a:p>
          <a:p/>
          <a:p>
            <a:r>
              <a:t>OBJECTIF OBSERVABLE</a:t>
            </a:r>
          </a:p>
          <a:p>
            <a:r>
              <a:t>Partir des données et du niveau de preuve. Le participant doit pouvoir expliquer ou réaliser les éléments suivants : Tableau : linéaire/arbres puis réseau ; Image : CNN et transfert ; Texte : référence lexicale puis représentation.</a:t>
            </a:r>
          </a:p>
          <a:p/>
          <a:p>
            <a:r>
              <a:t>EXPLICATION ET ANIMATION</a:t>
            </a:r>
          </a:p>
          <a:p>
            <a:r>
              <a:t>Cet arbre est une aide au cadrage, pas un moteur de prescription automatique. Le parcours texte du projet utilise des documents synthétiques, TF-IDF et un petit MLP : il ne prétend pas reproduire un grand modèle de langage. Les usages réels peuvent nécessiter des représentations préentraînées et des jeux de données nettement plus riches.</a:t>
            </a:r>
          </a:p>
          <a:p/>
          <a:p>
            <a:r>
              <a:t>QUESTION À POSER</a:t>
            </a:r>
          </a:p>
          <a:p>
            <a:r>
              <a:t>Quand une solution plus simple est-elle préférable ?</a:t>
            </a:r>
          </a:p>
          <a:p/>
          <a:p>
            <a:r>
              <a:t>RÉPONSE ATTENDUE ET CORRECTION</a:t>
            </a:r>
          </a:p>
          <a:p>
            <a:r>
              <a:t>Quand elle répond au besoin avec un meilleur compromis de qualité, coût et maîtrise.</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[R15] Grinsztajn, Oyallon et Varoquaux. Why do tree-based models still outperform deep learning on tabular data?. https://arxiv.org/abs/2207.08815</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[R15] Grinsztajn, Oyallon et Varoquaux. Why do tree-based models still outperform deep learning on tabular data?. 2022. https://arxiv.org/abs/2207.08815</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J3 | Séquence 3A | Diapositive 099 | Type ATELIER | Niveau Application | Support projection + notes]</a:t>
            </a:r>
          </a:p>
          <a:p/>
          <a:p>
            <a:r>
              <a:t>OBJECTIF OBSERVABLE</a:t>
            </a:r>
          </a:p>
          <a:p>
            <a:r>
              <a:t>Même cycle d’ingénierie, contraintes différentes. Le participant doit pouvoir expliquer ou réaliser les éléments suivants : Maintenance : séries de capteurs ; Relation usager : routage de textes ; Logistique : volumes et prévisions.</a:t>
            </a:r>
          </a:p>
          <a:p/>
          <a:p>
            <a:r>
              <a:t>EXPLICATION ET ANIMATION</a:t>
            </a:r>
          </a:p>
          <a:p>
            <a:r>
              <a:t>Chaque équipe choisit un métier et remplit la fiche : entrée, cible, moment de prédiction, utilisateur, action, risque, référence et preuve attendue. Les lignes sont des propositions d’ateliers, pas des cas d’entreprises documentés. Éviter de promettre un gain chiffré sans données ni expérimentation.</a:t>
            </a:r>
          </a:p>
          <a:p/>
          <a:p>
            <a:r>
              <a:t>QUESTION À POSER</a:t>
            </a:r>
          </a:p>
          <a:p>
            <a:r>
              <a:t>Quel cas est suffisamment limité pour un prototype de trois heures ?</a:t>
            </a:r>
          </a:p>
          <a:p/>
          <a:p>
            <a:r>
              <a:t>RÉPONSE ATTENDUE ET CORRECTION</a:t>
            </a:r>
          </a:p>
          <a:p>
            <a:r>
              <a:t>Une tâche unique avec données disponibles, métrique claire et livrable restreint.</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[R00] Dossier fourni par Martino Bettucci. Dossier de préparation pédagogique ultime, référence 4-024. Fichier Dossier_original_fourni.txt</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[R00] Dossier fourni par Martino Bettucci. Dossier de préparation pédagogique ultime, référence 4-024. 14 septembre 2026. Fichier Dossier_original_fourni.txt</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J3 | Séquence 3A | Diapositive 100 | Type CONCEPT | Niveau Application | Support projection + notes]</a:t>
            </a:r>
          </a:p>
          <a:p/>
          <a:p>
            <a:r>
              <a:t>OBJECTIF OBSERVABLE</a:t>
            </a:r>
          </a:p>
          <a:p>
            <a:r>
              <a:t>Finalité, habilitations et périmètre autorisé. Le participant doit pouvoir expliquer ou réaliser les éléments suivants : Données de synthèse dans les TP ; Sources et accès documentés ; Responsabilités identifiées.</a:t>
            </a:r>
          </a:p>
          <a:p/>
          <a:p>
            <a:r>
              <a:t>EXPLICATION ET ANIMATION</a:t>
            </a:r>
          </a:p>
          <a:p>
            <a:r>
              <a:t>La règle du stage interdit les données fiscales réelles dans les services externes. Une donnée accessible publiquement n’est pas nécessairement libre de toute obligation. Le cadre d’usage institutionnel prime sur la commodité technique. Le registre de données du kit sépare dataset public et données synthétiques, et indique leurs limites de représentativité.</a:t>
            </a:r>
          </a:p>
          <a:p/>
          <a:p>
            <a:r>
              <a:t>QUESTION À POSER</a:t>
            </a:r>
          </a:p>
          <a:p>
            <a:r>
              <a:t>Une donnée publique est-elle automatiquement non personnelle ?</a:t>
            </a:r>
          </a:p>
          <a:p/>
          <a:p>
            <a:r>
              <a:t>RÉPONSE ATTENDUE ET CORRECTION</a:t>
            </a:r>
          </a:p>
          <a:p>
            <a:r>
              <a:t>Non. Accessibilité et qualification juridique sont deux questions distinctes.</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[R20] CNIL. Développement des systèmes d’IA : recommandations pour respecter le RGPD. https://www.cnil.fr/fr/developpement-des-systemes-dia-les-recommandations-de-la-cnil-pour-respecter-le-rgpd</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[R20] CNIL. Développement des systèmes d’IA : recommandations pour respecter le RGPD. Consultées le 14 septembre 2026. https://www.cnil.fr/fr/developpement-des-systemes-dia-les-recommandations-de-la-cnil-pour-respecter-le-rgpd</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J3 | Séquence 3A | Diapositive 101 | Type ATELIER | Niveau Application | Support projection + notes]</a:t>
            </a:r>
          </a:p>
          <a:p/>
          <a:p>
            <a:r>
              <a:t>OBJECTIF OBSERVABLE</a:t>
            </a:r>
          </a:p>
          <a:p>
            <a:r>
              <a:t>« Faire de l’IA » n’est pas une finalité. Le participant doit pouvoir expliquer ou réaliser les éléments suivants : Population et tâche ; Entrées nécessaires ; Usage autorisé de la sortie.</a:t>
            </a:r>
          </a:p>
          <a:p/>
          <a:p>
            <a:r>
              <a:t>EXPLICATION ET ANIMATION</a:t>
            </a:r>
          </a:p>
          <a:p>
            <a:r>
              <a:t>Comparer une formulation générale à une finalité bornée : prioriser des dossiers fictifs pour une revue humaine, sans décision automatique. La définition permet de discuter la pertinence des variables, la minimisation, les mesures d’évaluation et la personne responsable. Le choix d’une base légale relève d’une analyse dédiée ; il n’est pas résolu par le notebook.</a:t>
            </a:r>
          </a:p>
          <a:p/>
          <a:p>
            <a:r>
              <a:t>QUESTION À POSER</a:t>
            </a:r>
          </a:p>
          <a:p>
            <a:r>
              <a:t>Quelle variable retirer si elle ne sert pas la finalité annoncée ?</a:t>
            </a:r>
          </a:p>
          <a:p/>
          <a:p>
            <a:r>
              <a:t>RÉPONSE ATTENDUE ET CORRECTION</a:t>
            </a:r>
          </a:p>
          <a:p>
            <a:r>
              <a:t>Une variable non nécessaire ou collectée sans justification pour cette tâche.</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[R20] CNIL. Développement des systèmes d’IA : recommandations pour respecter le RGPD. https://www.cnil.fr/fr/developpement-des-systemes-dia-les-recommandations-de-la-cnil-pour-respecter-le-rgpd</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[R20] CNIL. Développement des systèmes d’IA : recommandations pour respecter le RGPD. Consultées le 14 septembre 2026. https://www.cnil.fr/fr/developpement-des-systemes-dia-les-recommandations-de-la-cnil-pour-respecter-le-rgpd</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J3 | Séquence 3A | Diapositive 102 | Type ATELIER | Niveau Application | Support projection + notes]</a:t>
            </a:r>
          </a:p>
          <a:p/>
          <a:p>
            <a:r>
              <a:t>OBJECTIF OBSERVABLE</a:t>
            </a:r>
          </a:p>
          <a:p>
            <a:r>
              <a:t>Un agent peut contester, vérifier et décider. Le participant doit pouvoir expliquer ou réaliser les éléments suivants : Dossier source accessible ; Limites et incertitude visibles ; Possibilité réelle de ne pas suivre le score.</a:t>
            </a:r>
          </a:p>
          <a:p/>
          <a:p>
            <a:r>
              <a:t>EXPLICATION ET ANIMATION</a:t>
            </a:r>
          </a:p>
          <a:p>
            <a:r>
              <a:t>Une présence humaine purement formelle ne suffit pas. L’agent doit disposer d’informations, de temps, de compétences et d’un pouvoir effectif de décision. La boucle doit permettre le retour d’erreurs et leur analyse, pas seulement enregistrer un clic de validation. L’exercice compare un tampon automatique à une revue motivée.</a:t>
            </a:r>
          </a:p>
          <a:p/>
          <a:p>
            <a:r>
              <a:t>QUESTION À POSER</a:t>
            </a:r>
          </a:p>
          <a:p>
            <a:r>
              <a:t>Qu’est-ce qui manque à une interface ne montrant que « risque élevé » ?</a:t>
            </a:r>
          </a:p>
          <a:p/>
          <a:p>
            <a:r>
              <a:t>RÉPONSE ATTENDUE ET CORRECTION</a:t>
            </a:r>
          </a:p>
          <a:p>
            <a:r>
              <a:t>Les éléments vérifiables, les limites, le contexte et les moyens de contester.</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[R20] CNIL. Développement des systèmes d’IA : recommandations pour respecter le RGPD. https://www.cnil.fr/fr/developpement-des-systemes-dia-les-recommandations-de-la-cnil-pour-respecter-le-rgpd</a:t>
            </a:r>
          </a:p>
          <a:p>
            <a:r>
              <a:t>[R16] Ministère de l’Économie. Détection des fraudes, analyse de données : comment l’IA a fait son entrée à Bercy. https://www.economie.gouv.fr/actualites/detection-des-fraudes-analyse-de-donnees-comment-lia-fait-son-entree-bercy</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[R20] CNIL. Développement des systèmes d’IA : recommandations pour respecter le RGPD. Consultées le 14 septembre 2026. https://www.cnil.fr/fr/developpement-des-systemes-dia-les-recommandations-de-la-cnil-pour-respecter-le-rgpd</a:t>
            </a:r>
          </a:p>
          <a:p>
            <a:r>
              <a:t>[R16] Ministère de l’Économie. Détection des fraudes, analyse de données : comment l’IA a fait son entrée à Bercy. 2025, consulté le 14 septembre 2026. https://www.economie.gouv.fr/actualites/detection-des-fraudes-analyse-de-donnees-comment-lia-fait-son-entree-bercy</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J3 | Séquence 3A | Diapositive 103 | Type CONCEPT | Niveau Application | Support projection + notes]</a:t>
            </a:r>
          </a:p>
          <a:p/>
          <a:p>
            <a:r>
              <a:t>OBJECTIF OBSERVABLE</a:t>
            </a:r>
          </a:p>
          <a:p>
            <a:r>
              <a:t>Qualifier le cas avant de l’autoriser. Le participant doit pouvoir expliquer ou réaliser les éléments suivants : Données personnelles et risques ; Usage prévu et rôle de l’organisme ; Obligations à vérifier à la date du projet.</a:t>
            </a:r>
          </a:p>
          <a:p/>
          <a:p>
            <a:r>
              <a:t>EXPLICATION ET ANIMATION</a:t>
            </a:r>
          </a:p>
          <a:p>
            <a:r>
              <a:t>Le support est une initiation, pas un avis juridique ni une validation de conformité. Le règlement IA et le RGPD répondent à des questions distinctes qui peuvent se cumuler. Le CRPA prévoit, sous conditions et sous réserve des secrets protégés, des informations intelligibles sur certaines décisions fondées sur un traitement algorithmique. Aucun usage fiscal n’est automatiquement qualifié à partir de son seul nom.</a:t>
            </a:r>
          </a:p>
          <a:p/>
          <a:p>
            <a:r>
              <a:t>QUESTION À POSER</a:t>
            </a:r>
          </a:p>
          <a:p>
            <a:r>
              <a:t>Peut-on décider du niveau de risque uniquement parce que le système utilise un CNN ?</a:t>
            </a:r>
          </a:p>
          <a:p/>
          <a:p>
            <a:r>
              <a:t>RÉPONSE ATTENDUE ET CORRECTION</a:t>
            </a:r>
          </a:p>
          <a:p>
            <a:r>
              <a:t>Non. La qualification dépend notamment de l’usage prévu et du contexte.</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[R20] CNIL. Développement des systèmes d’IA : recommandations pour respecter le RGPD. https://www.cnil.fr/fr/developpement-des-systemes-dia-les-recommandations-de-la-cnil-pour-respecter-le-rgpd</a:t>
            </a:r>
          </a:p>
          <a:p>
            <a:r>
              <a:t>[R21] Union européenne. Règlement (UE) 2024/1689 sur l’intelligence artificielle. https://eur-lex.europa.eu/eli/reg/2024/1689/oj/fra</a:t>
            </a:r>
          </a:p>
          <a:p>
            <a:r>
              <a:t>[R22] Légifrance. CRPA, article R311-3-1-2. https://www.legifrance.gouv.fr/codes/article_lc/LEGIARTI000034195881</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[R20] CNIL. Développement des systèmes d’IA : recommandations pour respecter le RGPD. Consultées le 14 septembre 2026. https://www.cnil.fr/fr/developpement-des-systemes-dia-les-recommandations-de-la-cnil-pour-respecter-le-rgpd</a:t>
            </a:r>
          </a:p>
          <a:p>
            <a:r>
              <a:t>[R21] Union européenne. Règlement (UE) 2024/1689 sur l’intelligence artificielle. 13 juin 2024, version applicable à vérifier au projet. https://eur-lex.europa.eu/eli/reg/2024/1689/oj/fra</a:t>
            </a:r>
          </a:p>
          <a:p>
            <a:r>
              <a:t>[R22] Légifrance. CRPA, article R311-3-1-2. Texte à vérifier avec le service juridique. https://www.legifrance.gouv.fr/codes/article_lc/LEGIARTI000034195881</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J3 | Séquence 3A | Diapositive 104 | Type ATELIER | Niveau Application | Support projection + notes]</a:t>
            </a:r>
          </a:p>
          <a:p/>
          <a:p>
            <a:r>
              <a:t>OBJECTIF OBSERVABLE</a:t>
            </a:r>
          </a:p>
          <a:p>
            <a:r>
              <a:t>Trois fiches, trois niveaux de responsabilité. Le participant doit pouvoir expliquer ou réaliser les éléments suivants : Données : origine, dates et labels ; Modèle : versions, métriques et limites ; Système : seuil, usage et supervision.</a:t>
            </a:r>
          </a:p>
          <a:p/>
          <a:p>
            <a:r>
              <a:t>EXPLICATION ET ANIMATION</a:t>
            </a:r>
          </a:p>
          <a:p>
            <a:r>
              <a:t>Le modèle de fiche fourni demande les exclusions, les populations évaluées, les métriques, le seuil, la procédure de revue et les conditions d’arrêt. Il comporte des champs « non évalué » afin d’éviter d’inventer une assurance. La documentation est mise à jour avec les résultats ; ce n’est pas un document marketing rédigé avant les tests.</a:t>
            </a:r>
          </a:p>
          <a:p/>
          <a:p>
            <a:r>
              <a:t>QUESTION À POSER</a:t>
            </a:r>
          </a:p>
          <a:p>
            <a:r>
              <a:t>Pourquoi une fiche modèle ne suffit-elle pas ?</a:t>
            </a:r>
          </a:p>
          <a:p/>
          <a:p>
            <a:r>
              <a:t>RÉPONSE ATTENDUE ET CORRECTION</a:t>
            </a:r>
          </a:p>
          <a:p>
            <a:r>
              <a:t>Elle ne décrit pas à elle seule le processus de décision et les responsabilités.</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[R20] CNIL. Développement des systèmes d’IA : recommandations pour respecter le RGPD. https://www.cnil.fr/fr/developpement-des-systemes-dia-les-recommandations-de-la-cnil-pour-respecter-le-rgpd</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[R20] CNIL. Développement des systèmes d’IA : recommandations pour respecter le RGPD. Consultées le 14 septembre 2026. https://www.cnil.fr/fr/developpement-des-systemes-dia-les-recommandations-de-la-cnil-pour-respecter-le-rgpd</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J3 | Séquence 3A | Diapositive 105 | Type ATELIER | Niveau Application | Support projection + notes]</a:t>
            </a:r>
          </a:p>
          <a:p/>
          <a:p>
            <a:r>
              <a:t>OBJECTIF OBSERVABLE</a:t>
            </a:r>
          </a:p>
          <a:p>
            <a:r>
              <a:t>Rendre un cas vérifiable avant de le coder. Le participant doit pouvoir expliquer ou réaliser les éléments suivants : Une finalité limitée ; Trois erreurs possibles ; Un protocole et un contrôle humain.</a:t>
            </a:r>
          </a:p>
          <a:p/>
          <a:p>
            <a:r>
              <a:t>EXPLICATION ET ANIMATION</a:t>
            </a:r>
          </a:p>
          <a:p>
            <a:r>
              <a:t>Les groupes rendent une fiche de transposition. Ils distinguent explicitement ce qui provient des études documentées et ce qu’ils proposent. Pour chaque risque, demander une mesure vérifiable et un responsable. « Faire attention aux biais » n’est pas une mesure ; définir un segment à tester, un indicateur et une action l’est davantage.</a:t>
            </a:r>
          </a:p>
          <a:p/>
          <a:p>
            <a:r>
              <a:t>QUESTION À POSER</a:t>
            </a:r>
          </a:p>
          <a:p>
            <a:r>
              <a:t>Quelle est votre condition d’arrêt avant tout déploiement ?</a:t>
            </a:r>
          </a:p>
          <a:p/>
          <a:p>
            <a:r>
              <a:t>RÉPONSE ATTENDUE ET CORRECTION</a:t>
            </a:r>
          </a:p>
          <a:p>
            <a:r>
              <a:t>Par exemple un protocole contaminé, une cible inappropriée ou une supervision non définie.</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[R00] Dossier fourni par Martino Bettucci. Dossier de préparation pédagogique ultime, référence 4-024. Fichier Dossier_original_fourni.txt</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[R00] Dossier fourni par Martino Bettucci. Dossier de préparation pédagogique ultime, référence 4-024. 14 septembre 2026. Fichier Dossier_original_fourni.txt</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J3 | Séquence 3B | Diapositive 106 | Type REPÈRE | Niveau Application | Support projection + notes]</a:t>
            </a:r>
          </a:p>
          <a:p/>
          <a:p>
            <a:r>
              <a:t>OBJECTIF OBSERVABLE</a:t>
            </a:r>
          </a:p>
          <a:p>
            <a:r>
              <a:t>Un notebook propre et une slide de décision. Le participant doit pouvoir expliquer ou réaliser les éléments suivants : Préparer les données ; Comparer et entraîner ; Évaluer, documenter et présenter.</a:t>
            </a:r>
          </a:p>
          <a:p/>
          <a:p>
            <a:r>
              <a:t>EXPLICATION ET ANIMATION</a:t>
            </a:r>
          </a:p>
          <a:p>
            <a:r>
              <a:t>Le projet dure trois heures dans le conducteur, incluant lancement, travail d’équipe, présentation et évaluation. Le périmètre est un prototype pédagogique. Chaque équipe choisit un des quatre parcours et garde le même protocole jusqu’au test. Les corrections sont des solutions possibles, pas un classement final à reproduire.</a:t>
            </a:r>
          </a:p>
          <a:p/>
          <a:p>
            <a:r>
              <a:t>QUESTION À POSER</a:t>
            </a:r>
          </a:p>
          <a:p>
            <a:r>
              <a:t>Que livrez-vous si votre réseau ne dépasse pas la référence ?</a:t>
            </a:r>
          </a:p>
          <a:p/>
          <a:p>
            <a:r>
              <a:t>RÉPONSE ATTENDUE ET CORRECTION</a:t>
            </a:r>
          </a:p>
          <a:p>
            <a:r>
              <a:t>Une comparaison honnête et une recommandation argumentée.</a:t>
            </a:r>
          </a:p>
          <a:p/>
          <a:p>
            <a:r>
              <a:t>VÉRIFICATION</a:t>
            </a:r>
          </a:p>
          <a:p>
            <a:r>
              <a:t>Demander une reformulation avec un exemple ou une preuve issue du notebook. Ne pas accepter une réponse limitée au nom d’une bibliothèque. Ouvrir le notebook 10 ; conserver les résultats et le journal.</a:t>
            </a:r>
          </a:p>
          <a:p/>
          <a:p>
            <a:r>
              <a:t>REPÈRES DE SOURCE</a:t>
            </a:r>
          </a:p>
          <a:p>
            <a:r>
              <a:t>[R00] Dossier fourni par Martino Bettucci. Dossier de préparation pédagogique ultime, référence 4-024. Fichier Dossier_original_fourni.txt</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[R00] Dossier fourni par Martino Bettucci. Dossier de préparation pédagogique ultime, référence 4-024. 14 septembre 2026. Fichier Dossier_original_fourni.txt</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J3 | Séquence 3B | Diapositive 107 | Type ATELIER | Niveau Application | Support projection + notes]</a:t>
            </a:r>
          </a:p>
          <a:p/>
          <a:p>
            <a:r>
              <a:t>OBJECTIF OBSERVABLE</a:t>
            </a:r>
          </a:p>
          <a:p>
            <a:r>
              <a:t>La difficulté doit rester dans le raisonnement. Le participant doit pouvoir expliquer ou réaliser les éléments suivants : Vision : chiffres manuscrits ; Priorisation : observations synthétiques ; Séquence ou documents : données préparées.</a:t>
            </a:r>
          </a:p>
          <a:p/>
          <a:p>
            <a:r>
              <a:t>EXPLICATION ET ANIMATION</a:t>
            </a:r>
          </a:p>
          <a:p>
            <a:r>
              <a:t>Les quatre parcours s’appuient sur les fichiers locaux du kit. Le notebook projet exécute un parcours choisi via une variable. Les exigences sont communes : séparation, référence, modèle profond, métrique, journal, erreurs et recommandation. Un groupe peut rester sur une architecture simple et investir le temps gagné dans l’évaluation.</a:t>
            </a:r>
          </a:p>
          <a:p/>
          <a:p>
            <a:r>
              <a:t>QUESTION À POSER</a:t>
            </a:r>
          </a:p>
          <a:p>
            <a:r>
              <a:t>Peut-on changer de parcours après avoir consulté le test ?</a:t>
            </a:r>
          </a:p>
          <a:p/>
          <a:p>
            <a:r>
              <a:t>RÉPONSE ATTENDUE ET CORRECTION</a:t>
            </a:r>
          </a:p>
          <a:p>
            <a:r>
              <a:t>Non. Ce serait utiliser le test pour sélectionner le problème le plus flatteur.</a:t>
            </a:r>
          </a:p>
          <a:p/>
          <a:p>
            <a:r>
              <a:t>VÉRIFICATION</a:t>
            </a:r>
          </a:p>
          <a:p>
            <a:r>
              <a:t>Demander une reformulation avec un exemple ou une preuve issue du notebook. Ne pas accepter une réponse limitée au nom d’une bibliothèque. Ouvrir le notebook 10 ; conserver les résultats et le journal.</a:t>
            </a:r>
          </a:p>
          <a:p/>
          <a:p>
            <a:r>
              <a:t>REPÈRES DE SOURCE</a:t>
            </a:r>
          </a:p>
          <a:p>
            <a:r>
              <a:t>[R00] Dossier fourni par Martino Bettucci. Dossier de préparation pédagogique ultime, référence 4-024. Fichier Dossier_original_fourni.txt</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[R00] Dossier fourni par Martino Bettucci. Dossier de préparation pédagogique ultime, référence 4-024. 14 septembre 2026. Fichier Dossier_original_fourni.txt</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J3 | Séquence 3B | Diapositive 108 | Type ATELIER | Niveau Application | Support projection + notes]</a:t>
            </a:r>
          </a:p>
          <a:p/>
          <a:p>
            <a:r>
              <a:t>OBJECTIF OBSERVABLE</a:t>
            </a:r>
          </a:p>
          <a:p>
            <a:r>
              <a:t>Classifier sans surinterpréter. Le participant doit pouvoir expliquer ou réaliser les éléments suivants : Digits 8 × 8 ; MLP de référence et CNN ; Erreurs par classe et sauvegarde.</a:t>
            </a:r>
          </a:p>
          <a:p/>
          <a:p>
            <a:r>
              <a:t>EXPLICATION ET ANIMATION</a:t>
            </a:r>
          </a:p>
          <a:p>
            <a:r>
              <a:t>Le livrable présente les classes confondues et quelques erreurs. Les augmentations éventuelles sont justifiées et n’affectent pas le test. Le test conserve les indices réservés. En extension, analyser les performances en présence de bruit ajouté selon un protocole séparé, sans prétendre à une robustesse générale.</a:t>
            </a:r>
          </a:p>
          <a:p/>
          <a:p>
            <a:r>
              <a:t>QUESTION À POSER</a:t>
            </a:r>
          </a:p>
          <a:p>
            <a:r>
              <a:t>Quelle limite métier devez-vous écrire ?</a:t>
            </a:r>
          </a:p>
          <a:p/>
          <a:p>
            <a:r>
              <a:t>RÉPONSE ATTENDUE ET CORRECTION</a:t>
            </a:r>
          </a:p>
          <a:p>
            <a:r>
              <a:t>Ce modèle de chiffres ne démontre pas une aptitude à analyser des données aériennes ou médicales.</a:t>
            </a:r>
          </a:p>
          <a:p/>
          <a:p>
            <a:r>
              <a:t>VÉRIFICATION</a:t>
            </a:r>
          </a:p>
          <a:p>
            <a:r>
              <a:t>Demander une reformulation avec un exemple ou une preuve issue du notebook. Ne pas accepter une réponse limitée au nom d’une bibliothèque. Ouvrir le notebook 10 ; conserver les résultats et le journal.</a:t>
            </a:r>
          </a:p>
          <a:p/>
          <a:p>
            <a:r>
              <a:t>REPÈRES DE SOURCE</a:t>
            </a:r>
          </a:p>
          <a:p>
            <a:r>
              <a:t>[R05] Équipe scikit-learn. load_digits. https://scikit-learn.org/stable/modules/generated/sklearn.datasets.load_digits.html</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[R05] Équipe scikit-learn. load_digits. Documentation consultée le 14 septembre 2026. https://scikit-learn.org/stable/modules/generated/sklearn.datasets.load_digits.html</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J3 | Séquence 3B | Diapositive 109 | Type ATELIER | Niveau Application | Support projection + notes]</a:t>
            </a:r>
          </a:p>
          <a:p/>
          <a:p>
            <a:r>
              <a:t>OBJECTIF OBSERVABLE</a:t>
            </a:r>
          </a:p>
          <a:p>
            <a:r>
              <a:t>Concilier qualité et capacité de revue. Le participant doit pouvoir expliquer ou réaliser les éléments suivants : Baseline logistique ou arbres ; MLP et métriques de classe rare ; Seuil ou top-k choisi sur validation.</a:t>
            </a:r>
          </a:p>
          <a:p/>
          <a:p>
            <a:r>
              <a:t>EXPLICATION ET ANIMATION</a:t>
            </a:r>
          </a:p>
          <a:p>
            <a:r>
              <a:t>Les résultats synthétiques ne doivent pas être présentés comme une détection de fraude réelle. L’équipe annonce un budget de revue fictif et choisit la règle de sélection. La recommandation inclut le nombre d’alertes, la précision et le rappel, ainsi que les informations non évaluées. Les variables de fuite sont explicitement exclues.</a:t>
            </a:r>
          </a:p>
          <a:p/>
          <a:p>
            <a:r>
              <a:t>QUESTION À POSER</a:t>
            </a:r>
          </a:p>
          <a:p>
            <a:r>
              <a:t>Quel indicateur donne la charge opérationnelle ?</a:t>
            </a:r>
          </a:p>
          <a:p/>
          <a:p>
            <a:r>
              <a:t>RÉPONSE ATTENDUE ET CORRECTION</a:t>
            </a:r>
          </a:p>
          <a:p>
            <a:r>
              <a:t>Le nombre ou la proportion d’alertes dans une période définie.</a:t>
            </a:r>
          </a:p>
          <a:p/>
          <a:p>
            <a:r>
              <a:t>VÉRIFICATION</a:t>
            </a:r>
          </a:p>
          <a:p>
            <a:r>
              <a:t>Demander une reformulation avec un exemple ou une preuve issue du notebook. Ne pas accepter une réponse limitée au nom d’une bibliothèque. Ouvrir le notebook 10 ; conserver les résultats et le journal.</a:t>
            </a:r>
          </a:p>
          <a:p/>
          <a:p>
            <a:r>
              <a:t>REPÈRES DE SOURCE</a:t>
            </a:r>
          </a:p>
          <a:p>
            <a:r>
              <a:t>[R04] Équipe scikit-learn. Métriques et évaluation des modèles. https://scikit-learn.org/stable/modules/model_evaluation.html</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[R04] Équipe scikit-learn. Métriques et évaluation des modèles. Documentation consultée le 14 septembre 2026. https://scikit-learn.org/stable/modules/model_evaluation.html</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J3 | Séquence 3B | Diapositive 110 | Type ATELIER | Niveau Application | Support projection + notes]</a:t>
            </a:r>
          </a:p>
          <a:p/>
          <a:p>
            <a:r>
              <a:t>OBJECTIF OBSERVABLE</a:t>
            </a:r>
          </a:p>
          <a:p>
            <a:r>
              <a:t>Prévoir un pas et conserver le futur. Le participant doit pouvoir expliquer ou réaliser les éléments suivants : Fenêtres chronologiques ; Persistance et LSTM ; MAE, RMSE et ruptures.</a:t>
            </a:r>
          </a:p>
          <a:p/>
          <a:p>
            <a:r>
              <a:t>EXPLICATION ET ANIMATION</a:t>
            </a:r>
          </a:p>
          <a:p>
            <a:r>
              <a:t>Le scénario est une prévision roulante à un pas. La baseline de persistance et le LSTM voient les mêmes observations antérieures. Le groupe ne doit pas afficher une performance normalisée comme si elle était dans l’unité métier originale. La slide décrit les ruptures où le modèle échoue et les conditions de recalibrage.</a:t>
            </a:r>
          </a:p>
          <a:p/>
          <a:p>
            <a:r>
              <a:t>QUESTION À POSER</a:t>
            </a:r>
          </a:p>
          <a:p>
            <a:r>
              <a:t>Quel changement rendrait votre test non comparable ?</a:t>
            </a:r>
          </a:p>
          <a:p/>
          <a:p>
            <a:r>
              <a:t>RÉPONSE ATTENDUE ET CORRECTION</a:t>
            </a:r>
          </a:p>
          <a:p>
            <a:r>
              <a:t>Modifier l’horizon ou fournir de nouvelles observations à un seul des modèles.</a:t>
            </a:r>
          </a:p>
          <a:p/>
          <a:p>
            <a:r>
              <a:t>VÉRIFICATION</a:t>
            </a:r>
          </a:p>
          <a:p>
            <a:r>
              <a:t>Demander une reformulation avec un exemple ou une preuve issue du notebook. Ne pas accepter une réponse limitée au nom d’une bibliothèque. Ouvrir le notebook 10 ; conserver les résultats et le journal.</a:t>
            </a:r>
          </a:p>
          <a:p/>
          <a:p>
            <a:r>
              <a:t>REPÈRES DE SOURCE</a:t>
            </a:r>
          </a:p>
          <a:p>
            <a:r>
              <a:t>[R00] Dossier fourni par Martino Bettucci. Dossier de préparation pédagogique ultime, référence 4-024. Fichier Dossier_original_fourni.txt</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[R00] Dossier fourni par Martino Bettucci. Dossier de préparation pédagogique ultime, référence 4-024. 14 septembre 2026. Fichier Dossier_original_fourni.txt</a:t>
            </a:r>
          </a:p>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J3 | Séquence 3B | Diapositive 111 | Type ATELIER | Niveau Application | Support projection + notes]</a:t>
            </a:r>
          </a:p>
          <a:p/>
          <a:p>
            <a:r>
              <a:t>OBJECTIF OBSERVABLE</a:t>
            </a:r>
          </a:p>
          <a:p>
            <a:r>
              <a:t>Routage simulé, sans données d’usagers. Le participant doit pouvoir expliquer ou réaliser les éléments suivants : Textes artificiels et familles de modèles ; TF-IDF appris sur train ; Régression logistique et petit MLP.</a:t>
            </a:r>
          </a:p>
          <a:p/>
          <a:p>
            <a:r>
              <a:t>EXPLICATION ET ANIMATION</a:t>
            </a:r>
          </a:p>
          <a:p>
            <a:r>
              <a:t>Le dataset est constitué de demandes fictives réparties en familles de formulations. Les variantes d’une même famille restent dans le même ensemble pour limiter les duplications de patrons. Une source lexicale volontairement simple facilite l’exercice ; un score élevé ne prouve aucune compréhension juridique. Le vocabulaire est ajusté exclusivement sur l’entraînement.</a:t>
            </a:r>
          </a:p>
          <a:p/>
          <a:p>
            <a:r>
              <a:t>QUESTION À POSER</a:t>
            </a:r>
          </a:p>
          <a:p>
            <a:r>
              <a:t>Pourquoi séparer les familles de formulations ?</a:t>
            </a:r>
          </a:p>
          <a:p/>
          <a:p>
            <a:r>
              <a:t>RÉPONSE ATTENDUE ET CORRECTION</a:t>
            </a:r>
          </a:p>
          <a:p>
            <a:r>
              <a:t>Pour éviter de retrouver des variantes presque identiques des mêmes modèles de phrase de chaque côté.</a:t>
            </a:r>
          </a:p>
          <a:p/>
          <a:p>
            <a:r>
              <a:t>VÉRIFICATION</a:t>
            </a:r>
          </a:p>
          <a:p>
            <a:r>
              <a:t>Demander une reformulation avec un exemple ou une preuve issue du notebook. Ne pas accepter une réponse limitée au nom d’une bibliothèque. Ouvrir le notebook 10 ; conserver les résultats et le journal.</a:t>
            </a:r>
          </a:p>
          <a:p/>
          <a:p>
            <a:r>
              <a:t>REPÈRES DE SOURCE</a:t>
            </a:r>
          </a:p>
          <a:p>
            <a:r>
              <a:t>[R03] Équipe scikit-learn. Pièges courants et bonnes pratiques. https://scikit-learn.org/stable/common_pitfalls.html</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[R03] Équipe scikit-learn. Pièges courants et bonnes pratiques. Documentation consultée le 14 septembre 2026. https://scikit-learn.org/stable/common_pitfalls.html</a:t>
            </a:r>
          </a:p>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J3 | Séquence 3B | Diapositive 112 | Type ATELIER | Niveau Application | Support projection + notes]</a:t>
            </a:r>
          </a:p>
          <a:p/>
          <a:p>
            <a:r>
              <a:t>OBJECTIF OBSERVABLE</a:t>
            </a:r>
          </a:p>
          <a:p>
            <a:r>
              <a:t>Chacun doit pouvoir expliquer le protocole. Le participant doit pouvoir expliquer ou réaliser les éléments suivants : Données et séparation ; Modèle et expériences ; Évaluation et restitution.</a:t>
            </a:r>
          </a:p>
          <a:p/>
          <a:p>
            <a:r>
              <a:t>EXPLICATION ET ANIMATION</a:t>
            </a:r>
          </a:p>
          <a:p>
            <a:r>
              <a:t>En groupe de trois ou quatre, attribuer un pilote données, un pilote modèle et un pilote évaluation/documentation. Les rôles tournent lors des décisions clés. Une personne peut saisir le code, mais tous doivent expliquer le split et la métrique. La soutenance peut désigner au hasard le membre qui répond.</a:t>
            </a:r>
          </a:p>
          <a:p/>
          <a:p>
            <a:r>
              <a:t>QUESTION À POSER</a:t>
            </a:r>
          </a:p>
          <a:p>
            <a:r>
              <a:t>Qui est responsable de repérer une fuite ?</a:t>
            </a:r>
          </a:p>
          <a:p/>
          <a:p>
            <a:r>
              <a:t>RÉPONSE ATTENDUE ET CORRECTION</a:t>
            </a:r>
          </a:p>
          <a:p>
            <a:r>
              <a:t>Toute l’équipe, même si une personne prépare les données.</a:t>
            </a:r>
          </a:p>
          <a:p/>
          <a:p>
            <a:r>
              <a:t>VÉRIFICATION</a:t>
            </a:r>
          </a:p>
          <a:p>
            <a:r>
              <a:t>Demander une reformulation avec un exemple ou une preuve issue du notebook. Ne pas accepter une réponse limitée au nom d’une bibliothèque. Ouvrir le notebook 10 ; conserver les résultats et le journal.</a:t>
            </a:r>
          </a:p>
          <a:p/>
          <a:p>
            <a:r>
              <a:t>REPÈRES DE SOURCE</a:t>
            </a:r>
          </a:p>
          <a:p>
            <a:r>
              <a:t>[R00] Dossier fourni par Martino Bettucci. Dossier de préparation pédagogique ultime, référence 4-024. Fichier Dossier_original_fourni.txt</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[R00] Dossier fourni par Martino Bettucci. Dossier de préparation pédagogique ultime, référence 4-024. 14 septembre 2026. Fichier Dossier_original_fourni.txt</a:t>
            </a:r>
          </a:p>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J3 | Séquence 3B | Diapositive 113 | Type ATELIER | Niveau Application | Support projection + notes]</a:t>
            </a:r>
          </a:p>
          <a:p/>
          <a:p>
            <a:r>
              <a:t>OBJECTIF OBSERVABLE</a:t>
            </a:r>
          </a:p>
          <a:p>
            <a:r>
              <a:t>Écrire les règles avant le premier entraînement. Le participant doit pouvoir expliquer ou réaliser les éléments suivants : Entrées, cible et date ; Colonnes exclues ; Indices et protocole conservés.</a:t>
            </a:r>
          </a:p>
          <a:p/>
          <a:p>
            <a:r>
              <a:t>EXPLICATION ET ANIMATION</a:t>
            </a:r>
          </a:p>
          <a:p>
            <a:r>
              <a:t>Le formateur vérifie le contrat avant d’autoriser la phase d’essais. Les critères comprennent absence de données sensibles réelles, justification des exclusions, séparation indépendante et définition du moment de prédiction. Un problème majeur doit être corrigé avant d’investir du temps dans le modèle.</a:t>
            </a:r>
          </a:p>
          <a:p/>
          <a:p>
            <a:r>
              <a:t>QUESTION À POSER</a:t>
            </a:r>
          </a:p>
          <a:p>
            <a:r>
              <a:t>Quelle preuve permet au formateur de valider ce jalon ?</a:t>
            </a:r>
          </a:p>
          <a:p/>
          <a:p>
            <a:r>
              <a:t>RÉPONSE ATTENDUE ET CORRECTION</a:t>
            </a:r>
          </a:p>
          <a:p>
            <a:r>
              <a:t>Une fiche renseignée et des contrôles automatiques de séparation.</a:t>
            </a:r>
          </a:p>
          <a:p/>
          <a:p>
            <a:r>
              <a:t>VÉRIFICATION</a:t>
            </a:r>
          </a:p>
          <a:p>
            <a:r>
              <a:t>Demander une reformulation avec un exemple ou une preuve issue du notebook. Ne pas accepter une réponse limitée au nom d’une bibliothèque. Ouvrir le notebook 10 ; conserver les résultats et le journal.</a:t>
            </a:r>
          </a:p>
          <a:p/>
          <a:p>
            <a:r>
              <a:t>REPÈRES DE SOURCE</a:t>
            </a:r>
          </a:p>
          <a:p>
            <a:r>
              <a:t>[R03] Équipe scikit-learn. Pièges courants et bonnes pratiques. https://scikit-learn.org/stable/common_pitfalls.html</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[R03] Équipe scikit-learn. Pièges courants et bonnes pratiques. Documentation consultée le 14 septembre 2026. https://scikit-learn.org/stable/common_pitfalls.html</a:t>
            </a:r>
          </a:p>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J3 | Séquence 3B | Diapositive 114 | Type ATELIER | Niveau Application | Support projection + notes]</a:t>
            </a:r>
          </a:p>
          <a:p/>
          <a:p>
            <a:r>
              <a:t>OBJECTIF OBSERVABLE</a:t>
            </a:r>
          </a:p>
          <a:p>
            <a:r>
              <a:t>Faire moins, mais comparer correctement. Le participant doit pouvoir expliquer ou réaliser les éléments suivants : Une référence pertinente ; Une architecture expliquée ; Une même métrique principale.</a:t>
            </a:r>
          </a:p>
          <a:p/>
          <a:p>
            <a:r>
              <a:t>EXPLICATION ET ANIMATION</a:t>
            </a:r>
          </a:p>
          <a:p>
            <a:r>
              <a:t>La référence doit correspondre à la structure : persistance pour une série, classifieur simple pour un tableau ou un texte, modèle dense pour les images. L’architecture profonde est limitée et son budget d’entraînement explicite. On ne sélectionne pas la métrique après avoir observé celle qui avantage le réseau.</a:t>
            </a:r>
          </a:p>
          <a:p/>
          <a:p>
            <a:r>
              <a:t>QUESTION À POSER</a:t>
            </a:r>
          </a:p>
          <a:p>
            <a:r>
              <a:t>Une baseline volontairement faible est-elle acceptable ?</a:t>
            </a:r>
          </a:p>
          <a:p/>
          <a:p>
            <a:r>
              <a:t>RÉPONSE ATTENDUE ET CORRECTION</a:t>
            </a:r>
          </a:p>
          <a:p>
            <a:r>
              <a:t>Non. Elle rend la comparaison artificiellement favorable.</a:t>
            </a:r>
          </a:p>
          <a:p/>
          <a:p>
            <a:r>
              <a:t>VÉRIFICATION</a:t>
            </a:r>
          </a:p>
          <a:p>
            <a:r>
              <a:t>Demander une reformulation avec un exemple ou une preuve issue du notebook. Ne pas accepter une réponse limitée au nom d’une bibliothèque. Ouvrir le notebook 10 ; conserver les résultats et le journal.</a:t>
            </a:r>
          </a:p>
          <a:p/>
          <a:p>
            <a:r>
              <a:t>REPÈRES DE SOURCE</a:t>
            </a:r>
          </a:p>
          <a:p>
            <a:r>
              <a:t>[R00] Dossier fourni par Martino Bettucci. Dossier de préparation pédagogique ultime, référence 4-024. Fichier Dossier_original_fourni.txt</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[R00] Dossier fourni par Martino Bettucci. Dossier de préparation pédagogique ultime, référence 4-024. 14 septembre 2026. Fichier Dossier_original_fourni.txt</a:t>
            </a:r>
          </a:p>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J3 | Séquence 3B | Diapositive 115 | Type ATELIER | Niveau Application | Support projection + notes]</a:t>
            </a:r>
          </a:p>
          <a:p/>
          <a:p>
            <a:r>
              <a:t>OBJECTIF OBSERVABLE</a:t>
            </a:r>
          </a:p>
          <a:p>
            <a:r>
              <a:t>Définir ce qui est utile avant de l’optimiser. Le participant doit pouvoir expliquer ou réaliser les éléments suivants : Métrique principale annoncée ; Métriques secondaires et effectifs ; Seuil ou top-k fixé sur validation.</a:t>
            </a:r>
          </a:p>
          <a:p/>
          <a:p>
            <a:r>
              <a:t>EXPLICATION ET ANIMATION</a:t>
            </a:r>
          </a:p>
          <a:p>
            <a:r>
              <a:t>La métrique est reliée à une question : erreurs d’orientation, volume de revue, écart de prévision ou confusion entre catégories. Les classes rares imposent de regarder au-delà de l’accuracy. Les échantillons petits demandent de rester prudent. Aucun seuil « universel » n’est imposé.</a:t>
            </a:r>
          </a:p>
          <a:p/>
          <a:p>
            <a:r>
              <a:t>QUESTION À POSER</a:t>
            </a:r>
          </a:p>
          <a:p>
            <a:r>
              <a:t>Quelle question métier votre métrique répond-elle exactement ?</a:t>
            </a:r>
          </a:p>
          <a:p/>
          <a:p>
            <a:r>
              <a:t>RÉPONSE ATTENDUE ET CORRECTION</a:t>
            </a:r>
          </a:p>
          <a:p>
            <a:r>
              <a:t>La réponse doit nommer une conséquence et un dénominateur.</a:t>
            </a:r>
          </a:p>
          <a:p/>
          <a:p>
            <a:r>
              <a:t>VÉRIFICATION</a:t>
            </a:r>
          </a:p>
          <a:p>
            <a:r>
              <a:t>Demander une reformulation avec un exemple ou une preuve issue du notebook. Ne pas accepter une réponse limitée au nom d’une bibliothèque. Ouvrir le notebook 10 ; conserver les résultats et le journal.</a:t>
            </a:r>
          </a:p>
          <a:p/>
          <a:p>
            <a:r>
              <a:t>REPÈRES DE SOURCE</a:t>
            </a:r>
          </a:p>
          <a:p>
            <a:r>
              <a:t>[R04] Équipe scikit-learn. Métriques et évaluation des modèles. https://scikit-learn.org/stable/modules/model_evaluation.html</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[R04] Équipe scikit-learn. Métriques et évaluation des modèles. Documentation consultée le 14 septembre 2026. https://scikit-learn.org/stable/modules/model_evaluation.html</a:t>
            </a:r>
          </a:p>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J3 | Séquence 3B | Diapositive 116 | Type ATELIER | Niveau Application | Support projection + notes]</a:t>
            </a:r>
          </a:p>
          <a:p/>
          <a:p>
            <a:r>
              <a:t>OBJECTIF OBSERVABLE</a:t>
            </a:r>
          </a:p>
          <a:p>
            <a:r>
              <a:t>Une amélioration doit être attribuable. Le participant doit pouvoir expliquer ou réaliser les éléments suivants : Hypothèse écrite ; Changement limité ; Résultat de validation consigné.</a:t>
            </a:r>
          </a:p>
          <a:p/>
          <a:p>
            <a:r>
              <a:t>EXPLICATION ET ANIMATION</a:t>
            </a:r>
          </a:p>
          <a:p>
            <a:r>
              <a:t>Le groupe réalise au moins une modification justifiée, par exemple dropout, largeur du réseau, taux ou nombre d’époques. Une modification du split n’est pas une optimisation du modèle. Le journal mentionne les essais qui n’améliorent pas la métrique et les raisons de sélection.</a:t>
            </a:r>
          </a:p>
          <a:p/>
          <a:p>
            <a:r>
              <a:t>QUESTION À POSER</a:t>
            </a:r>
          </a:p>
          <a:p>
            <a:r>
              <a:t>Comment prouver que votre optimisation n’utilise pas le test ?</a:t>
            </a:r>
          </a:p>
          <a:p/>
          <a:p>
            <a:r>
              <a:t>RÉPONSE ATTENDUE ET CORRECTION</a:t>
            </a:r>
          </a:p>
          <a:p>
            <a:r>
              <a:t>Montrer que toutes les décisions sont fondées sur train et validation.</a:t>
            </a:r>
          </a:p>
          <a:p/>
          <a:p>
            <a:r>
              <a:t>VÉRIFICATION</a:t>
            </a:r>
          </a:p>
          <a:p>
            <a:r>
              <a:t>Demander une reformulation avec un exemple ou une preuve issue du notebook. Ne pas accepter une réponse limitée au nom d’une bibliothèque. Ouvrir le notebook 10 ; conserver les résultats et le journal.</a:t>
            </a:r>
          </a:p>
          <a:p/>
          <a:p>
            <a:r>
              <a:t>REPÈRES DE SOURCE</a:t>
            </a:r>
          </a:p>
          <a:p>
            <a:r>
              <a:t>[R00] Dossier fourni par Martino Bettucci. Dossier de préparation pédagogique ultime, référence 4-024. Fichier Dossier_original_fourni.txt</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[R00] Dossier fourni par Martino Bettucci. Dossier de préparation pédagogique ultime, référence 4-024. 14 septembre 2026. Fichier Dossier_original_fourni.txt</a:t>
            </a:r>
          </a:p>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J3 | Séquence 3B | Diapositive 117 | Type ATELIER | Niveau Application | Support projection + notes]</a:t>
            </a:r>
          </a:p>
          <a:p/>
          <a:p>
            <a:r>
              <a:t>OBJECTIF OBSERVABLE</a:t>
            </a:r>
          </a:p>
          <a:p>
            <a:r>
              <a:t>Mesurer le choix retenu, pas chercher un nouveau gagnant. Le participant doit pouvoir expliquer ou réaliser les éléments suivants : Configuration finale figée ; Évaluation réservée ; Aucun réglage après lecture.</a:t>
            </a:r>
          </a:p>
          <a:p/>
          <a:p>
            <a:r>
              <a:t>EXPLICATION ET ANIMATION</a:t>
            </a:r>
          </a:p>
          <a:p>
            <a:r>
              <a:t>Le notebook de projet comporte un commutateur OUVRIR_TEST désactivé par défaut. Après accord sur la configuration, le groupe l’active et exécute l’évaluation. Ce verrou pédagogique n’est pas une garantie technique contre un participant qui modifie le code ; il matérialise la discipline et doit être accompagné d’une trace.</a:t>
            </a:r>
          </a:p>
          <a:p/>
          <a:p>
            <a:r>
              <a:t>QUESTION À POSER</a:t>
            </a:r>
          </a:p>
          <a:p>
            <a:r>
              <a:t>Que faire si le test déçoit ?</a:t>
            </a:r>
          </a:p>
          <a:p/>
          <a:p>
            <a:r>
              <a:t>RÉPONSE ATTENDUE ET CORRECTION</a:t>
            </a:r>
          </a:p>
          <a:p>
            <a:r>
              <a:t>Rapporter le résultat et proposer un futur protocole indépendant, sans retoucher ce test.</a:t>
            </a:r>
          </a:p>
          <a:p/>
          <a:p>
            <a:r>
              <a:t>VÉRIFICATION</a:t>
            </a:r>
          </a:p>
          <a:p>
            <a:r>
              <a:t>Demander une reformulation avec un exemple ou une preuve issue du notebook. Ne pas accepter une réponse limitée au nom d’une bibliothèque. Ouvrir le notebook 10 ; conserver les résultats et le journal.</a:t>
            </a:r>
          </a:p>
          <a:p/>
          <a:p>
            <a:r>
              <a:t>REPÈRES DE SOURCE</a:t>
            </a:r>
          </a:p>
          <a:p>
            <a:r>
              <a:t>[R03] Équipe scikit-learn. Pièges courants et bonnes pratiques. https://scikit-learn.org/stable/common_pitfalls.html</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[R03] Équipe scikit-learn. Pièges courants et bonnes pratiques. Documentation consultée le 14 septembre 2026. https://scikit-learn.org/stable/common_pitfalls.html</a:t>
            </a:r>
          </a:p>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J3 | Séquence 3B | Diapositive 118 | Type ATELIER | Niveau Application | Support projection + notes]</a:t>
            </a:r>
          </a:p>
          <a:p/>
          <a:p>
            <a:r>
              <a:t>OBJECTIF OBSERVABLE</a:t>
            </a:r>
          </a:p>
          <a:p>
            <a:r>
              <a:t>Une recommandation exige des limites. Le participant doit pouvoir expliquer ou réaliser les éléments suivants : Trois erreurs représentatives ; Une cause plausible par erreur ; Un prochain test discriminant.</a:t>
            </a:r>
          </a:p>
          <a:p/>
          <a:p>
            <a:r>
              <a:t>EXPLICATION ET ANIMATION</a:t>
            </a:r>
          </a:p>
          <a:p>
            <a:r>
              <a:t>Les erreurs retenues ne sont pas uniquement les plus faciles à expliquer. Inclure un cas fréquent, un cas coûteux et un cas incertain. Distinguer hypothèse et cause démontrée. Une proposition de collecte supplémentaire précise la population ou le signal manquant, plutôt que demander indistinctement « plus de données ».</a:t>
            </a:r>
          </a:p>
          <a:p/>
          <a:p>
            <a:r>
              <a:t>QUESTION À POSER</a:t>
            </a:r>
          </a:p>
          <a:p>
            <a:r>
              <a:t>Quelle erreur serait la plus coûteuse dans l’usage envisagé ?</a:t>
            </a:r>
          </a:p>
          <a:p/>
          <a:p>
            <a:r>
              <a:t>RÉPONSE ATTENDUE ET CORRECTION</a:t>
            </a:r>
          </a:p>
          <a:p>
            <a:r>
              <a:t>Une réponse contextualisée, pas seulement la plus fréquente.</a:t>
            </a:r>
          </a:p>
          <a:p/>
          <a:p>
            <a:r>
              <a:t>VÉRIFICATION</a:t>
            </a:r>
          </a:p>
          <a:p>
            <a:r>
              <a:t>Demander une reformulation avec un exemple ou une preuve issue du notebook. Ne pas accepter une réponse limitée au nom d’une bibliothèque. Ouvrir le notebook 10 ; conserver les résultats et le journal.</a:t>
            </a:r>
          </a:p>
          <a:p/>
          <a:p>
            <a:r>
              <a:t>REPÈRES DE SOURCE</a:t>
            </a:r>
          </a:p>
          <a:p>
            <a:r>
              <a:t>[R00] Dossier fourni par Martino Bettucci. Dossier de préparation pédagogique ultime, référence 4-024. Fichier Dossier_original_fourni.txt</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[R00] Dossier fourni par Martino Bettucci. Dossier de préparation pédagogique ultime, référence 4-024. 14 septembre 2026. Fichier Dossier_original_fourni.txt</a:t>
            </a:r>
          </a:p>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J3 | Séquence 3B | Diapositive 119 | Type ATELIER | Niveau Application | Support projection + notes]</a:t>
            </a:r>
          </a:p>
          <a:p/>
          <a:p>
            <a:r>
              <a:t>OBJECTIF OBSERVABLE</a:t>
            </a:r>
          </a:p>
          <a:p>
            <a:r>
              <a:t>Dire aussi ce qui n’a pas été évalué. Le participant doit pouvoir expliquer ou réaliser les éléments suivants : Données et versions ; Performances, seuil et limites ; Utilisateur, supervision et arrêt.</a:t>
            </a:r>
          </a:p>
          <a:p/>
          <a:p>
            <a:r>
              <a:t>EXPLICATION ET ANIMATION</a:t>
            </a:r>
          </a:p>
          <a:p>
            <a:r>
              <a:t>Le formulaire donne un statut à chaque champ : renseigné, non applicable ou non évalué. Ne pas inventer une mesure de robustesse, d’équité ou de sécurité pour remplir la page. Une recommandation de poursuite précise les validations nécessaires et leur responsable. Le prototype ne devient pas une solution de production au terme de trois heures.</a:t>
            </a:r>
          </a:p>
          <a:p/>
          <a:p>
            <a:r>
              <a:t>QUESTION À POSER</a:t>
            </a:r>
          </a:p>
          <a:p>
            <a:r>
              <a:t>Quelle formulation est préférable à une assurance non démontrée ?</a:t>
            </a:r>
          </a:p>
          <a:p/>
          <a:p>
            <a:r>
              <a:t>RÉPONSE ATTENDUE ET CORRECTION</a:t>
            </a:r>
          </a:p>
          <a:p>
            <a:r>
              <a:t>« Ce risque n’a pas été évalué dans ce prototype ; voici le test nécessaire. »</a:t>
            </a:r>
          </a:p>
          <a:p/>
          <a:p>
            <a:r>
              <a:t>VÉRIFICATION</a:t>
            </a:r>
          </a:p>
          <a:p>
            <a:r>
              <a:t>Demander une reformulation avec un exemple ou une preuve issue du notebook. Ne pas accepter une réponse limitée au nom d’une bibliothèque. Ouvrir le notebook 10 ; conserver les résultats et le journal.</a:t>
            </a:r>
          </a:p>
          <a:p/>
          <a:p>
            <a:r>
              <a:t>REPÈRES DE SOURCE</a:t>
            </a:r>
          </a:p>
          <a:p>
            <a:r>
              <a:t>[R20] CNIL. Développement des systèmes d’IA : recommandations pour respecter le RGPD. https://www.cnil.fr/fr/developpement-des-systemes-dia-les-recommandations-de-la-cnil-pour-respecter-le-rgpd</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[R20] CNIL. Développement des systèmes d’IA : recommandations pour respecter le RGPD. Consultées le 14 septembre 2026. https://www.cnil.fr/fr/developpement-des-systemes-dia-les-recommandations-de-la-cnil-pour-respecter-le-rgpd</a:t>
            </a:r>
          </a:p>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J3 | Séquence 3B | Diapositive 120 | Type ATELIER | Niveau Application | Support projection + notes]</a:t>
            </a:r>
          </a:p>
          <a:p/>
          <a:p>
            <a:r>
              <a:t>OBJECTIF OBSERVABLE</a:t>
            </a:r>
          </a:p>
          <a:p>
            <a:r>
              <a:t>Une décision lisible, sans écran de code. Le participant doit pouvoir expliquer ou réaliser les éléments suivants : Problème et données ; Protocole, comparaison et métrique ; Risques et recommandation.</a:t>
            </a:r>
          </a:p>
          <a:p/>
          <a:p>
            <a:r>
              <a:t>EXPLICATION ET ANIMATION</a:t>
            </a:r>
          </a:p>
          <a:p>
            <a:r>
              <a:t>La maquette fournie contient dix champs du dossier : problème, données, baseline, architecture, split, métrique, résultat, erreur principale, risque et recommandation. Le résultat doit être produit par le notebook. Une décision « conserver la référence » ou « poursuivre sous conditions » est parfaitement recevable.</a:t>
            </a:r>
          </a:p>
          <a:p/>
          <a:p>
            <a:r>
              <a:t>QUESTION À POSER</a:t>
            </a:r>
          </a:p>
          <a:p>
            <a:r>
              <a:t>Que supprimez-vous en priorité pour rendre la slide lisible ?</a:t>
            </a:r>
          </a:p>
          <a:p/>
          <a:p>
            <a:r>
              <a:t>RÉPONSE ATTENDUE ET CORRECTION</a:t>
            </a:r>
          </a:p>
          <a:p>
            <a:r>
              <a:t>Le code détaillé et les métriques qui ne contribuent pas à la décision.</a:t>
            </a:r>
          </a:p>
          <a:p/>
          <a:p>
            <a:r>
              <a:t>VÉRIFICATION</a:t>
            </a:r>
          </a:p>
          <a:p>
            <a:r>
              <a:t>Demander une reformulation avec un exemple ou une preuve issue du notebook. Ne pas accepter une réponse limitée au nom d’une bibliothèque. Ouvrir le notebook 10 ; conserver les résultats et le journal.</a:t>
            </a:r>
          </a:p>
          <a:p/>
          <a:p>
            <a:r>
              <a:t>REPÈRES DE SOURCE</a:t>
            </a:r>
          </a:p>
          <a:p>
            <a:r>
              <a:t>[R00] Dossier fourni par Martino Bettucci. Dossier de préparation pédagogique ultime, référence 4-024. Fichier Dossier_original_fourni.txt</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[R00] Dossier fourni par Martino Bettucci. Dossier de préparation pédagogique ultime, référence 4-024. 14 septembre 2026. Fichier Dossier_original_fourni.txt</a:t>
            </a:r>
          </a:p>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J3 | Séquence 3B | Diapositive 121 | Type ATELIER | Niveau Application | Support projection + notes]</a:t>
            </a:r>
          </a:p>
          <a:p/>
          <a:p>
            <a:r>
              <a:t>OBJECTIF OBSERVABLE</a:t>
            </a:r>
          </a:p>
          <a:p>
            <a:r>
              <a:t>La qualité de la démarche vaut plus que le score. Le participant doit pouvoir expliquer ou réaliser les éléments suivants : Problème, données et protocole : 45 points ; Baseline, architecture et métriques : 35 points ; Erreurs, limites et recommandation : 20 points.</a:t>
            </a:r>
          </a:p>
          <a:p/>
          <a:p>
            <a:r>
              <a:t>EXPLICATION ET ANIMATION</a:t>
            </a:r>
          </a:p>
          <a:p>
            <a:r>
              <a:t>Le barème détaillé reprend les huit critères du dossier : problème 15, split/prétraitement 15, baseline 10, architecture 10, protocole expérimental 15, métriques 15, erreurs 10, risques/limites/recommandation 10. Aucun point n’est attribué au seul classement des groupes. Le seuil proposé est 60/100, avec correction obligatoire des défauts bloquants.</a:t>
            </a:r>
          </a:p>
          <a:p/>
          <a:p>
            <a:r>
              <a:t>QUESTION À POSER</a:t>
            </a:r>
          </a:p>
          <a:p>
            <a:r>
              <a:t>Un groupe peut-il réussir si son réseau est moins bon ?</a:t>
            </a:r>
          </a:p>
          <a:p/>
          <a:p>
            <a:r>
              <a:t>RÉPONSE ATTENDUE ET CORRECTION</a:t>
            </a:r>
          </a:p>
          <a:p>
            <a:r>
              <a:t>Oui, avec une analyse correcte et une recommandation cohérente.</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[R00] Dossier fourni par Martino Bettucci. Dossier de préparation pédagogique ultime, référence 4-024. Fichier Dossier_original_fourni.txt</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[R00] Dossier fourni par Martino Bettucci. Dossier de préparation pédagogique ultime, référence 4-024. 14 septembre 2026. Fichier Dossier_original_fourni.txt</a:t>
            </a:r>
          </a:p>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J3 | Séquence 3B | Diapositive 122 | Type ATELIER | Niveau Application | Support projection + notes]</a:t>
            </a:r>
          </a:p>
          <a:p/>
          <a:p>
            <a:r>
              <a:t>OBJECTIF OBSERVABLE</a:t>
            </a:r>
          </a:p>
          <a:p>
            <a:r>
              <a:t>Dire ce que le résultat autorise, et ce qu’il n’autorise pas. Le participant doit pouvoir expliquer ou réaliser les éléments suivants : 3 minutes de présentation ; 2 minutes de questions ; Protocole, erreur principale et suite proposée.</a:t>
            </a:r>
          </a:p>
          <a:p/>
          <a:p>
            <a:r>
              <a:t>EXPLICATION ET ANIMATION</a:t>
            </a:r>
          </a:p>
          <a:p>
            <a:r>
              <a:t>La durée est adaptée au nombre d’équipes dans la plage prévue. Pour quatre groupes, trois minutes plus deux minutes de questions remplissent vingt minutes. Si le nombre diffère, ajuster la durée par groupe dans cette même enveloppe. Les questions vérifient la contribution individuelle et le raisonnement, pas la récitation.</a:t>
            </a:r>
          </a:p>
          <a:p/>
          <a:p>
            <a:r>
              <a:t>QUESTION À POSER</a:t>
            </a:r>
          </a:p>
          <a:p>
            <a:r>
              <a:t>Qu’est-ce qui pourrait remettre en cause votre recommandation ?</a:t>
            </a:r>
          </a:p>
          <a:p/>
          <a:p>
            <a:r>
              <a:t>RÉPONSE ATTENDUE ET CORRECTION</a:t>
            </a:r>
          </a:p>
          <a:p>
            <a:r>
              <a:t>Une limite réelle du protocole, des données ou de l’usage, accompagnée d’un test.</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[R00] Dossier fourni par Martino Bettucci. Dossier de préparation pédagogique ultime, référence 4-024. Fichier Dossier_original_fourni.txt</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[R00] Dossier fourni par Martino Bettucci. Dossier de préparation pédagogique ultime, référence 4-024. 14 septembre 2026. Fichier Dossier_original_fourni.txt</a:t>
            </a:r>
          </a:p>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J3 | Séquence 3B | Diapositive 123 | Type ATELIER | Niveau Application | Support projection + notes]</a:t>
            </a:r>
          </a:p>
          <a:p/>
          <a:p>
            <a:r>
              <a:t>OBJECTIF OBSERVABLE</a:t>
            </a:r>
          </a:p>
          <a:p>
            <a:r>
              <a:t>Dix questions, une réponse argumentée. Le participant doit pouvoir expliquer ou réaliser les éléments suivants : Sortie/perte et gradients ; Validation, seuil et classes rares ; CNN, LSTM et supervision.</a:t>
            </a:r>
          </a:p>
          <a:p/>
          <a:p>
            <a:r>
              <a:t>EXPLICATION ET ANIMATION</a:t>
            </a:r>
          </a:p>
          <a:p>
            <a:r>
              <a:t>Le document d’évaluation comporte une banque de vingt questions avec corrigés séparés ; le formateur en choisit dix pour dix minutes. Cette vérification ne remplace pas l’épreuve pratique. Une réponse juste par hasard est clarifiée oralement lorsque le raisonnement observé pendant les TP était fragile.</a:t>
            </a:r>
          </a:p>
          <a:p/>
          <a:p>
            <a:r>
              <a:t>QUESTION À POSER</a:t>
            </a:r>
          </a:p>
          <a:p>
            <a:r>
              <a:t>Quel ensemble sert à choisir le seuil ?</a:t>
            </a:r>
          </a:p>
          <a:p/>
          <a:p>
            <a:r>
              <a:t>RÉPONSE ATTENDUE ET CORRECTION</a:t>
            </a:r>
          </a:p>
          <a:p>
            <a:r>
              <a:t>La validation ou un ensemble de calibration dédié, pas le test.</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[R03] Équipe scikit-learn. Pièges courants et bonnes pratiques. https://scikit-learn.org/stable/common_pitfalls.html</a:t>
            </a:r>
          </a:p>
          <a:p>
            <a:r>
              <a:t>[R04] Équipe scikit-learn. Métriques et évaluation des modèles. https://scikit-learn.org/stable/modules/model_evaluation.html</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[R03] Équipe scikit-learn. Pièges courants et bonnes pratiques. Documentation consultée le 14 septembre 2026. https://scikit-learn.org/stable/common_pitfalls.html</a:t>
            </a:r>
          </a:p>
          <a:p>
            <a:r>
              <a:t>[R04] Équipe scikit-learn. Métriques et évaluation des modèles. Documentation consultée le 14 septembre 2026. https://scikit-learn.org/stable/modules/model_evaluation.html</a:t>
            </a:r>
          </a:p>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J3 | Séquence 3B | Diapositive 124 | Type ATELIER | Niveau Application | Support projection + notes]</a:t>
            </a:r>
          </a:p>
          <a:p/>
          <a:p>
            <a:r>
              <a:t>OBJECTIF OBSERVABLE</a:t>
            </a:r>
          </a:p>
          <a:p>
            <a:r>
              <a:t>Identifier au moins trois problèmes, en corriger deux. Le participant doit pouvoir expliquer ou réaliser les éléments suivants : Fuite de prétraitement ; Sortie/perte incohérentes ; Métrique seule, capacité et conclusion excessive.</a:t>
            </a:r>
          </a:p>
          <a:p/>
          <a:p>
            <a:r>
              <a:t>EXPLICATION ET ANIMATION</a:t>
            </a:r>
          </a:p>
          <a:p>
            <a:r>
              <a:t>L’épreuve dure vingt minutes et utilise une fiche de code indépendante. Le participant entoure les erreurs, propose deux corrections et explique une limite de la conclusion. La grille distingue repérage, correction et justification. Les défauts bloquants de fuite ou de données non autorisées doivent être corrigés, même si le total de points est suffisant.</a:t>
            </a:r>
          </a:p>
          <a:p/>
          <a:p>
            <a:r>
              <a:t>QUESTION À POSER</a:t>
            </a:r>
          </a:p>
          <a:p>
            <a:r>
              <a:t>Une correction syntaxique suffit-elle à valider l’exercice ?</a:t>
            </a:r>
          </a:p>
          <a:p/>
          <a:p>
            <a:r>
              <a:t>RÉPONSE ATTENDUE ET CORRECTION</a:t>
            </a:r>
          </a:p>
          <a:p>
            <a:r>
              <a:t>Non. Il faut expliquer l’effet sur l’évaluation ou la décision.</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[R00] Dossier fourni par Martino Bettucci. Dossier de préparation pédagogique ultime, référence 4-024. Fichier Dossier_original_fourni.txt</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[R00] Dossier fourni par Martino Bettucci. Dossier de préparation pédagogique ultime, référence 4-024. 14 septembre 2026. Fichier Dossier_original_fourni.txt</a:t>
            </a:r>
          </a:p>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J3 | Séquence 3B | Diapositive 125 | Type CONCEPT | Niveau Application | Support projection + notes]</a:t>
            </a:r>
          </a:p>
          <a:p/>
          <a:p>
            <a:r>
              <a:t>OBJECTIF OBSERVABLE</a:t>
            </a:r>
          </a:p>
          <a:p>
            <a:r>
              <a:t>Un prototype pédagogique ne vaut pas validation de production. Le participant doit pouvoir expliquer ou réaliser les éléments suivants : Finalité et responsabilités ; Tests indépendants et monitoring ; Conditions de supervision et d’arrêt.</a:t>
            </a:r>
          </a:p>
          <a:p/>
          <a:p>
            <a:r>
              <a:t>EXPLICATION ET ANIMATION</a:t>
            </a:r>
          </a:p>
          <a:p>
            <a:r>
              <a:t>La fiche de passage demande les données, les droits, la référence, la métrique, les sous-populations évaluées, le seuil, la supervision, les journaux et le plan de dérive. Elle peut justifier un refus de déploiement. Cette page est une ressource opérationnelle, non une conclusion rédigée au nom de l’intervenant.</a:t>
            </a:r>
          </a:p>
          <a:p/>
          <a:p>
            <a:r>
              <a:t>QUESTION À POSER</a:t>
            </a:r>
          </a:p>
          <a:p>
            <a:r>
              <a:t>Quel champ non renseigné empêcherait votre mise en service ?</a:t>
            </a:r>
          </a:p>
          <a:p/>
          <a:p>
            <a:r>
              <a:t>RÉPONSE ATTENDUE ET CORRECTION</a:t>
            </a:r>
          </a:p>
          <a:p>
            <a:r>
              <a:t>Tout élément indispensable à la finalité, à la sécurité ou à la responsabilité de la décision.</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[R20] CNIL. Développement des systèmes d’IA : recommandations pour respecter le RGPD. https://www.cnil.fr/fr/developpement-des-systemes-dia-les-recommandations-de-la-cnil-pour-respecter-le-rgpd</a:t>
            </a:r>
          </a:p>
          <a:p>
            <a:r>
              <a:t>[R21] Union européenne. Règlement (UE) 2024/1689 sur l’intelligence artificielle. https://eur-lex.europa.eu/eli/reg/2024/1689/oj/fra</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[R20] CNIL. Développement des systèmes d’IA : recommandations pour respecter le RGPD. Consultées le 14 septembre 2026. https://www.cnil.fr/fr/developpement-des-systemes-dia-les-recommandations-de-la-cnil-pour-respecter-le-rgpd</a:t>
            </a:r>
          </a:p>
          <a:p>
            <a:r>
              <a:t>[R21] Union européenne. Règlement (UE) 2024/1689 sur l’intelligence artificielle. 13 juin 2024, version applicable à vérifier au projet. https://eur-lex.europa.eu/eli/reg/2024/1689/oj/fra</a:t>
            </a:r>
          </a:p>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J3 | Séquence 3B | Diapositive 126 | Type CONCEPT | Niveau Application | Support projection + notes]</a:t>
            </a:r>
          </a:p>
          <a:p/>
          <a:p>
            <a:r>
              <a:t>OBJECTIF OBSERVABLE</a:t>
            </a:r>
          </a:p>
          <a:p>
            <a:r>
              <a:t>Notebooks, fiches et références restent réutilisables. Le participant doit pouvoir expliquer ou réaliser les éléments suivants : 11 notebooks apprenants + corrections ; Jeux de données locaux et résultats de référence ; Documentation officielle et sources des cas.</a:t>
            </a:r>
          </a:p>
          <a:p/>
          <a:p>
            <a:r>
              <a:t>EXPLICATION ET ANIMATION</a:t>
            </a:r>
          </a:p>
          <a:p>
            <a:r>
              <a:t>Présenter l’arborescence du kit et rappeler de transmettre uniquement le paquet apprenant aux participants. Les corrections et notes formateur sont séparées. La bibliographie distingue le dossier fourni, la documentation technique et les études de cas. Les schémas restent éditables dans PowerPoint et les scripts de génération sont fournis. La prise de parole finale personnelle reste à l’intervenant.</a:t>
            </a:r>
          </a:p>
          <a:p/>
          <a:p>
            <a:r>
              <a:t>QUESTION À POSER</a:t>
            </a:r>
          </a:p>
          <a:p>
            <a:r>
              <a:t>Où retrouver le protocole exact d’un résultat ?</a:t>
            </a:r>
          </a:p>
          <a:p/>
          <a:p>
            <a:r>
              <a:t>RÉPONSE ATTENDUE ET CORRECTION</a:t>
            </a:r>
          </a:p>
          <a:p>
            <a:r>
              <a:t>Dans le notebook exécuté, le journal, les indices et le rapport de qualité du kit.</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[R00] Dossier fourni par Martino Bettucci. Dossier de préparation pédagogique ultime, référence 4-024. Fichier Dossier_original_fourni.txt</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[R00] Dossier fourni par Martino Bettucci. Dossier de préparation pédagogique ultime, référence 4-024. 14 septembre 2026. Fichier Dossier_original_fourni.txt</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notesSlide" Target="../notesSlides/notesSlide4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2441"/>
        </a:solidFill>
        <a:effectLst/>
      </p:bgPr>
    </p:bg>
    <p:spTree>
      <p:nvGrpSpPr>
        <p:cNvPr id="1" name=""/>
        <p:cNvGrpSpPr/>
        <p:nvPr/>
      </p:nvGrpSpPr>
      <p:grpSpPr/>
      <p:sp>
        <p:nvSpPr>
          <p:cNvPr id="2" name="Rectangle 1"/>
          <p:cNvSpPr/>
          <p:nvPr/>
        </p:nvSpPr>
        <p:spPr>
          <a:xfrm>
            <a:off x="0" y="0"/>
            <a:ext cx="173736" cy="6858000"/>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8229600" cy="320040"/>
          </a:xfrm>
          <a:prstGeom prst="rect">
            <a:avLst/>
          </a:prstGeom>
          <a:noFill/>
        </p:spPr>
        <p:txBody>
          <a:bodyPr wrap="square" lIns="0" rIns="0" tIns="0" bIns="0">
            <a:spAutoFit/>
          </a:bodyPr>
          <a:lstStyle/>
          <a:p>
            <a:pPr>
              <a:lnSpc>
                <a:spcPct val="108000"/>
              </a:lnSpc>
              <a:spcBef>
                <a:spcPts val="0"/>
              </a:spcBef>
              <a:spcAft>
                <a:spcPts val="0"/>
              </a:spcAft>
              <a:defRPr sz="1100" b="1">
                <a:solidFill>
                  <a:srgbClr val="FFFFFF"/>
                </a:solidFill>
                <a:latin typeface="DejaVu Sans"/>
              </a:defRPr>
            </a:pPr>
            <a:r>
              <a:t>P2ENJOY  /  FORMATION PROFESSIONNELLE  /  RÉF. 4-024</a:t>
            </a:r>
          </a:p>
        </p:txBody>
      </p:sp>
      <p:sp>
        <p:nvSpPr>
          <p:cNvPr id="4" name="TextBox 3"/>
          <p:cNvSpPr txBox="1"/>
          <p:nvPr/>
        </p:nvSpPr>
        <p:spPr>
          <a:xfrm>
            <a:off x="548640" y="1024128"/>
            <a:ext cx="5943600" cy="1554480"/>
          </a:xfrm>
          <a:prstGeom prst="rect">
            <a:avLst/>
          </a:prstGeom>
          <a:noFill/>
        </p:spPr>
        <p:txBody>
          <a:bodyPr wrap="square" lIns="0" rIns="0" tIns="0" bIns="0">
            <a:spAutoFit/>
          </a:bodyPr>
          <a:lstStyle/>
          <a:p>
            <a:pPr>
              <a:lnSpc>
                <a:spcPct val="108000"/>
              </a:lnSpc>
              <a:spcBef>
                <a:spcPts val="0"/>
              </a:spcBef>
              <a:spcAft>
                <a:spcPts val="0"/>
              </a:spcAft>
              <a:defRPr sz="3900" b="1">
                <a:solidFill>
                  <a:srgbClr val="FFFFFF"/>
                </a:solidFill>
                <a:latin typeface="DejaVu Sans"/>
              </a:defRPr>
            </a:pPr>
            <a:r>
              <a:t>Du modèle à l’usage métier</a:t>
            </a:r>
          </a:p>
        </p:txBody>
      </p:sp>
      <p:sp>
        <p:nvSpPr>
          <p:cNvPr id="5" name="TextBox 4"/>
          <p:cNvSpPr txBox="1"/>
          <p:nvPr/>
        </p:nvSpPr>
        <p:spPr>
          <a:xfrm>
            <a:off x="566928" y="2779776"/>
            <a:ext cx="5303520" cy="786384"/>
          </a:xfrm>
          <a:prstGeom prst="rect">
            <a:avLst/>
          </a:prstGeom>
          <a:noFill/>
        </p:spPr>
        <p:txBody>
          <a:bodyPr wrap="square" lIns="0" rIns="0" tIns="0" bIns="0">
            <a:spAutoFit/>
          </a:bodyPr>
          <a:lstStyle/>
          <a:p>
            <a:pPr>
              <a:lnSpc>
                <a:spcPct val="108000"/>
              </a:lnSpc>
              <a:spcBef>
                <a:spcPts val="0"/>
              </a:spcBef>
              <a:spcAft>
                <a:spcPts val="0"/>
              </a:spcAft>
              <a:defRPr sz="2200" b="0">
                <a:solidFill>
                  <a:srgbClr val="FFFFFF"/>
                </a:solidFill>
                <a:latin typeface="DejaVu Sans"/>
              </a:defRPr>
            </a:pPr>
            <a:r>
              <a:t>Des preuves, des limites et une décision humaine.</a:t>
            </a:r>
          </a:p>
        </p:txBody>
      </p:sp>
      <p:sp>
        <p:nvSpPr>
          <p:cNvPr id="6" name="TextBox 5"/>
          <p:cNvSpPr txBox="1"/>
          <p:nvPr/>
        </p:nvSpPr>
        <p:spPr>
          <a:xfrm>
            <a:off x="585216" y="3877056"/>
            <a:ext cx="5303520" cy="384048"/>
          </a:xfrm>
          <a:prstGeom prst="rect">
            <a:avLst/>
          </a:prstGeom>
          <a:noFill/>
        </p:spPr>
        <p:txBody>
          <a:bodyPr wrap="square" lIns="0" rIns="0" tIns="0" bIns="0">
            <a:spAutoFit/>
          </a:bodyPr>
          <a:lstStyle/>
          <a:p>
            <a:pPr>
              <a:lnSpc>
                <a:spcPct val="108000"/>
              </a:lnSpc>
              <a:spcBef>
                <a:spcPts val="0"/>
              </a:spcBef>
              <a:spcAft>
                <a:spcPts val="0"/>
              </a:spcAft>
              <a:defRPr sz="1700" b="0">
                <a:solidFill>
                  <a:srgbClr val="FFFFFF"/>
                </a:solidFill>
                <a:latin typeface="DejaVu Sans"/>
              </a:defRPr>
            </a:pPr>
            <a:r>
              <a:t>Cas DGFiP, finance, santé et textes</a:t>
            </a:r>
          </a:p>
        </p:txBody>
      </p:sp>
      <p:sp>
        <p:nvSpPr>
          <p:cNvPr id="7" name="TextBox 6"/>
          <p:cNvSpPr txBox="1"/>
          <p:nvPr/>
        </p:nvSpPr>
        <p:spPr>
          <a:xfrm>
            <a:off x="585216" y="4306824"/>
            <a:ext cx="5303520" cy="384048"/>
          </a:xfrm>
          <a:prstGeom prst="rect">
            <a:avLst/>
          </a:prstGeom>
          <a:noFill/>
        </p:spPr>
        <p:txBody>
          <a:bodyPr wrap="square" lIns="0" rIns="0" tIns="0" bIns="0">
            <a:spAutoFit/>
          </a:bodyPr>
          <a:lstStyle/>
          <a:p>
            <a:pPr>
              <a:lnSpc>
                <a:spcPct val="108000"/>
              </a:lnSpc>
              <a:spcBef>
                <a:spcPts val="0"/>
              </a:spcBef>
              <a:spcAft>
                <a:spcPts val="0"/>
              </a:spcAft>
              <a:defRPr sz="1700" b="0">
                <a:solidFill>
                  <a:srgbClr val="FFFFFF"/>
                </a:solidFill>
                <a:latin typeface="DejaVu Sans"/>
              </a:defRPr>
            </a:pPr>
            <a:r>
              <a:t>Gouvernance dans le workflow</a:t>
            </a:r>
          </a:p>
        </p:txBody>
      </p:sp>
      <p:sp>
        <p:nvSpPr>
          <p:cNvPr id="8" name="TextBox 7"/>
          <p:cNvSpPr txBox="1"/>
          <p:nvPr/>
        </p:nvSpPr>
        <p:spPr>
          <a:xfrm>
            <a:off x="585216" y="4736592"/>
            <a:ext cx="5303520" cy="384048"/>
          </a:xfrm>
          <a:prstGeom prst="rect">
            <a:avLst/>
          </a:prstGeom>
          <a:noFill/>
        </p:spPr>
        <p:txBody>
          <a:bodyPr wrap="square" lIns="0" rIns="0" tIns="0" bIns="0">
            <a:spAutoFit/>
          </a:bodyPr>
          <a:lstStyle/>
          <a:p>
            <a:pPr>
              <a:lnSpc>
                <a:spcPct val="108000"/>
              </a:lnSpc>
              <a:spcBef>
                <a:spcPts val="0"/>
              </a:spcBef>
              <a:spcAft>
                <a:spcPts val="0"/>
              </a:spcAft>
              <a:defRPr sz="1700" b="0">
                <a:solidFill>
                  <a:srgbClr val="FFFFFF"/>
                </a:solidFill>
                <a:latin typeface="DejaVu Sans"/>
              </a:defRPr>
            </a:pPr>
            <a:r>
              <a:t>Projet final en équipe</a:t>
            </a:r>
          </a:p>
        </p:txBody>
      </p:sp>
      <p:sp>
        <p:nvSpPr>
          <p:cNvPr id="9" name="Rounded Rectangle 8"/>
          <p:cNvSpPr/>
          <p:nvPr/>
        </p:nvSpPr>
        <p:spPr>
          <a:xfrm>
            <a:off x="6080760" y="1572768"/>
            <a:ext cx="5650992" cy="3072384"/>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085_hero.png"/>
          <p:cNvPicPr>
            <a:picLocks noChangeAspect="1"/>
          </p:cNvPicPr>
          <p:nvPr/>
        </p:nvPicPr>
        <p:blipFill>
          <a:blip r:embed="rId2"/>
          <a:stretch>
            <a:fillRect/>
          </a:stretch>
        </p:blipFill>
        <p:spPr>
          <a:xfrm>
            <a:off x="6227064" y="1746504"/>
            <a:ext cx="5367528" cy="2688336"/>
          </a:xfrm>
          <a:prstGeom prst="rect">
            <a:avLst/>
          </a:prstGeom>
        </p:spPr>
      </p:pic>
      <p:pic>
        <p:nvPicPr>
          <p:cNvPr id="11" name="Picture 10" descr="detail_reseau_imagegen.png"/>
          <p:cNvPicPr>
            <a:picLocks noChangeAspect="1"/>
          </p:cNvPicPr>
          <p:nvPr/>
        </p:nvPicPr>
        <p:blipFill>
          <a:blip r:embed="rId3"/>
          <a:stretch>
            <a:fillRect/>
          </a:stretch>
        </p:blipFill>
        <p:spPr>
          <a:xfrm>
            <a:off x="9674352" y="374904"/>
            <a:ext cx="2039112" cy="813816"/>
          </a:xfrm>
          <a:prstGeom prst="rect">
            <a:avLst/>
          </a:prstGeom>
        </p:spPr>
      </p:pic>
      <p:sp>
        <p:nvSpPr>
          <p:cNvPr id="12" name="Rounded Rectangle 11"/>
          <p:cNvSpPr/>
          <p:nvPr/>
        </p:nvSpPr>
        <p:spPr>
          <a:xfrm>
            <a:off x="576072" y="5742432"/>
            <a:ext cx="11055096" cy="530352"/>
          </a:xfrm>
          <a:prstGeom prst="roundRect">
            <a:avLst>
              <a:gd name="adj" fmla="val 9000"/>
            </a:avLst>
          </a:prstGeom>
          <a:solidFill>
            <a:srgbClr val="213B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852160"/>
            <a:ext cx="10652760" cy="310896"/>
          </a:xfrm>
          <a:prstGeom prst="rect">
            <a:avLst/>
          </a:prstGeom>
          <a:noFill/>
        </p:spPr>
        <p:txBody>
          <a:bodyPr wrap="square" lIns="0" rIns="0" tIns="0" bIns="0">
            <a:spAutoFit/>
          </a:bodyPr>
          <a:lstStyle/>
          <a:p>
            <a:pPr>
              <a:lnSpc>
                <a:spcPct val="108000"/>
              </a:lnSpc>
              <a:spcBef>
                <a:spcPts val="0"/>
              </a:spcBef>
              <a:spcAft>
                <a:spcPts val="0"/>
              </a:spcAft>
              <a:defRPr sz="1500" b="0">
                <a:solidFill>
                  <a:srgbClr val="FFFFFF"/>
                </a:solidFill>
                <a:latin typeface="DejaVu Sans"/>
              </a:defRPr>
            </a:pPr>
            <a:r>
              <a:t>Qu’est-ce qui manque encore à un notebook correct ?</a:t>
            </a:r>
          </a:p>
        </p:txBody>
      </p:sp>
      <p:sp>
        <p:nvSpPr>
          <p:cNvPr id="14" name="TextBox 13"/>
          <p:cNvSpPr txBox="1"/>
          <p:nvPr/>
        </p:nvSpPr>
        <p:spPr>
          <a:xfrm>
            <a:off x="585216" y="6492240"/>
            <a:ext cx="7315200" cy="201168"/>
          </a:xfrm>
          <a:prstGeom prst="rect">
            <a:avLst/>
          </a:prstGeom>
          <a:noFill/>
        </p:spPr>
        <p:txBody>
          <a:bodyPr wrap="square" lIns="0" rIns="0" tIns="0" bIns="0">
            <a:spAutoFit/>
          </a:bodyPr>
          <a:lstStyle/>
          <a:p>
            <a:pPr>
              <a:lnSpc>
                <a:spcPct val="108000"/>
              </a:lnSpc>
              <a:spcBef>
                <a:spcPts val="0"/>
              </a:spcBef>
              <a:spcAft>
                <a:spcPts val="0"/>
              </a:spcAft>
              <a:defRPr sz="900" b="0">
                <a:solidFill>
                  <a:srgbClr val="FFFFFF"/>
                </a:solidFill>
                <a:latin typeface="DejaVu Sans"/>
              </a:defRPr>
            </a:pPr>
            <a:r>
              <a:t>https://p2enjoy.studio  •  DGFiP  •  Asnières-sur-Seine</a:t>
            </a:r>
          </a:p>
        </p:txBody>
      </p:sp>
      <p:sp>
        <p:nvSpPr>
          <p:cNvPr id="15" name="TextBox 14"/>
          <p:cNvSpPr txBox="1"/>
          <p:nvPr/>
        </p:nvSpPr>
        <p:spPr>
          <a:xfrm>
            <a:off x="10607040" y="6428232"/>
            <a:ext cx="996696" cy="292608"/>
          </a:xfrm>
          <a:prstGeom prst="rect">
            <a:avLst/>
          </a:prstGeom>
          <a:noFill/>
        </p:spPr>
        <p:txBody>
          <a:bodyPr wrap="square" lIns="0" rIns="0" tIns="0" bIns="0">
            <a:spAutoFit/>
          </a:bodyPr>
          <a:lstStyle/>
          <a:p>
            <a:pPr algn="r">
              <a:lnSpc>
                <a:spcPct val="108000"/>
              </a:lnSpc>
              <a:spcBef>
                <a:spcPts val="0"/>
              </a:spcBef>
              <a:spcAft>
                <a:spcPts val="0"/>
              </a:spcAft>
              <a:defRPr sz="1200" b="1">
                <a:solidFill>
                  <a:srgbClr val="FFFFFF"/>
                </a:solidFill>
                <a:latin typeface="DejaVu Sans"/>
              </a:defRPr>
            </a:pPr>
            <a:r>
              <a:t>JOUR 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3</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3A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F24141"/>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La grille commune des études de cas</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Ne jamais s’arrêter à « ils ont utilisé l’IA ».</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Problème, données et cible</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Modèle, métrique et résultat documenté</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Humain, erreurs et transposition</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86_casegrid.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 noter lorsqu’une architecture n’est pas documentée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F24141"/>
                </a:solidFill>
                <a:latin typeface="DejaVu Sans"/>
              </a:defRPr>
            </a:pPr>
            <a:r>
              <a:t>086 / 126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3</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3A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F24141"/>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Foncier Innovant : le fait documenté</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Vision aérienne et vérification par un agent.</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Images aériennes publiques de l’IGN</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Rapprochement cadastral et déclaratif</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Vérification manuelle des anomalies</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87_case_foncier.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À quelle étape le score devient-il une décision administrative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R16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F24141"/>
                </a:solidFill>
                <a:latin typeface="DejaVu Sans"/>
              </a:defRPr>
            </a:pPr>
            <a:r>
              <a:t>087 / 126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3</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3A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F24141"/>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Foncier Innovant : une chaîne de vérification</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Détecter un objet ne suffit pas à qualifier une situation.</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Image → objet candidat</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Objet → rapprochement de références</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Anomalie potentielle → revue humaine</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88_foncierflow.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Quelle erreur n’est pas nécessairement une erreur du réseau de vision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R16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F24141"/>
                </a:solidFill>
                <a:latin typeface="DejaVu Sans"/>
              </a:defRPr>
            </a:pPr>
            <a:r>
              <a:t>088 / 126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3</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3A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F24141"/>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Foncier : matérialiser les faux signaux</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Les vignettes sont entièrement fictives.</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Objet pertinent correctement signalé</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Objet ressemblant mais non pertinent</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Objet pertinent manqué</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89_aerial.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Un bassin visible suffit-il à conclure à une anomalie déclarative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R16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F24141"/>
                </a:solidFill>
                <a:latin typeface="DejaVu Sans"/>
              </a:defRPr>
            </a:pPr>
            <a:r>
              <a:t>089 / 126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3</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3A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F24141"/>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CFVR : cibler n’est pas conclure</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Le datamining alimente l’examen des dossiers.</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Dispositif développé à partir de 2014</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Architecture neuronale non documentée ici</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56 % : mobilisation de l’IA en 2024, pas précision</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90_case_cfvr.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Peut-on dire « le réseau CFVR est exact à 56 % »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R16, R17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F24141"/>
                </a:solidFill>
                <a:latin typeface="DejaVu Sans"/>
              </a:defRPr>
            </a:pPr>
            <a:r>
              <a:t>090 / 126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3</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3A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F24141"/>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Capacité de revue : regarder le haut de la liste</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Un classement sert un budget opérationnel.</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Capacité fictive : 50 dossiers par jour</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Précision parmi les 50 premiers</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Rappel et coût des cas manqués</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91_topk.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Quelle métrique relie directement le classement au travail quotidien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R04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F24141"/>
                </a:solidFill>
                <a:latin typeface="DejaVu Sans"/>
              </a:defRPr>
            </a:pPr>
            <a:r>
              <a:t>091 / 126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3</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3A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F24141"/>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Fraude en flux : les labels ne sont pas gratuits</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Une petite partie des transactions est expertisée.</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Fort déséquilibre</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Vérité terrain retardée</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Arbitrage exploration / exploitation</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92_stream.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Quel biais si l’on n’observe que les dossiers déjà bien classés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R19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F24141"/>
                </a:solidFill>
                <a:latin typeface="DejaVu Sans"/>
              </a:defRPr>
            </a:pPr>
            <a:r>
              <a:t>092 / 126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3</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3A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F24141"/>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Surveiller la dérive</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Une validation historique n’est pas éternelle.</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Les entrées changent</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La prévalence change</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La relation entre entrées et cible change</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93_drift.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Peut-on garantir la qualité actuelle sans labels récents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R19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F24141"/>
                </a:solidFill>
                <a:latin typeface="DejaVu Sans"/>
              </a:defRPr>
            </a:pPr>
            <a:r>
              <a:t>093 / 126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3</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3A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F24141"/>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OCT rétiniennes : une étude clinique</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Une performance publiée dans un protocole précis.</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De Fauw et coauteurs, 2018</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14 884 scans d’entraînement</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Recommandation d’orientation dans l’étude</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94_case_health.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Quelle généralisation le résultat n’autorise-t-il pas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R18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F24141"/>
                </a:solidFill>
                <a:latin typeface="DejaVu Sans"/>
              </a:defRPr>
            </a:pPr>
            <a:r>
              <a:t>094 / 126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3</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3A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F24141"/>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OCT : une représentation intermédiaire</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Décomposer peut aider la robustesse et la lecture.</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Volume OCT</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Segmentation des tissus</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Classification et orientation</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95_oct.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Pourquoi inspecter la segmentation plutôt que seulement le score final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R18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F24141"/>
                </a:solidFill>
                <a:latin typeface="DejaVu Sans"/>
              </a:defRPr>
            </a:pPr>
            <a:r>
              <a:t>095 / 126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3</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3A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F24141"/>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En santé, le coût des erreurs est asymétrique</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Même matrice, conséquences différentes.</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Urgence manquée</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Orientation urgente non nécessaire</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Qualité du signal et incertitude</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96_costmatrix.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Pourquoi l’accuracy seule ne choisit-elle pas une politique d’orientation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R18, R04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F24141"/>
                </a:solidFill>
                <a:latin typeface="DejaVu Sans"/>
              </a:defRPr>
            </a:pPr>
            <a:r>
              <a:t>096 / 126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3</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3A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F24141"/>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LlaMandement : routage et résumés</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Deux tâches distinctes sur des textes.</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Expérimentation autour du PLF 2024</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Près de 7 000 amendements traités</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Aide aux équipes, pas preuve d’exactitude absolue</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97_documents.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Une bonne classification garantit-elle un résumé fidèle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R16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F24141"/>
                </a:solidFill>
                <a:latin typeface="DejaVu Sans"/>
              </a:defRPr>
            </a:pPr>
            <a:r>
              <a:t>097 / 126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3</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3A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F24141"/>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Choisir une famille de modèles</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Partir des données et du niveau de preuve.</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Tableau : linéaire/arbres puis réseau</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Image : CNN et transfert</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Texte : référence lexicale puis représentation</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98_decisiontree.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Quand une solution plus simple est-elle préférable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R15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F24141"/>
                </a:solidFill>
                <a:latin typeface="DejaVu Sans"/>
              </a:defRPr>
            </a:pPr>
            <a:r>
              <a:t>098 / 126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3</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3A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F24141"/>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Transposer à plusieurs métiers</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Même cycle d’ingénierie, contraintes différentes.</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Maintenance : séries de capteurs</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Relation usager : routage de textes</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Logistique : volumes et prévisions</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99_sectors.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Quel cas est suffisamment limité pour un prototype de trois heures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F24141"/>
                </a:solidFill>
                <a:latin typeface="DejaVu Sans"/>
              </a:defRPr>
            </a:pPr>
            <a:r>
              <a:t>099 / 126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3</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3A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F24141"/>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La gouvernance commence avant les données</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Finalité, habilitations et périmètre autorisé.</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Données de synthèse dans les TP</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Sources et accès documentés</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Responsabilités identifiées</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100_governance.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Une donnée publique est-elle automatiquement non personnelle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R20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F24141"/>
                </a:solidFill>
                <a:latin typeface="DejaVu Sans"/>
              </a:defRPr>
            </a:pPr>
            <a:r>
              <a:t>100 / 126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3</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3A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F24141"/>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Définir une finalité exploitable</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 Faire de l’IA » n’est pas une finalité.</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Population et tâche</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Entrées nécessaires</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Usage autorisé de la sortie</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101_purpose.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Quelle variable retirer si elle ne sert pas la finalité annoncée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R20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F24141"/>
                </a:solidFill>
                <a:latin typeface="DejaVu Sans"/>
              </a:defRPr>
            </a:pPr>
            <a:r>
              <a:t>101 / 126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3</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3A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F24141"/>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Une supervision humaine doit être effective</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Un agent peut contester, vérifier et décider.</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Dossier source accessible</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Limites et incertitude visibles</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Possibilité réelle de ne pas suivre le score</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102_humanloop.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Qu’est-ce qui manque à une interface ne montrant que « risque élevé »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R20, R16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F24141"/>
                </a:solidFill>
                <a:latin typeface="DejaVu Sans"/>
              </a:defRPr>
            </a:pPr>
            <a:r>
              <a:t>102 / 126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3</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3A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F24141"/>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RGPD, règlement IA et transparence</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Qualifier le cas avant de l’autoriser.</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Données personnelles et risques</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Usage prévu et rôle de l’organisme</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Obligations à vérifier à la date du projet</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103_compliance.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Peut-on décider du niveau de risque uniquement parce que le système utilise un CNN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R20, R21, R22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F24141"/>
                </a:solidFill>
                <a:latin typeface="DejaVu Sans"/>
              </a:defRPr>
            </a:pPr>
            <a:r>
              <a:t>103 / 126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3</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3A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F24141"/>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Documenter données, modèle et système</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Trois fiches, trois niveaux de responsabilité.</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Données : origine, dates et labels</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Modèle : versions, métriques et limites</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Système : seuil, usage et supervision</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104_cards.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Pourquoi une fiche modèle ne suffit-elle pas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R20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F24141"/>
                </a:solidFill>
                <a:latin typeface="DejaVu Sans"/>
              </a:defRPr>
            </a:pPr>
            <a:r>
              <a:t>104 / 126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3</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3A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F24141"/>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Atelier de transposition et de risques</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Rendre un cas vérifiable avant de le coder.</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Une finalité limitée</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Trois erreurs possibles</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Un protocole et un contrôle humain</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105_casegrid.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Quelle est votre condition d’arrêt avant tout déploiement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F24141"/>
                </a:solidFill>
                <a:latin typeface="DejaVu Sans"/>
              </a:defRPr>
            </a:pPr>
            <a:r>
              <a:t>105 / 126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3</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3B  /  NOUVELLE SÉQUENCE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F24141"/>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Projet : du besoin au prototype défendable</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Un notebook propre et une slide de décision.</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Préparer les données</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Comparer et entraîner</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Évaluer, documenter et présenter</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106_section.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 livrez-vous si votre réseau ne dépasse pas la référence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F24141"/>
                </a:solidFill>
                <a:latin typeface="DejaVu Sans"/>
              </a:defRPr>
            </a:pPr>
            <a:r>
              <a:t>106 / 126</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3</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3B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F24141"/>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Quatre parcours, une même exigence</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La difficulté doit rester dans le raisonnement.</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Vision : chiffres manuscrits</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Priorisation : observations synthétiques</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Séquence ou documents : données préparées</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107_projecttracks.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Peut-on changer de parcours après avoir consulté le test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F24141"/>
                </a:solidFill>
                <a:latin typeface="DejaVu Sans"/>
              </a:defRPr>
            </a:pPr>
            <a:r>
              <a:t>107 / 126</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3</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3B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F24141"/>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Parcours vision</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Classifier sans surinterpréter.</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Digits 8 × 8</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MLP de référence et CNN</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Erreurs par classe et sauvegarde</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108_digits.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Quelle limite métier devez-vous écrire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R05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F24141"/>
                </a:solidFill>
                <a:latin typeface="DejaVu Sans"/>
              </a:defRPr>
            </a:pPr>
            <a:r>
              <a:t>108 / 126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3</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3B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F24141"/>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Parcours priorisation</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Concilier qualité et capacité de revue.</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Baseline logistique ou arbres</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MLP et métriques de classe rare</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Seuil ou top-k choisi sur validation</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109_topk.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Quel indicateur donne la charge opérationnelle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R04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F24141"/>
                </a:solidFill>
                <a:latin typeface="DejaVu Sans"/>
              </a:defRPr>
            </a:pPr>
            <a:r>
              <a:t>109 / 126</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3</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3B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F24141"/>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Parcours séquence</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Prévoir un pas et conserver le futur.</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Fenêtres chronologiques</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Persistance et LSTM</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MAE, RMSE et ruptures</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110_window.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Quel changement rendrait votre test non comparable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F24141"/>
                </a:solidFill>
                <a:latin typeface="DejaVu Sans"/>
              </a:defRPr>
            </a:pPr>
            <a:r>
              <a:t>110 / 126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3</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3B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F24141"/>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Parcours documents</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Routage simulé, sans données d’usagers.</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Textes artificiels et familles de modèles</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TF-IDF appris sur train</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Régression logistique et petit MLP</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111_documents.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Pourquoi séparer les familles de formulations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R03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F24141"/>
                </a:solidFill>
                <a:latin typeface="DejaVu Sans"/>
              </a:defRPr>
            </a:pPr>
            <a:r>
              <a:t>111 / 126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3</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3B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F24141"/>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Répartir les rôles, pas la responsabilité</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Chacun doit pouvoir expliquer le protocole.</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Données et séparation</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Modèle et expériences</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Évaluation et restitution</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112_roles.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Qui est responsable de repérer une fuite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F24141"/>
                </a:solidFill>
                <a:latin typeface="DejaVu Sans"/>
              </a:defRPr>
            </a:pPr>
            <a:r>
              <a:t>112 / 126</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3</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3B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F24141"/>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Jalon 1 : contrat de données</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Écrire les règles avant le premier entraînement.</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Entrées, cible et date</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Colonnes exclues</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Indices et protocole conservés</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113_dataset.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Quelle preuve permet au formateur de valider ce jalon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R03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F24141"/>
                </a:solidFill>
                <a:latin typeface="DejaVu Sans"/>
              </a:defRPr>
            </a:pPr>
            <a:r>
              <a:t>113 / 126</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3</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3B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F24141"/>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Jalon 2 : baseline et modèle</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Faire moins, mais comparer correctement.</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Une référence pertinente</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Une architecture expliquée</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Une même métrique principale</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114_baseline.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Une baseline volontairement faible est-elle acceptable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F24141"/>
                </a:solidFill>
                <a:latin typeface="DejaVu Sans"/>
              </a:defRPr>
            </a:pPr>
            <a:r>
              <a:t>114 / 126</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3</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3B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F24141"/>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Jalon 3 : métrique et règle de décision</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Définir ce qui est utile avant de l’optimiser.</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Métrique principale annoncée</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Métriques secondaires et effectifs</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Seuil ou top-k fixé sur validation</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115_metrics.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Quelle question métier votre métrique répond-elle exactement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R04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F24141"/>
                </a:solidFill>
                <a:latin typeface="DejaVu Sans"/>
              </a:defRPr>
            </a:pPr>
            <a:r>
              <a:t>115 / 126</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3</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3B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F24141"/>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Jalon 4 : expérience contrôlée</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Une amélioration doit être attribuable.</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Hypothèse écrite</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Changement limité</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Résultat de validation consigné</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116_journal.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Comment prouver que votre optimisation n’utilise pas le test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F24141"/>
                </a:solidFill>
                <a:latin typeface="DejaVu Sans"/>
              </a:defRPr>
            </a:pPr>
            <a:r>
              <a:t>116 / 126</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3</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3B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F24141"/>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Jalon 5 : ouvrir le test une fois</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Mesurer le choix retenu, pas chercher un nouveau gagnant.</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Configuration finale figée</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Évaluation réservée</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Aucun réglage après lecture</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117_testlock.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 faire si le test déçoit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R03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F24141"/>
                </a:solidFill>
                <a:latin typeface="DejaVu Sans"/>
              </a:defRPr>
            </a:pPr>
            <a:r>
              <a:t>117 / 126</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3</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3B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F24141"/>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Jalon 6 : analyser les échecs</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Une recommandation exige des limites.</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Trois erreurs représentatives</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Une cause plausible par erreur</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Un prochain test discriminant</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118_errors.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Quelle erreur serait la plus coûteuse dans l’usage envisagé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F24141"/>
                </a:solidFill>
                <a:latin typeface="DejaVu Sans"/>
              </a:defRPr>
            </a:pPr>
            <a:r>
              <a:t>118 / 126</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3</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3B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F24141"/>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Jalon 7 : fiche de modèle et d’usage</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Dire aussi ce qui n’a pas été évalué.</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Données et versions</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Performances, seuil et limites</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Utilisateur, supervision et arrêt</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119_cards.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Quelle formulation est préférable à une assurance non démontrée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R20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F24141"/>
                </a:solidFill>
                <a:latin typeface="DejaVu Sans"/>
              </a:defRPr>
            </a:pPr>
            <a:r>
              <a:t>119 / 126</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3</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3B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F24141"/>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La slide exécutive attendue</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Une décision lisible, sans écran de code.</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Problème et données</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Protocole, comparaison et métrique</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Risques et recommandation</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120_executive.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 supprimez-vous en priorité pour rendre la slide lisible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F24141"/>
                </a:solidFill>
                <a:latin typeface="DejaVu Sans"/>
              </a:defRPr>
            </a:pPr>
            <a:r>
              <a:t>120 / 126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3</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3B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F24141"/>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La grille de notation</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La qualité de la démarche vaut plus que le score.</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Problème, données et protocole : 45 points</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Baseline, architecture et métriques : 35 points</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Erreurs, limites et recommandation : 20 points</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121_rubric.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Un groupe peut-il réussir si son réseau est moins bon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F24141"/>
                </a:solidFill>
                <a:latin typeface="DejaVu Sans"/>
              </a:defRPr>
            </a:pPr>
            <a:r>
              <a:t>121 / 126</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3</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3B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F24141"/>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Soutenance : défendre une décision</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Dire ce que le résultat autorise, et ce qu’il n’autorise pas.</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3 minutes de présentation</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2 minutes de questions</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Protocole, erreur principale et suite proposée</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122_defense.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Qu’est-ce qui pourrait remettre en cause votre recommandation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F24141"/>
                </a:solidFill>
                <a:latin typeface="DejaVu Sans"/>
              </a:defRPr>
            </a:pPr>
            <a:r>
              <a:t>122 / 126</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3</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3B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F24141"/>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QCM final : vérifier le langage commun</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Dix questions, une réponse argumentée.</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Sortie/perte et gradients</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Validation, seuil et classes rares</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CNN, LSTM et supervision</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123_quiz.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Quel ensemble sert à choisir le seuil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R03, R04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F24141"/>
                </a:solidFill>
                <a:latin typeface="DejaVu Sans"/>
              </a:defRPr>
            </a:pPr>
            <a:r>
              <a:t>123 / 126</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3</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3B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F24141"/>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Épreuve individuelle : cinq défauts</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Identifier au moins trois problèmes, en corriger deux.</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Fuite de prétraitement</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Sortie/perte incohérentes</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Métrique seule, capacité et conclusion excessive</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124_incident.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Une correction syntaxique suffit-elle à valider l’exercice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F24141"/>
                </a:solidFill>
                <a:latin typeface="DejaVu Sans"/>
              </a:defRPr>
            </a:pPr>
            <a:r>
              <a:t>124 / 126</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3</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3B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F24141"/>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Avant un usage réel : la fiche de passage</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Un prototype pédagogique ne vaut pas validation de production.</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Finalité et responsabilités</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Tests indépendants et monitoring</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Conditions de supervision et d’arrêt</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125_deployment.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Quel champ non renseigné empêcherait votre mise en service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R20, R21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F24141"/>
                </a:solidFill>
                <a:latin typeface="DejaVu Sans"/>
              </a:defRPr>
            </a:pPr>
            <a:r>
              <a:t>125 / 126</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3</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3B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F24141"/>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Ressources pour poursuivre les essais</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Notebooks, fiches et références restent réutilisables.</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11 notebooks apprenants + corrections</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Jeux de données locaux et résultats de référence</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F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Documentation officielle et sources des cas</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126_resources.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Où retrouver le protocole exact d’un résultat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F24141"/>
                </a:solidFill>
                <a:latin typeface="DejaVu Sans"/>
              </a:defRPr>
            </a:pPr>
            <a:r>
              <a:t>126 / 126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Intelligence artificielle : Deep Learning par la pratique</dc:title>
  <dc:subject>Formation 4-024, DGFiP, 21 au 23 septembre 2026</dc:subject>
  <dc:creator>Martino Bettucci | P2Enjoy</dc:creator>
  <cp:keywords>Deep Learning, 4-024, DGFiP, formation</cp:keywords>
  <dc:description>generated using python-pptx</dc:description>
  <cp:lastModifiedBy>Steve Canny</cp:lastModifiedBy>
  <cp:revision>1</cp:revision>
  <dcterms:created xsi:type="dcterms:W3CDTF">2013-01-27T09:14:16Z</dcterms:created>
  <dcterms:modified xsi:type="dcterms:W3CDTF">2013-01-27T09:15:58Z</dcterms:modified>
  <cp:category/>
  <dc:language>fr-FR</dc:language>
</cp:coreProperties>
</file>