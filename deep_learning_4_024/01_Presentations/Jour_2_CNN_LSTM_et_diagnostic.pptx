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043 | Type REPÈRE | Niveau Application | Support projection + notes]</a:t>
            </a:r>
          </a:p>
          <a:p/>
          <a:p>
            <a:r>
              <a:t>OBJECTIF OBSERVABLE</a:t>
            </a:r>
          </a:p>
          <a:p>
            <a:r>
              <a:t>Vision, séquences et apprentissage sous contrôle. Le participant doit pouvoir expliquer ou réaliser les éléments suivants : CNN : structure spatiale ; RNN/LSTM : ordre temporel ; Optimisation : hypothèses vérifiables.</a:t>
            </a:r>
          </a:p>
          <a:p/>
          <a:p>
            <a:r>
              <a:t>EXPLICATION ET ANIMATION</a:t>
            </a:r>
          </a:p>
          <a:p>
            <a:r>
              <a:t>Le deuxième jour ne cherche pas à empiler des architectures. Il montre que la structure des données suggère des biais inductifs différents. Les images conservent un voisinage ; les séquences ont un ordre ; le diagnostic relie courbes et erreurs à des hypothèses de correction. Les modèles restent volontairement petits pour que tous les groupes puissent expérimenter sur CPU.</a:t>
            </a:r>
          </a:p>
          <a:p/>
          <a:p>
            <a:r>
              <a:t>QUESTION À POSER</a:t>
            </a:r>
          </a:p>
          <a:p>
            <a:r>
              <a:t>Quelle règle du jour 1 reste non négociable ?</a:t>
            </a:r>
          </a:p>
          <a:p/>
          <a:p>
            <a:r>
              <a:t>RÉPONSE ATTENDUE ET CORRECTION</a:t>
            </a:r>
          </a:p>
          <a:p>
            <a:r>
              <a:t>Préserver un protocole indépendant et comparer à une référence.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044 | Type ATELIER | Niveau Application | Support projection + notes]</a:t>
            </a:r>
          </a:p>
          <a:p/>
          <a:p>
            <a:r>
              <a:t>OBJECTIF OBSERVABLE</a:t>
            </a:r>
          </a:p>
          <a:p>
            <a:r>
              <a:t>Retrouver les invariants avant les nouveautés. Le participant doit pouvoir expliquer ou réaliser les éléments suivants : Pourquoi une validation ? ; Pourquoi une non-linéarité ? ; Pourquoi une baseline ?.</a:t>
            </a:r>
          </a:p>
          <a:p/>
          <a:p>
            <a:r>
              <a:t>EXPLICATION ET ANIMATION</a:t>
            </a:r>
          </a:p>
          <a:p>
            <a:r>
              <a:t>Un binôme pose une question, l’autre répond avec un exemple de son notebook. Alterner ensuite les rôles. Le formateur corrige immédiatement les confusions score/décision, train/test et paramètres/hyperparamètres. Utiliser cette réactivation pour repérer les personnes qui ont seulement exécuté des cellules sans pouvoir expliquer leur fonction.</a:t>
            </a:r>
          </a:p>
          <a:p/>
          <a:p>
            <a:r>
              <a:t>QUESTION À POSER</a:t>
            </a:r>
          </a:p>
          <a:p>
            <a:r>
              <a:t>Quel risque si vous changez le split à chaque essai ?</a:t>
            </a:r>
          </a:p>
          <a:p/>
          <a:p>
            <a:r>
              <a:t>RÉPONSE ATTENDUE ET CORRECTION</a:t>
            </a:r>
          </a:p>
          <a:p>
            <a:r>
              <a:t>Les résultats ne sont plus comparables et le choix peut favoriser un hasard.</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045 | Type CONCEPT | Niveau Application | Support projection + notes]</a:t>
            </a:r>
          </a:p>
          <a:p/>
          <a:p>
            <a:r>
              <a:t>OBJECTIF OBSERVABLE</a:t>
            </a:r>
          </a:p>
          <a:p>
            <a:r>
              <a:t>Choisir le mécanisme adapté à la donnée. Le participant doit pouvoir expliquer ou réaliser les éléments suivants : MLP : variables numériques ; CNN : voisinage spatial ; LSTM : état récurrent dans le temps.</a:t>
            </a:r>
          </a:p>
          <a:p/>
          <a:p>
            <a:r>
              <a:t>EXPLICATION ET ANIMATION</a:t>
            </a:r>
          </a:p>
          <a:p>
            <a:r>
              <a:t>La présentation illustre des choix de départ, pas une correspondance obligatoire entre métier et réseau. Un MLP peut traiter des pixels, mais il n’exploite pas explicitement la localité comme une convolution. Un LSTM peut traiter une séquence, mais une prévision naïve ou un modèle statistique peut être préférable. Le besoin pilote le benchmark.</a:t>
            </a:r>
          </a:p>
          <a:p/>
          <a:p>
            <a:r>
              <a:t>QUESTION À POSER</a:t>
            </a:r>
          </a:p>
          <a:p>
            <a:r>
              <a:t>LSTM est-il synonyme de meilleur modèle temporel ?</a:t>
            </a:r>
          </a:p>
          <a:p/>
          <a:p>
            <a:r>
              <a:t>RÉPONSE ATTENDUE ET CORRECTION</a:t>
            </a:r>
          </a:p>
          <a:p>
            <a:r>
              <a:t>Non. Il faut comparer selon la tâche, le volume et le protocole.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046 | Type CONCEPT | Niveau Application | Support projection + notes]</a:t>
            </a:r>
          </a:p>
          <a:p/>
          <a:p>
            <a:r>
              <a:t>OBJECTIF OBSERVABLE</a:t>
            </a:r>
          </a:p>
          <a:p>
            <a:r>
              <a:t>Le CNN réutilise un même filtre local. Le participant doit pouvoir expliquer ou réaliser les éléments suivants : MLP : pixels transformés en vecteur ; CNN : filtres partagés ; Hiérarchie de représentations.</a:t>
            </a:r>
          </a:p>
          <a:p/>
          <a:p>
            <a:r>
              <a:t>EXPLICATION ET ANIMATION</a:t>
            </a:r>
          </a:p>
          <a:p>
            <a:r>
              <a:t>Les poids partagés d’une convolution appliquent le même détecteur appris à plusieurs positions. Cela n’implique pas une invariance absolue à toute transformation de l’image. Le déplacement, l’échelle ou la rotation peuvent encore affecter les performances. Le TP compare un modèle dense et un CNN sur les mêmes données.</a:t>
            </a:r>
          </a:p>
          <a:p/>
          <a:p>
            <a:r>
              <a:t>QUESTION À POSER</a:t>
            </a:r>
          </a:p>
          <a:p>
            <a:r>
              <a:t>Que perd explicitement le passage immédiat à Flatten ?</a:t>
            </a:r>
          </a:p>
          <a:p/>
          <a:p>
            <a:r>
              <a:t>RÉPONSE ATTENDUE ET CORRECTION</a:t>
            </a:r>
          </a:p>
          <a:p>
            <a:r>
              <a:t>La représentation de la structure spatiale dans le choix des connexions.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[R08] Krizhevsky, Sutskever et Hinton. ImageNet Classification with Deep Convolutional Neural Networks. https://proceedings.neurips.cc/paper/2012/hash/c399862d3b9d6b76c8436e924a68c45b-Abstract.html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[R08] Krizhevsky, Sutskever et Hinton. ImageNet Classification with Deep Convolutional Neural Networks. 2012. https://proceedings.neurips.cc/paper/2012/hash/c399862d3b9d6b76c8436e924a68c45b-Abstract.html</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047 | Type CONCEPT | Niveau Application | Support projection + notes]</a:t>
            </a:r>
          </a:p>
          <a:p/>
          <a:p>
            <a:r>
              <a:t>OBJECTIF OBSERVABLE</a:t>
            </a:r>
          </a:p>
          <a:p>
            <a:r>
              <a:t>Dans notre TP : 8 × 8 pixels, un canal. Le participant doit pouvoir expliquer ou réaliser les éléments suivants : 1 797 images de chiffres manuscrits ; 10 classes, de 0 à 9 ; Données locales fournies avec le kit.</a:t>
            </a:r>
          </a:p>
          <a:p/>
          <a:p>
            <a:r>
              <a:t>EXPLICATION ET ANIMATION</a:t>
            </a:r>
          </a:p>
          <a:p>
            <a:r>
              <a:t>Le dataset digits de scikit-learn fournit des images de 8 × 8 pixels. Ce choix est une adaptation opérationnelle au dossier, qui proposait un dataset d’images sans en imposer un. Il réduit le calcul et évite un téléchargement pendant la formation. Une réussite sur ces petites images ne démontre aucune compétence de vision aérienne ou de diagnostic médical.</a:t>
            </a:r>
          </a:p>
          <a:p/>
          <a:p>
            <a:r>
              <a:t>QUESTION À POSER</a:t>
            </a:r>
          </a:p>
          <a:p>
            <a:r>
              <a:t>Peut-on transposer directement son score aux photographies aériennes ?</a:t>
            </a:r>
          </a:p>
          <a:p/>
          <a:p>
            <a:r>
              <a:t>RÉPONSE ATTENDUE ET CORRECTION</a:t>
            </a:r>
          </a:p>
          <a:p>
            <a:r>
              <a:t>Non. Les données, les objets, la résolution et le contexte sont différents.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048 | Type CONCEPT | Niveau Application | Support projection + notes]</a:t>
            </a:r>
          </a:p>
          <a:p/>
          <a:p>
            <a:r>
              <a:t>OBJECTIF OBSERVABLE</a:t>
            </a:r>
          </a:p>
          <a:p>
            <a:r>
              <a:t>Multiplier localement, puis additionner. Le participant doit pouvoir expliquer ou réaliser les éléments suivants : Fenêtre 3 × 3 ; Filtre appris 3 × 3 ; Une valeur dans la carte de caractéristiques.</a:t>
            </a:r>
          </a:p>
          <a:p/>
          <a:p>
            <a:r>
              <a:t>EXPLICATION ET ANIMATION</a:t>
            </a:r>
          </a:p>
          <a:p>
            <a:r>
              <a:t>Faire multiplier les valeurs de la fenêtre et du filtre, puis additionner. Le filtre est appris pendant l’entraînement ; le petit filtre dessiné ici sert uniquement à illustrer l’opération. En pratique, les bibliothèques effectuent une corrélation croisée usuellement appelée convolution dans le contexte des CNN. Cette précision appartient aux notes, pas à une interruption du fil pédagogique.</a:t>
            </a:r>
          </a:p>
          <a:p/>
          <a:p>
            <a:r>
              <a:t>QUESTION À POSER</a:t>
            </a:r>
          </a:p>
          <a:p>
            <a:r>
              <a:t>Quel élément est appris ?</a:t>
            </a:r>
          </a:p>
          <a:p/>
          <a:p>
            <a:r>
              <a:t>RÉPONSE ATTENDUE ET CORRECTION</a:t>
            </a:r>
          </a:p>
          <a:p>
            <a:r>
              <a:t>Les coefficients du filtre et, selon la couche, son biais.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049 | Type CONCEPT | Niveau Application | Support projection + notes]</a:t>
            </a:r>
          </a:p>
          <a:p/>
          <a:p>
            <a:r>
              <a:t>OBJECTIF OBSERVABLE</a:t>
            </a:r>
          </a:p>
          <a:p>
            <a:r>
              <a:t>Suivre les dimensions à chaque couche. Le participant doit pouvoir expliquer ou réaliser les éléments suivants : Pas : déplacement du filtre ; Remplissage : bord ajouté ; Taille : dépend de l’entrée et du filtre.</a:t>
            </a:r>
          </a:p>
          <a:p/>
          <a:p>
            <a:r>
              <a:t>EXPLICATION ET ANIMATION</a:t>
            </a:r>
          </a:p>
          <a:p>
            <a:r>
              <a:t>Pour une dimension sans dilatation, sortie = partie entière((entrée + 2 × remplissage - taille du filtre) / pas) + 1. Exemple : entrée 8, filtre 3, remplissage 1, pas 1 donne 8. Avec le même filtre et un pas de 2, on obtient 4. Vérifier les dimensions dans le notebook plutôt que mémoriser sans comprendre.</a:t>
            </a:r>
          </a:p>
          <a:p/>
          <a:p>
            <a:r>
              <a:t>QUESTION À POSER</a:t>
            </a:r>
          </a:p>
          <a:p>
            <a:r>
              <a:t>Que produit 8, filtre 3, remplissage 1, pas 1 ?</a:t>
            </a:r>
          </a:p>
          <a:p/>
          <a:p>
            <a:r>
              <a:t>RÉPONSE ATTENDUE ET CORRECTION</a:t>
            </a:r>
          </a:p>
          <a:p>
            <a:r>
              <a:t>Une dimension spatiale de 8.</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050 | Type CONCEPT | Niveau Application | Support projection + notes]</a:t>
            </a:r>
          </a:p>
          <a:p/>
          <a:p>
            <a:r>
              <a:t>OBJECTIF OBSERVABLE</a:t>
            </a:r>
          </a:p>
          <a:p>
            <a:r>
              <a:t>Un filtre est réutilisé, pas recopié. Le participant doit pouvoir expliquer ou réaliser les éléments suivants : Conv 3 × 3, 1 → 8 canaux ; Poids : 3 × 3 × 1 × 8 ; Biais : 8, soit 80 paramètres.</a:t>
            </a:r>
          </a:p>
          <a:p/>
          <a:p>
            <a:r>
              <a:t>EXPLICATION ET ANIMATION</a:t>
            </a:r>
          </a:p>
          <a:p>
            <a:r>
              <a:t>Comparer avec une couche dense de 64 entrées vers 32 unités : 64 × 32 + 32 = 2 080 paramètres. Les deux transformations ne produisent pas la même structure de sortie ; la comparaison illustre le mécanisme du partage, pas une preuve universelle de supériorité. Le compteur du notebook permet de vérifier le modèle complet.</a:t>
            </a:r>
          </a:p>
          <a:p/>
          <a:p>
            <a:r>
              <a:t>QUESTION À POSER</a:t>
            </a:r>
          </a:p>
          <a:p>
            <a:r>
              <a:t>Pourquoi la convolution conserve-t-elle peu de poids à grande résolution ?</a:t>
            </a:r>
          </a:p>
          <a:p/>
          <a:p>
            <a:r>
              <a:t>RÉPONSE ATTENDUE ET CORRECTION</a:t>
            </a:r>
          </a:p>
          <a:p>
            <a:r>
              <a:t>Le même ensemble de coefficients est appliqué à toutes les positions.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051 | Type CONCEPT | Niveau Application | Support projection + notes]</a:t>
            </a:r>
          </a:p>
          <a:p/>
          <a:p>
            <a:r>
              <a:t>OBJECTIF OBSERVABLE</a:t>
            </a:r>
          </a:p>
          <a:p>
            <a:r>
              <a:t>Le pooling résume un voisinage. Le participant doit pouvoir expliquer ou réaliser les éléments suivants : Max-pooling : maximum local ; 2 × 2 avec pas 2 ; 8 × 8 devient 4 × 4.</a:t>
            </a:r>
          </a:p>
          <a:p/>
          <a:p>
            <a:r>
              <a:t>EXPLICATION ET ANIMATION</a:t>
            </a:r>
          </a:p>
          <a:p>
            <a:r>
              <a:t>Le pooling réduit la taille spatiale. Il peut rendre certaines petites variations moins importantes mais ne garantit pas une invariance générale. Il ne possède pas les mêmes paramètres appris qu’une convolution. Sur de petites images, réduire trop vite la résolution peut détruire l’information nécessaire pour distinguer les chiffres.</a:t>
            </a:r>
          </a:p>
          <a:p/>
          <a:p>
            <a:r>
              <a:t>QUESTION À POSER</a:t>
            </a:r>
          </a:p>
          <a:p>
            <a:r>
              <a:t>Peut-on empiler dix poolings sur une image 8 × 8 ?</a:t>
            </a:r>
          </a:p>
          <a:p/>
          <a:p>
            <a:r>
              <a:t>RÉPONSE ATTENDUE ET CORRECTION</a:t>
            </a:r>
          </a:p>
          <a:p>
            <a:r>
              <a:t>Non. La résolution devient rapidement insuffisante.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052 | Type CONCEPT | Niveau Application | Support projection + notes]</a:t>
            </a:r>
          </a:p>
          <a:p/>
          <a:p>
            <a:r>
              <a:t>OBJECTIF OBSERVABLE</a:t>
            </a:r>
          </a:p>
          <a:p>
            <a:r>
              <a:t>Une caractéristique résume un voisinage élargi. Le participant doit pouvoir expliquer ou réaliser les éléments suivants : Première couche : motif local ; Couches suivantes : combinaisons ; La profondeur seule ne suffit pas.</a:t>
            </a:r>
          </a:p>
          <a:p/>
          <a:p>
            <a:r>
              <a:t>EXPLICATION ET ANIMATION</a:t>
            </a:r>
          </a:p>
          <a:p>
            <a:r>
              <a:t>Montrer deux convolutions 3 × 3 avec pas 1 : sans autre opération, un point de la seconde carte dépend d’une zone théorique 5 × 5 de l’entrée. Ce champ réceptif théorique n’indique pas que tous les pixels contribuent effectivement de la même manière. Les connexions et les paramètres appris déterminent l’usage de l’information.</a:t>
            </a:r>
          </a:p>
          <a:p/>
          <a:p>
            <a:r>
              <a:t>QUESTION À POSER</a:t>
            </a:r>
          </a:p>
          <a:p>
            <a:r>
              <a:t>Deux filtres 3 × 3 successifs regardent-ils seulement 3 × 3 pixels ?</a:t>
            </a:r>
          </a:p>
          <a:p/>
          <a:p>
            <a:r>
              <a:t>RÉPONSE ATTENDUE ET CORRECTION</a:t>
            </a:r>
          </a:p>
          <a:p>
            <a:r>
              <a:t>Non : le champ théorique s’étend à 5 × 5 dans ce cas.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053 | Type CONCEPT | Niveau Application | Support projection + notes]</a:t>
            </a:r>
          </a:p>
          <a:p/>
          <a:p>
            <a:r>
              <a:t>OBJECTIF OBSERVABLE</a:t>
            </a:r>
          </a:p>
          <a:p>
            <a:r>
              <a:t>Petit, lisible et entraînable sur CPU. Le participant doit pouvoir expliquer ou réaliser les éléments suivants : Conv 1→8 • ReLU • Pool ; Conv 8→16 • ReLU • Pool ; 64 valeurs → 10 logits.</a:t>
            </a:r>
          </a:p>
          <a:p/>
          <a:p>
            <a:r>
              <a:t>EXPLICATION ET ANIMATION</a:t>
            </a:r>
          </a:p>
          <a:p>
            <a:r>
              <a:t>L’entrée N × 1 × 8 × 8 devient N × 8 × 4 × 4 après le premier bloc et N × 16 × 2 × 2 après le second. L’aplatissement donne 64 valeurs. Une couche linéaire produit dix logits. CrossEntropyLoss reçoit ces logits et des étiquettes entières entre zéro et neuf. Les dimensions intermédiaires sont vérifiées.</a:t>
            </a:r>
          </a:p>
          <a:p/>
          <a:p>
            <a:r>
              <a:t>QUESTION À POSER</a:t>
            </a:r>
          </a:p>
          <a:p>
            <a:r>
              <a:t>Quelle est la taille du vecteur avant la dernière couche ?</a:t>
            </a:r>
          </a:p>
          <a:p/>
          <a:p>
            <a:r>
              <a:t>RÉPONSE ATTENDUE ET CORRECTION</a:t>
            </a:r>
          </a:p>
          <a:p>
            <a:r>
              <a:t>16 × 2 × 2 = 64.</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054 | Type ATELIER | Niveau Application | Support projection + notes]</a:t>
            </a:r>
          </a:p>
          <a:p/>
          <a:p>
            <a:r>
              <a:t>OBJECTIF OBSERVABLE</a:t>
            </a:r>
          </a:p>
          <a:p>
            <a:r>
              <a:t>Conserver les images, les indices et les métriques. Le participant doit pouvoir expliquer ou réaliser les éléments suivants : Référence dense ; CNN minimal ; Courbes et matrice de confusion.</a:t>
            </a:r>
          </a:p>
          <a:p/>
          <a:p>
            <a:r>
              <a:t>EXPLICATION ET ANIMATION</a:t>
            </a:r>
          </a:p>
          <a:p>
            <a:r>
              <a:t>Exécuter les deux modèles avec les mêmes indices. La première comparaison se fait sur validation. Les décisions suivantes sont journalisées avant le test. Le notebook sauvegarde l’état du CNN et une galerie des erreurs. Le formateur rappelle qu’un petit gain numérique ne devient pas significatif sans tenir compte de la variabilité.</a:t>
            </a:r>
          </a:p>
          <a:p/>
          <a:p>
            <a:r>
              <a:t>QUESTION À POSER</a:t>
            </a:r>
          </a:p>
          <a:p>
            <a:r>
              <a:t>Le CNN doit-il forcément battre le MLP ici ?</a:t>
            </a:r>
          </a:p>
          <a:p/>
          <a:p>
            <a:r>
              <a:t>RÉPONSE ATTENDUE ET CORRECTION</a:t>
            </a:r>
          </a:p>
          <a:p>
            <a:r>
              <a:t>Non. La réussite du TP est la comparaison correcte et son explication.</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[R02] Équipe PyTorch. Tutoriel de démarrage. https://docs.pytorch.org/tutorials/beginner/basics/quickstart_tutorial.html</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055 | Type ATELIER | Niveau Application | Support projection + notes]</a:t>
            </a:r>
          </a:p>
          <a:p/>
          <a:p>
            <a:r>
              <a:t>OBJECTIF OBSERVABLE</a:t>
            </a:r>
          </a:p>
          <a:p>
            <a:r>
              <a:t>Le score moyen ne dit pas où agir. Le participant doit pouvoir expliquer ou réaliser les éléments suivants : Classe vraie et classe prédite ; Score de confiance ; Ambiguïté, bruit ou étiquette discutable.</a:t>
            </a:r>
          </a:p>
          <a:p/>
          <a:p>
            <a:r>
              <a:t>EXPLICATION ET ANIMATION</a:t>
            </a:r>
          </a:p>
          <a:p>
            <a:r>
              <a:t>Afficher les erreurs effectivement produites. Certains chiffres sont difficiles à lire même pour les participants. Une image ambiguë n’est pas automatiquement une mauvaise étiquette. Classer les erreurs selon des hypothèses, puis proposer un test permettant de départager les causes. Une galerie choisie uniquement pour impressionner biaise l’analyse.</a:t>
            </a:r>
          </a:p>
          <a:p/>
          <a:p>
            <a:r>
              <a:t>QUESTION À POSER</a:t>
            </a:r>
          </a:p>
          <a:p>
            <a:r>
              <a:t>Quelle action suit une erreur surconfiante ?</a:t>
            </a:r>
          </a:p>
          <a:p/>
          <a:p>
            <a:r>
              <a:t>RÉPONSE ATTENDUE ET CORRECTION</a:t>
            </a:r>
          </a:p>
          <a:p>
            <a:r>
              <a:t>Chercher sa cause, tester les distributions et la calibration, sans corriger au hasard.</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056 | Type CONCEPT | Niveau Application | Support projection + notes]</a:t>
            </a:r>
          </a:p>
          <a:p/>
          <a:p>
            <a:r>
              <a:t>OBJECTIF OBSERVABLE</a:t>
            </a:r>
          </a:p>
          <a:p>
            <a:r>
              <a:t>Le contexte se transmet d’un instant au suivant. Le participant doit pouvoir expliquer ou réaliser les éléments suivants : Entrée xₜ ; État précédent hₜ₋₁ ; Nouvel état hₜ.</a:t>
            </a:r>
          </a:p>
          <a:p/>
          <a:p>
            <a:r>
              <a:t>EXPLICATION ET ANIMATION</a:t>
            </a:r>
          </a:p>
          <a:p>
            <a:r>
              <a:t>Une cellule récurrente applique le même ensemble de paramètres à chaque pas. Le déroulement représente des utilisations successives, pas des réseaux indépendants ayant chacun leurs poids. L’état résume ce qui a été conservé des entrées précédentes. Cette contrainte rend intuitive la notion de mémoire, sans assimiler l’état à une mémoire humaine.</a:t>
            </a:r>
          </a:p>
          <a:p/>
          <a:p>
            <a:r>
              <a:t>QUESTION À POSER</a:t>
            </a:r>
          </a:p>
          <a:p>
            <a:r>
              <a:t>Les cellules déroulées ont-elles chacune des poids différents ?</a:t>
            </a:r>
          </a:p>
          <a:p/>
          <a:p>
            <a:r>
              <a:t>RÉPONSE ATTENDUE ET CORRECTION</a:t>
            </a:r>
          </a:p>
          <a:p>
            <a:r>
              <a:t>Non. Les paramètres sont partagés dans le temps.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057 | Type CONCEPT | Niveau Application | Support projection + notes]</a:t>
            </a:r>
          </a:p>
          <a:p/>
          <a:p>
            <a:r>
              <a:t>OBJECTIF OBSERVABLE</a:t>
            </a:r>
          </a:p>
          <a:p>
            <a:r>
              <a:t>Des portes contrôlent la circulation de l’information. Le participant doit pouvoir expliquer ou réaliser les éléments suivants : État de cellule : information conservée ; Porte d’oubli : filtrer ; Portes d’entrée et de sortie : modifier et exposer.</a:t>
            </a:r>
          </a:p>
          <a:p/>
          <a:p>
            <a:r>
              <a:t>EXPLICATION ET ANIMATION</a:t>
            </a:r>
          </a:p>
          <a:p>
            <a:r>
              <a:t>Le schéma présente un LSTM moderne simplifié avec porte d’oubli ; il ne prétend pas reproduire à l’identique toutes les variantes historiques de 1997. Les portes sont des calculs différentiables appris, pas des règles humaines. La cellule et l’état de sortie sont distincts. Le cours demande de comprendre le rôle, pas de dériver toutes les équations.</a:t>
            </a:r>
          </a:p>
          <a:p/>
          <a:p>
            <a:r>
              <a:t>QUESTION À POSER</a:t>
            </a:r>
          </a:p>
          <a:p>
            <a:r>
              <a:t>Une porte décide-t-elle selon une règle écrite à la main ?</a:t>
            </a:r>
          </a:p>
          <a:p/>
          <a:p>
            <a:r>
              <a:t>RÉPONSE ATTENDUE ET CORRECTION</a:t>
            </a:r>
          </a:p>
          <a:p>
            <a:r>
              <a:t>Non. Ses paramètres sont appris à partir de l’objectif.</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058 | Type CONCEPT | Niveau Application | Support projection + notes]</a:t>
            </a:r>
          </a:p>
          <a:p/>
          <a:p>
            <a:r>
              <a:t>OBJECTIF OBSERVABLE</a:t>
            </a:r>
          </a:p>
          <a:p>
            <a:r>
              <a:t>Les produits de dérivées peuvent devenir extrêmes. Le participant doit pouvoir expliquer ou réaliser les éléments suivants : Dépendances longues difficiles ; LSTM : mécanismes de mémoire ; Écrêtage : contrôler des gradients excessifs.</a:t>
            </a:r>
          </a:p>
          <a:p/>
          <a:p>
            <a:r>
              <a:t>EXPLICATION ET ANIMATION</a:t>
            </a:r>
          </a:p>
          <a:p>
            <a:r>
              <a:t>La rétropropagation dans le temps multiplie des contributions successives. Certaines configurations rendent les gradients très petits ou très grands. Le clipping limite leur norme ; il ne corrige ni une mauvaise cible ni un split contaminé. Le LSTM apporte une structure de circulation d’information, sans garantir qu’une dépendance arbitrairement longue sera apprise.</a:t>
            </a:r>
          </a:p>
          <a:p/>
          <a:p>
            <a:r>
              <a:t>QUESTION À POSER</a:t>
            </a:r>
          </a:p>
          <a:p>
            <a:r>
              <a:t>Le clipping remplace-t-il la recherche de la cause d’une instabilité ?</a:t>
            </a:r>
          </a:p>
          <a:p/>
          <a:p>
            <a:r>
              <a:t>RÉPONSE ATTENDUE ET CORRECTION</a:t>
            </a:r>
          </a:p>
          <a:p>
            <a:r>
              <a:t>Non. Il est un levier à tester, pas un diagnostic.</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059 | Type CONCEPT | Niveau Application | Support projection + notes]</a:t>
            </a:r>
          </a:p>
          <a:p/>
          <a:p>
            <a:r>
              <a:t>OBJECTIF OBSERVABLE</a:t>
            </a:r>
          </a:p>
          <a:p>
            <a:r>
              <a:t>Une fenêtre passée, une cible future. Le participant doit pouvoir expliquer ou réaliser les éléments suivants : 24 observations en entrée ; La valeur suivante en cible ; Date de cible conservée.</a:t>
            </a:r>
          </a:p>
          <a:p/>
          <a:p>
            <a:r>
              <a:t>EXPLICATION ET ANIMATION</a:t>
            </a:r>
          </a:p>
          <a:p>
            <a:r>
              <a:t>Le notebook construit des fenêtres de 24 points. Chaque ligne conserve l’indice temporel de sa cible, qui détermine son appartenance train, validation ou test. Les fenêtres de validation peuvent utiliser le passé déjà observable au moment de prédire ; elles ne doivent jamais incorporer la cible future. Le scénario est une prévision à un pas avec nouvelles observations successives.</a:t>
            </a:r>
          </a:p>
          <a:p/>
          <a:p>
            <a:r>
              <a:t>QUESTION À POSER</a:t>
            </a:r>
          </a:p>
          <a:p>
            <a:r>
              <a:t>Que faut-il modifier pour une prévision à dix pas sans nouvelles observations ?</a:t>
            </a:r>
          </a:p>
          <a:p/>
          <a:p>
            <a:r>
              <a:t>RÉPONSE ATTENDUE ET CORRECTION</a:t>
            </a:r>
          </a:p>
          <a:p>
            <a:r>
              <a:t>Le protocole et les entrées disponibles ; ce n’est plus la même tâche.</a:t>
            </a:r>
          </a:p>
          <a:p/>
          <a:p>
            <a:r>
              <a:t>VÉRIFICATION</a:t>
            </a:r>
          </a:p>
          <a:p>
            <a:r>
              <a:t>Demander une reformulation avec un exemple ou une preuve issue du notebook. Ne pas accepter une réponse limitée au nom d’une bibliothèque. Ouvrir le notebook 06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060 | Type CONCEPT | Niveau Application | Support projection + notes]</a:t>
            </a:r>
          </a:p>
          <a:p/>
          <a:p>
            <a:r>
              <a:t>OBJECTIF OBSERVABLE</a:t>
            </a:r>
          </a:p>
          <a:p>
            <a:r>
              <a:t>Imiter l’information disponible en usage réel. Le participant doit pouvoir expliquer ou réaliser les éléments suivants : Passé : entraînement ; Période suivante : validation ; Dernière période : test.</a:t>
            </a:r>
          </a:p>
          <a:p/>
          <a:p>
            <a:r>
              <a:t>EXPLICATION ET ANIMATION</a:t>
            </a:r>
          </a:p>
          <a:p>
            <a:r>
              <a:t>La série synthétique contient saisonnalité, bruit et évolution. Le scaler est ajusté avant la frontière de train. Aucun mélange aléatoire des dates n’est utilisé pour attribuer les ensembles. Le brassage des lots à l’intérieur d’un ensemble déjà construit peut être compatible avec certaines hypothèses, mais la version pédagogique garde une lecture temporelle simple.</a:t>
            </a:r>
          </a:p>
          <a:p/>
          <a:p>
            <a:r>
              <a:t>QUESTION À POSER</a:t>
            </a:r>
          </a:p>
          <a:p>
            <a:r>
              <a:t>Quel problème pose le mélange des dates avant le split ?</a:t>
            </a:r>
          </a:p>
          <a:p/>
          <a:p>
            <a:r>
              <a:t>RÉPONSE ATTENDUE ET CORRECTION</a:t>
            </a:r>
          </a:p>
          <a:p>
            <a:r>
              <a:t>Il peut évaluer une interpolation plutôt que la capacité de prévoir le futur.</a:t>
            </a:r>
          </a:p>
          <a:p/>
          <a:p>
            <a:r>
              <a:t>VÉRIFICATION</a:t>
            </a:r>
          </a:p>
          <a:p>
            <a:r>
              <a:t>Demander une reformulation avec un exemple ou une preuve issue du notebook. Ne pas accepter une réponse limitée au nom d’une bibliothèque. Ouvrir le notebook 06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061 | Type ATELIER | Niveau Application | Support projection + notes]</a:t>
            </a:r>
          </a:p>
          <a:p/>
          <a:p>
            <a:r>
              <a:t>OBJECTIF OBSERVABLE</a:t>
            </a:r>
          </a:p>
          <a:p>
            <a:r>
              <a:t>La dernière valeur est votre premier adversaire. Le participant doit pouvoir expliquer ou réaliser les éléments suivants : Construire les fenêtres ; Entraîner un LSTM de 16 unités ; Comparer MAE et RMSE à la persistance.</a:t>
            </a:r>
          </a:p>
          <a:p/>
          <a:p>
            <a:r>
              <a:t>EXPLICATION ET ANIMATION</a:t>
            </a:r>
          </a:p>
          <a:p>
            <a:r>
              <a:t>La référence de persistance prédit la dernière observation de la fenêtre. La comparaison utilise les mêmes dates et revient à l’échelle d’origine. On trace prédictions et observations sur une période donnée. L’échec éventuel du LSTM est informatif : peu de données, un changement de régime ou une référence déjà forte peuvent l’expliquer. Aucune recommandation financière n’est tirée de la simulation.</a:t>
            </a:r>
          </a:p>
          <a:p/>
          <a:p>
            <a:r>
              <a:t>QUESTION À POSER</a:t>
            </a:r>
          </a:p>
          <a:p>
            <a:r>
              <a:t>Que prouve un LSTM moins bon que la persistance ?</a:t>
            </a:r>
          </a:p>
          <a:p/>
          <a:p>
            <a:r>
              <a:t>RÉPONSE ATTENDUE ET CORRECTION</a:t>
            </a:r>
          </a:p>
          <a:p>
            <a:r>
              <a:t>Que cette configuration ne justifie pas son coût sur ce protocole.</a:t>
            </a:r>
          </a:p>
          <a:p/>
          <a:p>
            <a:r>
              <a:t>VÉRIFICATION</a:t>
            </a:r>
          </a:p>
          <a:p>
            <a:r>
              <a:t>Demander une reformulation avec un exemple ou une preuve issue du notebook. Ne pas accepter une réponse limitée au nom d’une bibliothèque. Ouvrir le notebook 06 ; conserver les résultats et le journal.</a:t>
            </a:r>
          </a:p>
          <a:p/>
          <a:p>
            <a:r>
              <a:t>REPÈRES DE SOURCE</a:t>
            </a:r>
          </a:p>
          <a:p>
            <a:r>
              <a:t>[R09] Hochreiter et Schmidhuber. Long Short-Term Memory. https://doi.org/10.1162/neco.1997.9.8.1735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[R09] Hochreiter et Schmidhuber. Long Short-Term Memory. 1997. https://doi.org/10.1162/neco.1997.9.8.1735</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062 | Type CONCEPT | Niveau Application | Support projection + notes]</a:t>
            </a:r>
          </a:p>
          <a:p/>
          <a:p>
            <a:r>
              <a:t>OBJECTIF OBSERVABLE</a:t>
            </a:r>
          </a:p>
          <a:p>
            <a:r>
              <a:t>Évaluer l’erreur et les périodes difficiles. Le participant doit pouvoir expliquer ou réaliser les éléments suivants : MAE : erreur absolue moyenne ; RMSE : sensibilité aux grandes erreurs ; Analyser les ruptures et l’horizon.</a:t>
            </a:r>
          </a:p>
          <a:p/>
          <a:p>
            <a:r>
              <a:t>EXPLICATION ET ANIMATION</a:t>
            </a:r>
          </a:p>
          <a:p>
            <a:r>
              <a:t>Une courbe visuellement proche peut masquer un décalage d’un pas ou une erreur importante aux transitions. MAE et RMSE restent dans l’unité de la cible après dénormalisation. Il faut aussi examiner la référence naïve, l’horizon, la fréquence et les conditions de collecte. Pour les usages financiers, une métrique de prévision n’est pas une rentabilité nette.</a:t>
            </a:r>
          </a:p>
          <a:p/>
          <a:p>
            <a:r>
              <a:t>QUESTION À POSER</a:t>
            </a:r>
          </a:p>
          <a:p>
            <a:r>
              <a:t>Pourquoi regarder les ruptures séparément ?</a:t>
            </a:r>
          </a:p>
          <a:p/>
          <a:p>
            <a:r>
              <a:t>RÉPONSE ATTENDUE ET CORRECTION</a:t>
            </a:r>
          </a:p>
          <a:p>
            <a:r>
              <a:t>Parce qu’une moyenne globale peut masquer les moments où la prévision devient inutilisable.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2A | Diapositive 063 | Type CONCEPT | Niveau Application | Support projection + notes]</a:t>
            </a:r>
          </a:p>
          <a:p/>
          <a:p>
            <a:r>
              <a:t>OBJECTIF OBSERVABLE</a:t>
            </a:r>
          </a:p>
          <a:p>
            <a:r>
              <a:t>Relier les éléments sans les traiter seulement en chaîne. Le participant doit pouvoir expliquer ou réaliser les éléments suivants : RNN : transmission d’un état ; Attention : pondération des relations ; LSTM conservé dans les objectifs du cours.</a:t>
            </a:r>
          </a:p>
          <a:p/>
          <a:p>
            <a:r>
              <a:t>EXPLICATION ET ANIMATION</a:t>
            </a:r>
          </a:p>
          <a:p>
            <a:r>
              <a:t>Le papier de 2017 propose une architecture de traduction fondée sur l’attention. Cette ouverture évite une représentation datée du langage, mais ne remplace pas le programme pratique CNN/RNN/LSTM. L’attention n’est pas une preuve de compréhension causale ni une explication complète d’une décision. Les grands modèles préentraînés dépassent le budget de calcul des TP.</a:t>
            </a:r>
          </a:p>
          <a:p/>
          <a:p>
            <a:r>
              <a:t>QUESTION À POSER</a:t>
            </a:r>
          </a:p>
          <a:p>
            <a:r>
              <a:t>Pourquoi ne pas entraîner ici un grand modèle de langage ?</a:t>
            </a:r>
          </a:p>
          <a:p/>
          <a:p>
            <a:r>
              <a:t>RÉPONSE ATTENDUE ET CORRECTION</a:t>
            </a:r>
          </a:p>
          <a:p>
            <a:r>
              <a:t>Cela ne servirait ni le niveau Application en 18 heures ni le budget matériel du parcours.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[R14] Vaswani et coauteurs. Attention Is All You Need. https://arxiv.org/abs/1706.03762</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[R14] Vaswani et coauteurs. Attention Is All You Need. 2017. https://arxiv.org/abs/1706.03762</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064 | Type REPÈRE | Niveau Application | Support projection + notes]</a:t>
            </a:r>
          </a:p>
          <a:p/>
          <a:p>
            <a:r>
              <a:t>OBJECTIF OBSERVABLE</a:t>
            </a:r>
          </a:p>
          <a:p>
            <a:r>
              <a:t>Le modèle est un système à examiner. Le participant doit pouvoir expliquer ou réaliser les éléments suivants : Observer un symptôme ; Formuler une hypothèse ; Tester une modification isolée.</a:t>
            </a:r>
          </a:p>
          <a:p/>
          <a:p>
            <a:r>
              <a:t>EXPLICATION ET ANIMATION</a:t>
            </a:r>
          </a:p>
          <a:p>
            <a:r>
              <a:t>Cette seconde moitié de journée réorganise les leviers du dossier autour d’un raisonnement : symptôme, cause possible, test, action et preuve. Le but n’est pas de mémoriser une liste de techniques mais de choisir quoi essayer, dans quel ordre et pourquoi. Les équipes disposent d’un budget limité d’expériences.</a:t>
            </a:r>
          </a:p>
          <a:p/>
          <a:p>
            <a:r>
              <a:t>QUESTION À POSER</a:t>
            </a:r>
          </a:p>
          <a:p>
            <a:r>
              <a:t>Par quoi commencer devant un mauvais score ?</a:t>
            </a:r>
          </a:p>
          <a:p/>
          <a:p>
            <a:r>
              <a:t>RÉPONSE ATTENDUE ET CORRECTION</a:t>
            </a:r>
          </a:p>
          <a:p>
            <a:r>
              <a:t>Vérifier les données, la cible, le split et la référence avant d’ajouter des couches.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065 | Type CONCEPT | Niveau Application | Support projection + notes]</a:t>
            </a:r>
          </a:p>
          <a:p/>
          <a:p>
            <a:r>
              <a:t>OBJECTIF OBSERVABLE</a:t>
            </a:r>
          </a:p>
          <a:p>
            <a:r>
              <a:t>Une même apparence peut avoir plusieurs causes. Le participant doit pouvoir expliquer ou réaliser les éléments suivants : Sous-apprentissage ; Compromis à confirmer ; Surapprentissage probable.</a:t>
            </a:r>
          </a:p>
          <a:p/>
          <a:p>
            <a:r>
              <a:t>EXPLICATION ET ANIMATION</a:t>
            </a:r>
          </a:p>
          <a:p>
            <a:r>
              <a:t>Les courbes sont schématiques. Train et validation mauvais peuvent indiquer une capacité insuffisante, une cible trop bruitée ou un problème de pipeline. Train bon et validation mauvais peuvent indiquer surapprentissage ou décalage de distribution. La décision s’appuie ensuite sur un test discriminant, pas sur une lecture automatique du dessin.</a:t>
            </a:r>
          </a:p>
          <a:p/>
          <a:p>
            <a:r>
              <a:t>QUESTION À POSER</a:t>
            </a:r>
          </a:p>
          <a:p>
            <a:r>
              <a:t>Comment distinguer manque de capacité et bug de pipeline ?</a:t>
            </a:r>
          </a:p>
          <a:p/>
          <a:p>
            <a:r>
              <a:t>RÉPONSE ATTENDUE ET CORRECTION</a:t>
            </a:r>
          </a:p>
          <a:p>
            <a:r>
              <a:t>Tenter de mémoriser un très petit sous-ensemble et vérifier les données.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066 | Type ATELIER | Niveau Application | Support projection + notes]</a:t>
            </a:r>
          </a:p>
          <a:p/>
          <a:p>
            <a:r>
              <a:t>OBJECTIF OBSERVABLE</a:t>
            </a:r>
          </a:p>
          <a:p>
            <a:r>
              <a:t>Symptôme → hypothèse → test → action. Le participant doit pouvoir expliquer ou réaliser les éléments suivants : Perte plate : LR, données ou gradients ; Instabilité : LR, échelle ou calcul ; Rappel faible : classe rare ou seuil.</a:t>
            </a:r>
          </a:p>
          <a:p/>
          <a:p>
            <a:r>
              <a:t>EXPLICATION ET ANIMATION</a:t>
            </a:r>
          </a:p>
          <a:p>
            <a:r>
              <a:t>Distribuer la matrice imprimée et faire compléter la colonne test avant la colonne action. Baisser le taux est une action ; comparer deux taux à split constant est un test. Inspecter la répartition des labels, l’échelle des entrées et les sorties du modèle évite de chercher une solution sophistiquée à une erreur élémentaire.</a:t>
            </a:r>
          </a:p>
          <a:p/>
          <a:p>
            <a:r>
              <a:t>QUESTION À POSER</a:t>
            </a:r>
          </a:p>
          <a:p>
            <a:r>
              <a:t>Quelle information manque à « ajoutez du dropout » ?</a:t>
            </a:r>
          </a:p>
          <a:p/>
          <a:p>
            <a:r>
              <a:t>RÉPONSE ATTENDUE ET CORRECTION</a:t>
            </a:r>
          </a:p>
          <a:p>
            <a:r>
              <a:t>Le symptôme, l’hypothèse et la preuve qu’il s’agit bien d’un surapprentissage.</a:t>
            </a:r>
          </a:p>
          <a:p/>
          <a:p>
            <a:r>
              <a:t>VÉRIFICATION</a:t>
            </a:r>
          </a:p>
          <a:p>
            <a:r>
              <a:t>Demander une reformulation avec un exemple ou une preuve issue du notebook. Ne pas accepter une réponse limitée au nom d’une bibliothèque. Ouvrir le notebook 08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067 | Type CONCEPT | Niveau Application | Support projection + notes]</a:t>
            </a:r>
          </a:p>
          <a:p/>
          <a:p>
            <a:r>
              <a:t>OBJECTIF OBSERVABLE</a:t>
            </a:r>
          </a:p>
          <a:p>
            <a:r>
              <a:t>Un réseau capable devrait pouvoir mémoriser ce petit lot. Le participant doit pouvoir expliquer ou réaliser les éléments suivants : Sous-ensemble fixe ; Pas de régularisation forte ; Perte qui devient très faible.</a:t>
            </a:r>
          </a:p>
          <a:p/>
          <a:p>
            <a:r>
              <a:t>EXPLICATION ET ANIMATION</a:t>
            </a:r>
          </a:p>
          <a:p>
            <a:r>
              <a:t>C’est une heuristique de débogage et non un théorème universel. On choisit un modèle suffisamment capacitaire et des labels cohérents. Si la perte ne baisse pas, examiner la perte choisie, les types, les gradients et la boucle. Réussir à mémoriser prouve seulement que le pipeline peut apprendre ce micro-lot ; cela ne valide pas la généralisation.</a:t>
            </a:r>
          </a:p>
          <a:p/>
          <a:p>
            <a:r>
              <a:t>QUESTION À POSER</a:t>
            </a:r>
          </a:p>
          <a:p>
            <a:r>
              <a:t>Un modèle qui mémorise 32 exemples est-il prêt à être déployé ?</a:t>
            </a:r>
          </a:p>
          <a:p/>
          <a:p>
            <a:r>
              <a:t>RÉPONSE ATTENDUE ET CORRECTION</a:t>
            </a:r>
          </a:p>
          <a:p>
            <a:r>
              <a:t>Non. Ce test vérifie un fonctionnement interne, pas une performance hors échantillon.</a:t>
            </a:r>
          </a:p>
          <a:p/>
          <a:p>
            <a:r>
              <a:t>VÉRIFICATION</a:t>
            </a:r>
          </a:p>
          <a:p>
            <a:r>
              <a:t>Demander une reformulation avec un exemple ou une preuve issue du notebook. Ne pas accepter une réponse limitée au nom d’une bibliothèque. Ouvrir le notebook 08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068 | Type CONCEPT | Niveau Application | Support projection + notes]</a:t>
            </a:r>
          </a:p>
          <a:p/>
          <a:p>
            <a:r>
              <a:t>OBJECTIF OBSERVABLE</a:t>
            </a:r>
          </a:p>
          <a:p>
            <a:r>
              <a:t>L’optimiseur n’est pas l’architecture. Le participant doit pouvoir expliquer ou réaliser les éléments suivants : SGD : mise à jour suivant le gradient ; Momentum : accumulation orientée ; Adam : moments adaptatifs des gradients.</a:t>
            </a:r>
          </a:p>
          <a:p/>
          <a:p>
            <a:r>
              <a:t>EXPLICATION ET ANIMATION</a:t>
            </a:r>
          </a:p>
          <a:p>
            <a:r>
              <a:t>Adam combine des estimations de premier et de second moments avec corrections de biais. Il reste nécessaire de régler le taux et de surveiller l’entraînement. Une comparaison équitable utilise des budgets d’essais comparables ; changer d’optimiseur peut modifier le bon taux. La visualisation ne doit pas laisser penser qu’Adam trouve toujours le meilleur minimum.</a:t>
            </a:r>
          </a:p>
          <a:p/>
          <a:p>
            <a:r>
              <a:t>QUESTION À POSER</a:t>
            </a:r>
          </a:p>
          <a:p>
            <a:r>
              <a:t>Pourquoi changer d’optimiseur sans revoir le taux peut-il tromper ?</a:t>
            </a:r>
          </a:p>
          <a:p/>
          <a:p>
            <a:r>
              <a:t>RÉPONSE ATTENDUE ET CORRECTION</a:t>
            </a:r>
          </a:p>
          <a:p>
            <a:r>
              <a:t>Les échelles de mise à jour et les réglages adaptés ne sont pas identiques.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[R10] Kingma et Ba. Adam: A Method for Stochastic Optimization. https://arxiv.org/abs/1412.6980</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[R10] Kingma et Ba. Adam: A Method for Stochastic Optimization. 2014/2015. https://arxiv.org/abs/1412.6980</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069 | Type CONCEPT | Niveau Application | Support projection + notes]</a:t>
            </a:r>
          </a:p>
          <a:p/>
          <a:p>
            <a:r>
              <a:t>OBJECTIF OBSERVABLE</a:t>
            </a:r>
          </a:p>
          <a:p>
            <a:r>
              <a:t>Réduire les comportements trop spécifiques au train. Le participant doit pouvoir expliquer ou réaliser les éléments suivants : L2 / décroissance des poids ; Dropout et augmentation ; Arrêt anticipé.</a:t>
            </a:r>
          </a:p>
          <a:p/>
          <a:p>
            <a:r>
              <a:t>EXPLICATION ET ANIMATION</a:t>
            </a:r>
          </a:p>
          <a:p>
            <a:r>
              <a:t>Les techniques n’agissent pas toutes au même endroit. L2 modifie l’objectif ; weight decay agit sur les poids selon l’optimiseur ; dropout perturbe des activations ; augmentation modifie les exemples ; early stopping sélectionne une époque. Avec des optimiseurs adaptatifs, L2 et décroissance découplée des poids ne sont pas strictement équivalentes. Cette nuance est une extension d’ingénierie, pas un prérequis mathématique.</a:t>
            </a:r>
          </a:p>
          <a:p/>
          <a:p>
            <a:r>
              <a:t>QUESTION À POSER</a:t>
            </a:r>
          </a:p>
          <a:p>
            <a:r>
              <a:t>Peut-on cumuler toutes les régularisations sans risque ?</a:t>
            </a:r>
          </a:p>
          <a:p/>
          <a:p>
            <a:r>
              <a:t>RÉPONSE ATTENDUE ET CORRECTION</a:t>
            </a:r>
          </a:p>
          <a:p>
            <a:r>
              <a:t>Non. Une régularisation excessive peut produire du sous-apprentissage.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[R11] Srivastava et coauteurs. Dropout: A Simple Way to Prevent Neural Networks from Overfitting. https://jmlr.org/papers/v15/srivastava14a.html</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[R11] Srivastava et coauteurs. Dropout: A Simple Way to Prevent Neural Networks from Overfitting. 2014. https://jmlr.org/papers/v15/srivastava14a.html</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070 | Type CONCEPT | Niveau Application | Support projection + notes]</a:t>
            </a:r>
          </a:p>
          <a:p/>
          <a:p>
            <a:r>
              <a:t>OBJECTIF OBSERVABLE</a:t>
            </a:r>
          </a:p>
          <a:p>
            <a:r>
              <a:t>Le masque change pendant l’entraînement. Le participant doit pouvoir expliquer ou réaliser les éléments suivants : Unités temporairement neutralisées ; Taux choisi comme hyperparamètre ; Comportement normal en évaluation.</a:t>
            </a:r>
          </a:p>
          <a:p/>
          <a:p>
            <a:r>
              <a:t>EXPLICATION ET ANIMATION</a:t>
            </a:r>
          </a:p>
          <a:p>
            <a:r>
              <a:t>Le dropout réduit certaines co-adaptations en masquant aléatoirement des activations pendant l’entraînement. Les bibliothèques gèrent la mise à l’échelle. En mode eval standard, il est désactivé. Le notebook permet de constater que deux prédictions train peuvent différer alors que deux prédictions eval sont stables, à paramètres fixes.</a:t>
            </a:r>
          </a:p>
          <a:p/>
          <a:p>
            <a:r>
              <a:t>QUESTION À POSER</a:t>
            </a:r>
          </a:p>
          <a:p>
            <a:r>
              <a:t>Pourquoi appeler model.eval avant la mesure de validation ?</a:t>
            </a:r>
          </a:p>
          <a:p/>
          <a:p>
            <a:r>
              <a:t>RÉPONSE ATTENDUE ET CORRECTION</a:t>
            </a:r>
          </a:p>
          <a:p>
            <a:r>
              <a:t>Pour appliquer le comportement d’inférence des couches concernées.</a:t>
            </a:r>
          </a:p>
          <a:p/>
          <a:p>
            <a:r>
              <a:t>VÉRIFICATION</a:t>
            </a:r>
          </a:p>
          <a:p>
            <a:r>
              <a:t>Demander une reformulation avec un exemple ou une preuve issue du notebook. Ne pas accepter une réponse limitée au nom d’une bibliothèque. Ouvrir le notebook 05 ; conserver les résultats et le journal.</a:t>
            </a:r>
          </a:p>
          <a:p/>
          <a:p>
            <a:r>
              <a:t>REPÈRES DE SOURCE</a:t>
            </a:r>
          </a:p>
          <a:p>
            <a:r>
              <a:t>[R11] Srivastava et coauteurs. Dropout: A Simple Way to Prevent Neural Networks from Overfitting. https://jmlr.org/papers/v15/srivastava14a.html</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[R11] Srivastava et coauteurs. Dropout: A Simple Way to Prevent Neural Networks from Overfitting. 2014. https://jmlr.org/papers/v15/srivastava14a.html</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071 | Type CONCEPT | Niveau Application | Support projection + notes]</a:t>
            </a:r>
          </a:p>
          <a:p/>
          <a:p>
            <a:r>
              <a:t>OBJECTIF OBSERVABLE</a:t>
            </a:r>
          </a:p>
          <a:p>
            <a:r>
              <a:t>Statistiques du lot pendant l’apprentissage. Le participant doit pouvoir expliquer ou réaliser les éléments suivants : Normalisation intermédiaire ; Paramètres d’échelle et de décalage ; Statistiques suivies pour l’inférence.</a:t>
            </a:r>
          </a:p>
          <a:p/>
          <a:p>
            <a:r>
              <a:t>EXPLICATION ET ANIMATION</a:t>
            </a:r>
          </a:p>
          <a:p>
            <a:r>
              <a:t>Le schéma illustre le centrage et la mise à l’échelle puis des paramètres appris. Les réglages par défaut suivent des statistiques réutilisées en évaluation. Le comportement exact dépend de la bibliothèque et de ses options. Ne pas enseigner l’explication historique par le « décalage de covariables interne » comme une démonstration théorique définitive des bénéfices.</a:t>
            </a:r>
          </a:p>
          <a:p/>
          <a:p>
            <a:r>
              <a:t>QUESTION À POSER</a:t>
            </a:r>
          </a:p>
          <a:p>
            <a:r>
              <a:t>Pourquoi les petits lots peuvent-ils poser problème ?</a:t>
            </a:r>
          </a:p>
          <a:p/>
          <a:p>
            <a:r>
              <a:t>RÉPONSE ATTENDUE ET CORRECTION</a:t>
            </a:r>
          </a:p>
          <a:p>
            <a:r>
              <a:t>Les statistiques estimées peuvent être instables ou peu représentatives.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[R12] Ioffe et Szegedy. Batch Normalization. https://arxiv.org/abs/1502.03167</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[R12] Ioffe et Szegedy. Batch Normalization. 2015. https://arxiv.org/abs/1502.03167</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072 | Type CONCEPT | Niveau Application | Support projection + notes]</a:t>
            </a:r>
          </a:p>
          <a:p/>
          <a:p>
            <a:r>
              <a:t>OBJECTIF OBSERVABLE</a:t>
            </a:r>
          </a:p>
          <a:p>
            <a:r>
              <a:t>Une transformation doit préserver la cible. Le participant doit pouvoir expliquer ou réaliser les éléments suivants : Bruit modéré ou petit déplacement ; Pas de rotation arbitraire des chiffres ; Validation et test non augmentés au hasard.</a:t>
            </a:r>
          </a:p>
          <a:p/>
          <a:p>
            <a:r>
              <a:t>EXPLICATION ET ANIMATION</a:t>
            </a:r>
          </a:p>
          <a:p>
            <a:r>
              <a:t>Une rotation peut transformer un chiffre ou rendre l’image ambiguë ; les augmentations doivent être adaptées au domaine. Dans le TP de transfert, le bruit synthétique est annoncé comme un changement de domaine simulé. Il ne reproduit pas les altérations d’un capteur réel. Les évaluations restent faites sur une version figée des données.</a:t>
            </a:r>
          </a:p>
          <a:p/>
          <a:p>
            <a:r>
              <a:t>QUESTION À POSER</a:t>
            </a:r>
          </a:p>
          <a:p>
            <a:r>
              <a:t>Une rotation de 180° conserve-t-elle toujours l’étiquette ?</a:t>
            </a:r>
          </a:p>
          <a:p/>
          <a:p>
            <a:r>
              <a:t>RÉPONSE ATTENDUE ET CORRECTION</a:t>
            </a:r>
          </a:p>
          <a:p>
            <a:r>
              <a:t>Non. La transformation n’est pas sûre pour toutes les classes.</a:t>
            </a:r>
          </a:p>
          <a:p/>
          <a:p>
            <a:r>
              <a:t>VÉRIFICATION</a:t>
            </a:r>
          </a:p>
          <a:p>
            <a:r>
              <a:t>Demander une reformulation avec un exemple ou une preuve issue du notebook. Ne pas accepter une réponse limitée au nom d’une bibliothèque. Ouvrir le notebook 05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073 | Type CONCEPT | Niveau Application | Support projection + notes]</a:t>
            </a:r>
          </a:p>
          <a:p/>
          <a:p>
            <a:r>
              <a:t>OBJECTIF OBSERVABLE</a:t>
            </a:r>
          </a:p>
          <a:p>
            <a:r>
              <a:t>Conserver le meilleur état de validation. Le participant doit pouvoir expliquer ou réaliser les éléments suivants : Suivre une métrique annoncée ; Patience définie à l’avance ; Restaurer les meilleurs poids.</a:t>
            </a:r>
          </a:p>
          <a:p/>
          <a:p>
            <a:r>
              <a:t>EXPLICATION ET ANIMATION</a:t>
            </a:r>
          </a:p>
          <a:p>
            <a:r>
              <a:t>Early stopping doit utiliser la validation et non le test. La patience autorise quelques époques sans amélioration avant d’arrêter. Si l’on restaure les poids, l’état évalué peut différer de la dernière époque exécutée. Conserver la configuration, l’époque choisie et le critère permet de comprendre la sélection.</a:t>
            </a:r>
          </a:p>
          <a:p/>
          <a:p>
            <a:r>
              <a:t>QUESTION À POSER</a:t>
            </a:r>
          </a:p>
          <a:p>
            <a:r>
              <a:t>Pourquoi le modèle final n’est-il pas forcément celui de la dernière époque ?</a:t>
            </a:r>
          </a:p>
          <a:p/>
          <a:p>
            <a:r>
              <a:t>RÉPONSE ATTENDUE ET CORRECTION</a:t>
            </a:r>
          </a:p>
          <a:p>
            <a:r>
              <a:t>L’état retenu peut être celui qui minimise la perte de validation.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074 | Type CONCEPT | Niveau Application | Support projection + notes]</a:t>
            </a:r>
          </a:p>
          <a:p/>
          <a:p>
            <a:r>
              <a:t>OBJECTIF OBSERVABLE</a:t>
            </a:r>
          </a:p>
          <a:p>
            <a:r>
              <a:t>Préentraîner, adapter une tête, puis ajuster. Le participant doit pouvoir expliquer ou réaliser les éléments suivants : Partir d’un extracteur appris ; Geler ses paramètres ; Entraîner une nouvelle tête.</a:t>
            </a:r>
          </a:p>
          <a:p/>
          <a:p>
            <a:r>
              <a:t>EXPLICATION ET ANIMATION</a:t>
            </a:r>
          </a:p>
          <a:p>
            <a:r>
              <a:t>Le dossier présente le transfert à partir de grands modèles préentraînés. Le kit propose une version hors ligne à petite échelle : préentraîner un CNN sur une partie d’images propres puis adapter une nouvelle tête à un ensemble bruité distinct. Les ensembles source et cible sont disjoints avant toute transformation. C’est une démonstration du mécanisme, pas un substitut à ImageNet.</a:t>
            </a:r>
          </a:p>
          <a:p/>
          <a:p>
            <a:r>
              <a:t>QUESTION À POSER</a:t>
            </a:r>
          </a:p>
          <a:p>
            <a:r>
              <a:t>Qu’est-ce qui serait une fuite dans ce TP ?</a:t>
            </a:r>
          </a:p>
          <a:p/>
          <a:p>
            <a:r>
              <a:t>RÉPONSE ATTENDUE ET CORRECTION</a:t>
            </a:r>
          </a:p>
          <a:p>
            <a:r>
              <a:t>Préentraîner sur les images réservées à la validation ou au test cible.</a:t>
            </a:r>
          </a:p>
          <a:p/>
          <a:p>
            <a:r>
              <a:t>VÉRIFICATION</a:t>
            </a:r>
          </a:p>
          <a:p>
            <a:r>
              <a:t>Demander une reformulation avec un exemple ou une preuve issue du notebook. Ne pas accepter une réponse limitée au nom d’une bibliothèque. Ouvrir le notebook 07 ; conserver les résultats et le journal.</a:t>
            </a:r>
          </a:p>
          <a:p/>
          <a:p>
            <a:r>
              <a:t>REPÈRES DE SOURCE</a:t>
            </a:r>
          </a:p>
          <a:p>
            <a:r>
              <a:t>[R06] François Chollet / Keras. Apprentissage par transfert et ajustement fin. https://keras.io/guides/transfer_learning/</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[R06] François Chollet / Keras. Apprentissage par transfert et ajustement fin. Documentation consultée le 14 septembre 2026. https://keras.io/guides/transfer_learning/</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075 | Type CONCEPT | Niveau Application | Support projection + notes]</a:t>
            </a:r>
          </a:p>
          <a:p/>
          <a:p>
            <a:r>
              <a:t>OBJECTIF OBSERVABLE</a:t>
            </a:r>
          </a:p>
          <a:p>
            <a:r>
              <a:t>Adapter sans détruire trop vite les représentations. Le participant doit pouvoir expliquer ou réaliser les éléments suivants : Tête nouvelle d’abord ; Dernier bloc ensuite ; Taux plus faible et validation surveillée.</a:t>
            </a:r>
          </a:p>
          <a:p/>
          <a:p>
            <a:r>
              <a:t>EXPLICATION ET ANIMATION</a:t>
            </a:r>
          </a:p>
          <a:p>
            <a:r>
              <a:t>Une tête aléatoire peut produire de fortes mises à jour peu utiles pour l’extracteur. On commence donc par entraîner la tête gelant le reste, puis on dégèle une partie avec un taux prudent. Si l’architecture comporte BatchNorm, son état doit aussi être contrôlé. Après modification des paramètres entraînables, reconstruire l’optimiseur approprié.</a:t>
            </a:r>
          </a:p>
          <a:p/>
          <a:p>
            <a:r>
              <a:t>QUESTION À POSER</a:t>
            </a:r>
          </a:p>
          <a:p>
            <a:r>
              <a:t>Pourquoi reconstruire l’optimiseur après un changement de couches entraînables ?</a:t>
            </a:r>
          </a:p>
          <a:p/>
          <a:p>
            <a:r>
              <a:t>RÉPONSE ATTENDUE ET CORRECTION</a:t>
            </a:r>
          </a:p>
          <a:p>
            <a:r>
              <a:t>Pour inclure exactement les paramètres à mettre à jour.</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[R06] François Chollet / Keras. Apprentissage par transfert et ajustement fin. https://keras.io/guides/transfer_learning/</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[R06] François Chollet / Keras. Apprentissage par transfert et ajustement fin. Documentation consultée le 14 septembre 2026. https://keras.io/guides/transfer_learning/</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076 | Type ATELIER | Niveau Application | Support projection + notes]</a:t>
            </a:r>
          </a:p>
          <a:p/>
          <a:p>
            <a:r>
              <a:t>OBJECTIF OBSERVABLE</a:t>
            </a:r>
          </a:p>
          <a:p>
            <a:r>
              <a:t>Un vrai gel, une vraie adaptation, des données disjointes. Le participant doit pouvoir expliquer ou réaliser les éléments suivants : Étape A : source propre ; Étape B : tête sur cible bruitée ; Étape C : ajustement du dernier bloc.</a:t>
            </a:r>
          </a:p>
          <a:p/>
          <a:p>
            <a:r>
              <a:t>EXPLICATION ET ANIMATION</a:t>
            </a:r>
          </a:p>
          <a:p>
            <a:r>
              <a:t>Les phases sont visibles dans le notebook, avec un comptage des paramètres entraînables. L’évaluation cible est distincte des données source. On compare tête seule, ajustement partiel et, en extension, apprentissage depuis zéro. Si le transfert ne gagne pas, documenter ce résultat plutôt que modifier les données de test.</a:t>
            </a:r>
          </a:p>
          <a:p/>
          <a:p>
            <a:r>
              <a:t>QUESTION À POSER</a:t>
            </a:r>
          </a:p>
          <a:p>
            <a:r>
              <a:t>Quelle preuve montre que l’extracteur est gelé ?</a:t>
            </a:r>
          </a:p>
          <a:p/>
          <a:p>
            <a:r>
              <a:t>RÉPONSE ATTENDUE ET CORRECTION</a:t>
            </a:r>
          </a:p>
          <a:p>
            <a:r>
              <a:t>requires_grad=False, le nombre de paramètres entraînables et des poids inchangés.</a:t>
            </a:r>
          </a:p>
          <a:p/>
          <a:p>
            <a:r>
              <a:t>VÉRIFICATION</a:t>
            </a:r>
          </a:p>
          <a:p>
            <a:r>
              <a:t>Demander une reformulation avec un exemple ou une preuve issue du notebook. Ne pas accepter une réponse limitée au nom d’une bibliothèque. Ouvrir le notebook 07 ; conserver les résultats et le journal.</a:t>
            </a:r>
          </a:p>
          <a:p/>
          <a:p>
            <a:r>
              <a:t>REPÈRES DE SOURCE</a:t>
            </a:r>
          </a:p>
          <a:p>
            <a:r>
              <a:t>[R06] François Chollet / Keras. Apprentissage par transfert et ajustement fin. https://keras.io/guides/transfer_learning/</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[R06] François Chollet / Keras. Apprentissage par transfert et ajustement fin. Documentation consultée le 14 septembre 2026. https://keras.io/guides/transfer_learning/</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077 | Type CONCEPT | Niveau Application | Support projection + notes]</a:t>
            </a:r>
          </a:p>
          <a:p/>
          <a:p>
            <a:r>
              <a:t>OBJECTIF OBSERVABLE</a:t>
            </a:r>
          </a:p>
          <a:p>
            <a:r>
              <a:t>Un résultat non rechargeable n’est pas un livrable. Le participant doit pouvoir expliquer ou réaliser les éléments suivants : Sauvegarder l’état ; Reconstruire le modèle ; Comparer les prédictions.</a:t>
            </a:r>
          </a:p>
          <a:p/>
          <a:p>
            <a:r>
              <a:t>EXPLICATION ET ANIMATION</a:t>
            </a:r>
          </a:p>
          <a:p>
            <a:r>
              <a:t>Exécuter le test dans un nouvel objet modèle, et pas seulement vérifier que le fichier existe. Le même prétraitement et le mode évaluation sont nécessaires. La tolérance de comparaison est annoncée. Le TP sauvegarde des fichiers produits par la formation ; il n’incite pas à charger des fichiers arbitraires.</a:t>
            </a:r>
          </a:p>
          <a:p/>
          <a:p>
            <a:r>
              <a:t>QUESTION À POSER</a:t>
            </a:r>
          </a:p>
          <a:p>
            <a:r>
              <a:t>Un fichier non vide prouve-t-il que la sauvegarde est correcte ?</a:t>
            </a:r>
          </a:p>
          <a:p/>
          <a:p>
            <a:r>
              <a:t>RÉPONSE ATTENDUE ET CORRECTION</a:t>
            </a:r>
          </a:p>
          <a:p>
            <a:r>
              <a:t>Non. Il faut recharger et vérifier la cohérence des sorties.</a:t>
            </a:r>
          </a:p>
          <a:p/>
          <a:p>
            <a:r>
              <a:t>VÉRIFICATION</a:t>
            </a:r>
          </a:p>
          <a:p>
            <a:r>
              <a:t>Demander une reformulation avec un exemple ou une preuve issue du notebook. Ne pas accepter une réponse limitée au nom d’une bibliothèque. Ouvrir le notebook 04 ; conserver les résultats et le journal.</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078 | Type CONCEPT | Niveau Application | Support projection + notes]</a:t>
            </a:r>
          </a:p>
          <a:p/>
          <a:p>
            <a:r>
              <a:t>OBJECTIF OBSERVABLE</a:t>
            </a:r>
          </a:p>
          <a:p>
            <a:r>
              <a:t>Pondération, échantillonnage et seuil ne sont pas équivalents. Le participant doit pouvoir expliquer ou réaliser les éléments suivants : Choisir des métriques adaptées ; Tester une pondération sur train ; Décider le seuil sur validation.</a:t>
            </a:r>
          </a:p>
          <a:p/>
          <a:p>
            <a:r>
              <a:t>EXPLICATION ET ANIMATION</a:t>
            </a:r>
          </a:p>
          <a:p>
            <a:r>
              <a:t>Pondérer la perte change ce que l’entraînement pénalise. Rééchantillonner change les exemples vus. Déplacer le seuil change la décision sans réentraîner. Ces mécanismes ont des effets différents, notamment sur la calibration. La distribution du test reste représentative du scénario évalué ; elle n’est pas rééquilibrée pour fabriquer une meilleure présentation.</a:t>
            </a:r>
          </a:p>
          <a:p/>
          <a:p>
            <a:r>
              <a:t>QUESTION À POSER</a:t>
            </a:r>
          </a:p>
          <a:p>
            <a:r>
              <a:t>Peut-on équilibrer le test pour refléter une classe rare réelle ?</a:t>
            </a:r>
          </a:p>
          <a:p/>
          <a:p>
            <a:r>
              <a:t>RÉPONSE ATTENDUE ET CORRECTION</a:t>
            </a:r>
          </a:p>
          <a:p>
            <a:r>
              <a:t>Pas sans changer explicitement la question évaluée.</a:t>
            </a:r>
          </a:p>
          <a:p/>
          <a:p>
            <a:r>
              <a:t>VÉRIFICATION</a:t>
            </a:r>
          </a:p>
          <a:p>
            <a:r>
              <a:t>Demander une reformulation avec un exemple ou une preuve issue du notebook. Ne pas accepter une réponse limitée au nom d’une bibliothèque. Ouvrir le notebook 09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079 | Type CONCEPT | Niveau Application | Support projection + notes]</a:t>
            </a:r>
          </a:p>
          <a:p/>
          <a:p>
            <a:r>
              <a:t>OBJECTIF OBSERVABLE</a:t>
            </a:r>
          </a:p>
          <a:p>
            <a:r>
              <a:t>Bien ordonner n’est pas donner une probabilité fiable. Le participant doit pouvoir expliquer ou réaliser les éléments suivants : ROC et précision-rappel : discrimination ; Courbe de fiabilité : calibration ; Seuil et coût : décision.</a:t>
            </a:r>
          </a:p>
          <a:p/>
          <a:p>
            <a:r>
              <a:t>EXPLICATION ET ANIMATION</a:t>
            </a:r>
          </a:p>
          <a:p>
            <a:r>
              <a:t>Une calibration compare les scores annoncés et les fréquences observées. Un modèle qui classe bien peut être trop confiant. La calibration s’ajuste sur des données distinctes de son test final ; elle ne répare pas une mauvaise représentation ou une dérive ignorée. Le notebook illustre une courbe de fiabilité et le score de Brier sur validation.</a:t>
            </a:r>
          </a:p>
          <a:p/>
          <a:p>
            <a:r>
              <a:t>QUESTION À POSER</a:t>
            </a:r>
          </a:p>
          <a:p>
            <a:r>
              <a:t>Un score de 0,8 garantit-il huit succès sur dix dans ce contexte ?</a:t>
            </a:r>
          </a:p>
          <a:p/>
          <a:p>
            <a:r>
              <a:t>RÉPONSE ATTENDUE ET CORRECTION</a:t>
            </a:r>
          </a:p>
          <a:p>
            <a:r>
              <a:t>Non, pas sans évaluation de calibration et population comparable.</a:t>
            </a:r>
          </a:p>
          <a:p/>
          <a:p>
            <a:r>
              <a:t>VÉRIFICATION</a:t>
            </a:r>
          </a:p>
          <a:p>
            <a:r>
              <a:t>Demander une reformulation avec un exemple ou une preuve issue du notebook. Ne pas accepter une réponse limitée au nom d’une bibliothèque. Ouvrir le notebook 03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080 | Type CONCEPT | Niveau Application | Support projection + notes]</a:t>
            </a:r>
          </a:p>
          <a:p/>
          <a:p>
            <a:r>
              <a:t>OBJECTIF OBSERVABLE</a:t>
            </a:r>
          </a:p>
          <a:p>
            <a:r>
              <a:t>La moyenne peut cacher une zone de fragilité. Le participant doit pouvoir expliquer ou réaliser les éléments suivants : Qualité des données et périodes ; Sous-groupes pertinents et effectifs ; Incertitude avant comparaison.</a:t>
            </a:r>
          </a:p>
          <a:p/>
          <a:p>
            <a:r>
              <a:t>EXPLICATION ET ANIMATION</a:t>
            </a:r>
          </a:p>
          <a:p>
            <a:r>
              <a:t>On peut comparer des segments techniques comme niveau de bruit, période ou catégorie de document. Des sous-groupes trop petits rendent les taux instables. La présence d’une personne dans la boucle ne supprime pas les risques de biais. Les TP n’utilisent pas de catégories sensibles réelles et n’enseignent pas des seuils différenciés sans analyse de leur légitimité.</a:t>
            </a:r>
          </a:p>
          <a:p/>
          <a:p>
            <a:r>
              <a:t>QUESTION À POSER</a:t>
            </a:r>
          </a:p>
          <a:p>
            <a:r>
              <a:t>Pourquoi afficher les effectifs avec chaque taux ?</a:t>
            </a:r>
          </a:p>
          <a:p/>
          <a:p>
            <a:r>
              <a:t>RÉPONSE ATTENDUE ET CORRECTION</a:t>
            </a:r>
          </a:p>
          <a:p>
            <a:r>
              <a:t>Pour montrer la quantité d’information et éviter de surinterpréter quelques cas.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081 | Type ATELIER | Niveau Application | Support projection + notes]</a:t>
            </a:r>
          </a:p>
          <a:p/>
          <a:p>
            <a:r>
              <a:t>OBJECTIF OBSERVABLE</a:t>
            </a:r>
          </a:p>
          <a:p>
            <a:r>
              <a:t>Trois expériences maximum, une cause à la fois. Le participant doit pouvoir expliquer ou réaliser les éléments suivants : Courbes, métriques et code fournis ; Diagnostic écrit avant modification ; Journal et preuve après correction.</a:t>
            </a:r>
          </a:p>
          <a:p/>
          <a:p>
            <a:r>
              <a:t>EXPLICATION ET ANIMATION</a:t>
            </a:r>
          </a:p>
          <a:p>
            <a:r>
              <a:t>Les cartes distribuent un problème : fuite, mauvais mode d’évaluation, taux trop grand, cible/perte incohérente ou métrique isolée. Certains incidents sont représentés par des extraits de code volontairement non exécutés. Le notebook de correction reste sûr à lancer et contient une version réparée. Les équipes doivent expliquer pourquoi la correction répond au symptôme.</a:t>
            </a:r>
          </a:p>
          <a:p/>
          <a:p>
            <a:r>
              <a:t>QUESTION À POSER</a:t>
            </a:r>
          </a:p>
          <a:p>
            <a:r>
              <a:t>Qu’est-ce qui vaut le plus : score final ou diagnostic ?</a:t>
            </a:r>
          </a:p>
          <a:p/>
          <a:p>
            <a:r>
              <a:t>RÉPONSE ATTENDUE ET CORRECTION</a:t>
            </a:r>
          </a:p>
          <a:p>
            <a:r>
              <a:t>Le diagnostic vérifiable et l’intégrité du protocole.</a:t>
            </a:r>
          </a:p>
          <a:p/>
          <a:p>
            <a:r>
              <a:t>VÉRIFICATION</a:t>
            </a:r>
          </a:p>
          <a:p>
            <a:r>
              <a:t>Demander une reformulation avec un exemple ou une preuve issue du notebook. Ne pas accepter une réponse limitée au nom d’une bibliothèque. Ouvrir le notebook 08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082 | Type ATELIER | Niveau Application | Support projection + notes]</a:t>
            </a:r>
          </a:p>
          <a:p/>
          <a:p>
            <a:r>
              <a:t>OBJECTIF OBSERVABLE</a:t>
            </a:r>
          </a:p>
          <a:p>
            <a:r>
              <a:t>Ne changez pas trois variables pour expliquer un gain. Le participant doit pouvoir expliquer ou réaliser les éléments suivants : Configuration de référence figée ; Un changement principal ; Décision conservée dans le journal.</a:t>
            </a:r>
          </a:p>
          <a:p/>
          <a:p>
            <a:r>
              <a:t>EXPLICATION ET ANIMATION</a:t>
            </a:r>
          </a:p>
          <a:p>
            <a:r>
              <a:t>La reproductibilité n’interdit pas une exploration, mais elle impose de la tracer. Une recherche automatisée nécessite elle aussi un budget, un espace de recherche et une séparation. Pendant le stage, les essais isolés permettent de construire l’intuition et de discuter les causes. Les résultats attendus sont des tendances possibles, pas des gains promis.</a:t>
            </a:r>
          </a:p>
          <a:p/>
          <a:p>
            <a:r>
              <a:t>QUESTION À POSER</a:t>
            </a:r>
          </a:p>
          <a:p>
            <a:r>
              <a:t>Comment interpréter un essai qui baisse train et améliore validation ?</a:t>
            </a:r>
          </a:p>
          <a:p/>
          <a:p>
            <a:r>
              <a:t>RÉPONSE ATTENDUE ET CORRECTION</a:t>
            </a:r>
          </a:p>
          <a:p>
            <a:r>
              <a:t>Une régularisation peut réduire l’ajustement au train et améliorer la généralisation.</a:t>
            </a:r>
          </a:p>
          <a:p/>
          <a:p>
            <a:r>
              <a:t>VÉRIFICATION</a:t>
            </a:r>
          </a:p>
          <a:p>
            <a:r>
              <a:t>Demander une reformulation avec un exemple ou une preuve issue du notebook. Ne pas accepter une réponse limitée au nom d’une bibliothèque. Ouvrir le notebook 05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083 | Type ATELIER | Niveau Application | Support projection + notes]</a:t>
            </a:r>
          </a:p>
          <a:p/>
          <a:p>
            <a:r>
              <a:t>OBJECTIF OBSERVABLE</a:t>
            </a:r>
          </a:p>
          <a:p>
            <a:r>
              <a:t>Le raisonnement doit survivre sans le notebook. Le participant doit pouvoir expliquer ou réaliser les éléments suivants : Symptôme observé ; Test discriminant et modification ; Résultat, limites et prochaine action.</a:t>
            </a:r>
          </a:p>
          <a:p/>
          <a:p>
            <a:r>
              <a:t>EXPLICATION ET ANIMATION</a:t>
            </a:r>
          </a:p>
          <a:p>
            <a:r>
              <a:t>Chaque groupe présente une seule expérience importante. Le formateur demande une objection : quelle autre cause pourrait expliquer le résultat ? Une bonne défense reconnaît cette incertitude et propose une expérience suivante. Aucun classement public n’est construit sur la seule accuracy. On évalue la qualité des preuves.</a:t>
            </a:r>
          </a:p>
          <a:p/>
          <a:p>
            <a:r>
              <a:t>QUESTION À POSER</a:t>
            </a:r>
          </a:p>
          <a:p>
            <a:r>
              <a:t>Quelle objection votre groupe n’a-t-il pas encore testée ?</a:t>
            </a:r>
          </a:p>
          <a:p/>
          <a:p>
            <a:r>
              <a:t>RÉPONSE ATTENDUE ET CORRECTION</a:t>
            </a:r>
          </a:p>
          <a:p>
            <a:r>
              <a:t>Une autre explication plausible reliée aux données, à la variance ou au protocole.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J2 | Séquence 2B | Diapositive 084 | Type ATELIER | Niveau Application | Support projection + notes]</a:t>
            </a:r>
          </a:p>
          <a:p/>
          <a:p>
            <a:r>
              <a:t>OBJECTIF OBSERVABLE</a:t>
            </a:r>
          </a:p>
          <a:p>
            <a:r>
              <a:t>Vous savez maintenant lire un échec. Le participant doit pouvoir expliquer ou réaliser les éléments suivants : CNN : vérifier les dimensions ; LSTM : préserver le temps ; Diagnostic : relier symptômes et tests.</a:t>
            </a:r>
          </a:p>
          <a:p/>
          <a:p>
            <a:r>
              <a:t>EXPLICATION ET ANIMATION</a:t>
            </a:r>
          </a:p>
          <a:p>
            <a:r>
              <a:t>Avant le troisième jour, vérifier la sauvegarde du CNN, les dates des fenêtres, la comparaison à la persistance et le journal d’au moins une correction. Les participants indiquent quel levier ils comprennent et lequel reste confus. Les prolongements Transformer, précision mixte et interprétabilité avancée sont optionnels, hors des exigences du socle.</a:t>
            </a:r>
          </a:p>
          <a:p/>
          <a:p>
            <a:r>
              <a:t>QUESTION À POSER</a:t>
            </a:r>
          </a:p>
          <a:p>
            <a:r>
              <a:t>Quel test faites-vous avant d’agrandir le réseau ?</a:t>
            </a:r>
          </a:p>
          <a:p/>
          <a:p>
            <a:r>
              <a:t>RÉPONSE ATTENDUE ET CORRECTION</a:t>
            </a:r>
          </a:p>
          <a:p>
            <a:r>
              <a:t>Vérifier les données et essayer de mémoriser un petit lot cohérent.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441"/>
        </a:solidFill>
        <a:effectLst/>
      </p:bgPr>
    </p:bg>
    <p:spTree>
      <p:nvGrpSpPr>
        <p:cNvPr id="1" name=""/>
        <p:cNvGrpSpPr/>
        <p:nvPr/>
      </p:nvGrpSpPr>
      <p:grpSpPr/>
      <p:sp>
        <p:nvSpPr>
          <p:cNvPr id="2" name="Rectangle 1"/>
          <p:cNvSpPr/>
          <p:nvPr/>
        </p:nvSpPr>
        <p:spPr>
          <a:xfrm>
            <a:off x="0" y="0"/>
            <a:ext cx="173736" cy="6858000"/>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320040"/>
          </a:xfrm>
          <a:prstGeom prst="rect">
            <a:avLst/>
          </a:prstGeom>
          <a:noFill/>
        </p:spPr>
        <p:txBody>
          <a:bodyPr wrap="square" lIns="0" rIns="0" tIns="0" bIns="0">
            <a:spAutoFit/>
          </a:bodyPr>
          <a:lstStyle/>
          <a:p>
            <a:pPr>
              <a:lnSpc>
                <a:spcPct val="108000"/>
              </a:lnSpc>
              <a:spcBef>
                <a:spcPts val="0"/>
              </a:spcBef>
              <a:spcAft>
                <a:spcPts val="0"/>
              </a:spcAft>
              <a:defRPr sz="1100" b="1">
                <a:solidFill>
                  <a:srgbClr val="FFFFFF"/>
                </a:solidFill>
                <a:latin typeface="DejaVu Sans"/>
              </a:defRPr>
            </a:pPr>
            <a:r>
              <a:t>P2ENJOY  /  FORMATION PROFESSIONNELLE  /  RÉF. 4-024</a:t>
            </a:r>
          </a:p>
        </p:txBody>
      </p:sp>
      <p:sp>
        <p:nvSpPr>
          <p:cNvPr id="4" name="TextBox 3"/>
          <p:cNvSpPr txBox="1"/>
          <p:nvPr/>
        </p:nvSpPr>
        <p:spPr>
          <a:xfrm>
            <a:off x="548640" y="1024128"/>
            <a:ext cx="5943600" cy="1554480"/>
          </a:xfrm>
          <a:prstGeom prst="rect">
            <a:avLst/>
          </a:prstGeom>
          <a:noFill/>
        </p:spPr>
        <p:txBody>
          <a:bodyPr wrap="square" lIns="0" rIns="0" tIns="0" bIns="0">
            <a:spAutoFit/>
          </a:bodyPr>
          <a:lstStyle/>
          <a:p>
            <a:pPr>
              <a:lnSpc>
                <a:spcPct val="108000"/>
              </a:lnSpc>
              <a:spcBef>
                <a:spcPts val="0"/>
              </a:spcBef>
              <a:spcAft>
                <a:spcPts val="0"/>
              </a:spcAft>
              <a:defRPr sz="3900" b="1">
                <a:solidFill>
                  <a:srgbClr val="FFFFFF"/>
                </a:solidFill>
                <a:latin typeface="DejaVu Sans"/>
              </a:defRPr>
            </a:pPr>
            <a:r>
              <a:t>Concevoir et diagnostiquer</a:t>
            </a:r>
          </a:p>
        </p:txBody>
      </p:sp>
      <p:sp>
        <p:nvSpPr>
          <p:cNvPr id="5" name="TextBox 4"/>
          <p:cNvSpPr txBox="1"/>
          <p:nvPr/>
        </p:nvSpPr>
        <p:spPr>
          <a:xfrm>
            <a:off x="566928" y="2779776"/>
            <a:ext cx="5303520" cy="786384"/>
          </a:xfrm>
          <a:prstGeom prst="rect">
            <a:avLst/>
          </a:prstGeom>
          <a:noFill/>
        </p:spPr>
        <p:txBody>
          <a:bodyPr wrap="square" lIns="0" rIns="0" tIns="0" bIns="0">
            <a:spAutoFit/>
          </a:bodyPr>
          <a:lstStyle/>
          <a:p>
            <a:pPr>
              <a:lnSpc>
                <a:spcPct val="108000"/>
              </a:lnSpc>
              <a:spcBef>
                <a:spcPts val="0"/>
              </a:spcBef>
              <a:spcAft>
                <a:spcPts val="0"/>
              </a:spcAft>
              <a:defRPr sz="2200" b="0">
                <a:solidFill>
                  <a:srgbClr val="FFFFFF"/>
                </a:solidFill>
                <a:latin typeface="DejaVu Sans"/>
              </a:defRPr>
            </a:pPr>
            <a:r>
              <a:t>Vision, séquences et apprentissage sous contrôle.</a:t>
            </a:r>
          </a:p>
        </p:txBody>
      </p:sp>
      <p:sp>
        <p:nvSpPr>
          <p:cNvPr id="6" name="TextBox 5"/>
          <p:cNvSpPr txBox="1"/>
          <p:nvPr/>
        </p:nvSpPr>
        <p:spPr>
          <a:xfrm>
            <a:off x="585216" y="3877056"/>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CNN : structure spatiale</a:t>
            </a:r>
          </a:p>
        </p:txBody>
      </p:sp>
      <p:sp>
        <p:nvSpPr>
          <p:cNvPr id="7" name="TextBox 6"/>
          <p:cNvSpPr txBox="1"/>
          <p:nvPr/>
        </p:nvSpPr>
        <p:spPr>
          <a:xfrm>
            <a:off x="585216" y="4306824"/>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RNN/LSTM : ordre temporel</a:t>
            </a:r>
          </a:p>
        </p:txBody>
      </p:sp>
      <p:sp>
        <p:nvSpPr>
          <p:cNvPr id="8" name="TextBox 7"/>
          <p:cNvSpPr txBox="1"/>
          <p:nvPr/>
        </p:nvSpPr>
        <p:spPr>
          <a:xfrm>
            <a:off x="585216" y="4736592"/>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Optimisation : hypothèses vérifiables</a:t>
            </a:r>
          </a:p>
        </p:txBody>
      </p:sp>
      <p:sp>
        <p:nvSpPr>
          <p:cNvPr id="9" name="Rounded Rectangle 8"/>
          <p:cNvSpPr/>
          <p:nvPr/>
        </p:nvSpPr>
        <p:spPr>
          <a:xfrm>
            <a:off x="6080760" y="1572768"/>
            <a:ext cx="5650992" cy="307238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3_hero.png"/>
          <p:cNvPicPr>
            <a:picLocks noChangeAspect="1"/>
          </p:cNvPicPr>
          <p:nvPr/>
        </p:nvPicPr>
        <p:blipFill>
          <a:blip r:embed="rId2"/>
          <a:stretch>
            <a:fillRect/>
          </a:stretch>
        </p:blipFill>
        <p:spPr>
          <a:xfrm>
            <a:off x="6227064" y="1746504"/>
            <a:ext cx="5367528" cy="2688336"/>
          </a:xfrm>
          <a:prstGeom prst="rect">
            <a:avLst/>
          </a:prstGeom>
        </p:spPr>
      </p:pic>
      <p:pic>
        <p:nvPicPr>
          <p:cNvPr id="11" name="Picture 10" descr="detail_reseau_imagegen.png"/>
          <p:cNvPicPr>
            <a:picLocks noChangeAspect="1"/>
          </p:cNvPicPr>
          <p:nvPr/>
        </p:nvPicPr>
        <p:blipFill>
          <a:blip r:embed="rId3"/>
          <a:stretch>
            <a:fillRect/>
          </a:stretch>
        </p:blipFill>
        <p:spPr>
          <a:xfrm>
            <a:off x="9674352" y="374904"/>
            <a:ext cx="2039112" cy="813816"/>
          </a:xfrm>
          <a:prstGeom prst="rect">
            <a:avLst/>
          </a:prstGeom>
        </p:spPr>
      </p:pic>
      <p:sp>
        <p:nvSpPr>
          <p:cNvPr id="12" name="Rounded Rectangle 11"/>
          <p:cNvSpPr/>
          <p:nvPr/>
        </p:nvSpPr>
        <p:spPr>
          <a:xfrm>
            <a:off x="576072" y="5742432"/>
            <a:ext cx="11055096" cy="530352"/>
          </a:xfrm>
          <a:prstGeom prst="roundRect">
            <a:avLst>
              <a:gd name="adj" fmla="val 9000"/>
            </a:avLst>
          </a:prstGeom>
          <a:solidFill>
            <a:srgbClr val="21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852160"/>
            <a:ext cx="10652760" cy="310896"/>
          </a:xfrm>
          <a:prstGeom prst="rect">
            <a:avLst/>
          </a:prstGeom>
          <a:noFill/>
        </p:spPr>
        <p:txBody>
          <a:bodyPr wrap="square" lIns="0" rIns="0" tIns="0" bIns="0">
            <a:spAutoFit/>
          </a:bodyPr>
          <a:lstStyle/>
          <a:p>
            <a:pPr>
              <a:lnSpc>
                <a:spcPct val="108000"/>
              </a:lnSpc>
              <a:spcBef>
                <a:spcPts val="0"/>
              </a:spcBef>
              <a:spcAft>
                <a:spcPts val="0"/>
              </a:spcAft>
              <a:defRPr sz="1500" b="0">
                <a:solidFill>
                  <a:srgbClr val="FFFFFF"/>
                </a:solidFill>
                <a:latin typeface="DejaVu Sans"/>
              </a:defRPr>
            </a:pPr>
            <a:r>
              <a:t>Quelle règle du jour 1 reste non négociable ?</a:t>
            </a:r>
          </a:p>
        </p:txBody>
      </p:sp>
      <p:sp>
        <p:nvSpPr>
          <p:cNvPr id="14" name="TextBox 13"/>
          <p:cNvSpPr txBox="1"/>
          <p:nvPr/>
        </p:nvSpPr>
        <p:spPr>
          <a:xfrm>
            <a:off x="585216" y="6492240"/>
            <a:ext cx="7315200" cy="201168"/>
          </a:xfrm>
          <a:prstGeom prst="rect">
            <a:avLst/>
          </a:prstGeom>
          <a:noFill/>
        </p:spPr>
        <p:txBody>
          <a:bodyPr wrap="square" lIns="0" rIns="0" tIns="0" bIns="0">
            <a:spAutoFit/>
          </a:bodyPr>
          <a:lstStyle/>
          <a:p>
            <a:pPr>
              <a:lnSpc>
                <a:spcPct val="108000"/>
              </a:lnSpc>
              <a:spcBef>
                <a:spcPts val="0"/>
              </a:spcBef>
              <a:spcAft>
                <a:spcPts val="0"/>
              </a:spcAft>
              <a:defRPr sz="900" b="0">
                <a:solidFill>
                  <a:srgbClr val="FFFFFF"/>
                </a:solidFill>
                <a:latin typeface="DejaVu Sans"/>
              </a:defRPr>
            </a:pPr>
            <a:r>
              <a:t>https://p2enjoy.studio  •  DGFiP  •  Asnières-sur-Seine</a:t>
            </a:r>
          </a:p>
        </p:txBody>
      </p:sp>
      <p:sp>
        <p:nvSpPr>
          <p:cNvPr id="15" name="TextBox 14"/>
          <p:cNvSpPr txBox="1"/>
          <p:nvPr/>
        </p:nvSpPr>
        <p:spPr>
          <a:xfrm>
            <a:off x="10607040" y="6428232"/>
            <a:ext cx="996696" cy="292608"/>
          </a:xfrm>
          <a:prstGeom prst="rect">
            <a:avLst/>
          </a:prstGeom>
          <a:noFill/>
        </p:spPr>
        <p:txBody>
          <a:bodyPr wrap="square" lIns="0" rIns="0" tIns="0" bIns="0">
            <a:spAutoFit/>
          </a:bodyPr>
          <a:lstStyle/>
          <a:p>
            <a:pPr algn="r">
              <a:lnSpc>
                <a:spcPct val="108000"/>
              </a:lnSpc>
              <a:spcBef>
                <a:spcPts val="0"/>
              </a:spcBef>
              <a:spcAft>
                <a:spcPts val="0"/>
              </a:spcAft>
              <a:defRPr sz="1200" b="1">
                <a:solidFill>
                  <a:srgbClr val="FFFFFF"/>
                </a:solidFill>
                <a:latin typeface="DejaVu Sans"/>
              </a:defRPr>
            </a:pPr>
            <a:r>
              <a:t>JOUR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Réactivation en binôme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Retrouver les invariants avant les nouveautés.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Pourquoi une validation ?</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Pourquoi une non-linéarité ?</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Pourquoi une baseline ?</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4_diagnostic.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risque si vous changez le split à chaque essai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044 / 126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Trois architectures, trois structures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Choisir le mécanisme adapté à la donnée.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 variables numériques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 voisinage spatial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 état récurrent dans le temps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5_architectur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LSTM est-il synonyme de meilleur modèle temporel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045 / 126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Aplatir l’image ou préserver l’espace ?</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CNN réutilise un même filtre local.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MLP : pixels transformés en vecteur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 filtres partagés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Hiérarchie de représentations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6_mlpcn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perd explicitement le passage immédiat à Flatten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R08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046 / 126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Images et canaux</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Dans notre TP : 8 × 8 pixels, un canal.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1 797 images de chiffres manuscrits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10 classes, de 0 à 9</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locales fournies avec le kit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7_digi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transposer directement son score aux photographies aériennes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047 / 126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convolution, calculée une fois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Multiplier localement, puis additionner.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Fenêtre 3 × 3</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Filtre appris 3 × 3</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valeur dans la carte de caractéristiques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8_convolu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élément est appris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048 / 126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Pas et remplissage changent la forme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Suivre les dimensions à chaque couche.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 : déplacement du filtre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Remplissage : bord ajouté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Taille : dépend de l’entrée et du filtre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9_padding.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produit 8, filtre 3, remplissage 1, pas 1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049 / 126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partage des poids réduit les paramètres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filtre est réutilisé, pas recopié.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Conv 3 × 3, 1 → 8 canaux</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Poids : 3 × 3 × 1 × 8</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Biais : 8, soit 80 paramètres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0_paramete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la convolution conserve-t-elle peu de poids à grande résolution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050 / 126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Sous-échantillonner sans mystère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pooling résume un voisinage.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Max-pooling : maximum local</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 × 2 avec pas 2</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8 × 8 devient 4 × 4</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1_pooling.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empiler dix poolings sur une image 8 × 8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051 / 126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champ réceptif grandit avec les couches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caractéristique résume un voisinage élargi.</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Première couche : motif local</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Couches suivantes : combinaisons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profondeur seule ne suffit pas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2_receptiv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Deux filtres 3 × 3 successifs regardent-ils seulement 3 × 3 pixels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052 / 126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CNN du laboratoire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Petit, lisible et entraînable sur CPU.</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Conv 1→8 • ReLU • Pool</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Conv 8→16 • ReLU • Pool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64 valeurs → 10 logits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3_cn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est la taille du vecteur avant la dernière couche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053 / 126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04 : entraîner et comparer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Conserver les images, les indices et les métriques.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Référence dense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minimal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Courbes et matrice de confusion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4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Le CNN doit-il forcément battre le MLP ici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054 / 126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Inspecter les erreurs de vision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score moyen ne dit pas où agir.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Classe vraie et classe prédite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Score de confiance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Ambiguïté, bruit ou étiquette discutable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5_err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action suit une erreur surconfiante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055 / 126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 RNN transporte un état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contexte se transmet d’un instant au suivant.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 xₜ</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État précédent hₜ₋₁</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Nouvel état hₜ</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6_rn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Les cellules déroulées ont-elles chacune des poids différents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056 / 126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LSTM : préserver, écrire, restituer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Des portes contrôlent la circulation de l’information.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État de cellule : information conservée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Porte d’oubli : filtrer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Portes d’entrée et de sortie : modifier et exposer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7_lstm.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porte décide-t-elle selon une règle écrite à la main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057 / 126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Quand les gradients disparaissent ou explosent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Les produits de dérivées peuvent devenir extrêmes.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Dépendances longues difficiles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 mécanismes de mémoire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Écrêtage : contrôler des gradients excessifs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8_vanishing.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Le clipping remplace-t-il la recherche de la cause d’une instabilité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058 / 126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Transformer une série en exemples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fenêtre passée, une cible future.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24 observations en entrée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La valeur suivante en cible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Date de cible conservée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59_window.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faut-il modifier pour une prévision à dix pas sans nouvelles observations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059 / 126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Valider dans l’ordre du temps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Imiter l’information disponible en usage réel.</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Passé : entraînement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Période suivante : validation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Dernière période : test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0_timespli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problème pose le mélange des dates avant le split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060 / 126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06 : prévoir avec un LSTM</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dernière valeur est votre premier adversaire.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Construire les fenêtres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Entraîner un LSTM de 16 unités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Comparer MAE et RMSE à la persistance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1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prouve un LSTM moins bon que la persistance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R09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061 / 126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prévision n’est pas une courbe jolie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Évaluer l’erreur et les périodes difficiles.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MAE : erreur absolue moyenne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RMSE : sensibilité aux grandes erreurs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Analyser les ruptures et l’horizon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2_forecas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regarder les ruptures séparément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062 / 126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Ouverture : l’attention et les Transformers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Relier les éléments sans les traiter seulement en chaîne.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RNN : transmission d’un état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Attention : pondération des relations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conservé dans les objectifs du cours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3_atten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ne pas entraîner ici un grand modèle de langage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063 / 126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NOUVELLE SÉQUENCE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Passer du lancement au diagnostic</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modèle est un système à examiner.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Observer un symptôme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Formuler une hypothèse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Tester une modification isolée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4_sec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Par quoi commencer devant un mauvais score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064 / 126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Trois profils de courbes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même apparence peut avoir plusieurs causes.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Sous-apprentissage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Compromis à confirmer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Surapprentissage probable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5_curv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Comment distinguer manque de capacité et bug de pipeline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065 / 126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fiche de diagnostic</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Symptôme → hypothèse → test → action.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plate : LR, données ou gradients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Instabilité : LR, échelle ou calcul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Rappel faible : classe rare ou seuil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6_diagnosticmatrix.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information manque à « ajoutez du dropout »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066 / 126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test des 32 exemples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réseau capable devrait pouvoir mémoriser ce petit lot.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Sous-ensemble fixe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 de régularisation forte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qui devient très faible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7_tinybatc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modèle qui mémorise 32 exemples est-il prêt à être déployé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067 / 126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Taux, SGD et Adam</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L’optimiseur n’est pas l’architecture.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SGD : mise à jour suivant le gradient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Momentum : accumulation orientée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Adam : moments adaptatifs des gradients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8_optimiz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changer d’optimiseur sans revoir le taux peut-il tromper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068 / 126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Régulariser selon une hypothèse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Réduire les comportements trop spécifiques au train.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L2 / décroissance des poids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Dropout et augmentation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Arrêt anticipé</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69_regulariza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cumuler toutes les régularisations sans risque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R11,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069 / 126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Dropout : apprendre avec des chemins masqués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masque change pendant l’entraînement.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Unités temporairement neutralisées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choisi comme hyperparamètre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Comportement normal en évaluation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0_dropou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appeler model.eval avant la mesure de validation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070 / 126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BatchNorm : deux modes à distinguer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Statistiques du lot pendant l’apprentissage.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Normalisation intermédiaire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Paramètres d’échelle et de décalage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Statistiques suivies pour l’inférence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1_batchnorm.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les petits lots peuvent-ils poser problème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R12,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071 / 126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Augmenter sans changer le sens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transformation doit préserver la cible.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Bruit modéré ou petit déplacement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Pas de rotation arbitraire des chiffres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et test non augmentés au hasard</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2_augmenta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rotation de 180° conserve-t-elle toujours l’étiquette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072 / 126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Arrêter avant d’apprendre le bruit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Conserver le meilleur état de validation.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Suivre une métrique annoncée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Patience définie à l’avance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Restaurer les meilleurs poids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3_earlystop.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le modèle final n’est-il pas forcément celui de la dernière époque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073 / 126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Réutiliser des représentations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Préentraîner, adapter une tête, puis ajuster.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Partir d’un extracteur appris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Geler ses paramètres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Entraîner une nouvelle tête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4_transf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serait une fuite dans ce TP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074 / 126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Dégeler avec précaution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Adapter sans détruire trop vite les représentations.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Tête nouvelle d’abord</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Dernier bloc ensuite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plus faible et validation surveillée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5_freez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reconstruire l’optimiseur après un changement de couches entraînables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075 / 126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07 : transfert sans téléchargement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vrai gel, une vraie adaptation, des données disjointes.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Étape A : source propre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Étape B : tête sur cible bruitée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Étape C : ajustement du dernier bloc</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6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preuve montre que l’extracteur est gelé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R06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076 / 126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Tester le rechargement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résultat non rechargeable n’est pas un livrable.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Sauvegarder l’état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Reconstruire le modèle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Comparer les prédictions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7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fichier non vide prouve-t-il que la sauvegarde est correcte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077 / 126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Traiter les classes rares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Pondération, échantillonnage et seuil ne sont pas équivalents.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Choisir des métriques adaptées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Tester une pondération sur train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Décider le seuil sur validation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8_imbal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équilibrer le test pour refléter une classe rare réelle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078 / 126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Classer et calibrer sont deux questions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Bien ordonner n’est pas donner une probabilité fiable.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ROC et précision-rappel : discrimination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Courbe de fiabilité : calibration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et coût : décision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79_calibrat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score de 0,8 garantit-il huit succès sur dix dans ce contexte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079 / 126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Évaluer les erreurs par segments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moyenne peut cacher une zone de fragilité.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Qualité des données et périodes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Sous-groupes pertinents et effectifs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Incertitude avant comparaison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0_segment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afficher les effectifs avec chaque taux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080 / 126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Défi : sauver le modèle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Trois expériences maximum, une cause à la fois.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Courbes, métriques et code fournis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Diagnostic écrit avant modification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Journal et preuve après correction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1_incid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qui vaut le plus : score final ou diagnostic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081 / 126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expérience contrôlée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Ne changez pas trois variables pour expliquer un gain.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Configuration de référence figée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changement principal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Décision conservée dans le journal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2_journ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Comment interpréter un essai qui baisse train et améliore validation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082 / 126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Défendre son diagnostic en trois minutes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raisonnement doit survivre sans le notebook.</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Symptôme observé</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 discriminant et modification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limites et prochaine action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3_defens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objection votre groupe n’a-t-il pas encore testée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083 / 126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2</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2B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8C33"/>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Point de contrôle du jour 2</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Vous savez maintenant lire un échec.</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CNN : vérifier les dimensions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LSTM : préserver le temps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8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Diagnostic : relier symptômes et tests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4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test faites-vous avant d’agrandir le réseau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8C33"/>
                </a:solidFill>
                <a:latin typeface="DejaVu Sans"/>
              </a:defRPr>
            </a:pPr>
            <a:r>
              <a:t>084 / 126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artificielle : Deep Learning par la pratique</dc:title>
  <dc:subject>Formation 4-024, DGFiP, 21 au 23 septembre 2026</dc:subject>
  <dc:creator>Martino Bettucci | P2Enjoy</dc:creator>
  <cp:keywords>Deep Learning, 4-024, DGFiP, formation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