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001 | Type REPÈRE | Niveau Application | Support projection + notes]</a:t>
            </a:r>
          </a:p>
          <a:p/>
          <a:p>
            <a:r>
              <a:t>OBJECTIF OBSERVABLE</a:t>
            </a:r>
          </a:p>
          <a:p>
            <a:r>
              <a:t>Comprendre. Construire. Vérifier. Le participant doit pouvoir expliquer ou réaliser les éléments suivants : 18 heures • 3 journées ; DGFiP • 21 au 23 septembre 2026 ; Référence 4-024 • Niveau Application.</a:t>
            </a:r>
          </a:p>
          <a:p/>
          <a:p>
            <a:r>
              <a:t>EXPLICATION ET ANIMATION</a:t>
            </a:r>
          </a:p>
          <a:p>
            <a:r>
              <a:t>Pendant trois jours, nous ne cherchons pas à construire le réseau le plus volumineux. Nous apprenons à définir une tâche, organiser des données, entraîner un prototype et défendre une interprétation limitée à ce que les résultats autorisent. Le dossier fourni reste la base des contenus et des cas. Les données d’exercice sont publiques ou synthétiques. Les représentations visuelles sont des schémas pédagogiques originaux, et non des captures des systèmes internes de la DGFiP.</a:t>
            </a:r>
          </a:p>
          <a:p/>
          <a:p>
            <a:r>
              <a:t>QUESTION À POSER</a:t>
            </a:r>
          </a:p>
          <a:p>
            <a:r>
              <a:t>Quelle décision professionnelle souhaitez-vous mieux éclairer ?</a:t>
            </a:r>
          </a:p>
          <a:p/>
          <a:p>
            <a:r>
              <a:t>RÉPONSE ATTENDUE ET CORRECTION</a:t>
            </a:r>
          </a:p>
          <a:p>
            <a:r>
              <a:t>Recueillir des tâches concrètes plutôt que des demandes générales de « faire de l’IA ».</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002 | Type CONCEPT | Niveau Application | Support projection + notes]</a:t>
            </a:r>
          </a:p>
          <a:p/>
          <a:p>
            <a:r>
              <a:t>OBJECTIF OBSERVABLE</a:t>
            </a:r>
          </a:p>
          <a:p>
            <a:r>
              <a:t>Un prototype défendable, pas une boîte magique. Le participant doit pouvoir expliquer ou réaliser les éléments suivants : Formuler une cible et un moment de prédiction ; Construire et comparer des modèles ; Diagnostiquer, documenter et décider.</a:t>
            </a:r>
          </a:p>
          <a:p/>
          <a:p>
            <a:r>
              <a:t>EXPLICATION ET ANIMATION</a:t>
            </a:r>
          </a:p>
          <a:p>
            <a:r>
              <a:t>Le niveau Application se vérifie dans des actes observables : exécuter un notebook, corriger une dimension, choisir une perte cohérente, comparer une référence et lire les erreurs. Il ne signifie pas concevoir une architecture de recherche ou autoriser un déploiement sensible. Une bonne recommandation peut être de conserver une solution plus simple.</a:t>
            </a:r>
          </a:p>
          <a:p/>
          <a:p>
            <a:r>
              <a:t>QUESTION À POSER</a:t>
            </a:r>
          </a:p>
          <a:p>
            <a:r>
              <a:t>Quel résultat prouverait votre progression ?</a:t>
            </a:r>
          </a:p>
          <a:p/>
          <a:p>
            <a:r>
              <a:t>RÉPONSE ATTENDUE ET CORRECTION</a:t>
            </a:r>
          </a:p>
          <a:p>
            <a:r>
              <a:t>Un notebook reproductible, un protocole d’évaluation explicite et une recommandation argumentée.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003 | Type CONCEPT | Niveau Application | Support projection + notes]</a:t>
            </a:r>
          </a:p>
          <a:p/>
          <a:p>
            <a:r>
              <a:t>OBJECTIF OBSERVABLE</a:t>
            </a:r>
          </a:p>
          <a:p>
            <a:r>
              <a:t>Même démarche, données différentes. Le participant doit pouvoir expliquer ou réaliser les éléments suivants : J1 : fondamentaux, outils et premier réseau ; J2 : vision, séquences et diagnostic ; J3 : cas métiers et projet en équipe.</a:t>
            </a:r>
          </a:p>
          <a:p/>
          <a:p>
            <a:r>
              <a:t>EXPLICATION ET ANIMATION</a:t>
            </a:r>
          </a:p>
          <a:p>
            <a:r>
              <a:t>Les pauses et le déjeuner sont hors des 18 heures pédagogiques. Chaque journée comporte six heures effectives. Les plages de pratique du conducteur correspondent à une production par les stagiaires ; une démonstration regardée ou un quiz ne sont pas artificiellement comptés comme un TP. Les extensions servent aux plus rapides et ne rallongent pas le socle.</a:t>
            </a:r>
          </a:p>
          <a:p/>
          <a:p>
            <a:r>
              <a:t>QUESTION À POSER</a:t>
            </a:r>
          </a:p>
          <a:p>
            <a:r>
              <a:t>Quelles connaissances relient les trois journées ?</a:t>
            </a:r>
          </a:p>
          <a:p/>
          <a:p>
            <a:r>
              <a:t>RÉPONSE ATTENDUE ET CORRECTION</a:t>
            </a:r>
          </a:p>
          <a:p>
            <a:r>
              <a:t>Données, cible, perte, optimisation, séparation, métrique et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004 | Type ATELIER | Niveau Application | Support projection + notes]</a:t>
            </a:r>
          </a:p>
          <a:p/>
          <a:p>
            <a:r>
              <a:t>OBJECTIF OBSERVABLE</a:t>
            </a:r>
          </a:p>
          <a:p>
            <a:r>
              <a:t>Il ne s’agit pas de vous noter. Le participant doit pouvoir expliquer ou réaliser les éléments suivants : Python et manipulation des données ; Validation, paramètres et métriques ; Un exemple métier par participant.</a:t>
            </a:r>
          </a:p>
          <a:p/>
          <a:p>
            <a:r>
              <a:t>EXPLICATION ET ANIMATION</a:t>
            </a:r>
          </a:p>
          <a:p>
            <a:r>
              <a:t>Faire répondre individuellement avant les échanges. Les questions portent sur la différence validation/test, la normalisation, les paramètres appris, une exactitude de 95 % et le gradient. Le formateur adapte la profondeur des explications, pas les objectifs contractuels. Les participants moins à l’aise disposent de cellules guidées.</a:t>
            </a:r>
          </a:p>
          <a:p/>
          <a:p>
            <a:r>
              <a:t>QUESTION À POSER</a:t>
            </a:r>
          </a:p>
          <a:p>
            <a:r>
              <a:t>À quoi sert un jeu de validation ?</a:t>
            </a:r>
          </a:p>
          <a:p/>
          <a:p>
            <a:r>
              <a:t>RÉPONSE ATTENDUE ET CORRECTION</a:t>
            </a:r>
          </a:p>
          <a:p>
            <a:r>
              <a:t>Il aide à choisir des hyperparamètres et des décisions de conception sans utiliser le test final.</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005 | Type CONCEPT | Niveau Application | Support projection + notes]</a:t>
            </a:r>
          </a:p>
          <a:p/>
          <a:p>
            <a:r>
              <a:t>OBJECTIF OBSERVABLE</a:t>
            </a:r>
          </a:p>
          <a:p>
            <a:r>
              <a:t>Quatre expressions, pas quatre synonymes. Le participant doit pouvoir expliquer ou réaliser les éléments suivants : IA : famille de systèmes ; Apprentissage automatique : comportement appris ; Apprentissage profond : transformations neuronales.</a:t>
            </a:r>
          </a:p>
          <a:p/>
          <a:p>
            <a:r>
              <a:t>EXPLICATION ET ANIMATION</a:t>
            </a:r>
          </a:p>
          <a:p>
            <a:r>
              <a:t>L’IA ne se réduit pas à l’apprentissage automatique : un système de règles peut aussi entrer dans une définition large de l’IA. Le Deep Learning est une famille de l’apprentissage automatique. La génération décrit une tâche, pas un quatrième cercle qui contiendrait tous les modèles. Un CNN qui classe une image relève du Deep Learning sans être génératif.</a:t>
            </a:r>
          </a:p>
          <a:p/>
          <a:p>
            <a:r>
              <a:t>QUESTION À POSER</a:t>
            </a:r>
          </a:p>
          <a:p>
            <a:r>
              <a:t>Un classifieur neuronal est-il nécessairement génératif ?</a:t>
            </a:r>
          </a:p>
          <a:p/>
          <a:p>
            <a:r>
              <a:t>RÉPONSE ATTENDUE ET CORRECTION</a:t>
            </a:r>
          </a:p>
          <a:p>
            <a:r>
              <a:t>Non. Il peut simplement associer une entrée à une classe.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006 | Type CONCEPT | Niveau Application | Support projection + notes]</a:t>
            </a:r>
          </a:p>
          <a:p/>
          <a:p>
            <a:r>
              <a:t>OBJECTIF OBSERVABLE</a:t>
            </a:r>
          </a:p>
          <a:p>
            <a:r>
              <a:t>Commencer par savoir ce que l’on cherche. Le participant doit pouvoir expliquer ou réaliser les éléments suivants : Supervisé : exemples et cibles connues ; Non supervisé : structure sans cible fournie ; Auto-supervisé : cible construite depuis les données.</a:t>
            </a:r>
          </a:p>
          <a:p/>
          <a:p>
            <a:r>
              <a:t>EXPLICATION ET ANIMATION</a:t>
            </a:r>
          </a:p>
          <a:p>
            <a:r>
              <a:t>Dans l’apprentissage supervisé, une cible est fournie pour apprendre une relation entre variables et résultat. Dans un regroupement non supervisé, aucune classe métier n’est automatiquement établie par les groupes trouvés. L’auto-supervision construit une tâche à partir des données elles-mêmes ; elle ne supprime ni les choix de conception ni le besoin d’évaluer l’usage final. Cette distinction est un complément pédagogique explicite au dossier.</a:t>
            </a:r>
          </a:p>
          <a:p/>
          <a:p>
            <a:r>
              <a:t>QUESTION À POSER</a:t>
            </a:r>
          </a:p>
          <a:p>
            <a:r>
              <a:t>Un groupe atypique est-il une preuve de fraude ?</a:t>
            </a:r>
          </a:p>
          <a:p/>
          <a:p>
            <a:r>
              <a:t>RÉPONSE ATTENDUE ET CORRECTION</a:t>
            </a:r>
          </a:p>
          <a:p>
            <a:r>
              <a:t>Non. Une anomalie statistique demande une interprétation et des vérifications.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007 | Type ATELIER | Niveau Application | Support projection + notes]</a:t>
            </a:r>
          </a:p>
          <a:p/>
          <a:p>
            <a:r>
              <a:t>OBJECTIF OBSERVABLE</a:t>
            </a:r>
          </a:p>
          <a:p>
            <a:r>
              <a:t>Prédire, classer, segmenter ou générer ? Le participant doit pouvoir expliquer ou réaliser les éléments suivants : Classe : catégorie discrète ; Valeur : quantité continue ; Structure : localisation, texte ou masque.</a:t>
            </a:r>
          </a:p>
          <a:p/>
          <a:p>
            <a:r>
              <a:t>EXPLICATION ET ANIMATION</a:t>
            </a:r>
          </a:p>
          <a:p>
            <a:r>
              <a:t>Faire classer quatre besoins : prioriser un dossier, prévoir un volume, localiser un objet dans une image et rédiger une synthèse. Un même besoin peut contenir plusieurs tâches. Foncier Innovant illustre une chaîne, pas seulement une classification. Le choix d’un réseau ne remplace pas la définition de la sortie attendue et de l’action autorisée.</a:t>
            </a:r>
          </a:p>
          <a:p/>
          <a:p>
            <a:r>
              <a:t>QUESTION À POSER</a:t>
            </a:r>
          </a:p>
          <a:p>
            <a:r>
              <a:t>« Repérer une piscine » est-il une tâche entièrement définie ?</a:t>
            </a:r>
          </a:p>
          <a:p/>
          <a:p>
            <a:r>
              <a:t>RÉPONSE ATTENDUE ET CORRECTION</a:t>
            </a:r>
          </a:p>
          <a:p>
            <a:r>
              <a:t>Non : il manque la sortie précise, la granularité, les données et l’usage autorisé.</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008 | Type CONCEPT | Niveau Application | Support projection + notes]</a:t>
            </a:r>
          </a:p>
          <a:p/>
          <a:p>
            <a:r>
              <a:t>OBJECTIF OBSERVABLE</a:t>
            </a:r>
          </a:p>
          <a:p>
            <a:r>
              <a:t>Chaque ligne doit avoir une signification. Le participant doit pouvoir expliquer ou réaliser les éléments suivants : Une observation et sa date ; Des variables disponibles au bon moment ; Une cible et un procédé d’annotation.</a:t>
            </a:r>
          </a:p>
          <a:p/>
          <a:p>
            <a:r>
              <a:t>EXPLICATION ET ANIMATION</a:t>
            </a:r>
          </a:p>
          <a:p>
            <a:r>
              <a:t>Le jeu tabulaire fourni est synthétique. Les colonnes v00 à v19 sont des caractéristiques numériques artificielles, sans correspondance avec des critères fiscaux réels. La cible « examen_utile » ne constate aucune fraude. Une colonne « resultat_apres_examen » existe uniquement pour l’exercice de fuite et doit être exclue du pipeline normal. Les identifiants ne sont jamais employés comme variables.</a:t>
            </a:r>
          </a:p>
          <a:p/>
          <a:p>
            <a:r>
              <a:t>QUESTION À POSER</a:t>
            </a:r>
          </a:p>
          <a:p>
            <a:r>
              <a:t>Quelles colonnes seront connues au moment de prédire ?</a:t>
            </a:r>
          </a:p>
          <a:p/>
          <a:p>
            <a:r>
              <a:t>RÉPONSE ATTENDUE ET CORRECTION</a:t>
            </a:r>
          </a:p>
          <a:p>
            <a:r>
              <a:t>Uniquement les variables définies comme disponibles avant l’examen, jamais son résultat.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009 | Type CONCEPT | Niveau Application | Support projection + notes]</a:t>
            </a:r>
          </a:p>
          <a:p/>
          <a:p>
            <a:r>
              <a:t>OBJECTIF OBSERVABLE</a:t>
            </a:r>
          </a:p>
          <a:p>
            <a:r>
              <a:t>Apprendre les paramètres, puis les utiliser. Le participant doit pouvoir expliquer ou réaliser les éléments suivants : Entraînement : données + cibles + mise à jour ; Inférence : nouvelles entrées + paramètres figés ; Évaluation : comparer à une vérité disponible.</a:t>
            </a:r>
          </a:p>
          <a:p/>
          <a:p>
            <a:r>
              <a:t>EXPLICATION ET ANIMATION</a:t>
            </a:r>
          </a:p>
          <a:p>
            <a:r>
              <a:t>Pendant l’entraînement, les paramètres évoluent sous l’effet des gradients et de l’optimiseur. À l’inférence, on calcule une sortie avec un état sauvegardé du modèle. On doit aussi réutiliser le prétraitement appris. Les couches comme dropout et BatchNorm se comportent différemment selon le mode ; ce point sera expérimenté au deuxième jour.</a:t>
            </a:r>
          </a:p>
          <a:p/>
          <a:p>
            <a:r>
              <a:t>QUESTION À POSER</a:t>
            </a:r>
          </a:p>
          <a:p>
            <a:r>
              <a:t>Faut-il réajuster le scaler sur chaque nouveau dossier ?</a:t>
            </a:r>
          </a:p>
          <a:p/>
          <a:p>
            <a:r>
              <a:t>RÉPONSE ATTENDUE ET CORRECTION</a:t>
            </a:r>
          </a:p>
          <a:p>
            <a:r>
              <a:t>Non. Il faut appliquer le scaler appris sur les données d’entraînement.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010 | Type CONCEPT | Niveau Application | Support projection + notes]</a:t>
            </a:r>
          </a:p>
          <a:p/>
          <a:p>
            <a:r>
              <a:t>OBJECTIF OBSERVABLE</a:t>
            </a:r>
          </a:p>
          <a:p>
            <a:r>
              <a:t>Une somme pondérée suivie d’une activation. Le participant doit pouvoir expliquer ou réaliser les éléments suivants : z = w₁x₁ + w₂x₂ + b ; a = activation(z) ; Les poids et le biais sont appris.</a:t>
            </a:r>
          </a:p>
          <a:p/>
          <a:p>
            <a:r>
              <a:t>EXPLICATION ET ANIMATION</a:t>
            </a:r>
          </a:p>
          <a:p>
            <a:r>
              <a:t>Exemple à calculer : x₁ = 2, x₂ = 1, w₁ = 0,5, w₂ = -1 et b = 0,2. La somme vaut 0,2. Avec ReLU, la sortie vaut 0,2. Ce calcul ne devient un apprentissage que lorsque les poids sont ajustés à partir d’un objectif. L’humain choisit les données, le type de réseau, la perte et le protocole.</a:t>
            </a:r>
          </a:p>
          <a:p/>
          <a:p>
            <a:r>
              <a:t>QUESTION À POSER</a:t>
            </a:r>
          </a:p>
          <a:p>
            <a:r>
              <a:t>Que vaut z dans cet exemple ?</a:t>
            </a:r>
          </a:p>
          <a:p/>
          <a:p>
            <a:r>
              <a:t>RÉPONSE ATTENDUE ET CORRECTION</a:t>
            </a:r>
          </a:p>
          <a:p>
            <a:r>
              <a:t>0,5 × 2 + (-1) × 1 + 0,2 = 0,2.</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011 | Type CONCEPT | Niveau Application | Support projection + notes]</a:t>
            </a:r>
          </a:p>
          <a:p/>
          <a:p>
            <a:r>
              <a:t>OBJECTIF OBSERVABLE</a:t>
            </a:r>
          </a:p>
          <a:p>
            <a:r>
              <a:t>XOR ne se sépare pas par une seule droite. Le participant doit pouvoir expliquer ou réaliser les éléments suivants : Entrées : deux bits ; Sortie 1 si les bits diffèrent ; Des non-linéarités changent la représentation.</a:t>
            </a:r>
          </a:p>
          <a:p/>
          <a:p>
            <a:r>
              <a:t>EXPLICATION ET ANIMATION</a:t>
            </a:r>
          </a:p>
          <a:p>
            <a:r>
              <a:t>Tracer les quatre points du XOR. Les points positifs occupent deux coins opposés, les négatifs les deux autres. Une frontière linéaire unique ne peut les séparer parfaitement. Des transformations non linéaires intermédiaires permettent de représenter ce motif. Empiler des couches strictement linéaires ne résout pas cette limite : leur composition reste linéaire.</a:t>
            </a:r>
          </a:p>
          <a:p/>
          <a:p>
            <a:r>
              <a:t>QUESTION À POSER</a:t>
            </a:r>
          </a:p>
          <a:p>
            <a:r>
              <a:t>Que se passe-t-il si toutes les activations sont linéaires ?</a:t>
            </a:r>
          </a:p>
          <a:p/>
          <a:p>
            <a:r>
              <a:t>RÉPONSE ATTENDUE ET CORRECTION</a:t>
            </a:r>
          </a:p>
          <a:p>
            <a:r>
              <a:t>L’empilement reste équivalent à une transformation linéaire.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012 | Type CONCEPT | Niveau Application | Support projection + notes]</a:t>
            </a:r>
          </a:p>
          <a:p/>
          <a:p>
            <a:r>
              <a:t>OBJECTIF OBSERVABLE</a:t>
            </a:r>
          </a:p>
          <a:p>
            <a:r>
              <a:t>La sortie doit correspondre à la tâche. Le participant doit pouvoir expliquer ou réaliser les éléments suivants : ReLU : max(0, z) ; Sigmoïde : score binaire entre 0 et 1 ; Softmax : scores normalisés entre classes.</a:t>
            </a:r>
          </a:p>
          <a:p/>
          <a:p>
            <a:r>
              <a:t>EXPLICATION ET ANIMATION</a:t>
            </a:r>
          </a:p>
          <a:p>
            <a:r>
              <a:t>ReLU est utilisée ici dans les couches cachées. La sigmoïde associe un logit à une valeur entre zéro et un ; celle-ci n’est pas automatiquement une probabilité bien calibrée. Softmax normalise des logits pour une classification multiclasses exclusive. En PyTorch, CrossEntropyLoss attend les logits : ajouter un softmax avant cette perte est inutile et généralement inadéquat.</a:t>
            </a:r>
          </a:p>
          <a:p/>
          <a:p>
            <a:r>
              <a:t>QUESTION À POSER</a:t>
            </a:r>
          </a:p>
          <a:p>
            <a:r>
              <a:t>Pourquoi éviter softmax avant CrossEntropyLoss ?</a:t>
            </a:r>
          </a:p>
          <a:p/>
          <a:p>
            <a:r>
              <a:t>RÉPONSE ATTENDUE ET CORRECTION</a:t>
            </a:r>
          </a:p>
          <a:p>
            <a:r>
              <a:t>La perte intègre déjà l’opération adaptée aux logits.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013 | Type CONCEPT | Niveau Application | Support projection + notes]</a:t>
            </a:r>
          </a:p>
          <a:p/>
          <a:p>
            <a:r>
              <a:t>OBJECTIF OBSERVABLE</a:t>
            </a:r>
          </a:p>
          <a:p>
            <a:r>
              <a:t>Le premier diagnostic : afficher la forme. Le participant doit pouvoir expliquer ou réaliser les éléments suivants : Scalaire → vecteur → matrice ; Image : hauteur, largeur, canaux ; Lot : dimension supplémentaire.</a:t>
            </a:r>
          </a:p>
          <a:p/>
          <a:p>
            <a:r>
              <a:t>EXPLICATION ET ANIMATION</a:t>
            </a:r>
          </a:p>
          <a:p>
            <a:r>
              <a:t>Un tenseur est une structure de nombres organisée selon plusieurs axes. L’ordre des axes fait partie du contrat du modèle. Dans les notebooks vision PyTorch, la convention est N × C × H × W. Pour les couches Keras habituelles, le format retenu est N × H × W × C. Les images d’exercice sont en niveaux de gris, de taille 8 × 8, avec un canal.</a:t>
            </a:r>
          </a:p>
          <a:p/>
          <a:p>
            <a:r>
              <a:t>QUESTION À POSER</a:t>
            </a:r>
          </a:p>
          <a:p>
            <a:r>
              <a:t>Quelle forme attend notre CNN PyTorch pour 32 images ?</a:t>
            </a:r>
          </a:p>
          <a:p/>
          <a:p>
            <a:r>
              <a:t>RÉPONSE ATTENDUE ET CORRECTION</a:t>
            </a:r>
          </a:p>
          <a:p>
            <a:r>
              <a:t>(32, 1, 8, 8).</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014 | Type ATELIER | Niveau Application | Support projection + notes]</a:t>
            </a:r>
          </a:p>
          <a:p/>
          <a:p>
            <a:r>
              <a:t>OBJECTIF OBSERVABLE</a:t>
            </a:r>
          </a:p>
          <a:p>
            <a:r>
              <a:t>Provoquer une erreur, puis la comprendre. Le participant doit pouvoir expliquer ou réaliser les éléments suivants : Créer une matrice 2 × 3 ; Multiplier par une matrice 3 × 4 ; Expliquer pourquoi 2 × 3 fois 2 × 4 échoue.</a:t>
            </a:r>
          </a:p>
          <a:p/>
          <a:p>
            <a:r>
              <a:t>EXPLICATION ET ANIMATION</a:t>
            </a:r>
          </a:p>
          <a:p>
            <a:r>
              <a:t>Faire annoncer le résultat attendu avant l’exécution. Les dimensions internes doivent être compatibles ; la sortie du produit 2 × 3 par 3 × 4 est 2 × 4. Une opération reshape conserve le nombre total d’éléments, mais ne garantit pas que la nouvelle organisation conserve le sens métier. Ne pas corriger une erreur de dimension à l’aveugle.</a:t>
            </a:r>
          </a:p>
          <a:p/>
          <a:p>
            <a:r>
              <a:t>QUESTION À POSER</a:t>
            </a:r>
          </a:p>
          <a:p>
            <a:r>
              <a:t>Peut-on transformer six valeurs en une matrice 2 × 4 ?</a:t>
            </a:r>
          </a:p>
          <a:p/>
          <a:p>
            <a:r>
              <a:t>RÉPONSE ATTENDUE ET CORRECTION</a:t>
            </a:r>
          </a:p>
          <a:p>
            <a:r>
              <a:t>Non. Il manque deux valeurs ; changer les dimensions ne crée pas de données.</a:t>
            </a:r>
          </a:p>
          <a:p/>
          <a:p>
            <a:r>
              <a:t>VÉRIFICATION</a:t>
            </a:r>
          </a:p>
          <a:p>
            <a:r>
              <a:t>Demander une reformulation avec un exemple ou une preuve issue du notebook. Ne pas accepter une réponse limitée au nom d’une bibliothèque. Ouvrir le notebook 01 ; conserver les résultats et le journal.</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015 | Type CONCEPT | Niveau Application | Support projection + notes]</a:t>
            </a:r>
          </a:p>
          <a:p/>
          <a:p>
            <a:r>
              <a:t>OBJECTIF OBSERVABLE</a:t>
            </a:r>
          </a:p>
          <a:p>
            <a:r>
              <a:t>Une combinaison incohérente peut tout bloquer. Le participant doit pouvoir expliquer ou réaliser les éléments suivants : Binaire : un logit + BCEWithLogitsLoss ; Multiclasse : K logits + CrossEntropyLoss ; Régression : sortie réelle + MSE ou MAE.</a:t>
            </a:r>
          </a:p>
          <a:p/>
          <a:p>
            <a:r>
              <a:t>EXPLICATION ET ANIMATION</a:t>
            </a:r>
          </a:p>
          <a:p>
            <a:r>
              <a:t>La perte est le signal optimisé, alors que les métriques servent à évaluer. Elles ne sont pas interchangeables. Pour un modèle Keras binaire avec sigmoïde, binary_crossentropy sans from_logits convient. En PyTorch binaire, un logit brut associé à BCEWithLogitsLoss évite une sigmoïde explicite dans le modèle. Documenter aussi le type de la cible.</a:t>
            </a:r>
          </a:p>
          <a:p/>
          <a:p>
            <a:r>
              <a:t>QUESTION À POSER</a:t>
            </a:r>
          </a:p>
          <a:p>
            <a:r>
              <a:t>Peut-on remplacer la perte par l’accuracy pour entraîner simplement ?</a:t>
            </a:r>
          </a:p>
          <a:p/>
          <a:p>
            <a:r>
              <a:t>RÉPONSE ATTENDUE ET CORRECTION</a:t>
            </a:r>
          </a:p>
          <a:p>
            <a:r>
              <a:t>Non : l’accuracy discrète ne fournit pas le gradient utile à cette boucle.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016 | Type CONCEPT | Niveau Application | Support projection + notes]</a:t>
            </a:r>
          </a:p>
          <a:p/>
          <a:p>
            <a:r>
              <a:t>OBJECTIF OBSERVABLE</a:t>
            </a:r>
          </a:p>
          <a:p>
            <a:r>
              <a:t>Que change une petite variation du poids ? Le participant doit pouvoir expliquer ou réaliser les éléments suivants : Perte simple : L(w) = (w - 3)² ; Pente : 2 × (w - 3) ; Minimum : w = 3.</a:t>
            </a:r>
          </a:p>
          <a:p/>
          <a:p>
            <a:r>
              <a:t>EXPLICATION ET ANIMATION</a:t>
            </a:r>
          </a:p>
          <a:p>
            <a:r>
              <a:t>La dérivée indique comment la perte varie localement quand un paramètre change. Pour w = -4, le gradient de l’exemple vaut -14. Avec un taux de 0,1, le nouveau poids vaut -2,6. Le gradient ne cherche pas directement une signification métier ; il agit sur la fonction d’erreur choisie. Le notebook compare plusieurs taux pour rendre la dynamique visible.</a:t>
            </a:r>
          </a:p>
          <a:p/>
          <a:p>
            <a:r>
              <a:t>QUESTION À POSER</a:t>
            </a:r>
          </a:p>
          <a:p>
            <a:r>
              <a:t>Quel est le premier déplacement avec un taux de 0,1 ?</a:t>
            </a:r>
          </a:p>
          <a:p/>
          <a:p>
            <a:r>
              <a:t>RÉPONSE ATTENDUE ET CORRECTION</a:t>
            </a:r>
          </a:p>
          <a:p>
            <a:r>
              <a:t>w devient -4 - 0,1 × (-14), soit -2,6.</a:t>
            </a:r>
          </a:p>
          <a:p/>
          <a:p>
            <a:r>
              <a:t>VÉRIFICATION</a:t>
            </a:r>
          </a:p>
          <a:p>
            <a:r>
              <a:t>Demander une reformulation avec un exemple ou une preuve issue du notebook. Ne pas accepter une réponse limitée au nom d’une bibliothèque. Ouvrir le notebook 01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017 | Type ATELIER | Niveau Application | Support projection + notes]</a:t>
            </a:r>
          </a:p>
          <a:p/>
          <a:p>
            <a:r>
              <a:t>OBJECTIF OBSERVABLE</a:t>
            </a:r>
          </a:p>
          <a:p>
            <a:r>
              <a:t>Trop petit : lent. Trop grand : instable. Le participant doit pouvoir expliquer ou réaliser les éléments suivants : Taux 0,01 : progression lente ; Taux 0,1 : rapprochement du minimum ; Taux 1,1 : divergence sur cette parabole.</a:t>
            </a:r>
          </a:p>
          <a:p/>
          <a:p>
            <a:r>
              <a:t>EXPLICATION ET ANIMATION</a:t>
            </a:r>
          </a:p>
          <a:p>
            <a:r>
              <a:t>Les trois courbes représentent la même fonction et le même point initial. Pour cette parabole précise, la convergence de cette itération nécessite un taux strictement compris entre zéro et un. Ce résultat analytique n’est pas une règle générale de réglage des réseaux profonds. On demande aux participants de distinguer propriété du jouet mathématique et conseil d’ingénierie.</a:t>
            </a:r>
          </a:p>
          <a:p/>
          <a:p>
            <a:r>
              <a:t>QUESTION À POSER</a:t>
            </a:r>
          </a:p>
          <a:p>
            <a:r>
              <a:t>Un taux de 0,1 est-il toujours un bon choix ?</a:t>
            </a:r>
          </a:p>
          <a:p/>
          <a:p>
            <a:r>
              <a:t>RÉPONSE ATTENDUE ET CORRECTION</a:t>
            </a:r>
          </a:p>
          <a:p>
            <a:r>
              <a:t>Non. Il dépend du problème, de l’optimiseur, de l’échelle des données et de l’architecture.</a:t>
            </a:r>
          </a:p>
          <a:p/>
          <a:p>
            <a:r>
              <a:t>VÉRIFICATION</a:t>
            </a:r>
          </a:p>
          <a:p>
            <a:r>
              <a:t>Demander une reformulation avec un exemple ou une preuve issue du notebook. Ne pas accepter une réponse limitée au nom d’une bibliothèque. Ouvrir le notebook 01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018 | Type CONCEPT | Niveau Application | Support projection + notes]</a:t>
            </a:r>
          </a:p>
          <a:p/>
          <a:p>
            <a:r>
              <a:t>OBJECTIF OBSERVABLE</a:t>
            </a:r>
          </a:p>
          <a:p>
            <a:r>
              <a:t>Calculer un gradient ne modifie pas encore le poids. Le participant doit pouvoir expliquer ou réaliser les éléments suivants : Propagation avant : produire la sortie ; Rétropropagation : calculer les gradients ; Optimiseur : appliquer la mise à jour.</a:t>
            </a:r>
          </a:p>
          <a:p/>
          <a:p>
            <a:r>
              <a:t>EXPLICATION ET ANIMATION</a:t>
            </a:r>
          </a:p>
          <a:p>
            <a:r>
              <a:t>La règle de chaîne relie les dérivées locales des opérations successives. La différentiation automatique évite de les coder une à une, mais ne valide pas la formulation du problème. Dans PyTorch, backward calcule les gradients ; step modifie les paramètres. Ils s’accumulent par défaut, d’où la remise à zéro à chaque lot pour la boucle standard étudiée.</a:t>
            </a:r>
          </a:p>
          <a:p/>
          <a:p>
            <a:r>
              <a:t>QUESTION À POSER</a:t>
            </a:r>
          </a:p>
          <a:p>
            <a:r>
              <a:t>Pourquoi appeler zero_grad dans cette boucle ?</a:t>
            </a:r>
          </a:p>
          <a:p/>
          <a:p>
            <a:r>
              <a:t>RÉPONSE ATTENDUE ET CORRECTION</a:t>
            </a:r>
          </a:p>
          <a:p>
            <a:r>
              <a:t>Pour éviter d’additionner involontairement les gradients des lots précédents.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019 | Type CONCEPT | Niveau Application | Support projection + notes]</a:t>
            </a:r>
          </a:p>
          <a:p/>
          <a:p>
            <a:r>
              <a:t>OBJECTIF OBSERVABLE</a:t>
            </a:r>
          </a:p>
          <a:p>
            <a:r>
              <a:t>Ne pas confondre ce qui est appris et ce qui est réglé. Le participant doit pouvoir expliquer ou réaliser les éléments suivants : Lot : sous-ensemble traité ensemble ; Époque : parcours du jeu d’entraînement ; Hyperparamètre : décision de configuration.</a:t>
            </a:r>
          </a:p>
          <a:p/>
          <a:p>
            <a:r>
              <a:t>EXPLICATION ET ANIMATION</a:t>
            </a:r>
          </a:p>
          <a:p>
            <a:r>
              <a:t>Les poids et biais sont des paramètres appris. Le taux d’apprentissage, la taille des lots, le nombre maximal d’époques et le nombre de couches sont des hyperparamètres. Avec 1 000 exemples et des lots de 100, une époque contient dix étapes, sous réserve de la gestion du dernier lot. Une époque n’est pas un unique pas d’optimisation.</a:t>
            </a:r>
          </a:p>
          <a:p/>
          <a:p>
            <a:r>
              <a:t>QUESTION À POSER</a:t>
            </a:r>
          </a:p>
          <a:p>
            <a:r>
              <a:t>Avec 1 000 observations et des lots de 100, combien de mises à jour ?</a:t>
            </a:r>
          </a:p>
          <a:p/>
          <a:p>
            <a:r>
              <a:t>RÉPONSE ATTENDUE ET CORRECTION</a:t>
            </a:r>
          </a:p>
          <a:p>
            <a:r>
              <a:t>Dix mises à jour par époque dans ce cas exact.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020 | Type CONCEPT | Niveau Application | Support projection + notes]</a:t>
            </a:r>
          </a:p>
          <a:p/>
          <a:p>
            <a:r>
              <a:t>OBJECTIF OBSERVABLE</a:t>
            </a:r>
          </a:p>
          <a:p>
            <a:r>
              <a:t>L’histoire sert à comprendre les architectures. Le participant doit pouvoir expliquer ou réaliser les éléments suivants : 1997 : LSTM et mémoire séquentielle ; 2012 : AlexNet, CNN et GPU ; 2015 : BatchNorm/ResNet • 2017 : attention.</a:t>
            </a:r>
          </a:p>
          <a:p/>
          <a:p>
            <a:r>
              <a:t>EXPLICATION ET ANIMATION</a:t>
            </a:r>
          </a:p>
          <a:p>
            <a:r>
              <a:t>Présenter ces repères comme une sélection pédagogique, pas une histoire exhaustive. AlexNet illustre une convergence de données, calcul et architecture. ResNet facilite l’optimisation de réseaux profonds via des connexions résiduelles. Le Transformer introduit une architecture de traduction fondée sur l’attention sans récurrence. Les LSTM restent au programme, sans être présentés comme dominants dans tout le langage moderne.</a:t>
            </a:r>
          </a:p>
          <a:p/>
          <a:p>
            <a:r>
              <a:t>QUESTION À POSER</a:t>
            </a:r>
          </a:p>
          <a:p>
            <a:r>
              <a:t>Quelle difficulté chaque innovation cherche-t-elle à résoudre ?</a:t>
            </a:r>
          </a:p>
          <a:p/>
          <a:p>
            <a:r>
              <a:t>RÉPONSE ATTENDUE ET CORRECTION</a:t>
            </a:r>
          </a:p>
          <a:p>
            <a:r>
              <a:t>Mémoire temporelle, vision à grande échelle, optimisation profonde et relations entre éléments.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[R08] Krizhevsky, Sutskever et Hinton. ImageNet Classification with Deep Convolutional Neural Networks. https://proceedings.neurips.cc/paper/2012/hash/c399862d3b9d6b76c8436e924a68c45b-Abstract.html</a:t>
            </a:r>
          </a:p>
          <a:p>
            <a:r>
              <a:t>[R09] Hochreiter et Schmidhuber. Long Short-Term Memory. https://doi.org/10.1162/neco.1997.9.8.1735</a:t>
            </a:r>
          </a:p>
          <a:p>
            <a:r>
              <a:t>[R12] Ioffe et Szegedy. Batch Normalization. https://arxiv.org/abs/1502.03167</a:t>
            </a:r>
          </a:p>
          <a:p>
            <a:r>
              <a:t>[R13] He et coauteurs. Deep Residual Learning for Image Recognition. https://arxiv.org/abs/1512.03385</a:t>
            </a:r>
          </a:p>
          <a:p>
            <a:r>
              <a:t>[R14] Vaswani et coauteurs. Attention Is All You Need. https://arxiv.org/abs/1706.03762</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[R08] Krizhevsky, Sutskever et Hinton. ImageNet Classification with Deep Convolutional Neural Networks. 2012. https://proceedings.neurips.cc/paper/2012/hash/c399862d3b9d6b76c8436e924a68c45b-Abstract.html</a:t>
            </a:r>
          </a:p>
          <a:p>
            <a:r>
              <a:t>[R09] Hochreiter et Schmidhuber. Long Short-Term Memory. 1997. https://doi.org/10.1162/neco.1997.9.8.1735</a:t>
            </a:r>
          </a:p>
          <a:p>
            <a:r>
              <a:t>[R12] Ioffe et Szegedy. Batch Normalization. 2015. https://arxiv.org/abs/1502.03167</a:t>
            </a:r>
          </a:p>
          <a:p>
            <a:r>
              <a:t>[R13] He et coauteurs. Deep Residual Learning for Image Recognition. 2015/2016. https://arxiv.org/abs/1512.03385</a:t>
            </a:r>
          </a:p>
          <a:p>
            <a:r>
              <a:t>[R14] Vaswani et coauteurs. Attention Is All You Need. 2017. https://arxiv.org/abs/1706.03762</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021 | Type CONCEPT | Niveau Application | Support projection + notes]</a:t>
            </a:r>
          </a:p>
          <a:p/>
          <a:p>
            <a:r>
              <a:t>OBJECTIF OBSERVABLE</a:t>
            </a:r>
          </a:p>
          <a:p>
            <a:r>
              <a:t>Une convergence, pas une cause unique. Le participant doit pouvoir expliquer ou réaliser les éléments suivants : Données disponibles ; Accélérateurs et architectures ; Optimisation et logiciels ouverts.</a:t>
            </a:r>
          </a:p>
          <a:p/>
          <a:p>
            <a:r>
              <a:t>EXPLICATION ET ANIMATION</a:t>
            </a:r>
          </a:p>
          <a:p>
            <a:r>
              <a:t>Éviter une causalité simpliste attribuée uniquement aux GPU ou à une découverte. Les grands benchmarks rendent les comparaisons possibles ; les logiciels réutilisables abaissent le coût de l’expérimentation ; le préentraînement réutilise des représentations. Ces avantages n’éliminent ni le besoin de données pertinentes ni le coût d’un protocole sérieux.</a:t>
            </a:r>
          </a:p>
          <a:p/>
          <a:p>
            <a:r>
              <a:t>QUESTION À POSER</a:t>
            </a:r>
          </a:p>
          <a:p>
            <a:r>
              <a:t>Un GPU corrige-t-il un mauvais jeu de données ?</a:t>
            </a:r>
          </a:p>
          <a:p/>
          <a:p>
            <a:r>
              <a:t>RÉPONSE ATTENDUE ET CORRECTION</a:t>
            </a:r>
          </a:p>
          <a:p>
            <a:r>
              <a:t>Non. Il accélère aussi l’apprentissage de mauvaises corrélations.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[R08] Krizhevsky, Sutskever et Hinton. ImageNet Classification with Deep Convolutional Neural Networks. https://proceedings.neurips.cc/paper/2012/hash/c399862d3b9d6b76c8436e924a68c45b-Abstract.html</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[R08] Krizhevsky, Sutskever et Hinton. ImageNet Classification with Deep Convolutional Neural Networks. 2012. https://proceedings.neurips.cc/paper/2012/hash/c399862d3b9d6b76c8436e924a68c45b-Abstract.html</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022 | Type CONCEPT | Niveau Application | Support projection + notes]</a:t>
            </a:r>
          </a:p>
          <a:p/>
          <a:p>
            <a:r>
              <a:t>OBJECTIF OBSERVABLE</a:t>
            </a:r>
          </a:p>
          <a:p>
            <a:r>
              <a:t>Comparer vaut mieux que croire. Le participant doit pouvoir expliquer ou réaliser les éléments suivants : Prédiction constante ou naïve ; Modèle linéaire et modèle à arbres ; Même séparation et même métrique.</a:t>
            </a:r>
          </a:p>
          <a:p/>
          <a:p>
            <a:r>
              <a:t>EXPLICATION ET ANIMATION</a:t>
            </a:r>
          </a:p>
          <a:p>
            <a:r>
              <a:t>L’étude de Grinsztajn et ses coauteurs, publiée en 2022, compare des modèles sur 45 jeux tabulaires dans un protocole précis et souligne la force des arbres sur des tailles intermédiaires. Ce résultat historique ne prouve pas qu’aucun réseau ne puisse être meilleur. Le TP rend cette question empirique : la comparaison locale décide, sans généraliser abusivement.</a:t>
            </a:r>
          </a:p>
          <a:p/>
          <a:p>
            <a:r>
              <a:t>QUESTION À POSER</a:t>
            </a:r>
          </a:p>
          <a:p>
            <a:r>
              <a:t>Que faire si l’arbre bat le MLP ?</a:t>
            </a:r>
          </a:p>
          <a:p/>
          <a:p>
            <a:r>
              <a:t>RÉPONSE ATTENDUE ET CORRECTION</a:t>
            </a:r>
          </a:p>
          <a:p>
            <a:r>
              <a:t>Conserver ce résultat, analyser les coûts et ne pas chercher à sauver artificiellement le réseau.</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[R15] Grinsztajn, Oyallon et Varoquaux. Why do tree-based models still outperform deep learning on tabular data?. https://arxiv.org/abs/2207.08815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[R15] Grinsztajn, Oyallon et Varoquaux. Why do tree-based models still outperform deep learning on tabular data?. 2022. https://arxiv.org/abs/2207.08815</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023 | Type CONCEPT | Niveau Application | Support projection + notes]</a:t>
            </a:r>
          </a:p>
          <a:p/>
          <a:p>
            <a:r>
              <a:t>OBJECTIF OBSERVABLE</a:t>
            </a:r>
          </a:p>
          <a:p>
            <a:r>
              <a:t>Keras est une API multi-moteur. Le participant doit pouvoir expliquer ou réaliser les éléments suivants : TensorFlow : moteur et écosystème ; PyTorch : tenseurs, modules et autograd ; Keras 3 : API de modèles de haut niveau.</a:t>
            </a:r>
          </a:p>
          <a:p/>
          <a:p>
            <a:r>
              <a:t>EXPLICATION ET ANIMATION</a:t>
            </a:r>
          </a:p>
          <a:p>
            <a:r>
              <a:t>La documentation Keras précise sa compatibilité avec TensorFlow, PyTorch et JAX pour l’entraînement. La présentation ne prétend pas énumérer tous ses moteurs d’inférence. Dans le kit, PyTorch expose la boucle ; Keras réduit le volume de syntaxe. Le moteur est sélectionné avant import et doit être tracé. La branche TensorFlow est fournie, mais son exécution locale n’est pas validée dans l’environnement de production de ce kit.</a:t>
            </a:r>
          </a:p>
          <a:p/>
          <a:p>
            <a:r>
              <a:t>QUESTION À POSER</a:t>
            </a:r>
          </a:p>
          <a:p>
            <a:r>
              <a:t>Keras 3 est-il nécessairement limité à TensorFlow ?</a:t>
            </a:r>
          </a:p>
          <a:p/>
          <a:p>
            <a:r>
              <a:t>RÉPONSE ATTENDUE ET CORRECTION</a:t>
            </a:r>
          </a:p>
          <a:p>
            <a:r>
              <a:t>Non. Il peut notamment fonctionner avec PyTorch ou JAX.</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[R23] Équipe TensorFlow. Démarrage TensorFlow 2. https://www.tensorflow.org/tutorials/quickstart/beginner</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[R23] Équipe TensorFlow. Démarrage TensorFlow 2. Documentation consultée le 14 septembre 2026. https://www.tensorflow.org/tutorials/quickstart/beginner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024 | Type CONCEPT | Niveau Application | Support projection + notes]</a:t>
            </a:r>
          </a:p>
          <a:p/>
          <a:p>
            <a:r>
              <a:t>OBJECTIF OBSERVABLE</a:t>
            </a:r>
          </a:p>
          <a:p>
            <a:r>
              <a:t>Comprendre une fois, reconnaître plusieurs API. Le participant doit pouvoir expliquer ou réaliser les éléments suivants : Keras : construire rapidement ; PyTorch natif : rendre la boucle explicite ; TensorFlow natif : tenseurs et différentiation.</a:t>
            </a:r>
          </a:p>
          <a:p/>
          <a:p>
            <a:r>
              <a:t>EXPLICATION ET ANIMATION</a:t>
            </a:r>
          </a:p>
          <a:p>
            <a:r>
              <a:t>Ne pas passer trois fois deux heures à traduire le même programme. Le premier réseau Keras et le réseau PyTorch partagent les choix de fond : dimensions, architecture, perte, optimisation et évaluation. Le notebook environnement contient aussi une branche TensorFlow indépendante, activable dans un environnement équipé. Les écarts de performance entre exécutions ne doivent pas être interprétés comme un classement des frameworks.</a:t>
            </a:r>
          </a:p>
          <a:p/>
          <a:p>
            <a:r>
              <a:t>QUESTION À POSER</a:t>
            </a:r>
          </a:p>
          <a:p>
            <a:r>
              <a:t>Quels éléments restent identiques entre les API ?</a:t>
            </a:r>
          </a:p>
          <a:p/>
          <a:p>
            <a:r>
              <a:t>RÉPONSE ATTENDUE ET CORRECTION</a:t>
            </a:r>
          </a:p>
          <a:p>
            <a:r>
              <a:t>La tâche, les données, la perte, le protocole et les métriques.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r>
              <a:t>[R23] Équipe TensorFlow. Démarrage TensorFlow 2. https://www.tensorflow.org/tutorials/quickstart/beginner</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a:r>
              <a:t>[R23] Équipe TensorFlow. Démarrage TensorFlow 2. Documentation consultée le 14 septembre 2026. https://www.tensorflow.org/tutorials/quickstart/beginner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025 | Type CONCEPT | Niveau Application | Support projection + notes]</a:t>
            </a:r>
          </a:p>
          <a:p/>
          <a:p>
            <a:r>
              <a:t>OBJECTIF OBSERVABLE</a:t>
            </a:r>
          </a:p>
          <a:p>
            <a:r>
              <a:t>Le GPU accélère ; il n’est pas obligatoire. Le participant doit pouvoir expliquer ou réaliser les éléments suivants : Jupyter local avec fichiers du kit ; Colab si autorisé et disponible ; Données sensibles exclues des services externes.</a:t>
            </a:r>
          </a:p>
          <a:p/>
          <a:p>
            <a:r>
              <a:t>EXPLICATION ET ANIMATION</a:t>
            </a:r>
          </a:p>
          <a:p>
            <a:r>
              <a:t>Le mode local CPU est le socle de continuité. Les données nécessaires aux parcours obligatoires sont dans le kit. L’installation initiale des bibliothèques exige un accès réseau ou un dépôt interne préparé ; l’absence d’Internet pendant la session n’implique pas une installation magique hors ligne. Pour Colab, décompresser le kit et ajuster le répertoire de travail. Aucun service externe n’est présumé autorisé par le client.</a:t>
            </a:r>
          </a:p>
          <a:p/>
          <a:p>
            <a:r>
              <a:t>QUESTION À POSER</a:t>
            </a:r>
          </a:p>
          <a:p>
            <a:r>
              <a:t>Que faut-il préparer avant une session sans Internet ?</a:t>
            </a:r>
          </a:p>
          <a:p/>
          <a:p>
            <a:r>
              <a:t>RÉPONSE ATTENDUE ET CORRECTION</a:t>
            </a:r>
          </a:p>
          <a:p>
            <a:r>
              <a:t>L’environnement déjà installé, les datasets locaux, les notebooks et les résultats de secours.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026 | Type ATELIER | Niveau Application | Support projection + notes]</a:t>
            </a:r>
          </a:p>
          <a:p/>
          <a:p>
            <a:r>
              <a:t>OBJECTIF OBSERVABLE</a:t>
            </a:r>
          </a:p>
          <a:p>
            <a:r>
              <a:t>Exécuter toutes les cellules depuis un noyau neuf. Le participant doit pouvoir expliquer ou réaliser les éléments suivants : Imports et versions ; CPU/GPU détecté ; Tenseurs, gradients et fichier de sortie.</a:t>
            </a:r>
          </a:p>
          <a:p/>
          <a:p>
            <a:r>
              <a:t>EXPLICATION ET ANIMATION</a:t>
            </a:r>
          </a:p>
          <a:p>
            <a:r>
              <a:t>Ce notebook vérifie les bibliothèques disponibles, imprime l’environnement et teste une petite différentiation. Les contrôles n’installent pas de paquets silencieusement. L’absence de TensorFlow est rendue visible ; elle n’empêche pas les exercices Keras sur moteur PyTorch, mais elle interdit de prétendre avoir testé TensorFlow. Chaque équipe enregistre son diagnostic avant le premier entraînement.</a:t>
            </a:r>
          </a:p>
          <a:p/>
          <a:p>
            <a:r>
              <a:t>QUESTION À POSER</a:t>
            </a:r>
          </a:p>
          <a:p>
            <a:r>
              <a:t>Quelle est la preuve minimale d’un environnement prêt ?</a:t>
            </a:r>
          </a:p>
          <a:p/>
          <a:p>
            <a:r>
              <a:t>RÉPONSE ATTENDUE ET CORRECTION</a:t>
            </a:r>
          </a:p>
          <a:p>
            <a:r>
              <a:t>Un diagnostic conservé et le passage effectif des cellules, pas seulement un import isolé.</a:t>
            </a:r>
          </a:p>
          <a:p/>
          <a:p>
            <a:r>
              <a:t>VÉRIFICATION</a:t>
            </a:r>
          </a:p>
          <a:p>
            <a:r>
              <a:t>Demander une reformulation avec un exemple ou une preuve issue du notebook. Ne pas accepter une réponse limitée au nom d’une bibliothèque. Ouvrir le notebook 00 ; conserver les résultats et le journal.</a:t>
            </a:r>
          </a:p>
          <a:p/>
          <a:p>
            <a:r>
              <a:t>REPÈRES DE SOURCE</a:t>
            </a:r>
          </a:p>
          <a:p>
            <a:r>
              <a:t>[R01] Équipe Keras. Keras 3 et démarrage. https://keras.io/keras_3/</a:t>
            </a:r>
          </a:p>
          <a:p>
            <a:r>
              <a:t>[R02] Équipe PyTorch. Tutoriel de démarrage. https://docs.pytorch.org/tutorials/beginner/basics/quickstart_tutorial.html</a:t>
            </a:r>
          </a:p>
          <a:p>
            <a:r>
              <a:t>[R23] Équipe TensorFlow. Démarrage TensorFlow 2. https://www.tensorflow.org/tutorials/quickstart/beginner</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a:r>
              <a:t>[R23] Équipe TensorFlow. Démarrage TensorFlow 2. Documentation consultée le 14 septembre 2026. https://www.tensorflow.org/tutorials/quickstart/beginner</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027 | Type CONCEPT | Niveau Application | Support projection + notes]</a:t>
            </a:r>
          </a:p>
          <a:p/>
          <a:p>
            <a:r>
              <a:t>OBJECTIF OBSERVABLE</a:t>
            </a:r>
          </a:p>
          <a:p>
            <a:r>
              <a:t>Documenter les conditions de l’expérience. Le participant doit pouvoir expliquer ou réaliser les éléments suivants : Graine et indices de séparation ; Versions et matériel ; Données, configuration et état du modèle.</a:t>
            </a:r>
          </a:p>
          <a:p/>
          <a:p>
            <a:r>
              <a:t>EXPLICATION ET ANIMATION</a:t>
            </a:r>
          </a:p>
          <a:p>
            <a:r>
              <a:t>Une graine fixe certaines sources d’aléa, sans garantir une identité entre versions, plateformes ou opérations. Les indices de séparation sont sauvegardés et les métriques sont produites par le code. Le rapport de validation indique la machine d’exécution et les bibliothèques réellement utilisées. Un fichier de dépendances ne remplace pas un test.</a:t>
            </a:r>
          </a:p>
          <a:p/>
          <a:p>
            <a:r>
              <a:t>QUESTION À POSER</a:t>
            </a:r>
          </a:p>
          <a:p>
            <a:r>
              <a:t>Deux scores légèrement différents signifient-ils nécessairement un bug ?</a:t>
            </a:r>
          </a:p>
          <a:p/>
          <a:p>
            <a:r>
              <a:t>RÉPONSE ATTENDUE ET CORRECTION</a:t>
            </a:r>
          </a:p>
          <a:p>
            <a:r>
              <a:t>Non. Il faut contrôler le protocole, le hasard et l’environnement avant de conclure.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[R07] Équipe PyTorch. Reproductibilité. https://docs.pytorch.org/docs/stable/notes/randomness.html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[R07] Équipe PyTorch. Reproductibilité. Documentation consultée le 14 septembre 2026. https://docs.pytorch.org/docs/stable/notes/randomness.html</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028 | Type CONCEPT | Niveau Application | Support projection + notes]</a:t>
            </a:r>
          </a:p>
          <a:p/>
          <a:p>
            <a:r>
              <a:t>OBJECTIF OBSERVABLE</a:t>
            </a:r>
          </a:p>
          <a:p>
            <a:r>
              <a:t>La chaîne entière réalise l’apprentissage. Le participant doit pouvoir expliquer ou réaliser les éléments suivants : zero_grad → forward ; loss → backward ; step → lot suivant.</a:t>
            </a:r>
          </a:p>
          <a:p/>
          <a:p>
            <a:r>
              <a:t>EXPLICATION ET ANIMATION</a:t>
            </a:r>
          </a:p>
          <a:p>
            <a:r>
              <a:t>Faire annoter chaque ligne avec son rôle. Le code complet ajoute model.train, le placement des tenseurs sur le bon appareil, la vérification des types et le suivi de la perte moyenne. La boucle d’évaluation utilise model.eval et no_grad. Un modèle en mode évaluation peut toujours produire des gradients si le contexte ne les désactive pas ; ces deux mécanismes sont distincts.</a:t>
            </a:r>
          </a:p>
          <a:p/>
          <a:p>
            <a:r>
              <a:t>QUESTION À POSER</a:t>
            </a:r>
          </a:p>
          <a:p>
            <a:r>
              <a:t>Quelle ligne applique réellement les nouveaux poids ?</a:t>
            </a:r>
          </a:p>
          <a:p/>
          <a:p>
            <a:r>
              <a:t>RÉPONSE ATTENDUE ET CORRECTION</a:t>
            </a:r>
          </a:p>
          <a:p>
            <a:r>
              <a:t>optimizer.step(), après le calcul des gradients par backward.</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029 | Type CONCEPT | Niveau Application | Support projection + notes]</a:t>
            </a:r>
          </a:p>
          <a:p/>
          <a:p>
            <a:r>
              <a:t>OBJECTIF OBSERVABLE</a:t>
            </a:r>
          </a:p>
          <a:p>
            <a:r>
              <a:t>compile, fit, predict ne retirent pas les choix. Le participant doit pouvoir expliquer ou réaliser les éléments suivants : Définir les couches et l’entrée ; Associer optimiseur, perte et métriques ; Fournir une validation explicite.</a:t>
            </a:r>
          </a:p>
          <a:p/>
          <a:p>
            <a:r>
              <a:t>EXPLICATION ET ANIMATION</a:t>
            </a:r>
          </a:p>
          <a:p>
            <a:r>
              <a:t>Expliquer chaque argument plutôt que faire copier le code. Le modèle d’exercice reçoit 20 variables standardisées, utilise deux couches cachées ReLU puis une sortie sigmoïde. Les données de validation sont passées explicitement. Le test n’est pas transmis à fit. Un changement de moteur demande un redémarrage et une exécution complète des cellules.</a:t>
            </a:r>
          </a:p>
          <a:p/>
          <a:p>
            <a:r>
              <a:t>QUESTION À POSER</a:t>
            </a:r>
          </a:p>
          <a:p>
            <a:r>
              <a:t>Pourquoi fournir X_val et y_val à fit, mais pas X_test ?</a:t>
            </a:r>
          </a:p>
          <a:p/>
          <a:p>
            <a:r>
              <a:t>RÉPONSE ATTENDUE ET CORRECTION</a:t>
            </a:r>
          </a:p>
          <a:p>
            <a:r>
              <a:t>La validation guide l’entraînement et le choix ; le test doit rester réservé.</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030 | Type CONCEPT | Niveau Application | Support projection + notes]</a:t>
            </a:r>
          </a:p>
          <a:p/>
          <a:p>
            <a:r>
              <a:t>OBJECTIF OBSERVABLE</a:t>
            </a:r>
          </a:p>
          <a:p>
            <a:r>
              <a:t>Les poids ne suffisent pas à reproduire une décision. Le participant doit pouvoir expliquer ou réaliser les éléments suivants : Architecture et état des paramètres ; Prétraitement et ordre des variables ; Seuil, métriques, données et versions.</a:t>
            </a:r>
          </a:p>
          <a:p/>
          <a:p>
            <a:r>
              <a:t>EXPLICATION ET ANIMATION</a:t>
            </a:r>
          </a:p>
          <a:p>
            <a:r>
              <a:t>Le kit sauvegarde des états PyTorch et des fichiers Keras dans le dossier resultats. Le prétraitement et la liste des colonnes doivent être conservés avec le modèle tabulaire. Un test de rechargement compare les sorties avant et après la sauvegarde avec une tolérance numérique. Ne jamais charger des sérialisations d’origine non fiable.</a:t>
            </a:r>
          </a:p>
          <a:p/>
          <a:p>
            <a:r>
              <a:t>QUESTION À POSER</a:t>
            </a:r>
          </a:p>
          <a:p>
            <a:r>
              <a:t>Que manque-t-il à un fichier de poids utilisé seul ?</a:t>
            </a:r>
          </a:p>
          <a:p/>
          <a:p>
            <a:r>
              <a:t>RÉPONSE ATTENDUE ET CORRECTION</a:t>
            </a:r>
          </a:p>
          <a:p>
            <a:r>
              <a:t>Le prétraitement, la structure, les variables, le seuil et le contexte de validation.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031 | Type CONCEPT | Niveau Application | Support projection + notes]</a:t>
            </a:r>
          </a:p>
          <a:p/>
          <a:p>
            <a:r>
              <a:t>OBJECTIF OBSERVABLE</a:t>
            </a:r>
          </a:p>
          <a:p>
            <a:r>
              <a:t>Trois ensembles, trois usages. Le participant doit pouvoir expliquer ou réaliser les éléments suivants : Entraînement : ajuster les paramètres ; Validation : sélectionner et régler ; Test : estimer le résultat final.</a:t>
            </a:r>
          </a:p>
          <a:p/>
          <a:p>
            <a:r>
              <a:t>EXPLICATION ET ANIMATION</a:t>
            </a:r>
          </a:p>
          <a:p>
            <a:r>
              <a:t>Le ratio 70/15/15 est l’exemple du dossier, pas une loi. Le kit utilise des indices stratifiés pour les tâches de classification et une séparation chronologique pour les séries. La stratification préserve approximativement la proportion des classes ; elle n’empêche pas une fuite par individus répétés, doublons ou temporalité. Toujours réfléchir à l’unité indépendante.</a:t>
            </a:r>
          </a:p>
          <a:p/>
          <a:p>
            <a:r>
              <a:t>QUESTION À POSER</a:t>
            </a:r>
          </a:p>
          <a:p>
            <a:r>
              <a:t>Un split aléatoire suffit-il si un contribuable apparaît plusieurs fois ?</a:t>
            </a:r>
          </a:p>
          <a:p/>
          <a:p>
            <a:r>
              <a:t>RÉPONSE ATTENDUE ET CORRECTION</a:t>
            </a:r>
          </a:p>
          <a:p>
            <a:r>
              <a:t>Non. Il faut considérer une séparation par entité ou un protocole adapté.</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032 | Type CONCEPT | Niveau Application | Support projection + notes]</a:t>
            </a:r>
          </a:p>
          <a:p/>
          <a:p>
            <a:r>
              <a:t>OBJECTIF OBSERVABLE</a:t>
            </a:r>
          </a:p>
          <a:p>
            <a:r>
              <a:t>Une information du futur ne doit pas entrer. Le participant doit pouvoir expliquer ou réaliser les éléments suivants : Résultat après examen ; Prétraitement ajusté sur le test ; Doublons ou même entité des deux côtés.</a:t>
            </a:r>
          </a:p>
          <a:p/>
          <a:p>
            <a:r>
              <a:t>EXPLICATION ET ANIMATION</a:t>
            </a:r>
          </a:p>
          <a:p>
            <a:r>
              <a:t>La colonne piège resultat_apres_examen est construite à partir de la cible synthétique. Un modèle qui l’utilise peut devenir très performant sans apporter aucune capacité prospective. Un scaler ajusté sur toutes les données produit une autre forme de contamination. L’effet numérique peut être petit sur ce jeu, mais le défaut de protocole subsiste.</a:t>
            </a:r>
          </a:p>
          <a:p/>
          <a:p>
            <a:r>
              <a:t>QUESTION À POSER</a:t>
            </a:r>
          </a:p>
          <a:p>
            <a:r>
              <a:t>Pourquoi un score spectaculaire peut-il être une mauvaise nouvelle ?</a:t>
            </a:r>
          </a:p>
          <a:p/>
          <a:p>
            <a:r>
              <a:t>RÉPONSE ATTENDUE ET CORRECTION</a:t>
            </a:r>
          </a:p>
          <a:p>
            <a:r>
              <a:t>Il peut signaler une fuite, un doublon ou une variable inaccessible en usage réel.</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033 | Type CONCEPT | Niveau Application | Support projection + notes]</a:t>
            </a:r>
          </a:p>
          <a:p/>
          <a:p>
            <a:r>
              <a:t>OBJECTIF OBSERVABLE</a:t>
            </a:r>
          </a:p>
          <a:p>
            <a:r>
              <a:t>Apprendre le prétraitement uniquement sur train. Le participant doit pouvoir expliquer ou réaliser les éléments suivants : fit sur l’entraînement ; transform sur validation et test ; Conserver le même objet pour l’inférence.</a:t>
            </a:r>
          </a:p>
          <a:p/>
          <a:p>
            <a:r>
              <a:t>EXPLICATION ET ANIMATION</a:t>
            </a:r>
          </a:p>
          <a:p>
            <a:r>
              <a:t>Le scaler apprend une moyenne et un écart-type par variable sur l’entraînement. Il applique ces statistiques aux autres ensembles. Le pipeline de la baseline linéaire garantit la même discipline. Les arbres et le réseau n’ont pas nécessairement besoin des mêmes prétraitements, mais leurs comparaisons doivent utiliser les mêmes observations et la même métrique finale.</a:t>
            </a:r>
          </a:p>
          <a:p/>
          <a:p>
            <a:r>
              <a:t>QUESTION À POSER</a:t>
            </a:r>
          </a:p>
          <a:p>
            <a:r>
              <a:t>Quelle différence entre fit et transform ?</a:t>
            </a:r>
          </a:p>
          <a:p/>
          <a:p>
            <a:r>
              <a:t>RÉPONSE ATTENDUE ET CORRECTION</a:t>
            </a:r>
          </a:p>
          <a:p>
            <a:r>
              <a:t>fit estime les paramètres du prétraitement ; transform les applique.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034 | Type ATELIER | Niveau Application | Support projection + notes]</a:t>
            </a:r>
          </a:p>
          <a:p/>
          <a:p>
            <a:r>
              <a:t>OBJECTIF OBSERVABLE</a:t>
            </a:r>
          </a:p>
          <a:p>
            <a:r>
              <a:t>Un score pour une revue, pas un verdict. Le participant doit pouvoir expliquer ou réaliser les éléments suivants : 20 variables artificielles ; Cible : examen_utile ; Aucune donnée fiscale réelle.</a:t>
            </a:r>
          </a:p>
          <a:p/>
          <a:p>
            <a:r>
              <a:t>EXPLICATION ET ANIMATION</a:t>
            </a:r>
          </a:p>
          <a:p>
            <a:r>
              <a:t>Le TP part du fichier dossiers_synthetiques.csv. Les stagiaires contrôlent les valeurs manquantes, la prévalence de la cible, les colonnes exclues et les indices. Le réseau est comparé à une régression logistique et à un modèle à arbres. La réussite ne dépend pas d’un score minimal arbitraire, mais du protocole et de la qualité de l’analyse.</a:t>
            </a:r>
          </a:p>
          <a:p/>
          <a:p>
            <a:r>
              <a:t>QUESTION À POSER</a:t>
            </a:r>
          </a:p>
          <a:p>
            <a:r>
              <a:t>Quel intitulé de cible évite une interprétation abusive ?</a:t>
            </a:r>
          </a:p>
          <a:p/>
          <a:p>
            <a:r>
              <a:t>RÉPONSE ATTENDUE ET CORRECTION</a:t>
            </a:r>
          </a:p>
          <a:p>
            <a:r>
              <a:t>« examen_utile », explicitement simulé, plutôt qu’une affirmation de fraude.</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035 | Type ATELIER | Niveau Application | Support projection + notes]</a:t>
            </a:r>
          </a:p>
          <a:p/>
          <a:p>
            <a:r>
              <a:t>OBJECTIF OBSERVABLE</a:t>
            </a:r>
          </a:p>
          <a:p>
            <a:r>
              <a:t>Aucun entraînement avant les contrôles. Le participant doit pouvoir expliquer ou réaliser les éléments suivants : Exclure identifiant et résultat futur ; Vérifier les ensembles disjoints ; Contrôler forme, types et valeurs finies.</a:t>
            </a:r>
          </a:p>
          <a:p/>
          <a:p>
            <a:r>
              <a:t>EXPLICATION ET ANIMATION</a:t>
            </a:r>
          </a:p>
          <a:p>
            <a:r>
              <a:t>Chaque groupe renseigne les effectifs et la proportion de positifs des trois sous-ensembles. Les assertions bloquent les intersections d’indices et les valeurs non finies. Les colonnes retenues sont déclarées explicitement. Le formateur demande un accord oral sur la signification du moment de prédiction avant de laisser lancer fit.</a:t>
            </a:r>
          </a:p>
          <a:p/>
          <a:p>
            <a:r>
              <a:t>QUESTION À POSER</a:t>
            </a:r>
          </a:p>
          <a:p>
            <a:r>
              <a:t>Quelle preuve gardez-vous de la séparation ?</a:t>
            </a:r>
          </a:p>
          <a:p/>
          <a:p>
            <a:r>
              <a:t>RÉPONSE ATTENDUE ET CORRECTION</a:t>
            </a:r>
          </a:p>
          <a:p>
            <a:r>
              <a:t>Les indices, les effectifs et le résultat des assertions, conservés avec l’expérience.</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036 | Type ATELIER | Niveau Application | Support projection + notes]</a:t>
            </a:r>
          </a:p>
          <a:p/>
          <a:p>
            <a:r>
              <a:t>OBJECTIF OBSERVABLE</a:t>
            </a:r>
          </a:p>
          <a:p>
            <a:r>
              <a:t>La baseline a le droit de gagner. Le participant doit pouvoir expliquer ou réaliser les éléments suivants : Même train et même validation ; Budget d’essais annoncé ; Tableau métriques + coût + limites.</a:t>
            </a:r>
          </a:p>
          <a:p/>
          <a:p>
            <a:r>
              <a:t>EXPLICATION ET ANIMATION</a:t>
            </a:r>
          </a:p>
          <a:p>
            <a:r>
              <a:t>Le résultat produit par le notebook est local au jeu synthétique, aux graines et aux hyperparamètres. Il ne devient pas une étude comparative universelle. Les stagiaires doivent expliquer une éventuelle différence entre discrimination, rappel au seuil choisi et coût du modèle. Une hausse de capacité sans gain utile n’est pas automatiquement un progrès.</a:t>
            </a:r>
          </a:p>
          <a:p/>
          <a:p>
            <a:r>
              <a:t>QUESTION À POSER</a:t>
            </a:r>
          </a:p>
          <a:p>
            <a:r>
              <a:t>Que doit contenir la comparaison au-delà du score ?</a:t>
            </a:r>
          </a:p>
          <a:p/>
          <a:p>
            <a:r>
              <a:t>RÉPONSE ATTENDUE ET CORRECTION</a:t>
            </a:r>
          </a:p>
          <a:p>
            <a:r>
              <a:t>Le protocole, le temps, les paramètres, la métrique métier et les limites.</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[R15] Grinsztajn, Oyallon et Varoquaux. Why do tree-based models still outperform deep learning on tabular data?. https://arxiv.org/abs/2207.08815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[R15] Grinsztajn, Oyallon et Varoquaux. Why do tree-based models still outperform deep learning on tabular data?. 2022. https://arxiv.org/abs/2207.08815</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037 | Type CONCEPT | Niveau Application | Support projection + notes]</a:t>
            </a:r>
          </a:p>
          <a:p/>
          <a:p>
            <a:r>
              <a:t>OBJECTIF OBSERVABLE</a:t>
            </a:r>
          </a:p>
          <a:p>
            <a:r>
              <a:t>Le comportement compte autant que le dernier chiffre. Le participant doit pouvoir expliquer ou réaliser les éléments suivants : Perte train qui diminue ; Perte validation qui stagne ou remonte ; Écart à interpréter avec le protocole.</a:t>
            </a:r>
          </a:p>
          <a:p/>
          <a:p>
            <a:r>
              <a:t>EXPLICATION ET ANIMATION</a:t>
            </a:r>
          </a:p>
          <a:p>
            <a:r>
              <a:t>Le surapprentissage est une hypothèse lorsqu’un modèle améliore fortement le train sans améliorer la validation. Une différence de distributions, des modes train/eval différents ou une régularisation active peuvent aussi modifier les courbes. Le TP trace les pertes calculées réellement. Les dessins de cette diapositive sont annoncés comme schématiques et ne sont pas les résultats du TP.</a:t>
            </a:r>
          </a:p>
          <a:p/>
          <a:p>
            <a:r>
              <a:t>QUESTION À POSER</a:t>
            </a:r>
          </a:p>
          <a:p>
            <a:r>
              <a:t>Une perte train inférieure à la validation suffit-elle à condamner le modèle ?</a:t>
            </a:r>
          </a:p>
          <a:p/>
          <a:p>
            <a:r>
              <a:t>RÉPONSE ATTENDUE ET CORRECTION</a:t>
            </a:r>
          </a:p>
          <a:p>
            <a:r>
              <a:t>Non. Il faut examiner l’ampleur, la tendance, les métriques et la qualité du split.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038 | Type CONCEPT | Niveau Application | Support projection + notes]</a:t>
            </a:r>
          </a:p>
          <a:p/>
          <a:p>
            <a:r>
              <a:t>OBJECTIF OBSERVABLE</a:t>
            </a:r>
          </a:p>
          <a:p>
            <a:r>
              <a:t>Ignorer tous les cas positifs peut sembler excellent. Le participant doit pouvoir expliquer ou réaliser les éléments suivants : 10 000 observations ; 100 positifs seulement ; Toujours négatif : 99 % d’exactitude.</a:t>
            </a:r>
          </a:p>
          <a:p/>
          <a:p>
            <a:r>
              <a:t>EXPLICATION ET ANIMATION</a:t>
            </a:r>
          </a:p>
          <a:p>
            <a:r>
              <a:t>Cette illustration est un calcul fictif : 9 900 négatifs sur 10 000 donnent 99 % d’exactitude pour le classifieur constant. Son rappel de la classe positive est nul. Le message n’est pas d’interdire l’accuracy, mais d’en comprendre le dénominateur. La prévalence et la matrice de confusion doivent accompagner toute comparaison sur classes rares.</a:t>
            </a:r>
          </a:p>
          <a:p/>
          <a:p>
            <a:r>
              <a:t>QUESTION À POSER</a:t>
            </a:r>
          </a:p>
          <a:p>
            <a:r>
              <a:t>Quel est le rappel du classifieur toujours négatif ?</a:t>
            </a:r>
          </a:p>
          <a:p/>
          <a:p>
            <a:r>
              <a:t>RÉPONSE ATTENDUE ET CORRECTION</a:t>
            </a:r>
          </a:p>
          <a:p>
            <a:r>
              <a:t>Zéro : aucun des 100 cas positifs n’est détecté.</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039 | Type CONCEPT | Niveau Application | Support projection + notes]</a:t>
            </a:r>
          </a:p>
          <a:p/>
          <a:p>
            <a:r>
              <a:t>OBJECTIF OBSERVABLE</a:t>
            </a:r>
          </a:p>
          <a:p>
            <a:r>
              <a:t>Chaque case représente une conséquence. Le participant doit pouvoir expliquer ou réaliser les éléments suivants : Précision = VP / (VP + FP) ; Rappel = VP / (VP + FN) ; F1 : équilibre harmonique précision/rappel.</a:t>
            </a:r>
          </a:p>
          <a:p/>
          <a:p>
            <a:r>
              <a:t>EXPLICATION ET ANIMATION</a:t>
            </a:r>
          </a:p>
          <a:p>
            <a:r>
              <a:t>Lire les axes avant de calculer. Sur l’exemple fictif VP = 60, FP = 40, FN = 40, VN = 860, la précision et le rappel valent tous deux 60 %. Les faux positifs mobilisent une revue inutile ; les faux négatifs correspondent à des dossiers pertinents manqués. Le coût de ces cas dépend du workflow, pas seulement du modèle.</a:t>
            </a:r>
          </a:p>
          <a:p/>
          <a:p>
            <a:r>
              <a:t>QUESTION À POSER</a:t>
            </a:r>
          </a:p>
          <a:p>
            <a:r>
              <a:t>Avec 60 VP et 40 FP, quelle précision ?</a:t>
            </a:r>
          </a:p>
          <a:p/>
          <a:p>
            <a:r>
              <a:t>RÉPONSE ATTENDUE ET CORRECTION</a:t>
            </a:r>
          </a:p>
          <a:p>
            <a:r>
              <a:t>60 / 100, soit 60 %.</a:t>
            </a:r>
          </a:p>
          <a:p/>
          <a:p>
            <a:r>
              <a:t>VÉRIFICATION</a:t>
            </a:r>
          </a:p>
          <a:p>
            <a:r>
              <a:t>Demander une reformulation avec un exemple ou une preuve issue du notebook. Ne pas accepter une réponse limitée au nom d’une bibliothèque. Ouvrir le notebook 03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040 | Type CONCEPT | Niveau Application | Support projection + notes]</a:t>
            </a:r>
          </a:p>
          <a:p/>
          <a:p>
            <a:r>
              <a:t>OBJECTIF OBSERVABLE</a:t>
            </a:r>
          </a:p>
          <a:p>
            <a:r>
              <a:t>0,5 n’est pas une obligation. Le participant doit pouvoir expliquer ou réaliser les éléments suivants : Choisir le seuil sur la validation ; Relier précision, rappel et charge ; Fixer la règle avant le test.</a:t>
            </a:r>
          </a:p>
          <a:p/>
          <a:p>
            <a:r>
              <a:t>EXPLICATION ET ANIMATION</a:t>
            </a:r>
          </a:p>
          <a:p>
            <a:r>
              <a:t>Le notebook calcule une table de seuils sur la validation. Réduire le seuil augmente généralement le nombre d’alertes et le rappel ; la précision n’est pas garantie monotone sur tous les échantillons. Un score de 0,72 ne signifie pas forcément 72 % de probabilité réelle. L’équipe sélectionne une règle puis ne l’ajuste plus à partir des résultats du test.</a:t>
            </a:r>
          </a:p>
          <a:p/>
          <a:p>
            <a:r>
              <a:t>QUESTION À POSER</a:t>
            </a:r>
          </a:p>
          <a:p>
            <a:r>
              <a:t>Pourquoi ne pas chercher le meilleur seuil sur le test ?</a:t>
            </a:r>
          </a:p>
          <a:p/>
          <a:p>
            <a:r>
              <a:t>RÉPONSE ATTENDUE ET CORRECTION</a:t>
            </a:r>
          </a:p>
          <a:p>
            <a:r>
              <a:t>Cela transformerait le test en ensemble de sélection.</a:t>
            </a:r>
          </a:p>
          <a:p/>
          <a:p>
            <a:r>
              <a:t>VÉRIFICATION</a:t>
            </a:r>
          </a:p>
          <a:p>
            <a:r>
              <a:t>Demander une reformulation avec un exemple ou une preuve issue du notebook. Ne pas accepter une réponse limitée au nom d’une bibliothèque. Ouvrir le notebook 03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041 | Type ATELIER | Niveau Application | Support projection + notes]</a:t>
            </a:r>
          </a:p>
          <a:p/>
          <a:p>
            <a:r>
              <a:t>OBJECTIF OBSERVABLE</a:t>
            </a:r>
          </a:p>
          <a:p>
            <a:r>
              <a:t>Une hypothèse, une modification, une trace. Le participant doit pouvoir expliquer ou réaliser les éléments suivants : Hypothèse et effet attendu ; Résultat mesuré ; Interprétation et prochain test.</a:t>
            </a:r>
          </a:p>
          <a:p/>
          <a:p>
            <a:r>
              <a:t>EXPLICATION ET ANIMATION</a:t>
            </a:r>
          </a:p>
          <a:p>
            <a:r>
              <a:t>Le journal CSV fourni est prêt à compléter. Les participants indiquent le code de l’expérience, la graine, les données, le changement et les métriques de validation. Changer simultanément l’architecture, le taux et le split empêche d’attribuer un gain à une cause. Les essais multiples augmentent aussi le risque de sélectionner du bruit.</a:t>
            </a:r>
          </a:p>
          <a:p/>
          <a:p>
            <a:r>
              <a:t>QUESTION À POSER</a:t>
            </a:r>
          </a:p>
          <a:p>
            <a:r>
              <a:t>Qu’est-ce qu’un résultat négatif utile ?</a:t>
            </a:r>
          </a:p>
          <a:p/>
          <a:p>
            <a:r>
              <a:t>RÉPONSE ATTENDUE ET CORRECTION</a:t>
            </a:r>
          </a:p>
          <a:p>
            <a:r>
              <a:t>Un essai correctement documenté qui réfute l’hypothèse et évite une mauvaise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042 | Type ATELIER | Niveau Application | Support projection + notes]</a:t>
            </a:r>
          </a:p>
          <a:p/>
          <a:p>
            <a:r>
              <a:t>OBJECTIF OBSERVABLE</a:t>
            </a:r>
          </a:p>
          <a:p>
            <a:r>
              <a:t>Expliquer sans lire son code. Le participant doit pouvoir expliquer ou réaliser les éléments suivants : Une époque est… ; Je reconnais une fuite lorsque… ; Avant de croire un score, je vérifie….</a:t>
            </a:r>
          </a:p>
          <a:p/>
          <a:p>
            <a:r>
              <a:t>EXPLICATION ET ANIMATION</a:t>
            </a:r>
          </a:p>
          <a:p>
            <a:r>
              <a:t>Faire répondre individuellement puis en binôme. Vérifier que chaque équipe sait ouvrir ses résultats, retrouver son split et citer les colonnes exclues. Le devoir optionnel consiste à relire les métriques et à noter une question, pas à lancer une recherche d’hyperparamètres. Le lendemain, le passage aux images reprend exactement cette discipline.</a:t>
            </a:r>
          </a:p>
          <a:p/>
          <a:p>
            <a:r>
              <a:t>QUESTION À POSER</a:t>
            </a:r>
          </a:p>
          <a:p>
            <a:r>
              <a:t>Pouvez-vous recharger et expliquer votre expérience ?</a:t>
            </a:r>
          </a:p>
          <a:p/>
          <a:p>
            <a:r>
              <a:t>RÉPONSE ATTENDUE ET CORRECTION</a:t>
            </a:r>
          </a:p>
          <a:p>
            <a:r>
              <a:t>Oui si le notebook, les fichiers, les colonnes, le seuil et la comparaison sont documentés.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043 | Type REPÈRE | Niveau Application | Support projection + notes]</a:t>
            </a:r>
          </a:p>
          <a:p/>
          <a:p>
            <a:r>
              <a:t>OBJECTIF OBSERVABLE</a:t>
            </a:r>
          </a:p>
          <a:p>
            <a:r>
              <a:t>Vision, séquences et apprentissage sous contrôle. Le participant doit pouvoir expliquer ou réaliser les éléments suivants : CNN : structure spatiale ; RNN/LSTM : ordre temporel ; Optimisation : hypothèses vérifiables.</a:t>
            </a:r>
          </a:p>
          <a:p/>
          <a:p>
            <a:r>
              <a:t>EXPLICATION ET ANIMATION</a:t>
            </a:r>
          </a:p>
          <a:p>
            <a:r>
              <a:t>Le deuxième jour ne cherche pas à empiler des architectures. Il montre que la structure des données suggère des biais inductifs différents. Les images conservent un voisinage ; les séquences ont un ordre ; le diagnostic relie courbes et erreurs à des hypothèses de correction. Les modèles restent volontairement petits pour que tous les groupes puissent expérimenter sur CPU.</a:t>
            </a:r>
          </a:p>
          <a:p/>
          <a:p>
            <a:r>
              <a:t>QUESTION À POSER</a:t>
            </a:r>
          </a:p>
          <a:p>
            <a:r>
              <a:t>Quelle règle du jour 1 reste non négociable ?</a:t>
            </a:r>
          </a:p>
          <a:p/>
          <a:p>
            <a:r>
              <a:t>RÉPONSE ATTENDUE ET CORRECTION</a:t>
            </a:r>
          </a:p>
          <a:p>
            <a:r>
              <a:t>Préserver un protocole indépendant et comparer à une référence.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044 | Type ATELIER | Niveau Application | Support projection + notes]</a:t>
            </a:r>
          </a:p>
          <a:p/>
          <a:p>
            <a:r>
              <a:t>OBJECTIF OBSERVABLE</a:t>
            </a:r>
          </a:p>
          <a:p>
            <a:r>
              <a:t>Retrouver les invariants avant les nouveautés. Le participant doit pouvoir expliquer ou réaliser les éléments suivants : Pourquoi une validation ? ; Pourquoi une non-linéarité ? ; Pourquoi une baseline ?.</a:t>
            </a:r>
          </a:p>
          <a:p/>
          <a:p>
            <a:r>
              <a:t>EXPLICATION ET ANIMATION</a:t>
            </a:r>
          </a:p>
          <a:p>
            <a:r>
              <a:t>Un binôme pose une question, l’autre répond avec un exemple de son notebook. Alterner ensuite les rôles. Le formateur corrige immédiatement les confusions score/décision, train/test et paramètres/hyperparamètres. Utiliser cette réactivation pour repérer les personnes qui ont seulement exécuté des cellules sans pouvoir expliquer leur fonction.</a:t>
            </a:r>
          </a:p>
          <a:p/>
          <a:p>
            <a:r>
              <a:t>QUESTION À POSER</a:t>
            </a:r>
          </a:p>
          <a:p>
            <a:r>
              <a:t>Quel risque si vous changez le split à chaque essai ?</a:t>
            </a:r>
          </a:p>
          <a:p/>
          <a:p>
            <a:r>
              <a:t>RÉPONSE ATTENDUE ET CORRECTION</a:t>
            </a:r>
          </a:p>
          <a:p>
            <a:r>
              <a:t>Les résultats ne sont plus comparables et le choix peut favoriser un hasard.</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045 | Type CONCEPT | Niveau Application | Support projection + notes]</a:t>
            </a:r>
          </a:p>
          <a:p/>
          <a:p>
            <a:r>
              <a:t>OBJECTIF OBSERVABLE</a:t>
            </a:r>
          </a:p>
          <a:p>
            <a:r>
              <a:t>Choisir le mécanisme adapté à la donnée. Le participant doit pouvoir expliquer ou réaliser les éléments suivants : MLP : variables numériques ; CNN : voisinage spatial ; LSTM : état récurrent dans le temps.</a:t>
            </a:r>
          </a:p>
          <a:p/>
          <a:p>
            <a:r>
              <a:t>EXPLICATION ET ANIMATION</a:t>
            </a:r>
          </a:p>
          <a:p>
            <a:r>
              <a:t>La présentation illustre des choix de départ, pas une correspondance obligatoire entre métier et réseau. Un MLP peut traiter des pixels, mais il n’exploite pas explicitement la localité comme une convolution. Un LSTM peut traiter une séquence, mais une prévision naïve ou un modèle statistique peut être préférable. Le besoin pilote le benchmark.</a:t>
            </a:r>
          </a:p>
          <a:p/>
          <a:p>
            <a:r>
              <a:t>QUESTION À POSER</a:t>
            </a:r>
          </a:p>
          <a:p>
            <a:r>
              <a:t>LSTM est-il synonyme de meilleur modèle temporel ?</a:t>
            </a:r>
          </a:p>
          <a:p/>
          <a:p>
            <a:r>
              <a:t>RÉPONSE ATTENDUE ET CORRECTION</a:t>
            </a:r>
          </a:p>
          <a:p>
            <a:r>
              <a:t>Non. Il faut comparer selon la tâche, le volume et le protocole.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046 | Type CONCEPT | Niveau Application | Support projection + notes]</a:t>
            </a:r>
          </a:p>
          <a:p/>
          <a:p>
            <a:r>
              <a:t>OBJECTIF OBSERVABLE</a:t>
            </a:r>
          </a:p>
          <a:p>
            <a:r>
              <a:t>Le CNN réutilise un même filtre local. Le participant doit pouvoir expliquer ou réaliser les éléments suivants : MLP : pixels transformés en vecteur ; CNN : filtres partagés ; Hiérarchie de représentations.</a:t>
            </a:r>
          </a:p>
          <a:p/>
          <a:p>
            <a:r>
              <a:t>EXPLICATION ET ANIMATION</a:t>
            </a:r>
          </a:p>
          <a:p>
            <a:r>
              <a:t>Les poids partagés d’une convolution appliquent le même détecteur appris à plusieurs positions. Cela n’implique pas une invariance absolue à toute transformation de l’image. Le déplacement, l’échelle ou la rotation peuvent encore affecter les performances. Le TP compare un modèle dense et un CNN sur les mêmes données.</a:t>
            </a:r>
          </a:p>
          <a:p/>
          <a:p>
            <a:r>
              <a:t>QUESTION À POSER</a:t>
            </a:r>
          </a:p>
          <a:p>
            <a:r>
              <a:t>Que perd explicitement le passage immédiat à Flatten ?</a:t>
            </a:r>
          </a:p>
          <a:p/>
          <a:p>
            <a:r>
              <a:t>RÉPONSE ATTENDUE ET CORRECTION</a:t>
            </a:r>
          </a:p>
          <a:p>
            <a:r>
              <a:t>La représentation de la structure spatiale dans le choix des connexions.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[R08] Krizhevsky, Sutskever et Hinton. ImageNet Classification with Deep Convolutional Neural Networks. https://proceedings.neurips.cc/paper/2012/hash/c399862d3b9d6b76c8436e924a68c45b-Abstract.html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[R08] Krizhevsky, Sutskever et Hinton. ImageNet Classification with Deep Convolutional Neural Networks. 2012. https://proceedings.neurips.cc/paper/2012/hash/c399862d3b9d6b76c8436e924a68c45b-Abstract.html</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047 | Type CONCEPT | Niveau Application | Support projection + notes]</a:t>
            </a:r>
          </a:p>
          <a:p/>
          <a:p>
            <a:r>
              <a:t>OBJECTIF OBSERVABLE</a:t>
            </a:r>
          </a:p>
          <a:p>
            <a:r>
              <a:t>Dans notre TP : 8 × 8 pixels, un canal. Le participant doit pouvoir expliquer ou réaliser les éléments suivants : 1 797 images de chiffres manuscrits ; 10 classes, de 0 à 9 ; Données locales fournies avec le kit.</a:t>
            </a:r>
          </a:p>
          <a:p/>
          <a:p>
            <a:r>
              <a:t>EXPLICATION ET ANIMATION</a:t>
            </a:r>
          </a:p>
          <a:p>
            <a:r>
              <a:t>Le dataset digits de scikit-learn fournit des images de 8 × 8 pixels. Ce choix est une adaptation opérationnelle au dossier, qui proposait un dataset d’images sans en imposer un. Il réduit le calcul et évite un téléchargement pendant la formation. Une réussite sur ces petites images ne démontre aucune compétence de vision aérienne ou de diagnostic médical.</a:t>
            </a:r>
          </a:p>
          <a:p/>
          <a:p>
            <a:r>
              <a:t>QUESTION À POSER</a:t>
            </a:r>
          </a:p>
          <a:p>
            <a:r>
              <a:t>Peut-on transposer directement son score aux photographies aériennes ?</a:t>
            </a:r>
          </a:p>
          <a:p/>
          <a:p>
            <a:r>
              <a:t>RÉPONSE ATTENDUE ET CORRECTION</a:t>
            </a:r>
          </a:p>
          <a:p>
            <a:r>
              <a:t>Non. Les données, les objets, la résolution et le contexte sont différents.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048 | Type CONCEPT | Niveau Application | Support projection + notes]</a:t>
            </a:r>
          </a:p>
          <a:p/>
          <a:p>
            <a:r>
              <a:t>OBJECTIF OBSERVABLE</a:t>
            </a:r>
          </a:p>
          <a:p>
            <a:r>
              <a:t>Multiplier localement, puis additionner. Le participant doit pouvoir expliquer ou réaliser les éléments suivants : Fenêtre 3 × 3 ; Filtre appris 3 × 3 ; Une valeur dans la carte de caractéristiques.</a:t>
            </a:r>
          </a:p>
          <a:p/>
          <a:p>
            <a:r>
              <a:t>EXPLICATION ET ANIMATION</a:t>
            </a:r>
          </a:p>
          <a:p>
            <a:r>
              <a:t>Faire multiplier les valeurs de la fenêtre et du filtre, puis additionner. Le filtre est appris pendant l’entraînement ; le petit filtre dessiné ici sert uniquement à illustrer l’opération. En pratique, les bibliothèques effectuent une corrélation croisée usuellement appelée convolution dans le contexte des CNN. Cette précision appartient aux notes, pas à une interruption du fil pédagogique.</a:t>
            </a:r>
          </a:p>
          <a:p/>
          <a:p>
            <a:r>
              <a:t>QUESTION À POSER</a:t>
            </a:r>
          </a:p>
          <a:p>
            <a:r>
              <a:t>Quel élément est appris ?</a:t>
            </a:r>
          </a:p>
          <a:p/>
          <a:p>
            <a:r>
              <a:t>RÉPONSE ATTENDUE ET CORRECTION</a:t>
            </a:r>
          </a:p>
          <a:p>
            <a:r>
              <a:t>Les coefficients du filtre et, selon la couche, son biais.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049 | Type CONCEPT | Niveau Application | Support projection + notes]</a:t>
            </a:r>
          </a:p>
          <a:p/>
          <a:p>
            <a:r>
              <a:t>OBJECTIF OBSERVABLE</a:t>
            </a:r>
          </a:p>
          <a:p>
            <a:r>
              <a:t>Suivre les dimensions à chaque couche. Le participant doit pouvoir expliquer ou réaliser les éléments suivants : Pas : déplacement du filtre ; Remplissage : bord ajouté ; Taille : dépend de l’entrée et du filtre.</a:t>
            </a:r>
          </a:p>
          <a:p/>
          <a:p>
            <a:r>
              <a:t>EXPLICATION ET ANIMATION</a:t>
            </a:r>
          </a:p>
          <a:p>
            <a:r>
              <a:t>Pour une dimension sans dilatation, sortie = partie entière((entrée + 2 × remplissage - taille du filtre) / pas) + 1. Exemple : entrée 8, filtre 3, remplissage 1, pas 1 donne 8. Avec le même filtre et un pas de 2, on obtient 4. Vérifier les dimensions dans le notebook plutôt que mémoriser sans comprendre.</a:t>
            </a:r>
          </a:p>
          <a:p/>
          <a:p>
            <a:r>
              <a:t>QUESTION À POSER</a:t>
            </a:r>
          </a:p>
          <a:p>
            <a:r>
              <a:t>Que produit 8, filtre 3, remplissage 1, pas 1 ?</a:t>
            </a:r>
          </a:p>
          <a:p/>
          <a:p>
            <a:r>
              <a:t>RÉPONSE ATTENDUE ET CORRECTION</a:t>
            </a:r>
          </a:p>
          <a:p>
            <a:r>
              <a:t>Une dimension spatiale de 8.</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050 | Type CONCEPT | Niveau Application | Support projection + notes]</a:t>
            </a:r>
          </a:p>
          <a:p/>
          <a:p>
            <a:r>
              <a:t>OBJECTIF OBSERVABLE</a:t>
            </a:r>
          </a:p>
          <a:p>
            <a:r>
              <a:t>Un filtre est réutilisé, pas recopié. Le participant doit pouvoir expliquer ou réaliser les éléments suivants : Conv 3 × 3, 1 → 8 canaux ; Poids : 3 × 3 × 1 × 8 ; Biais : 8, soit 80 paramètres.</a:t>
            </a:r>
          </a:p>
          <a:p/>
          <a:p>
            <a:r>
              <a:t>EXPLICATION ET ANIMATION</a:t>
            </a:r>
          </a:p>
          <a:p>
            <a:r>
              <a:t>Comparer avec une couche dense de 64 entrées vers 32 unités : 64 × 32 + 32 = 2 080 paramètres. Les deux transformations ne produisent pas la même structure de sortie ; la comparaison illustre le mécanisme du partage, pas une preuve universelle de supériorité. Le compteur du notebook permet de vérifier le modèle complet.</a:t>
            </a:r>
          </a:p>
          <a:p/>
          <a:p>
            <a:r>
              <a:t>QUESTION À POSER</a:t>
            </a:r>
          </a:p>
          <a:p>
            <a:r>
              <a:t>Pourquoi la convolution conserve-t-elle peu de poids à grande résolution ?</a:t>
            </a:r>
          </a:p>
          <a:p/>
          <a:p>
            <a:r>
              <a:t>RÉPONSE ATTENDUE ET CORRECTION</a:t>
            </a:r>
          </a:p>
          <a:p>
            <a:r>
              <a:t>Le même ensemble de coefficients est appliqué à toutes les positions.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051 | Type CONCEPT | Niveau Application | Support projection + notes]</a:t>
            </a:r>
          </a:p>
          <a:p/>
          <a:p>
            <a:r>
              <a:t>OBJECTIF OBSERVABLE</a:t>
            </a:r>
          </a:p>
          <a:p>
            <a:r>
              <a:t>Le pooling résume un voisinage. Le participant doit pouvoir expliquer ou réaliser les éléments suivants : Max-pooling : maximum local ; 2 × 2 avec pas 2 ; 8 × 8 devient 4 × 4.</a:t>
            </a:r>
          </a:p>
          <a:p/>
          <a:p>
            <a:r>
              <a:t>EXPLICATION ET ANIMATION</a:t>
            </a:r>
          </a:p>
          <a:p>
            <a:r>
              <a:t>Le pooling réduit la taille spatiale. Il peut rendre certaines petites variations moins importantes mais ne garantit pas une invariance générale. Il ne possède pas les mêmes paramètres appris qu’une convolution. Sur de petites images, réduire trop vite la résolution peut détruire l’information nécessaire pour distinguer les chiffres.</a:t>
            </a:r>
          </a:p>
          <a:p/>
          <a:p>
            <a:r>
              <a:t>QUESTION À POSER</a:t>
            </a:r>
          </a:p>
          <a:p>
            <a:r>
              <a:t>Peut-on empiler dix poolings sur une image 8 × 8 ?</a:t>
            </a:r>
          </a:p>
          <a:p/>
          <a:p>
            <a:r>
              <a:t>RÉPONSE ATTENDUE ET CORRECTION</a:t>
            </a:r>
          </a:p>
          <a:p>
            <a:r>
              <a:t>Non. La résolution devient rapidement insuffisante.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052 | Type CONCEPT | Niveau Application | Support projection + notes]</a:t>
            </a:r>
          </a:p>
          <a:p/>
          <a:p>
            <a:r>
              <a:t>OBJECTIF OBSERVABLE</a:t>
            </a:r>
          </a:p>
          <a:p>
            <a:r>
              <a:t>Une caractéristique résume un voisinage élargi. Le participant doit pouvoir expliquer ou réaliser les éléments suivants : Première couche : motif local ; Couches suivantes : combinaisons ; La profondeur seule ne suffit pas.</a:t>
            </a:r>
          </a:p>
          <a:p/>
          <a:p>
            <a:r>
              <a:t>EXPLICATION ET ANIMATION</a:t>
            </a:r>
          </a:p>
          <a:p>
            <a:r>
              <a:t>Montrer deux convolutions 3 × 3 avec pas 1 : sans autre opération, un point de la seconde carte dépend d’une zone théorique 5 × 5 de l’entrée. Ce champ réceptif théorique n’indique pas que tous les pixels contribuent effectivement de la même manière. Les connexions et les paramètres appris déterminent l’usage de l’information.</a:t>
            </a:r>
          </a:p>
          <a:p/>
          <a:p>
            <a:r>
              <a:t>QUESTION À POSER</a:t>
            </a:r>
          </a:p>
          <a:p>
            <a:r>
              <a:t>Deux filtres 3 × 3 successifs regardent-ils seulement 3 × 3 pixels ?</a:t>
            </a:r>
          </a:p>
          <a:p/>
          <a:p>
            <a:r>
              <a:t>RÉPONSE ATTENDUE ET CORRECTION</a:t>
            </a:r>
          </a:p>
          <a:p>
            <a:r>
              <a:t>Non : le champ théorique s’étend à 5 × 5 dans ce cas.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053 | Type CONCEPT | Niveau Application | Support projection + notes]</a:t>
            </a:r>
          </a:p>
          <a:p/>
          <a:p>
            <a:r>
              <a:t>OBJECTIF OBSERVABLE</a:t>
            </a:r>
          </a:p>
          <a:p>
            <a:r>
              <a:t>Petit, lisible et entraînable sur CPU. Le participant doit pouvoir expliquer ou réaliser les éléments suivants : Conv 1→8 • ReLU • Pool ; Conv 8→16 • ReLU • Pool ; 64 valeurs → 10 logits.</a:t>
            </a:r>
          </a:p>
          <a:p/>
          <a:p>
            <a:r>
              <a:t>EXPLICATION ET ANIMATION</a:t>
            </a:r>
          </a:p>
          <a:p>
            <a:r>
              <a:t>L’entrée N × 1 × 8 × 8 devient N × 8 × 4 × 4 après le premier bloc et N × 16 × 2 × 2 après le second. L’aplatissement donne 64 valeurs. Une couche linéaire produit dix logits. CrossEntropyLoss reçoit ces logits et des étiquettes entières entre zéro et neuf. Les dimensions intermédiaires sont vérifiées.</a:t>
            </a:r>
          </a:p>
          <a:p/>
          <a:p>
            <a:r>
              <a:t>QUESTION À POSER</a:t>
            </a:r>
          </a:p>
          <a:p>
            <a:r>
              <a:t>Quelle est la taille du vecteur avant la dernière couche ?</a:t>
            </a:r>
          </a:p>
          <a:p/>
          <a:p>
            <a:r>
              <a:t>RÉPONSE ATTENDUE ET CORRECTION</a:t>
            </a:r>
          </a:p>
          <a:p>
            <a:r>
              <a:t>16 × 2 × 2 = 64.</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054 | Type ATELIER | Niveau Application | Support projection + notes]</a:t>
            </a:r>
          </a:p>
          <a:p/>
          <a:p>
            <a:r>
              <a:t>OBJECTIF OBSERVABLE</a:t>
            </a:r>
          </a:p>
          <a:p>
            <a:r>
              <a:t>Conserver les images, les indices et les métriques. Le participant doit pouvoir expliquer ou réaliser les éléments suivants : Référence dense ; CNN minimal ; Courbes et matrice de confusion.</a:t>
            </a:r>
          </a:p>
          <a:p/>
          <a:p>
            <a:r>
              <a:t>EXPLICATION ET ANIMATION</a:t>
            </a:r>
          </a:p>
          <a:p>
            <a:r>
              <a:t>Exécuter les deux modèles avec les mêmes indices. La première comparaison se fait sur validation. Les décisions suivantes sont journalisées avant le test. Le notebook sauvegarde l’état du CNN et une galerie des erreurs. Le formateur rappelle qu’un petit gain numérique ne devient pas significatif sans tenir compte de la variabilité.</a:t>
            </a:r>
          </a:p>
          <a:p/>
          <a:p>
            <a:r>
              <a:t>QUESTION À POSER</a:t>
            </a:r>
          </a:p>
          <a:p>
            <a:r>
              <a:t>Le CNN doit-il forcément battre le MLP ici ?</a:t>
            </a:r>
          </a:p>
          <a:p/>
          <a:p>
            <a:r>
              <a:t>RÉPONSE ATTENDUE ET CORRECTION</a:t>
            </a:r>
          </a:p>
          <a:p>
            <a:r>
              <a:t>Non. La réussite du TP est la comparaison correcte et son explication.</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[R02] Équipe PyTorch. Tutoriel de démarrage. https://docs.pytorch.org/tutorials/beginner/basics/quickstart_tutorial.html</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055 | Type ATELIER | Niveau Application | Support projection + notes]</a:t>
            </a:r>
          </a:p>
          <a:p/>
          <a:p>
            <a:r>
              <a:t>OBJECTIF OBSERVABLE</a:t>
            </a:r>
          </a:p>
          <a:p>
            <a:r>
              <a:t>Le score moyen ne dit pas où agir. Le participant doit pouvoir expliquer ou réaliser les éléments suivants : Classe vraie et classe prédite ; Score de confiance ; Ambiguïté, bruit ou étiquette discutable.</a:t>
            </a:r>
          </a:p>
          <a:p/>
          <a:p>
            <a:r>
              <a:t>EXPLICATION ET ANIMATION</a:t>
            </a:r>
          </a:p>
          <a:p>
            <a:r>
              <a:t>Afficher les erreurs effectivement produites. Certains chiffres sont difficiles à lire même pour les participants. Une image ambiguë n’est pas automatiquement une mauvaise étiquette. Classer les erreurs selon des hypothèses, puis proposer un test permettant de départager les causes. Une galerie choisie uniquement pour impressionner biaise l’analyse.</a:t>
            </a:r>
          </a:p>
          <a:p/>
          <a:p>
            <a:r>
              <a:t>QUESTION À POSER</a:t>
            </a:r>
          </a:p>
          <a:p>
            <a:r>
              <a:t>Quelle action suit une erreur surconfiante ?</a:t>
            </a:r>
          </a:p>
          <a:p/>
          <a:p>
            <a:r>
              <a:t>RÉPONSE ATTENDUE ET CORRECTION</a:t>
            </a:r>
          </a:p>
          <a:p>
            <a:r>
              <a:t>Chercher sa cause, tester les distributions et la calibration, sans corriger au hasard.</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056 | Type CONCEPT | Niveau Application | Support projection + notes]</a:t>
            </a:r>
          </a:p>
          <a:p/>
          <a:p>
            <a:r>
              <a:t>OBJECTIF OBSERVABLE</a:t>
            </a:r>
          </a:p>
          <a:p>
            <a:r>
              <a:t>Le contexte se transmet d’un instant au suivant. Le participant doit pouvoir expliquer ou réaliser les éléments suivants : Entrée xₜ ; État précédent hₜ₋₁ ; Nouvel état hₜ.</a:t>
            </a:r>
          </a:p>
          <a:p/>
          <a:p>
            <a:r>
              <a:t>EXPLICATION ET ANIMATION</a:t>
            </a:r>
          </a:p>
          <a:p>
            <a:r>
              <a:t>Une cellule récurrente applique le même ensemble de paramètres à chaque pas. Le déroulement représente des utilisations successives, pas des réseaux indépendants ayant chacun leurs poids. L’état résume ce qui a été conservé des entrées précédentes. Cette contrainte rend intuitive la notion de mémoire, sans assimiler l’état à une mémoire humaine.</a:t>
            </a:r>
          </a:p>
          <a:p/>
          <a:p>
            <a:r>
              <a:t>QUESTION À POSER</a:t>
            </a:r>
          </a:p>
          <a:p>
            <a:r>
              <a:t>Les cellules déroulées ont-elles chacune des poids différents ?</a:t>
            </a:r>
          </a:p>
          <a:p/>
          <a:p>
            <a:r>
              <a:t>RÉPONSE ATTENDUE ET CORRECTION</a:t>
            </a:r>
          </a:p>
          <a:p>
            <a:r>
              <a:t>Non. Les paramètres sont partagés dans le temps.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057 | Type CONCEPT | Niveau Application | Support projection + notes]</a:t>
            </a:r>
          </a:p>
          <a:p/>
          <a:p>
            <a:r>
              <a:t>OBJECTIF OBSERVABLE</a:t>
            </a:r>
          </a:p>
          <a:p>
            <a:r>
              <a:t>Des portes contrôlent la circulation de l’information. Le participant doit pouvoir expliquer ou réaliser les éléments suivants : État de cellule : information conservée ; Porte d’oubli : filtrer ; Portes d’entrée et de sortie : modifier et exposer.</a:t>
            </a:r>
          </a:p>
          <a:p/>
          <a:p>
            <a:r>
              <a:t>EXPLICATION ET ANIMATION</a:t>
            </a:r>
          </a:p>
          <a:p>
            <a:r>
              <a:t>Le schéma présente un LSTM moderne simplifié avec porte d’oubli ; il ne prétend pas reproduire à l’identique toutes les variantes historiques de 1997. Les portes sont des calculs différentiables appris, pas des règles humaines. La cellule et l’état de sortie sont distincts. Le cours demande de comprendre le rôle, pas de dériver toutes les équations.</a:t>
            </a:r>
          </a:p>
          <a:p/>
          <a:p>
            <a:r>
              <a:t>QUESTION À POSER</a:t>
            </a:r>
          </a:p>
          <a:p>
            <a:r>
              <a:t>Une porte décide-t-elle selon une règle écrite à la main ?</a:t>
            </a:r>
          </a:p>
          <a:p/>
          <a:p>
            <a:r>
              <a:t>RÉPONSE ATTENDUE ET CORRECTION</a:t>
            </a:r>
          </a:p>
          <a:p>
            <a:r>
              <a:t>Non. Ses paramètres sont appris à partir de l’objectif.</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058 | Type CONCEPT | Niveau Application | Support projection + notes]</a:t>
            </a:r>
          </a:p>
          <a:p/>
          <a:p>
            <a:r>
              <a:t>OBJECTIF OBSERVABLE</a:t>
            </a:r>
          </a:p>
          <a:p>
            <a:r>
              <a:t>Les produits de dérivées peuvent devenir extrêmes. Le participant doit pouvoir expliquer ou réaliser les éléments suivants : Dépendances longues difficiles ; LSTM : mécanismes de mémoire ; Écrêtage : contrôler des gradients excessifs.</a:t>
            </a:r>
          </a:p>
          <a:p/>
          <a:p>
            <a:r>
              <a:t>EXPLICATION ET ANIMATION</a:t>
            </a:r>
          </a:p>
          <a:p>
            <a:r>
              <a:t>La rétropropagation dans le temps multiplie des contributions successives. Certaines configurations rendent les gradients très petits ou très grands. Le clipping limite leur norme ; il ne corrige ni une mauvaise cible ni un split contaminé. Le LSTM apporte une structure de circulation d’information, sans garantir qu’une dépendance arbitrairement longue sera apprise.</a:t>
            </a:r>
          </a:p>
          <a:p/>
          <a:p>
            <a:r>
              <a:t>QUESTION À POSER</a:t>
            </a:r>
          </a:p>
          <a:p>
            <a:r>
              <a:t>Le clipping remplace-t-il la recherche de la cause d’une instabilité ?</a:t>
            </a:r>
          </a:p>
          <a:p/>
          <a:p>
            <a:r>
              <a:t>RÉPONSE ATTENDUE ET CORRECTION</a:t>
            </a:r>
          </a:p>
          <a:p>
            <a:r>
              <a:t>Non. Il est un levier à tester, pas un diagnostic.</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059 | Type CONCEPT | Niveau Application | Support projection + notes]</a:t>
            </a:r>
          </a:p>
          <a:p/>
          <a:p>
            <a:r>
              <a:t>OBJECTIF OBSERVABLE</a:t>
            </a:r>
          </a:p>
          <a:p>
            <a:r>
              <a:t>Une fenêtre passée, une cible future. Le participant doit pouvoir expliquer ou réaliser les éléments suivants : 24 observations en entrée ; La valeur suivante en cible ; Date de cible conservée.</a:t>
            </a:r>
          </a:p>
          <a:p/>
          <a:p>
            <a:r>
              <a:t>EXPLICATION ET ANIMATION</a:t>
            </a:r>
          </a:p>
          <a:p>
            <a:r>
              <a:t>Le notebook construit des fenêtres de 24 points. Chaque ligne conserve l’indice temporel de sa cible, qui détermine son appartenance train, validation ou test. Les fenêtres de validation peuvent utiliser le passé déjà observable au moment de prédire ; elles ne doivent jamais incorporer la cible future. Le scénario est une prévision à un pas avec nouvelles observations successives.</a:t>
            </a:r>
          </a:p>
          <a:p/>
          <a:p>
            <a:r>
              <a:t>QUESTION À POSER</a:t>
            </a:r>
          </a:p>
          <a:p>
            <a:r>
              <a:t>Que faut-il modifier pour une prévision à dix pas sans nouvelles observations ?</a:t>
            </a:r>
          </a:p>
          <a:p/>
          <a:p>
            <a:r>
              <a:t>RÉPONSE ATTENDUE ET CORRECTION</a:t>
            </a:r>
          </a:p>
          <a:p>
            <a:r>
              <a:t>Le protocole et les entrées disponibles ; ce n’est plus la même tâche.</a:t>
            </a:r>
          </a:p>
          <a:p/>
          <a:p>
            <a:r>
              <a:t>VÉRIFICATION</a:t>
            </a:r>
          </a:p>
          <a:p>
            <a:r>
              <a:t>Demander une reformulation avec un exemple ou une preuve issue du notebook. Ne pas accepter une réponse limitée au nom d’une bibliothèque. Ouvrir le notebook 06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060 | Type CONCEPT | Niveau Application | Support projection + notes]</a:t>
            </a:r>
          </a:p>
          <a:p/>
          <a:p>
            <a:r>
              <a:t>OBJECTIF OBSERVABLE</a:t>
            </a:r>
          </a:p>
          <a:p>
            <a:r>
              <a:t>Imiter l’information disponible en usage réel. Le participant doit pouvoir expliquer ou réaliser les éléments suivants : Passé : entraînement ; Période suivante : validation ; Dernière période : test.</a:t>
            </a:r>
          </a:p>
          <a:p/>
          <a:p>
            <a:r>
              <a:t>EXPLICATION ET ANIMATION</a:t>
            </a:r>
          </a:p>
          <a:p>
            <a:r>
              <a:t>La série synthétique contient saisonnalité, bruit et évolution. Le scaler est ajusté avant la frontière de train. Aucun mélange aléatoire des dates n’est utilisé pour attribuer les ensembles. Le brassage des lots à l’intérieur d’un ensemble déjà construit peut être compatible avec certaines hypothèses, mais la version pédagogique garde une lecture temporelle simple.</a:t>
            </a:r>
          </a:p>
          <a:p/>
          <a:p>
            <a:r>
              <a:t>QUESTION À POSER</a:t>
            </a:r>
          </a:p>
          <a:p>
            <a:r>
              <a:t>Quel problème pose le mélange des dates avant le split ?</a:t>
            </a:r>
          </a:p>
          <a:p/>
          <a:p>
            <a:r>
              <a:t>RÉPONSE ATTENDUE ET CORRECTION</a:t>
            </a:r>
          </a:p>
          <a:p>
            <a:r>
              <a:t>Il peut évaluer une interpolation plutôt que la capacité de prévoir le futur.</a:t>
            </a:r>
          </a:p>
          <a:p/>
          <a:p>
            <a:r>
              <a:t>VÉRIFICATION</a:t>
            </a:r>
          </a:p>
          <a:p>
            <a:r>
              <a:t>Demander une reformulation avec un exemple ou une preuve issue du notebook. Ne pas accepter une réponse limitée au nom d’une bibliothèque. Ouvrir le notebook 06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061 | Type ATELIER | Niveau Application | Support projection + notes]</a:t>
            </a:r>
          </a:p>
          <a:p/>
          <a:p>
            <a:r>
              <a:t>OBJECTIF OBSERVABLE</a:t>
            </a:r>
          </a:p>
          <a:p>
            <a:r>
              <a:t>La dernière valeur est votre premier adversaire. Le participant doit pouvoir expliquer ou réaliser les éléments suivants : Construire les fenêtres ; Entraîner un LSTM de 16 unités ; Comparer MAE et RMSE à la persistance.</a:t>
            </a:r>
          </a:p>
          <a:p/>
          <a:p>
            <a:r>
              <a:t>EXPLICATION ET ANIMATION</a:t>
            </a:r>
          </a:p>
          <a:p>
            <a:r>
              <a:t>La référence de persistance prédit la dernière observation de la fenêtre. La comparaison utilise les mêmes dates et revient à l’échelle d’origine. On trace prédictions et observations sur une période donnée. L’échec éventuel du LSTM est informatif : peu de données, un changement de régime ou une référence déjà forte peuvent l’expliquer. Aucune recommandation financière n’est tirée de la simulation.</a:t>
            </a:r>
          </a:p>
          <a:p/>
          <a:p>
            <a:r>
              <a:t>QUESTION À POSER</a:t>
            </a:r>
          </a:p>
          <a:p>
            <a:r>
              <a:t>Que prouve un LSTM moins bon que la persistance ?</a:t>
            </a:r>
          </a:p>
          <a:p/>
          <a:p>
            <a:r>
              <a:t>RÉPONSE ATTENDUE ET CORRECTION</a:t>
            </a:r>
          </a:p>
          <a:p>
            <a:r>
              <a:t>Que cette configuration ne justifie pas son coût sur ce protocole.</a:t>
            </a:r>
          </a:p>
          <a:p/>
          <a:p>
            <a:r>
              <a:t>VÉRIFICATION</a:t>
            </a:r>
          </a:p>
          <a:p>
            <a:r>
              <a:t>Demander une reformulation avec un exemple ou une preuve issue du notebook. Ne pas accepter une réponse limitée au nom d’une bibliothèque. Ouvrir le notebook 06 ; conserver les résultats et le journal.</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062 | Type CONCEPT | Niveau Application | Support projection + notes]</a:t>
            </a:r>
          </a:p>
          <a:p/>
          <a:p>
            <a:r>
              <a:t>OBJECTIF OBSERVABLE</a:t>
            </a:r>
          </a:p>
          <a:p>
            <a:r>
              <a:t>Évaluer l’erreur et les périodes difficiles. Le participant doit pouvoir expliquer ou réaliser les éléments suivants : MAE : erreur absolue moyenne ; RMSE : sensibilité aux grandes erreurs ; Analyser les ruptures et l’horizon.</a:t>
            </a:r>
          </a:p>
          <a:p/>
          <a:p>
            <a:r>
              <a:t>EXPLICATION ET ANIMATION</a:t>
            </a:r>
          </a:p>
          <a:p>
            <a:r>
              <a:t>Une courbe visuellement proche peut masquer un décalage d’un pas ou une erreur importante aux transitions. MAE et RMSE restent dans l’unité de la cible après dénormalisation. Il faut aussi examiner la référence naïve, l’horizon, la fréquence et les conditions de collecte. Pour les usages financiers, une métrique de prévision n’est pas une rentabilité nette.</a:t>
            </a:r>
          </a:p>
          <a:p/>
          <a:p>
            <a:r>
              <a:t>QUESTION À POSER</a:t>
            </a:r>
          </a:p>
          <a:p>
            <a:r>
              <a:t>Pourquoi regarder les ruptures séparément ?</a:t>
            </a:r>
          </a:p>
          <a:p/>
          <a:p>
            <a:r>
              <a:t>RÉPONSE ATTENDUE ET CORRECTION</a:t>
            </a:r>
          </a:p>
          <a:p>
            <a:r>
              <a:t>Parce qu’une moyenne globale peut masquer les moments où la prévision devient inutilisable.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063 | Type CONCEPT | Niveau Application | Support projection + notes]</a:t>
            </a:r>
          </a:p>
          <a:p/>
          <a:p>
            <a:r>
              <a:t>OBJECTIF OBSERVABLE</a:t>
            </a:r>
          </a:p>
          <a:p>
            <a:r>
              <a:t>Relier les éléments sans les traiter seulement en chaîne. Le participant doit pouvoir expliquer ou réaliser les éléments suivants : RNN : transmission d’un état ; Attention : pondération des relations ; LSTM conservé dans les objectifs du cours.</a:t>
            </a:r>
          </a:p>
          <a:p/>
          <a:p>
            <a:r>
              <a:t>EXPLICATION ET ANIMATION</a:t>
            </a:r>
          </a:p>
          <a:p>
            <a:r>
              <a:t>Le papier de 2017 propose une architecture de traduction fondée sur l’attention. Cette ouverture évite une représentation datée du langage, mais ne remplace pas le programme pratique CNN/RNN/LSTM. L’attention n’est pas une preuve de compréhension causale ni une explication complète d’une décision. Les grands modèles préentraînés dépassent le budget de calcul des TP.</a:t>
            </a:r>
          </a:p>
          <a:p/>
          <a:p>
            <a:r>
              <a:t>QUESTION À POSER</a:t>
            </a:r>
          </a:p>
          <a:p>
            <a:r>
              <a:t>Pourquoi ne pas entraîner ici un grand modèle de langage ?</a:t>
            </a:r>
          </a:p>
          <a:p/>
          <a:p>
            <a:r>
              <a:t>RÉPONSE ATTENDUE ET CORRECTION</a:t>
            </a:r>
          </a:p>
          <a:p>
            <a:r>
              <a:t>Cela ne servirait ni le niveau Application en 18 heures ni le budget matériel du parcours.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[R14] Vaswani et coauteurs. Attention Is All You Need. https://arxiv.org/abs/1706.03762</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[R14] Vaswani et coauteurs. Attention Is All You Need. 2017. https://arxiv.org/abs/1706.03762</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064 | Type REPÈRE | Niveau Application | Support projection + notes]</a:t>
            </a:r>
          </a:p>
          <a:p/>
          <a:p>
            <a:r>
              <a:t>OBJECTIF OBSERVABLE</a:t>
            </a:r>
          </a:p>
          <a:p>
            <a:r>
              <a:t>Le modèle est un système à examiner. Le participant doit pouvoir expliquer ou réaliser les éléments suivants : Observer un symptôme ; Formuler une hypothèse ; Tester une modification isolée.</a:t>
            </a:r>
          </a:p>
          <a:p/>
          <a:p>
            <a:r>
              <a:t>EXPLICATION ET ANIMATION</a:t>
            </a:r>
          </a:p>
          <a:p>
            <a:r>
              <a:t>Cette seconde moitié de journée réorganise les leviers du dossier autour d’un raisonnement : symptôme, cause possible, test, action et preuve. Le but n’est pas de mémoriser une liste de techniques mais de choisir quoi essayer, dans quel ordre et pourquoi. Les équipes disposent d’un budget limité d’expériences.</a:t>
            </a:r>
          </a:p>
          <a:p/>
          <a:p>
            <a:r>
              <a:t>QUESTION À POSER</a:t>
            </a:r>
          </a:p>
          <a:p>
            <a:r>
              <a:t>Par quoi commencer devant un mauvais score ?</a:t>
            </a:r>
          </a:p>
          <a:p/>
          <a:p>
            <a:r>
              <a:t>RÉPONSE ATTENDUE ET CORRECTION</a:t>
            </a:r>
          </a:p>
          <a:p>
            <a:r>
              <a:t>Vérifier les données, la cible, le split et la référence avant d’ajouter des couches.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065 | Type CONCEPT | Niveau Application | Support projection + notes]</a:t>
            </a:r>
          </a:p>
          <a:p/>
          <a:p>
            <a:r>
              <a:t>OBJECTIF OBSERVABLE</a:t>
            </a:r>
          </a:p>
          <a:p>
            <a:r>
              <a:t>Une même apparence peut avoir plusieurs causes. Le participant doit pouvoir expliquer ou réaliser les éléments suivants : Sous-apprentissage ; Compromis à confirmer ; Surapprentissage probable.</a:t>
            </a:r>
          </a:p>
          <a:p/>
          <a:p>
            <a:r>
              <a:t>EXPLICATION ET ANIMATION</a:t>
            </a:r>
          </a:p>
          <a:p>
            <a:r>
              <a:t>Les courbes sont schématiques. Train et validation mauvais peuvent indiquer une capacité insuffisante, une cible trop bruitée ou un problème de pipeline. Train bon et validation mauvais peuvent indiquer surapprentissage ou décalage de distribution. La décision s’appuie ensuite sur un test discriminant, pas sur une lecture automatique du dessin.</a:t>
            </a:r>
          </a:p>
          <a:p/>
          <a:p>
            <a:r>
              <a:t>QUESTION À POSER</a:t>
            </a:r>
          </a:p>
          <a:p>
            <a:r>
              <a:t>Comment distinguer manque de capacité et bug de pipeline ?</a:t>
            </a:r>
          </a:p>
          <a:p/>
          <a:p>
            <a:r>
              <a:t>RÉPONSE ATTENDUE ET CORRECTION</a:t>
            </a:r>
          </a:p>
          <a:p>
            <a:r>
              <a:t>Tenter de mémoriser un très petit sous-ensemble et vérifier les données.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066 | Type ATELIER | Niveau Application | Support projection + notes]</a:t>
            </a:r>
          </a:p>
          <a:p/>
          <a:p>
            <a:r>
              <a:t>OBJECTIF OBSERVABLE</a:t>
            </a:r>
          </a:p>
          <a:p>
            <a:r>
              <a:t>Symptôme → hypothèse → test → action. Le participant doit pouvoir expliquer ou réaliser les éléments suivants : Perte plate : LR, données ou gradients ; Instabilité : LR, échelle ou calcul ; Rappel faible : classe rare ou seuil.</a:t>
            </a:r>
          </a:p>
          <a:p/>
          <a:p>
            <a:r>
              <a:t>EXPLICATION ET ANIMATION</a:t>
            </a:r>
          </a:p>
          <a:p>
            <a:r>
              <a:t>Distribuer la matrice imprimée et faire compléter la colonne test avant la colonne action. Baisser le taux est une action ; comparer deux taux à split constant est un test. Inspecter la répartition des labels, l’échelle des entrées et les sorties du modèle évite de chercher une solution sophistiquée à une erreur élémentaire.</a:t>
            </a:r>
          </a:p>
          <a:p/>
          <a:p>
            <a:r>
              <a:t>QUESTION À POSER</a:t>
            </a:r>
          </a:p>
          <a:p>
            <a:r>
              <a:t>Quelle information manque à « ajoutez du dropout » ?</a:t>
            </a:r>
          </a:p>
          <a:p/>
          <a:p>
            <a:r>
              <a:t>RÉPONSE ATTENDUE ET CORRECTION</a:t>
            </a:r>
          </a:p>
          <a:p>
            <a:r>
              <a:t>Le symptôme, l’hypothèse et la preuve qu’il s’agit bien d’un surapprentissage.</a:t>
            </a:r>
          </a:p>
          <a:p/>
          <a:p>
            <a:r>
              <a:t>VÉRIFICATION</a:t>
            </a:r>
          </a:p>
          <a:p>
            <a:r>
              <a:t>Demander une reformulation avec un exemple ou une preuve issue du notebook. Ne pas accepter une réponse limitée au nom d’une bibliothèque. Ouvrir le notebook 08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067 | Type CONCEPT | Niveau Application | Support projection + notes]</a:t>
            </a:r>
          </a:p>
          <a:p/>
          <a:p>
            <a:r>
              <a:t>OBJECTIF OBSERVABLE</a:t>
            </a:r>
          </a:p>
          <a:p>
            <a:r>
              <a:t>Un réseau capable devrait pouvoir mémoriser ce petit lot. Le participant doit pouvoir expliquer ou réaliser les éléments suivants : Sous-ensemble fixe ; Pas de régularisation forte ; Perte qui devient très faible.</a:t>
            </a:r>
          </a:p>
          <a:p/>
          <a:p>
            <a:r>
              <a:t>EXPLICATION ET ANIMATION</a:t>
            </a:r>
          </a:p>
          <a:p>
            <a:r>
              <a:t>C’est une heuristique de débogage et non un théorème universel. On choisit un modèle suffisamment capacitaire et des labels cohérents. Si la perte ne baisse pas, examiner la perte choisie, les types, les gradients et la boucle. Réussir à mémoriser prouve seulement que le pipeline peut apprendre ce micro-lot ; cela ne valide pas la généralisation.</a:t>
            </a:r>
          </a:p>
          <a:p/>
          <a:p>
            <a:r>
              <a:t>QUESTION À POSER</a:t>
            </a:r>
          </a:p>
          <a:p>
            <a:r>
              <a:t>Un modèle qui mémorise 32 exemples est-il prêt à être déployé ?</a:t>
            </a:r>
          </a:p>
          <a:p/>
          <a:p>
            <a:r>
              <a:t>RÉPONSE ATTENDUE ET CORRECTION</a:t>
            </a:r>
          </a:p>
          <a:p>
            <a:r>
              <a:t>Non. Ce test vérifie un fonctionnement interne, pas une performance hors échantillon.</a:t>
            </a:r>
          </a:p>
          <a:p/>
          <a:p>
            <a:r>
              <a:t>VÉRIFICATION</a:t>
            </a:r>
          </a:p>
          <a:p>
            <a:r>
              <a:t>Demander une reformulation avec un exemple ou une preuve issue du notebook. Ne pas accepter une réponse limitée au nom d’une bibliothèque. Ouvrir le notebook 08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068 | Type CONCEPT | Niveau Application | Support projection + notes]</a:t>
            </a:r>
          </a:p>
          <a:p/>
          <a:p>
            <a:r>
              <a:t>OBJECTIF OBSERVABLE</a:t>
            </a:r>
          </a:p>
          <a:p>
            <a:r>
              <a:t>L’optimiseur n’est pas l’architecture. Le participant doit pouvoir expliquer ou réaliser les éléments suivants : SGD : mise à jour suivant le gradient ; Momentum : accumulation orientée ; Adam : moments adaptatifs des gradients.</a:t>
            </a:r>
          </a:p>
          <a:p/>
          <a:p>
            <a:r>
              <a:t>EXPLICATION ET ANIMATION</a:t>
            </a:r>
          </a:p>
          <a:p>
            <a:r>
              <a:t>Adam combine des estimations de premier et de second moments avec corrections de biais. Il reste nécessaire de régler le taux et de surveiller l’entraînement. Une comparaison équitable utilise des budgets d’essais comparables ; changer d’optimiseur peut modifier le bon taux. La visualisation ne doit pas laisser penser qu’Adam trouve toujours le meilleur minimum.</a:t>
            </a:r>
          </a:p>
          <a:p/>
          <a:p>
            <a:r>
              <a:t>QUESTION À POSER</a:t>
            </a:r>
          </a:p>
          <a:p>
            <a:r>
              <a:t>Pourquoi changer d’optimiseur sans revoir le taux peut-il tromper ?</a:t>
            </a:r>
          </a:p>
          <a:p/>
          <a:p>
            <a:r>
              <a:t>RÉPONSE ATTENDUE ET CORRECTION</a:t>
            </a:r>
          </a:p>
          <a:p>
            <a:r>
              <a:t>Les échelles de mise à jour et les réglages adaptés ne sont pas identiques.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[R10] Kingma et Ba. Adam: A Method for Stochastic Optimization. https://arxiv.org/abs/1412.6980</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[R10] Kingma et Ba. Adam: A Method for Stochastic Optimization. 2014/2015. https://arxiv.org/abs/1412.6980</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069 | Type CONCEPT | Niveau Application | Support projection + notes]</a:t>
            </a:r>
          </a:p>
          <a:p/>
          <a:p>
            <a:r>
              <a:t>OBJECTIF OBSERVABLE</a:t>
            </a:r>
          </a:p>
          <a:p>
            <a:r>
              <a:t>Réduire les comportements trop spécifiques au train. Le participant doit pouvoir expliquer ou réaliser les éléments suivants : L2 / décroissance des poids ; Dropout et augmentation ; Arrêt anticipé.</a:t>
            </a:r>
          </a:p>
          <a:p/>
          <a:p>
            <a:r>
              <a:t>EXPLICATION ET ANIMATION</a:t>
            </a:r>
          </a:p>
          <a:p>
            <a:r>
              <a:t>Les techniques n’agissent pas toutes au même endroit. L2 modifie l’objectif ; weight decay agit sur les poids selon l’optimiseur ; dropout perturbe des activations ; augmentation modifie les exemples ; early stopping sélectionne une époque. Avec des optimiseurs adaptatifs, L2 et décroissance découplée des poids ne sont pas strictement équivalentes. Cette nuance est une extension d’ingénierie, pas un prérequis mathématique.</a:t>
            </a:r>
          </a:p>
          <a:p/>
          <a:p>
            <a:r>
              <a:t>QUESTION À POSER</a:t>
            </a:r>
          </a:p>
          <a:p>
            <a:r>
              <a:t>Peut-on cumuler toutes les régularisations sans risque ?</a:t>
            </a:r>
          </a:p>
          <a:p/>
          <a:p>
            <a:r>
              <a:t>RÉPONSE ATTENDUE ET CORRECTION</a:t>
            </a:r>
          </a:p>
          <a:p>
            <a:r>
              <a:t>Non. Une régularisation excessive peut produire du sous-apprentissage.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[R11] Srivastava et coauteurs. Dropout: A Simple Way to Prevent Neural Networks from Overfitting. https://jmlr.org/papers/v15/srivastava14a.html</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[R11] Srivastava et coauteurs. Dropout: A Simple Way to Prevent Neural Networks from Overfitting. 2014. https://jmlr.org/papers/v15/srivastava14a.html</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070 | Type CONCEPT | Niveau Application | Support projection + notes]</a:t>
            </a:r>
          </a:p>
          <a:p/>
          <a:p>
            <a:r>
              <a:t>OBJECTIF OBSERVABLE</a:t>
            </a:r>
          </a:p>
          <a:p>
            <a:r>
              <a:t>Le masque change pendant l’entraînement. Le participant doit pouvoir expliquer ou réaliser les éléments suivants : Unités temporairement neutralisées ; Taux choisi comme hyperparamètre ; Comportement normal en évaluation.</a:t>
            </a:r>
          </a:p>
          <a:p/>
          <a:p>
            <a:r>
              <a:t>EXPLICATION ET ANIMATION</a:t>
            </a:r>
          </a:p>
          <a:p>
            <a:r>
              <a:t>Le dropout réduit certaines co-adaptations en masquant aléatoirement des activations pendant l’entraînement. Les bibliothèques gèrent la mise à l’échelle. En mode eval standard, il est désactivé. Le notebook permet de constater que deux prédictions train peuvent différer alors que deux prédictions eval sont stables, à paramètres fixes.</a:t>
            </a:r>
          </a:p>
          <a:p/>
          <a:p>
            <a:r>
              <a:t>QUESTION À POSER</a:t>
            </a:r>
          </a:p>
          <a:p>
            <a:r>
              <a:t>Pourquoi appeler model.eval avant la mesure de validation ?</a:t>
            </a:r>
          </a:p>
          <a:p/>
          <a:p>
            <a:r>
              <a:t>RÉPONSE ATTENDUE ET CORRECTION</a:t>
            </a:r>
          </a:p>
          <a:p>
            <a:r>
              <a:t>Pour appliquer le comportement d’inférence des couches concernées.</a:t>
            </a:r>
          </a:p>
          <a:p/>
          <a:p>
            <a:r>
              <a:t>VÉRIFICATION</a:t>
            </a:r>
          </a:p>
          <a:p>
            <a:r>
              <a:t>Demander une reformulation avec un exemple ou une preuve issue du notebook. Ne pas accepter une réponse limitée au nom d’une bibliothèque. Ouvrir le notebook 05 ; conserver les résultats et le journal.</a:t>
            </a:r>
          </a:p>
          <a:p/>
          <a:p>
            <a:r>
              <a:t>REPÈRES DE SOURCE</a:t>
            </a:r>
          </a:p>
          <a:p>
            <a:r>
              <a:t>[R11] Srivastava et coauteurs. Dropout: A Simple Way to Prevent Neural Networks from Overfitting. https://jmlr.org/papers/v15/srivastava14a.html</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[R11] Srivastava et coauteurs. Dropout: A Simple Way to Prevent Neural Networks from Overfitting. 2014. https://jmlr.org/papers/v15/srivastava14a.html</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071 | Type CONCEPT | Niveau Application | Support projection + notes]</a:t>
            </a:r>
          </a:p>
          <a:p/>
          <a:p>
            <a:r>
              <a:t>OBJECTIF OBSERVABLE</a:t>
            </a:r>
          </a:p>
          <a:p>
            <a:r>
              <a:t>Statistiques du lot pendant l’apprentissage. Le participant doit pouvoir expliquer ou réaliser les éléments suivants : Normalisation intermédiaire ; Paramètres d’échelle et de décalage ; Statistiques suivies pour l’inférence.</a:t>
            </a:r>
          </a:p>
          <a:p/>
          <a:p>
            <a:r>
              <a:t>EXPLICATION ET ANIMATION</a:t>
            </a:r>
          </a:p>
          <a:p>
            <a:r>
              <a:t>Le schéma illustre le centrage et la mise à l’échelle puis des paramètres appris. Les réglages par défaut suivent des statistiques réutilisées en évaluation. Le comportement exact dépend de la bibliothèque et de ses options. Ne pas enseigner l’explication historique par le « décalage de covariables interne » comme une démonstration théorique définitive des bénéfices.</a:t>
            </a:r>
          </a:p>
          <a:p/>
          <a:p>
            <a:r>
              <a:t>QUESTION À POSER</a:t>
            </a:r>
          </a:p>
          <a:p>
            <a:r>
              <a:t>Pourquoi les petits lots peuvent-ils poser problème ?</a:t>
            </a:r>
          </a:p>
          <a:p/>
          <a:p>
            <a:r>
              <a:t>RÉPONSE ATTENDUE ET CORRECTION</a:t>
            </a:r>
          </a:p>
          <a:p>
            <a:r>
              <a:t>Les statistiques estimées peuvent être instables ou peu représentatives.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[R12] Ioffe et Szegedy. Batch Normalization. https://arxiv.org/abs/1502.03167</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[R12] Ioffe et Szegedy. Batch Normalization. 2015. https://arxiv.org/abs/1502.03167</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072 | Type CONCEPT | Niveau Application | Support projection + notes]</a:t>
            </a:r>
          </a:p>
          <a:p/>
          <a:p>
            <a:r>
              <a:t>OBJECTIF OBSERVABLE</a:t>
            </a:r>
          </a:p>
          <a:p>
            <a:r>
              <a:t>Une transformation doit préserver la cible. Le participant doit pouvoir expliquer ou réaliser les éléments suivants : Bruit modéré ou petit déplacement ; Pas de rotation arbitraire des chiffres ; Validation et test non augmentés au hasard.</a:t>
            </a:r>
          </a:p>
          <a:p/>
          <a:p>
            <a:r>
              <a:t>EXPLICATION ET ANIMATION</a:t>
            </a:r>
          </a:p>
          <a:p>
            <a:r>
              <a:t>Une rotation peut transformer un chiffre ou rendre l’image ambiguë ; les augmentations doivent être adaptées au domaine. Dans le TP de transfert, le bruit synthétique est annoncé comme un changement de domaine simulé. Il ne reproduit pas les altérations d’un capteur réel. Les évaluations restent faites sur une version figée des données.</a:t>
            </a:r>
          </a:p>
          <a:p/>
          <a:p>
            <a:r>
              <a:t>QUESTION À POSER</a:t>
            </a:r>
          </a:p>
          <a:p>
            <a:r>
              <a:t>Une rotation de 180° conserve-t-elle toujours l’étiquette ?</a:t>
            </a:r>
          </a:p>
          <a:p/>
          <a:p>
            <a:r>
              <a:t>RÉPONSE ATTENDUE ET CORRECTION</a:t>
            </a:r>
          </a:p>
          <a:p>
            <a:r>
              <a:t>Non. La transformation n’est pas sûre pour toutes les classes.</a:t>
            </a:r>
          </a:p>
          <a:p/>
          <a:p>
            <a:r>
              <a:t>VÉRIFICATION</a:t>
            </a:r>
          </a:p>
          <a:p>
            <a:r>
              <a:t>Demander une reformulation avec un exemple ou une preuve issue du notebook. Ne pas accepter une réponse limitée au nom d’une bibliothèque. Ouvrir le notebook 05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073 | Type CONCEPT | Niveau Application | Support projection + notes]</a:t>
            </a:r>
          </a:p>
          <a:p/>
          <a:p>
            <a:r>
              <a:t>OBJECTIF OBSERVABLE</a:t>
            </a:r>
          </a:p>
          <a:p>
            <a:r>
              <a:t>Conserver le meilleur état de validation. Le participant doit pouvoir expliquer ou réaliser les éléments suivants : Suivre une métrique annoncée ; Patience définie à l’avance ; Restaurer les meilleurs poids.</a:t>
            </a:r>
          </a:p>
          <a:p/>
          <a:p>
            <a:r>
              <a:t>EXPLICATION ET ANIMATION</a:t>
            </a:r>
          </a:p>
          <a:p>
            <a:r>
              <a:t>Early stopping doit utiliser la validation et non le test. La patience autorise quelques époques sans amélioration avant d’arrêter. Si l’on restaure les poids, l’état évalué peut différer de la dernière époque exécutée. Conserver la configuration, l’époque choisie et le critère permet de comprendre la sélection.</a:t>
            </a:r>
          </a:p>
          <a:p/>
          <a:p>
            <a:r>
              <a:t>QUESTION À POSER</a:t>
            </a:r>
          </a:p>
          <a:p>
            <a:r>
              <a:t>Pourquoi le modèle final n’est-il pas forcément celui de la dernière époque ?</a:t>
            </a:r>
          </a:p>
          <a:p/>
          <a:p>
            <a:r>
              <a:t>RÉPONSE ATTENDUE ET CORRECTION</a:t>
            </a:r>
          </a:p>
          <a:p>
            <a:r>
              <a:t>L’état retenu peut être celui qui minimise la perte de validation.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074 | Type CONCEPT | Niveau Application | Support projection + notes]</a:t>
            </a:r>
          </a:p>
          <a:p/>
          <a:p>
            <a:r>
              <a:t>OBJECTIF OBSERVABLE</a:t>
            </a:r>
          </a:p>
          <a:p>
            <a:r>
              <a:t>Préentraîner, adapter une tête, puis ajuster. Le participant doit pouvoir expliquer ou réaliser les éléments suivants : Partir d’un extracteur appris ; Geler ses paramètres ; Entraîner une nouvelle tête.</a:t>
            </a:r>
          </a:p>
          <a:p/>
          <a:p>
            <a:r>
              <a:t>EXPLICATION ET ANIMATION</a:t>
            </a:r>
          </a:p>
          <a:p>
            <a:r>
              <a:t>Le dossier présente le transfert à partir de grands modèles préentraînés. Le kit propose une version hors ligne à petite échelle : préentraîner un CNN sur une partie d’images propres puis adapter une nouvelle tête à un ensemble bruité distinct. Les ensembles source et cible sont disjoints avant toute transformation. C’est une démonstration du mécanisme, pas un substitut à ImageNet.</a:t>
            </a:r>
          </a:p>
          <a:p/>
          <a:p>
            <a:r>
              <a:t>QUESTION À POSER</a:t>
            </a:r>
          </a:p>
          <a:p>
            <a:r>
              <a:t>Qu’est-ce qui serait une fuite dans ce TP ?</a:t>
            </a:r>
          </a:p>
          <a:p/>
          <a:p>
            <a:r>
              <a:t>RÉPONSE ATTENDUE ET CORRECTION</a:t>
            </a:r>
          </a:p>
          <a:p>
            <a:r>
              <a:t>Préentraîner sur les images réservées à la validation ou au test cible.</a:t>
            </a:r>
          </a:p>
          <a:p/>
          <a:p>
            <a:r>
              <a:t>VÉRIFICATION</a:t>
            </a:r>
          </a:p>
          <a:p>
            <a:r>
              <a:t>Demander une reformulation avec un exemple ou une preuve issue du notebook. Ne pas accepter une réponse limitée au nom d’une bibliothèque. Ouvrir le notebook 07 ; conserver les résultats et le journal.</a:t>
            </a:r>
          </a:p>
          <a:p/>
          <a:p>
            <a:r>
              <a:t>REPÈRES DE SOURCE</a:t>
            </a:r>
          </a:p>
          <a:p>
            <a:r>
              <a:t>[R06] François Chollet / Keras. Apprentissage par transfert et ajustement fin. https://keras.io/guides/transfer_learning/</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[R06] François Chollet / Keras. Apprentissage par transfert et ajustement fin. Documentation consultée le 14 septembre 2026. https://keras.io/guides/transfer_learning/</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075 | Type CONCEPT | Niveau Application | Support projection + notes]</a:t>
            </a:r>
          </a:p>
          <a:p/>
          <a:p>
            <a:r>
              <a:t>OBJECTIF OBSERVABLE</a:t>
            </a:r>
          </a:p>
          <a:p>
            <a:r>
              <a:t>Adapter sans détruire trop vite les représentations. Le participant doit pouvoir expliquer ou réaliser les éléments suivants : Tête nouvelle d’abord ; Dernier bloc ensuite ; Taux plus faible et validation surveillée.</a:t>
            </a:r>
          </a:p>
          <a:p/>
          <a:p>
            <a:r>
              <a:t>EXPLICATION ET ANIMATION</a:t>
            </a:r>
          </a:p>
          <a:p>
            <a:r>
              <a:t>Une tête aléatoire peut produire de fortes mises à jour peu utiles pour l’extracteur. On commence donc par entraîner la tête gelant le reste, puis on dégèle une partie avec un taux prudent. Si l’architecture comporte BatchNorm, son état doit aussi être contrôlé. Après modification des paramètres entraînables, reconstruire l’optimiseur approprié.</a:t>
            </a:r>
          </a:p>
          <a:p/>
          <a:p>
            <a:r>
              <a:t>QUESTION À POSER</a:t>
            </a:r>
          </a:p>
          <a:p>
            <a:r>
              <a:t>Pourquoi reconstruire l’optimiseur après un changement de couches entraînables ?</a:t>
            </a:r>
          </a:p>
          <a:p/>
          <a:p>
            <a:r>
              <a:t>RÉPONSE ATTENDUE ET CORRECTION</a:t>
            </a:r>
          </a:p>
          <a:p>
            <a:r>
              <a:t>Pour inclure exactement les paramètres à mettre à jour.</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[R06] François Chollet / Keras. Apprentissage par transfert et ajustement fin. https://keras.io/guides/transfer_learning/</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[R06] François Chollet / Keras. Apprentissage par transfert et ajustement fin. Documentation consultée le 14 septembre 2026. https://keras.io/guides/transfer_learning/</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076 | Type ATELIER | Niveau Application | Support projection + notes]</a:t>
            </a:r>
          </a:p>
          <a:p/>
          <a:p>
            <a:r>
              <a:t>OBJECTIF OBSERVABLE</a:t>
            </a:r>
          </a:p>
          <a:p>
            <a:r>
              <a:t>Un vrai gel, une vraie adaptation, des données disjointes. Le participant doit pouvoir expliquer ou réaliser les éléments suivants : Étape A : source propre ; Étape B : tête sur cible bruitée ; Étape C : ajustement du dernier bloc.</a:t>
            </a:r>
          </a:p>
          <a:p/>
          <a:p>
            <a:r>
              <a:t>EXPLICATION ET ANIMATION</a:t>
            </a:r>
          </a:p>
          <a:p>
            <a:r>
              <a:t>Les phases sont visibles dans le notebook, avec un comptage des paramètres entraînables. L’évaluation cible est distincte des données source. On compare tête seule, ajustement partiel et, en extension, apprentissage depuis zéro. Si le transfert ne gagne pas, documenter ce résultat plutôt que modifier les données de test.</a:t>
            </a:r>
          </a:p>
          <a:p/>
          <a:p>
            <a:r>
              <a:t>QUESTION À POSER</a:t>
            </a:r>
          </a:p>
          <a:p>
            <a:r>
              <a:t>Quelle preuve montre que l’extracteur est gelé ?</a:t>
            </a:r>
          </a:p>
          <a:p/>
          <a:p>
            <a:r>
              <a:t>RÉPONSE ATTENDUE ET CORRECTION</a:t>
            </a:r>
          </a:p>
          <a:p>
            <a:r>
              <a:t>requires_grad=False, le nombre de paramètres entraînables et des poids inchangés.</a:t>
            </a:r>
          </a:p>
          <a:p/>
          <a:p>
            <a:r>
              <a:t>VÉRIFICATION</a:t>
            </a:r>
          </a:p>
          <a:p>
            <a:r>
              <a:t>Demander une reformulation avec un exemple ou une preuve issue du notebook. Ne pas accepter une réponse limitée au nom d’une bibliothèque. Ouvrir le notebook 07 ; conserver les résultats et le journal.</a:t>
            </a:r>
          </a:p>
          <a:p/>
          <a:p>
            <a:r>
              <a:t>REPÈRES DE SOURCE</a:t>
            </a:r>
          </a:p>
          <a:p>
            <a:r>
              <a:t>[R06] François Chollet / Keras. Apprentissage par transfert et ajustement fin. https://keras.io/guides/transfer_learning/</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[R06] François Chollet / Keras. Apprentissage par transfert et ajustement fin. Documentation consultée le 14 septembre 2026. https://keras.io/guides/transfer_learning/</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077 | Type CONCEPT | Niveau Application | Support projection + notes]</a:t>
            </a:r>
          </a:p>
          <a:p/>
          <a:p>
            <a:r>
              <a:t>OBJECTIF OBSERVABLE</a:t>
            </a:r>
          </a:p>
          <a:p>
            <a:r>
              <a:t>Un résultat non rechargeable n’est pas un livrable. Le participant doit pouvoir expliquer ou réaliser les éléments suivants : Sauvegarder l’état ; Reconstruire le modèle ; Comparer les prédictions.</a:t>
            </a:r>
          </a:p>
          <a:p/>
          <a:p>
            <a:r>
              <a:t>EXPLICATION ET ANIMATION</a:t>
            </a:r>
          </a:p>
          <a:p>
            <a:r>
              <a:t>Exécuter le test dans un nouvel objet modèle, et pas seulement vérifier que le fichier existe. Le même prétraitement et le mode évaluation sont nécessaires. La tolérance de comparaison est annoncée. Le TP sauvegarde des fichiers produits par la formation ; il n’incite pas à charger des fichiers arbitraires.</a:t>
            </a:r>
          </a:p>
          <a:p/>
          <a:p>
            <a:r>
              <a:t>QUESTION À POSER</a:t>
            </a:r>
          </a:p>
          <a:p>
            <a:r>
              <a:t>Un fichier non vide prouve-t-il que la sauvegarde est correcte ?</a:t>
            </a:r>
          </a:p>
          <a:p/>
          <a:p>
            <a:r>
              <a:t>RÉPONSE ATTENDUE ET CORRECTION</a:t>
            </a:r>
          </a:p>
          <a:p>
            <a:r>
              <a:t>Non. Il faut recharger et vérifier la cohérence des sorties.</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078 | Type CONCEPT | Niveau Application | Support projection + notes]</a:t>
            </a:r>
          </a:p>
          <a:p/>
          <a:p>
            <a:r>
              <a:t>OBJECTIF OBSERVABLE</a:t>
            </a:r>
          </a:p>
          <a:p>
            <a:r>
              <a:t>Pondération, échantillonnage et seuil ne sont pas équivalents. Le participant doit pouvoir expliquer ou réaliser les éléments suivants : Choisir des métriques adaptées ; Tester une pondération sur train ; Décider le seuil sur validation.</a:t>
            </a:r>
          </a:p>
          <a:p/>
          <a:p>
            <a:r>
              <a:t>EXPLICATION ET ANIMATION</a:t>
            </a:r>
          </a:p>
          <a:p>
            <a:r>
              <a:t>Pondérer la perte change ce que l’entraînement pénalise. Rééchantillonner change les exemples vus. Déplacer le seuil change la décision sans réentraîner. Ces mécanismes ont des effets différents, notamment sur la calibration. La distribution du test reste représentative du scénario évalué ; elle n’est pas rééquilibrée pour fabriquer une meilleure présentation.</a:t>
            </a:r>
          </a:p>
          <a:p/>
          <a:p>
            <a:r>
              <a:t>QUESTION À POSER</a:t>
            </a:r>
          </a:p>
          <a:p>
            <a:r>
              <a:t>Peut-on équilibrer le test pour refléter une classe rare réelle ?</a:t>
            </a:r>
          </a:p>
          <a:p/>
          <a:p>
            <a:r>
              <a:t>RÉPONSE ATTENDUE ET CORRECTION</a:t>
            </a:r>
          </a:p>
          <a:p>
            <a:r>
              <a:t>Pas sans changer explicitement la question évaluée.</a:t>
            </a:r>
          </a:p>
          <a:p/>
          <a:p>
            <a:r>
              <a:t>VÉRIFICATION</a:t>
            </a:r>
          </a:p>
          <a:p>
            <a:r>
              <a:t>Demander une reformulation avec un exemple ou une preuve issue du notebook. Ne pas accepter une réponse limitée au nom d’une bibliothèque. Ouvrir le notebook 09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079 | Type CONCEPT | Niveau Application | Support projection + notes]</a:t>
            </a:r>
          </a:p>
          <a:p/>
          <a:p>
            <a:r>
              <a:t>OBJECTIF OBSERVABLE</a:t>
            </a:r>
          </a:p>
          <a:p>
            <a:r>
              <a:t>Bien ordonner n’est pas donner une probabilité fiable. Le participant doit pouvoir expliquer ou réaliser les éléments suivants : ROC et précision-rappel : discrimination ; Courbe de fiabilité : calibration ; Seuil et coût : décision.</a:t>
            </a:r>
          </a:p>
          <a:p/>
          <a:p>
            <a:r>
              <a:t>EXPLICATION ET ANIMATION</a:t>
            </a:r>
          </a:p>
          <a:p>
            <a:r>
              <a:t>Une calibration compare les scores annoncés et les fréquences observées. Un modèle qui classe bien peut être trop confiant. La calibration s’ajuste sur des données distinctes de son test final ; elle ne répare pas une mauvaise représentation ou une dérive ignorée. Le notebook illustre une courbe de fiabilité et le score de Brier sur validation.</a:t>
            </a:r>
          </a:p>
          <a:p/>
          <a:p>
            <a:r>
              <a:t>QUESTION À POSER</a:t>
            </a:r>
          </a:p>
          <a:p>
            <a:r>
              <a:t>Un score de 0,8 garantit-il huit succès sur dix dans ce contexte ?</a:t>
            </a:r>
          </a:p>
          <a:p/>
          <a:p>
            <a:r>
              <a:t>RÉPONSE ATTENDUE ET CORRECTION</a:t>
            </a:r>
          </a:p>
          <a:p>
            <a:r>
              <a:t>Non, pas sans évaluation de calibration et population comparable.</a:t>
            </a:r>
          </a:p>
          <a:p/>
          <a:p>
            <a:r>
              <a:t>VÉRIFICATION</a:t>
            </a:r>
          </a:p>
          <a:p>
            <a:r>
              <a:t>Demander une reformulation avec un exemple ou une preuve issue du notebook. Ne pas accepter une réponse limitée au nom d’une bibliothèque. Ouvrir le notebook 03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080 | Type CONCEPT | Niveau Application | Support projection + notes]</a:t>
            </a:r>
          </a:p>
          <a:p/>
          <a:p>
            <a:r>
              <a:t>OBJECTIF OBSERVABLE</a:t>
            </a:r>
          </a:p>
          <a:p>
            <a:r>
              <a:t>La moyenne peut cacher une zone de fragilité. Le participant doit pouvoir expliquer ou réaliser les éléments suivants : Qualité des données et périodes ; Sous-groupes pertinents et effectifs ; Incertitude avant comparaison.</a:t>
            </a:r>
          </a:p>
          <a:p/>
          <a:p>
            <a:r>
              <a:t>EXPLICATION ET ANIMATION</a:t>
            </a:r>
          </a:p>
          <a:p>
            <a:r>
              <a:t>On peut comparer des segments techniques comme niveau de bruit, période ou catégorie de document. Des sous-groupes trop petits rendent les taux instables. La présence d’une personne dans la boucle ne supprime pas les risques de biais. Les TP n’utilisent pas de catégories sensibles réelles et n’enseignent pas des seuils différenciés sans analyse de leur légitimité.</a:t>
            </a:r>
          </a:p>
          <a:p/>
          <a:p>
            <a:r>
              <a:t>QUESTION À POSER</a:t>
            </a:r>
          </a:p>
          <a:p>
            <a:r>
              <a:t>Pourquoi afficher les effectifs avec chaque taux ?</a:t>
            </a:r>
          </a:p>
          <a:p/>
          <a:p>
            <a:r>
              <a:t>RÉPONSE ATTENDUE ET CORRECTION</a:t>
            </a:r>
          </a:p>
          <a:p>
            <a:r>
              <a:t>Pour montrer la quantité d’information et éviter de surinterpréter quelques cas.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081 | Type ATELIER | Niveau Application | Support projection + notes]</a:t>
            </a:r>
          </a:p>
          <a:p/>
          <a:p>
            <a:r>
              <a:t>OBJECTIF OBSERVABLE</a:t>
            </a:r>
          </a:p>
          <a:p>
            <a:r>
              <a:t>Trois expériences maximum, une cause à la fois. Le participant doit pouvoir expliquer ou réaliser les éléments suivants : Courbes, métriques et code fournis ; Diagnostic écrit avant modification ; Journal et preuve après correction.</a:t>
            </a:r>
          </a:p>
          <a:p/>
          <a:p>
            <a:r>
              <a:t>EXPLICATION ET ANIMATION</a:t>
            </a:r>
          </a:p>
          <a:p>
            <a:r>
              <a:t>Les cartes distribuent un problème : fuite, mauvais mode d’évaluation, taux trop grand, cible/perte incohérente ou métrique isolée. Certains incidents sont représentés par des extraits de code volontairement non exécutés. Le notebook de correction reste sûr à lancer et contient une version réparée. Les équipes doivent expliquer pourquoi la correction répond au symptôme.</a:t>
            </a:r>
          </a:p>
          <a:p/>
          <a:p>
            <a:r>
              <a:t>QUESTION À POSER</a:t>
            </a:r>
          </a:p>
          <a:p>
            <a:r>
              <a:t>Qu’est-ce qui vaut le plus : score final ou diagnostic ?</a:t>
            </a:r>
          </a:p>
          <a:p/>
          <a:p>
            <a:r>
              <a:t>RÉPONSE ATTENDUE ET CORRECTION</a:t>
            </a:r>
          </a:p>
          <a:p>
            <a:r>
              <a:t>Le diagnostic vérifiable et l’intégrité du protocole.</a:t>
            </a:r>
          </a:p>
          <a:p/>
          <a:p>
            <a:r>
              <a:t>VÉRIFICATION</a:t>
            </a:r>
          </a:p>
          <a:p>
            <a:r>
              <a:t>Demander une reformulation avec un exemple ou une preuve issue du notebook. Ne pas accepter une réponse limitée au nom d’une bibliothèque. Ouvrir le notebook 08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082 | Type ATELIER | Niveau Application | Support projection + notes]</a:t>
            </a:r>
          </a:p>
          <a:p/>
          <a:p>
            <a:r>
              <a:t>OBJECTIF OBSERVABLE</a:t>
            </a:r>
          </a:p>
          <a:p>
            <a:r>
              <a:t>Ne changez pas trois variables pour expliquer un gain. Le participant doit pouvoir expliquer ou réaliser les éléments suivants : Configuration de référence figée ; Un changement principal ; Décision conservée dans le journal.</a:t>
            </a:r>
          </a:p>
          <a:p/>
          <a:p>
            <a:r>
              <a:t>EXPLICATION ET ANIMATION</a:t>
            </a:r>
          </a:p>
          <a:p>
            <a:r>
              <a:t>La reproductibilité n’interdit pas une exploration, mais elle impose de la tracer. Une recherche automatisée nécessite elle aussi un budget, un espace de recherche et une séparation. Pendant le stage, les essais isolés permettent de construire l’intuition et de discuter les causes. Les résultats attendus sont des tendances possibles, pas des gains promis.</a:t>
            </a:r>
          </a:p>
          <a:p/>
          <a:p>
            <a:r>
              <a:t>QUESTION À POSER</a:t>
            </a:r>
          </a:p>
          <a:p>
            <a:r>
              <a:t>Comment interpréter un essai qui baisse train et améliore validation ?</a:t>
            </a:r>
          </a:p>
          <a:p/>
          <a:p>
            <a:r>
              <a:t>RÉPONSE ATTENDUE ET CORRECTION</a:t>
            </a:r>
          </a:p>
          <a:p>
            <a:r>
              <a:t>Une régularisation peut réduire l’ajustement au train et améliorer la généralisation.</a:t>
            </a:r>
          </a:p>
          <a:p/>
          <a:p>
            <a:r>
              <a:t>VÉRIFICATION</a:t>
            </a:r>
          </a:p>
          <a:p>
            <a:r>
              <a:t>Demander une reformulation avec un exemple ou une preuve issue du notebook. Ne pas accepter une réponse limitée au nom d’une bibliothèque. Ouvrir le notebook 05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083 | Type ATELIER | Niveau Application | Support projection + notes]</a:t>
            </a:r>
          </a:p>
          <a:p/>
          <a:p>
            <a:r>
              <a:t>OBJECTIF OBSERVABLE</a:t>
            </a:r>
          </a:p>
          <a:p>
            <a:r>
              <a:t>Le raisonnement doit survivre sans le notebook. Le participant doit pouvoir expliquer ou réaliser les éléments suivants : Symptôme observé ; Test discriminant et modification ; Résultat, limites et prochaine action.</a:t>
            </a:r>
          </a:p>
          <a:p/>
          <a:p>
            <a:r>
              <a:t>EXPLICATION ET ANIMATION</a:t>
            </a:r>
          </a:p>
          <a:p>
            <a:r>
              <a:t>Chaque groupe présente une seule expérience importante. Le formateur demande une objection : quelle autre cause pourrait expliquer le résultat ? Une bonne défense reconnaît cette incertitude et propose une expérience suivante. Aucun classement public n’est construit sur la seule accuracy. On évalue la qualité des preuves.</a:t>
            </a:r>
          </a:p>
          <a:p/>
          <a:p>
            <a:r>
              <a:t>QUESTION À POSER</a:t>
            </a:r>
          </a:p>
          <a:p>
            <a:r>
              <a:t>Quelle objection votre groupe n’a-t-il pas encore testée ?</a:t>
            </a:r>
          </a:p>
          <a:p/>
          <a:p>
            <a:r>
              <a:t>RÉPONSE ATTENDUE ET CORRECTION</a:t>
            </a:r>
          </a:p>
          <a:p>
            <a:r>
              <a:t>Une autre explication plausible reliée aux données, à la variance ou au protocole.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084 | Type ATELIER | Niveau Application | Support projection + notes]</a:t>
            </a:r>
          </a:p>
          <a:p/>
          <a:p>
            <a:r>
              <a:t>OBJECTIF OBSERVABLE</a:t>
            </a:r>
          </a:p>
          <a:p>
            <a:r>
              <a:t>Vous savez maintenant lire un échec. Le participant doit pouvoir expliquer ou réaliser les éléments suivants : CNN : vérifier les dimensions ; LSTM : préserver le temps ; Diagnostic : relier symptômes et tests.</a:t>
            </a:r>
          </a:p>
          <a:p/>
          <a:p>
            <a:r>
              <a:t>EXPLICATION ET ANIMATION</a:t>
            </a:r>
          </a:p>
          <a:p>
            <a:r>
              <a:t>Avant le troisième jour, vérifier la sauvegarde du CNN, les dates des fenêtres, la comparaison à la persistance et le journal d’au moins une correction. Les participants indiquent quel levier ils comprennent et lequel reste confus. Les prolongements Transformer, précision mixte et interprétabilité avancée sont optionnels, hors des exigences du socle.</a:t>
            </a:r>
          </a:p>
          <a:p/>
          <a:p>
            <a:r>
              <a:t>QUESTION À POSER</a:t>
            </a:r>
          </a:p>
          <a:p>
            <a:r>
              <a:t>Quel test faites-vous avant d’agrandir le réseau ?</a:t>
            </a:r>
          </a:p>
          <a:p/>
          <a:p>
            <a:r>
              <a:t>RÉPONSE ATTENDUE ET CORRECTION</a:t>
            </a:r>
          </a:p>
          <a:p>
            <a:r>
              <a:t>Vérifier les données et essayer de mémoriser un petit lot cohérent.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085 | Type REPÈRE | Niveau Application | Support projection + notes]</a:t>
            </a:r>
          </a:p>
          <a:p/>
          <a:p>
            <a:r>
              <a:t>OBJECTIF OBSERVABLE</a:t>
            </a:r>
          </a:p>
          <a:p>
            <a:r>
              <a:t>Des preuves, des limites et une décision humaine. Le participant doit pouvoir expliquer ou réaliser les éléments suivants : Cas DGFiP, finance, santé et textes ; Gouvernance dans le workflow ; Projet final en équipe.</a:t>
            </a:r>
          </a:p>
          <a:p/>
          <a:p>
            <a:r>
              <a:t>EXPLICATION ET ANIMATION</a:t>
            </a:r>
          </a:p>
          <a:p>
            <a:r>
              <a:t>Le troisième jour conserve tous les cas du dossier et distingue leur statut. Les applications publiques sont décrites avec leurs sources ; les chiffres des exercices sont fictifs ; le code n’est pas une reproduction des systèmes internes. Les participants formulent ensuite une transposition adaptée à leur contexte, avec données, critères et responsabilité.</a:t>
            </a:r>
          </a:p>
          <a:p/>
          <a:p>
            <a:r>
              <a:t>QUESTION À POSER</a:t>
            </a:r>
          </a:p>
          <a:p>
            <a:r>
              <a:t>Qu’est-ce qui manque encore à un notebook correct ?</a:t>
            </a:r>
          </a:p>
          <a:p/>
          <a:p>
            <a:r>
              <a:t>RÉPONSE ATTENDUE ET CORRECTION</a:t>
            </a:r>
          </a:p>
          <a:p>
            <a:r>
              <a:t>Une finalité, un processus d’usage, une gouvernance et un suivi.</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086 | Type ATELIER | Niveau Application | Support projection + notes]</a:t>
            </a:r>
          </a:p>
          <a:p/>
          <a:p>
            <a:r>
              <a:t>OBJECTIF OBSERVABLE</a:t>
            </a:r>
          </a:p>
          <a:p>
            <a:r>
              <a:t>Ne jamais s’arrêter à « ils ont utilisé l’IA ». Le participant doit pouvoir expliquer ou réaliser les éléments suivants : Problème, données et cible ; Modèle, métrique et résultat documenté ; Humain, erreurs et transposition.</a:t>
            </a:r>
          </a:p>
          <a:p/>
          <a:p>
            <a:r>
              <a:t>EXPLICATION ET ANIMATION</a:t>
            </a:r>
          </a:p>
          <a:p>
            <a:r>
              <a:t>La grille évite les récits promotionnels. Une architecture non publiée reste inconnue. Une proportion d’usage n’est pas une exactitude. Une expérience de recherche n’est pas une autorisation de déploiement. Chaque équipe doit distinguer faits de source, inférences et propositions. La fiche de cas comporte un champ explicite pour ces trois catégories.</a:t>
            </a:r>
          </a:p>
          <a:p/>
          <a:p>
            <a:r>
              <a:t>QUESTION À POSER</a:t>
            </a:r>
          </a:p>
          <a:p>
            <a:r>
              <a:t>Que noter lorsqu’une architecture n’est pas documentée ?</a:t>
            </a:r>
          </a:p>
          <a:p/>
          <a:p>
            <a:r>
              <a:t>RÉPONSE ATTENDUE ET CORRECTION</a:t>
            </a:r>
          </a:p>
          <a:p>
            <a:r>
              <a:t>« Architecture non précisée par la source consultée », sans inventer de réseau.</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087 | Type CONCEPT | Niveau Application | Support projection + notes]</a:t>
            </a:r>
          </a:p>
          <a:p/>
          <a:p>
            <a:r>
              <a:t>OBJECTIF OBSERVABLE</a:t>
            </a:r>
          </a:p>
          <a:p>
            <a:r>
              <a:t>Vision aérienne et vérification par un agent. Le participant doit pouvoir expliquer ou réaliser les éléments suivants : Images aériennes publiques de l’IGN ; Rapprochement cadastral et déclaratif ; Vérification manuelle des anomalies.</a:t>
            </a:r>
          </a:p>
          <a:p/>
          <a:p>
            <a:r>
              <a:t>EXPLICATION ET ANIMATION</a:t>
            </a:r>
          </a:p>
          <a:p>
            <a:r>
              <a:t>La présentation officielle de Bercy décrit des algorithmes repérant des éléments sur des images aériennes, puis un rapprochement avec les informations cadastrales et déclaratives. L’agent vérifie les anomalies avant les suites éventuelles. La source ne documente pas un backbone CNN, un seuil ou une performance détaillée. Le schéma est une reconstitution pédagogique du workflow publié.</a:t>
            </a:r>
          </a:p>
          <a:p/>
          <a:p>
            <a:r>
              <a:t>QUESTION À POSER</a:t>
            </a:r>
          </a:p>
          <a:p>
            <a:r>
              <a:t>À quelle étape le score devient-il une décision administrative ?</a:t>
            </a:r>
          </a:p>
          <a:p/>
          <a:p>
            <a:r>
              <a:t>RÉPONSE ATTENDUE ET CORRECTION</a:t>
            </a:r>
          </a:p>
          <a:p>
            <a:r>
              <a:t>Pas au simple repérage : des vérifications et la procédure applicable restent nécessaires.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088 | Type ATELIER | Niveau Application | Support projection + notes]</a:t>
            </a:r>
          </a:p>
          <a:p/>
          <a:p>
            <a:r>
              <a:t>OBJECTIF OBSERVABLE</a:t>
            </a:r>
          </a:p>
          <a:p>
            <a:r>
              <a:t>Détecter un objet ne suffit pas à qualifier une situation. Le participant doit pouvoir expliquer ou réaliser les éléments suivants : Image → objet candidat ; Objet → rapprochement de références ; Anomalie potentielle → revue humaine.</a:t>
            </a:r>
          </a:p>
          <a:p/>
          <a:p>
            <a:r>
              <a:t>EXPLICATION ET ANIMATION</a:t>
            </a:r>
          </a:p>
          <a:p>
            <a:r>
              <a:t>Demander quels défauts peuvent apparaître à chaque interface : détection visuelle erronée, décalage de date, mauvais rapprochement ou information déclarative manquante. Ce sont des hypothèses de risques, pas des défauts attribués au système réel. Le TP de chiffres n’imite ni les données ni l’architecture interne. Il enseigne seulement des mécanismes généraux de vision et de validation.</a:t>
            </a:r>
          </a:p>
          <a:p/>
          <a:p>
            <a:r>
              <a:t>QUESTION À POSER</a:t>
            </a:r>
          </a:p>
          <a:p>
            <a:r>
              <a:t>Quelle erreur n’est pas nécessairement une erreur du réseau de vision ?</a:t>
            </a:r>
          </a:p>
          <a:p/>
          <a:p>
            <a:r>
              <a:t>RÉPONSE ATTENDUE ET CORRECTION</a:t>
            </a:r>
          </a:p>
          <a:p>
            <a:r>
              <a:t>Un mauvais rapprochement entre l’objet détecté et la référence cadastrale.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089 | Type ATELIER | Niveau Application | Support projection + notes]</a:t>
            </a:r>
          </a:p>
          <a:p/>
          <a:p>
            <a:r>
              <a:t>OBJECTIF OBSERVABLE</a:t>
            </a:r>
          </a:p>
          <a:p>
            <a:r>
              <a:t>Les vignettes sont entièrement fictives. Le participant doit pouvoir expliquer ou réaliser les éléments suivants : Objet pertinent correctement signalé ; Objet ressemblant mais non pertinent ; Objet pertinent manqué.</a:t>
            </a:r>
          </a:p>
          <a:p/>
          <a:p>
            <a:r>
              <a:t>EXPLICATION ET ANIMATION</a:t>
            </a:r>
          </a:p>
          <a:p>
            <a:r>
              <a:t>Les quatre vignettes schématiques ne sont pas des vues de propriétés réelles. Elles illustrent la matrice de confusion au niveau de la détection d’un objet, pas la qualification fiscale finale. Faire remarquer que la définition exacte d’un positif dépend de l’étape du pipeline. Le raisonnement évite de fusionner « objet visible », « anomalie possible » et « infraction établie ».</a:t>
            </a:r>
          </a:p>
          <a:p/>
          <a:p>
            <a:r>
              <a:t>QUESTION À POSER</a:t>
            </a:r>
          </a:p>
          <a:p>
            <a:r>
              <a:t>Un bassin visible suffit-il à conclure à une anomalie déclarative ?</a:t>
            </a:r>
          </a:p>
          <a:p/>
          <a:p>
            <a:r>
              <a:t>RÉPONSE ATTENDUE ET CORRECTION</a:t>
            </a:r>
          </a:p>
          <a:p>
            <a:r>
              <a:t>Non. L’image seule ne contient pas toutes les informations nécessaires.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090 | Type CONCEPT | Niveau Application | Support projection + notes]</a:t>
            </a:r>
          </a:p>
          <a:p/>
          <a:p>
            <a:r>
              <a:t>OBJECTIF OBSERVABLE</a:t>
            </a:r>
          </a:p>
          <a:p>
            <a:r>
              <a:t>Le datamining alimente l’examen des dossiers. Le participant doit pouvoir expliquer ou réaliser les éléments suivants : Dispositif développé à partir de 2014 ; Architecture neuronale non documentée ici ; 56 % : mobilisation de l’IA en 2024, pas précision.</a:t>
            </a:r>
          </a:p>
          <a:p/>
          <a:p>
            <a:r>
              <a:t>EXPLICATION ET ANIMATION</a:t>
            </a:r>
          </a:p>
          <a:p>
            <a:r>
              <a:t>Bercy décrit CFVR comme un usage de datamining visant à repérer des anomalies ou fraudes possibles avant examen par les agents. Le communiqué d’activité 2024 mentionne une mobilisation de l’IA dans 56 % des contrôles professionnels. Cette proportion porte sur un usage administratif ; elle n’est ni une accuracy ni une preuve d’emploi exclusif du Deep Learning.</a:t>
            </a:r>
          </a:p>
          <a:p/>
          <a:p>
            <a:r>
              <a:t>QUESTION À POSER</a:t>
            </a:r>
          </a:p>
          <a:p>
            <a:r>
              <a:t>Peut-on dire « le réseau CFVR est exact à 56 % » ?</a:t>
            </a:r>
          </a:p>
          <a:p/>
          <a:p>
            <a:r>
              <a:t>RÉPONSE ATTENDUE ET CORRECTION</a:t>
            </a:r>
          </a:p>
          <a:p>
            <a:r>
              <a:t>Non. Ce serait confondre proportion d’utilisation et performance prédictive.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r>
              <a:t>[R17] DGFiP / Ministère de l’Économie. Publication du rapport d’activité 2024. https://presse.economie.gouv.fr/la-dgfip-publie-son-rapport-dactivite-2024-une-annee-de-transformation-dengagement-et-de-resultats/</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a:r>
              <a:t>[R17] DGFiP / Ministère de l’Économie. Publication du rapport d’activité 2024. 12 juin 2025. https://presse.economie.gouv.fr/la-dgfip-publie-son-rapport-dactivite-2024-une-annee-de-transformation-dengagement-et-de-resultats/</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091 | Type ATELIER | Niveau Application | Support projection + notes]</a:t>
            </a:r>
          </a:p>
          <a:p/>
          <a:p>
            <a:r>
              <a:t>OBJECTIF OBSERVABLE</a:t>
            </a:r>
          </a:p>
          <a:p>
            <a:r>
              <a:t>Un classement sert un budget opérationnel. Le participant doit pouvoir expliquer ou réaliser les éléments suivants : Capacité fictive : 50 dossiers par jour ; Précision parmi les 50 premiers ; Rappel et coût des cas manqués.</a:t>
            </a:r>
          </a:p>
          <a:p/>
          <a:p>
            <a:r>
              <a:t>EXPLICATION ET ANIMATION</a:t>
            </a:r>
          </a:p>
          <a:p>
            <a:r>
              <a:t>Dans l’exemple fictif, comparer un modèle qui place 20 cas pertinents dans les 50 premières positions à un autre qui en place 35. La comparaison locale peut être plus utile que la seule AUC globale. Le top-k exige de définir la période et la quantité de dossiers entrants. Le notebook utilise un k proportionnel à son lot de validation puis l’explicite.</a:t>
            </a:r>
          </a:p>
          <a:p/>
          <a:p>
            <a:r>
              <a:t>QUESTION À POSER</a:t>
            </a:r>
          </a:p>
          <a:p>
            <a:r>
              <a:t>Quelle métrique relie directement le classement au travail quotidien ?</a:t>
            </a:r>
          </a:p>
          <a:p/>
          <a:p>
            <a:r>
              <a:t>RÉPONSE ATTENDUE ET CORRECTION</a:t>
            </a:r>
          </a:p>
          <a:p>
            <a:r>
              <a:t>La précision@k, complétée par le rappel, la charge et les coûts.</a:t>
            </a:r>
          </a:p>
          <a:p/>
          <a:p>
            <a:r>
              <a:t>VÉRIFICATION</a:t>
            </a:r>
          </a:p>
          <a:p>
            <a:r>
              <a:t>Demander une reformulation avec un exemple ou une preuve issue du notebook. Ne pas accepter une réponse limitée au nom d’une bibliothèque. Ouvrir le notebook 09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092 | Type CONCEPT | Niveau Application | Support projection + notes]</a:t>
            </a:r>
          </a:p>
          <a:p/>
          <a:p>
            <a:r>
              <a:t>OBJECTIF OBSERVABLE</a:t>
            </a:r>
          </a:p>
          <a:p>
            <a:r>
              <a:t>Une petite partie des transactions est expertisée. Le participant doit pouvoir expliquer ou réaliser les éléments suivants : Fort déséquilibre ; Vérité terrain retardée ; Arbitrage exploration / exploitation.</a:t>
            </a:r>
          </a:p>
          <a:p/>
          <a:p>
            <a:r>
              <a:t>EXPLICATION ET ANIMATION</a:t>
            </a:r>
          </a:p>
          <a:p>
            <a:r>
              <a:t>Carcillo et ses coauteurs étudient des stratégies d’apprentissage actif dans une détection réelle de fraude carte. L’article met en évidence le flux, la non-stationnarité et la capacité limitée d’investigation. Il ne constitue pas ici la preuve qu’un réseau profond est toujours supérieur. Le point transférable est que la sélection des exemples expertisés modifie les labels disponibles.</a:t>
            </a:r>
          </a:p>
          <a:p/>
          <a:p>
            <a:r>
              <a:t>QUESTION À POSER</a:t>
            </a:r>
          </a:p>
          <a:p>
            <a:r>
              <a:t>Quel biais si l’on n’observe que les dossiers déjà bien classés ?</a:t>
            </a:r>
          </a:p>
          <a:p/>
          <a:p>
            <a:r>
              <a:t>RÉPONSE ATTENDUE ET CORRECTION</a:t>
            </a:r>
          </a:p>
          <a:p>
            <a:r>
              <a:t>On peut ne jamais apprendre certaines erreurs et renforcer les choix passés.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[R19] Carcillo, Le Borgne, Caelen et Bontempi. Streaming Active Learning Strategies for Real-Life Credit Card Fraud Detection. https://arxiv.org/abs/1804.07481</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[R19] Carcillo, Le Borgne, Caelen et Bontempi. Streaming Active Learning Strategies for Real-Life Credit Card Fraud Detection. 2018. https://arxiv.org/abs/1804.07481</a:t>
            </a:r>
          </a:p>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093 | Type CONCEPT | Niveau Application | Support projection + notes]</a:t>
            </a:r>
          </a:p>
          <a:p/>
          <a:p>
            <a:r>
              <a:t>OBJECTIF OBSERVABLE</a:t>
            </a:r>
          </a:p>
          <a:p>
            <a:r>
              <a:t>Une validation historique n’est pas éternelle. Le participant doit pouvoir expliquer ou réaliser les éléments suivants : Les entrées changent ; La prévalence change ; La relation entre entrées et cible change.</a:t>
            </a:r>
          </a:p>
          <a:p/>
          <a:p>
            <a:r>
              <a:t>EXPLICATION ET ANIMATION</a:t>
            </a:r>
          </a:p>
          <a:p>
            <a:r>
              <a:t>Distinguer dérive des variables, évolution de la fréquence positive et changement de la relation. Un changement des entrées n’implique pas nécessairement une baisse de performance ; une baisse peut aussi survenir avec des variables marginales stables. Les labels tardifs imposent de surveiller des indicateurs provisoires sans les confondre avec une preuve d’exactitude.</a:t>
            </a:r>
          </a:p>
          <a:p/>
          <a:p>
            <a:r>
              <a:t>QUESTION À POSER</a:t>
            </a:r>
          </a:p>
          <a:p>
            <a:r>
              <a:t>Peut-on garantir la qualité actuelle sans labels récents ?</a:t>
            </a:r>
          </a:p>
          <a:p/>
          <a:p>
            <a:r>
              <a:t>RÉPONSE ATTENDUE ET CORRECTION</a:t>
            </a:r>
          </a:p>
          <a:p>
            <a:r>
              <a:t>Non. On peut surveiller des signaux indirects, mais leurs limites doivent être annoncées.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[R19] Carcillo, Le Borgne, Caelen et Bontempi. Streaming Active Learning Strategies for Real-Life Credit Card Fraud Detection. https://arxiv.org/abs/1804.07481</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[R19] Carcillo, Le Borgne, Caelen et Bontempi. Streaming Active Learning Strategies for Real-Life Credit Card Fraud Detection. 2018. https://arxiv.org/abs/1804.07481</a:t>
            </a:r>
          </a:p>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094 | Type CONCEPT | Niveau Application | Support projection + notes]</a:t>
            </a:r>
          </a:p>
          <a:p/>
          <a:p>
            <a:r>
              <a:t>OBJECTIF OBSERVABLE</a:t>
            </a:r>
          </a:p>
          <a:p>
            <a:r>
              <a:t>Une performance publiée dans un protocole précis. Le participant doit pouvoir expliquer ou réaliser les éléments suivants : De Fauw et coauteurs, 2018 ; 14 884 scans d’entraînement ; Recommandation d’orientation dans l’étude.</a:t>
            </a:r>
          </a:p>
          <a:p/>
          <a:p>
            <a:r>
              <a:t>EXPLICATION ET ANIMATION</a:t>
            </a:r>
          </a:p>
          <a:p>
            <a:r>
              <a:t>L’étude de De Fauw et ses coauteurs porte sur des volumes OCT de patients adressés à un hôpital spécialisé. Les auteurs rapportent une performance d’orientation atteignant ou dépassant celle d’experts dans le protocole étudié. Ce résultat ne signifie pas remplacement général des professionnels, validation universelle ou autorisation de tous les usages. Le cours ne propose aucun diagnostic sur des images médicales réelles.</a:t>
            </a:r>
          </a:p>
          <a:p/>
          <a:p>
            <a:r>
              <a:t>QUESTION À POSER</a:t>
            </a:r>
          </a:p>
          <a:p>
            <a:r>
              <a:t>Quelle généralisation le résultat n’autorise-t-il pas ?</a:t>
            </a:r>
          </a:p>
          <a:p/>
          <a:p>
            <a:r>
              <a:t>RÉPONSE ATTENDUE ET CORRECTION</a:t>
            </a:r>
          </a:p>
          <a:p>
            <a:r>
              <a:t>Une équivalence clinique universelle sur tous les patients, appareils et contextes.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[R18] De Fauw et coauteurs. Clinically applicable deep learning for diagnosis and referral in retinal disease. https://www.nature.com/articles/s41591-018-0107-6</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[R18] De Fauw et coauteurs. Clinically applicable deep learning for diagnosis and referral in retinal disease. 13 août 2018. https://www.nature.com/articles/s41591-018-0107-6</a:t>
            </a:r>
          </a:p>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095 | Type ATELIER | Niveau Application | Support projection + notes]</a:t>
            </a:r>
          </a:p>
          <a:p/>
          <a:p>
            <a:r>
              <a:t>OBJECTIF OBSERVABLE</a:t>
            </a:r>
          </a:p>
          <a:p>
            <a:r>
              <a:t>Décomposer peut aider la robustesse et la lecture. Le participant doit pouvoir expliquer ou réaliser les éléments suivants : Volume OCT ; Segmentation des tissus ; Classification et orientation.</a:t>
            </a:r>
          </a:p>
          <a:p/>
          <a:p>
            <a:r>
              <a:t>EXPLICATION ET ANIMATION</a:t>
            </a:r>
          </a:p>
          <a:p>
            <a:r>
              <a:t>La chaîne de segmentation puis d’orientation est présentée de manière simplifiée à partir du dossier. La représentation intermédiaire aide à discuter ce que le modèle extrait et à distinguer l’erreur de segmentation de l’erreur d’orientation. Le schéma est conceptuel, sans reproduire une image clinique ou les paramètres exacts du réseau.</a:t>
            </a:r>
          </a:p>
          <a:p/>
          <a:p>
            <a:r>
              <a:t>QUESTION À POSER</a:t>
            </a:r>
          </a:p>
          <a:p>
            <a:r>
              <a:t>Pourquoi inspecter la segmentation plutôt que seulement le score final ?</a:t>
            </a:r>
          </a:p>
          <a:p/>
          <a:p>
            <a:r>
              <a:t>RÉPONSE ATTENDUE ET CORRECTION</a:t>
            </a:r>
          </a:p>
          <a:p>
            <a:r>
              <a:t>Pour localiser une partie des erreurs et discuter la représentation utilisée.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[R18] De Fauw et coauteurs. Clinically applicable deep learning for diagnosis and referral in retinal disease. https://www.nature.com/articles/s41591-018-0107-6</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[R18] De Fauw et coauteurs. Clinically applicable deep learning for diagnosis and referral in retinal disease. 13 août 2018. https://www.nature.com/articles/s41591-018-0107-6</a:t>
            </a:r>
          </a:p>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096 | Type ATELIER | Niveau Application | Support projection + notes]</a:t>
            </a:r>
          </a:p>
          <a:p/>
          <a:p>
            <a:r>
              <a:t>OBJECTIF OBSERVABLE</a:t>
            </a:r>
          </a:p>
          <a:p>
            <a:r>
              <a:t>Même matrice, conséquences différentes. Le participant doit pouvoir expliquer ou réaliser les éléments suivants : Urgence manquée ; Orientation urgente non nécessaire ; Qualité du signal et incertitude.</a:t>
            </a:r>
          </a:p>
          <a:p/>
          <a:p>
            <a:r>
              <a:t>EXPLICATION ET ANIMATION</a:t>
            </a:r>
          </a:p>
          <a:p>
            <a:r>
              <a:t>L’atelier utilise des situations fictives et ne demande aucune expertise diagnostique. Les groupes proposent une matrice qualitative de coûts et un mécanisme d’abstention ou de revue. Les paramètres médicaux réels doivent être définis avec les professionnels et les autorités compétents. Le principe pédagogique est d’intégrer les conséquences de l’erreur avant de choisir un seuil.</a:t>
            </a:r>
          </a:p>
          <a:p/>
          <a:p>
            <a:r>
              <a:t>QUESTION À POSER</a:t>
            </a:r>
          </a:p>
          <a:p>
            <a:r>
              <a:t>Pourquoi l’accuracy seule ne choisit-elle pas une politique d’orientation ?</a:t>
            </a:r>
          </a:p>
          <a:p/>
          <a:p>
            <a:r>
              <a:t>RÉPONSE ATTENDUE ET CORRECTION</a:t>
            </a:r>
          </a:p>
          <a:p>
            <a:r>
              <a:t>Elle traite des erreurs de conséquences différentes comme des unités identiques.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[R18] De Fauw et coauteurs. Clinically applicable deep learning for diagnosis and referral in retinal disease. https://www.nature.com/articles/s41591-018-0107-6</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[R18] De Fauw et coauteurs. Clinically applicable deep learning for diagnosis and referral in retinal disease. 13 août 2018. https://www.nature.com/articles/s41591-018-0107-6</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097 | Type CONCEPT | Niveau Application | Support projection + notes]</a:t>
            </a:r>
          </a:p>
          <a:p/>
          <a:p>
            <a:r>
              <a:t>OBJECTIF OBSERVABLE</a:t>
            </a:r>
          </a:p>
          <a:p>
            <a:r>
              <a:t>Deux tâches distinctes sur des textes. Le participant doit pouvoir expliquer ou réaliser les éléments suivants : Expérimentation autour du PLF 2024 ; Près de 7 000 amendements traités ; Aide aux équipes, pas preuve d’exactitude absolue.</a:t>
            </a:r>
          </a:p>
          <a:p/>
          <a:p>
            <a:r>
              <a:t>EXPLICATION ET ANIMATION</a:t>
            </a:r>
          </a:p>
          <a:p>
            <a:r>
              <a:t>La page officielle de Bercy indique l’analyse et l’attribution d’environ 7 000 amendements fiscaux, ainsi que la génération de résumés. Le volume traité ne mesure pas à lui seul la qualité du routage ou des synthèses. Pour transposer le cas, il faut évaluer séparément le classement, la fidélité factuelle, les omissions et le processus de validation.</a:t>
            </a:r>
          </a:p>
          <a:p/>
          <a:p>
            <a:r>
              <a:t>QUESTION À POSER</a:t>
            </a:r>
          </a:p>
          <a:p>
            <a:r>
              <a:t>Une bonne classification garantit-elle un résumé fidèle ?</a:t>
            </a:r>
          </a:p>
          <a:p/>
          <a:p>
            <a:r>
              <a:t>RÉPONSE ATTENDUE ET CORRECTION</a:t>
            </a:r>
          </a:p>
          <a:p>
            <a:r>
              <a:t>Non. Ce sont deux tâches et deux évaluations différentes.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098 | Type CONCEPT | Niveau Application | Support projection + notes]</a:t>
            </a:r>
          </a:p>
          <a:p/>
          <a:p>
            <a:r>
              <a:t>OBJECTIF OBSERVABLE</a:t>
            </a:r>
          </a:p>
          <a:p>
            <a:r>
              <a:t>Partir des données et du niveau de preuve. Le participant doit pouvoir expliquer ou réaliser les éléments suivants : Tableau : linéaire/arbres puis réseau ; Image : CNN et transfert ; Texte : référence lexicale puis représentation.</a:t>
            </a:r>
          </a:p>
          <a:p/>
          <a:p>
            <a:r>
              <a:t>EXPLICATION ET ANIMATION</a:t>
            </a:r>
          </a:p>
          <a:p>
            <a:r>
              <a:t>Cet arbre est une aide au cadrage, pas un moteur de prescription automatique. Le parcours texte du projet utilise des documents synthétiques, TF-IDF et un petit MLP : il ne prétend pas reproduire un grand modèle de langage. Les usages réels peuvent nécessiter des représentations préentraînées et des jeux de données nettement plus riches.</a:t>
            </a:r>
          </a:p>
          <a:p/>
          <a:p>
            <a:r>
              <a:t>QUESTION À POSER</a:t>
            </a:r>
          </a:p>
          <a:p>
            <a:r>
              <a:t>Quand une solution plus simple est-elle préférable ?</a:t>
            </a:r>
          </a:p>
          <a:p/>
          <a:p>
            <a:r>
              <a:t>RÉPONSE ATTENDUE ET CORRECTION</a:t>
            </a:r>
          </a:p>
          <a:p>
            <a:r>
              <a:t>Quand elle répond au besoin avec un meilleur compromis de qualité, coût et maîtrise.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[R15] Grinsztajn, Oyallon et Varoquaux. Why do tree-based models still outperform deep learning on tabular data?. https://arxiv.org/abs/2207.08815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[R15] Grinsztajn, Oyallon et Varoquaux. Why do tree-based models still outperform deep learning on tabular data?. 2022. https://arxiv.org/abs/2207.08815</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099 | Type ATELIER | Niveau Application | Support projection + notes]</a:t>
            </a:r>
          </a:p>
          <a:p/>
          <a:p>
            <a:r>
              <a:t>OBJECTIF OBSERVABLE</a:t>
            </a:r>
          </a:p>
          <a:p>
            <a:r>
              <a:t>Même cycle d’ingénierie, contraintes différentes. Le participant doit pouvoir expliquer ou réaliser les éléments suivants : Maintenance : séries de capteurs ; Relation usager : routage de textes ; Logistique : volumes et prévisions.</a:t>
            </a:r>
          </a:p>
          <a:p/>
          <a:p>
            <a:r>
              <a:t>EXPLICATION ET ANIMATION</a:t>
            </a:r>
          </a:p>
          <a:p>
            <a:r>
              <a:t>Chaque équipe choisit un métier et remplit la fiche : entrée, cible, moment de prédiction, utilisateur, action, risque, référence et preuve attendue. Les lignes sont des propositions d’ateliers, pas des cas d’entreprises documentés. Éviter de promettre un gain chiffré sans données ni expérimentation.</a:t>
            </a:r>
          </a:p>
          <a:p/>
          <a:p>
            <a:r>
              <a:t>QUESTION À POSER</a:t>
            </a:r>
          </a:p>
          <a:p>
            <a:r>
              <a:t>Quel cas est suffisamment limité pour un prototype de trois heures ?</a:t>
            </a:r>
          </a:p>
          <a:p/>
          <a:p>
            <a:r>
              <a:t>RÉPONSE ATTENDUE ET CORRECTION</a:t>
            </a:r>
          </a:p>
          <a:p>
            <a:r>
              <a:t>Une tâche unique avec données disponibles, métrique claire et livrable restreint.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100 | Type CONCEPT | Niveau Application | Support projection + notes]</a:t>
            </a:r>
          </a:p>
          <a:p/>
          <a:p>
            <a:r>
              <a:t>OBJECTIF OBSERVABLE</a:t>
            </a:r>
          </a:p>
          <a:p>
            <a:r>
              <a:t>Finalité, habilitations et périmètre autorisé. Le participant doit pouvoir expliquer ou réaliser les éléments suivants : Données de synthèse dans les TP ; Sources et accès documentés ; Responsabilités identifiées.</a:t>
            </a:r>
          </a:p>
          <a:p/>
          <a:p>
            <a:r>
              <a:t>EXPLICATION ET ANIMATION</a:t>
            </a:r>
          </a:p>
          <a:p>
            <a:r>
              <a:t>La règle du stage interdit les données fiscales réelles dans les services externes. Une donnée accessible publiquement n’est pas nécessairement libre de toute obligation. Le cadre d’usage institutionnel prime sur la commodité technique. Le registre de données du kit sépare dataset public et données synthétiques, et indique leurs limites de représentativité.</a:t>
            </a:r>
          </a:p>
          <a:p/>
          <a:p>
            <a:r>
              <a:t>QUESTION À POSER</a:t>
            </a:r>
          </a:p>
          <a:p>
            <a:r>
              <a:t>Une donnée publique est-elle automatiquement non personnelle ?</a:t>
            </a:r>
          </a:p>
          <a:p/>
          <a:p>
            <a:r>
              <a:t>RÉPONSE ATTENDUE ET CORRECTION</a:t>
            </a:r>
          </a:p>
          <a:p>
            <a:r>
              <a:t>Non. Accessibilité et qualification juridique sont deux questions distinctes.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101 | Type ATELIER | Niveau Application | Support projection + notes]</a:t>
            </a:r>
          </a:p>
          <a:p/>
          <a:p>
            <a:r>
              <a:t>OBJECTIF OBSERVABLE</a:t>
            </a:r>
          </a:p>
          <a:p>
            <a:r>
              <a:t>« Faire de l’IA » n’est pas une finalité. Le participant doit pouvoir expliquer ou réaliser les éléments suivants : Population et tâche ; Entrées nécessaires ; Usage autorisé de la sortie.</a:t>
            </a:r>
          </a:p>
          <a:p/>
          <a:p>
            <a:r>
              <a:t>EXPLICATION ET ANIMATION</a:t>
            </a:r>
          </a:p>
          <a:p>
            <a:r>
              <a:t>Comparer une formulation générale à une finalité bornée : prioriser des dossiers fictifs pour une revue humaine, sans décision automatique. La définition permet de discuter la pertinence des variables, la minimisation, les mesures d’évaluation et la personne responsable. Le choix d’une base légale relève d’une analyse dédiée ; il n’est pas résolu par le notebook.</a:t>
            </a:r>
          </a:p>
          <a:p/>
          <a:p>
            <a:r>
              <a:t>QUESTION À POSER</a:t>
            </a:r>
          </a:p>
          <a:p>
            <a:r>
              <a:t>Quelle variable retirer si elle ne sert pas la finalité annoncée ?</a:t>
            </a:r>
          </a:p>
          <a:p/>
          <a:p>
            <a:r>
              <a:t>RÉPONSE ATTENDUE ET CORRECTION</a:t>
            </a:r>
          </a:p>
          <a:p>
            <a:r>
              <a:t>Une variable non nécessaire ou collectée sans justification pour cette tâche.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102 | Type ATELIER | Niveau Application | Support projection + notes]</a:t>
            </a:r>
          </a:p>
          <a:p/>
          <a:p>
            <a:r>
              <a:t>OBJECTIF OBSERVABLE</a:t>
            </a:r>
          </a:p>
          <a:p>
            <a:r>
              <a:t>Un agent peut contester, vérifier et décider. Le participant doit pouvoir expliquer ou réaliser les éléments suivants : Dossier source accessible ; Limites et incertitude visibles ; Possibilité réelle de ne pas suivre le score.</a:t>
            </a:r>
          </a:p>
          <a:p/>
          <a:p>
            <a:r>
              <a:t>EXPLICATION ET ANIMATION</a:t>
            </a:r>
          </a:p>
          <a:p>
            <a:r>
              <a:t>Une présence humaine purement formelle ne suffit pas. L’agent doit disposer d’informations, de temps, de compétences et d’un pouvoir effectif de décision. La boucle doit permettre le retour d’erreurs et leur analyse, pas seulement enregistrer un clic de validation. L’exercice compare un tampon automatique à une revue motivée.</a:t>
            </a:r>
          </a:p>
          <a:p/>
          <a:p>
            <a:r>
              <a:t>QUESTION À POSER</a:t>
            </a:r>
          </a:p>
          <a:p>
            <a:r>
              <a:t>Qu’est-ce qui manque à une interface ne montrant que « risque élevé » ?</a:t>
            </a:r>
          </a:p>
          <a:p/>
          <a:p>
            <a:r>
              <a:t>RÉPONSE ATTENDUE ET CORRECTION</a:t>
            </a:r>
          </a:p>
          <a:p>
            <a:r>
              <a:t>Les éléments vérifiables, les limites, le contexte et les moyens de contester.</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103 | Type CONCEPT | Niveau Application | Support projection + notes]</a:t>
            </a:r>
          </a:p>
          <a:p/>
          <a:p>
            <a:r>
              <a:t>OBJECTIF OBSERVABLE</a:t>
            </a:r>
          </a:p>
          <a:p>
            <a:r>
              <a:t>Qualifier le cas avant de l’autoriser. Le participant doit pouvoir expliquer ou réaliser les éléments suivants : Données personnelles et risques ; Usage prévu et rôle de l’organisme ; Obligations à vérifier à la date du projet.</a:t>
            </a:r>
          </a:p>
          <a:p/>
          <a:p>
            <a:r>
              <a:t>EXPLICATION ET ANIMATION</a:t>
            </a:r>
          </a:p>
          <a:p>
            <a:r>
              <a:t>Le support est une initiation, pas un avis juridique ni une validation de conformité. Le règlement IA et le RGPD répondent à des questions distinctes qui peuvent se cumuler. Le CRPA prévoit, sous conditions et sous réserve des secrets protégés, des informations intelligibles sur certaines décisions fondées sur un traitement algorithmique. Aucun usage fiscal n’est automatiquement qualifié à partir de son seul nom.</a:t>
            </a:r>
          </a:p>
          <a:p/>
          <a:p>
            <a:r>
              <a:t>QUESTION À POSER</a:t>
            </a:r>
          </a:p>
          <a:p>
            <a:r>
              <a:t>Peut-on décider du niveau de risque uniquement parce que le système utilise un CNN ?</a:t>
            </a:r>
          </a:p>
          <a:p/>
          <a:p>
            <a:r>
              <a:t>RÉPONSE ATTENDUE ET CORRECTION</a:t>
            </a:r>
          </a:p>
          <a:p>
            <a:r>
              <a:t>Non. La qualification dépend notamment de l’usage prévu et du contexte.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r>
              <a:t>[R21] Union européenne. Règlement (UE) 2024/1689 sur l’intelligence artificielle. https://eur-lex.europa.eu/eli/reg/2024/1689/oj/fra</a:t>
            </a:r>
          </a:p>
          <a:p>
            <a:r>
              <a:t>[R22] Légifrance. CRPA, article R311-3-1-2. https://www.legifrance.gouv.fr/codes/article_lc/LEGIARTI000034195881</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a:r>
              <a:t>[R21] Union européenne. Règlement (UE) 2024/1689 sur l’intelligence artificielle. 13 juin 2024, version applicable à vérifier au projet. https://eur-lex.europa.eu/eli/reg/2024/1689/oj/fra</a:t>
            </a:r>
          </a:p>
          <a:p>
            <a:r>
              <a:t>[R22] Légifrance. CRPA, article R311-3-1-2. Texte à vérifier avec le service juridique. https://www.legifrance.gouv.fr/codes/article_lc/LEGIARTI000034195881</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104 | Type ATELIER | Niveau Application | Support projection + notes]</a:t>
            </a:r>
          </a:p>
          <a:p/>
          <a:p>
            <a:r>
              <a:t>OBJECTIF OBSERVABLE</a:t>
            </a:r>
          </a:p>
          <a:p>
            <a:r>
              <a:t>Trois fiches, trois niveaux de responsabilité. Le participant doit pouvoir expliquer ou réaliser les éléments suivants : Données : origine, dates et labels ; Modèle : versions, métriques et limites ; Système : seuil, usage et supervision.</a:t>
            </a:r>
          </a:p>
          <a:p/>
          <a:p>
            <a:r>
              <a:t>EXPLICATION ET ANIMATION</a:t>
            </a:r>
          </a:p>
          <a:p>
            <a:r>
              <a:t>Le modèle de fiche fourni demande les exclusions, les populations évaluées, les métriques, le seuil, la procédure de revue et les conditions d’arrêt. Il comporte des champs « non évalué » afin d’éviter d’inventer une assurance. La documentation est mise à jour avec les résultats ; ce n’est pas un document marketing rédigé avant les tests.</a:t>
            </a:r>
          </a:p>
          <a:p/>
          <a:p>
            <a:r>
              <a:t>QUESTION À POSER</a:t>
            </a:r>
          </a:p>
          <a:p>
            <a:r>
              <a:t>Pourquoi une fiche modèle ne suffit-elle pas ?</a:t>
            </a:r>
          </a:p>
          <a:p/>
          <a:p>
            <a:r>
              <a:t>RÉPONSE ATTENDUE ET CORRECTION</a:t>
            </a:r>
          </a:p>
          <a:p>
            <a:r>
              <a:t>Elle ne décrit pas à elle seule le processus de décision et les responsabilités.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105 | Type ATELIER | Niveau Application | Support projection + notes]</a:t>
            </a:r>
          </a:p>
          <a:p/>
          <a:p>
            <a:r>
              <a:t>OBJECTIF OBSERVABLE</a:t>
            </a:r>
          </a:p>
          <a:p>
            <a:r>
              <a:t>Rendre un cas vérifiable avant de le coder. Le participant doit pouvoir expliquer ou réaliser les éléments suivants : Une finalité limitée ; Trois erreurs possibles ; Un protocole et un contrôle humain.</a:t>
            </a:r>
          </a:p>
          <a:p/>
          <a:p>
            <a:r>
              <a:t>EXPLICATION ET ANIMATION</a:t>
            </a:r>
          </a:p>
          <a:p>
            <a:r>
              <a:t>Les groupes rendent une fiche de transposition. Ils distinguent explicitement ce qui provient des études documentées et ce qu’ils proposent. Pour chaque risque, demander une mesure vérifiable et un responsable. « Faire attention aux biais » n’est pas une mesure ; définir un segment à tester, un indicateur et une action l’est davantage.</a:t>
            </a:r>
          </a:p>
          <a:p/>
          <a:p>
            <a:r>
              <a:t>QUESTION À POSER</a:t>
            </a:r>
          </a:p>
          <a:p>
            <a:r>
              <a:t>Quelle est votre condition d’arrêt avant tout déploiement ?</a:t>
            </a:r>
          </a:p>
          <a:p/>
          <a:p>
            <a:r>
              <a:t>RÉPONSE ATTENDUE ET CORRECTION</a:t>
            </a:r>
          </a:p>
          <a:p>
            <a:r>
              <a:t>Par exemple un protocole contaminé, une cible inappropriée ou une supervision non définie.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106 | Type REPÈRE | Niveau Application | Support projection + notes]</a:t>
            </a:r>
          </a:p>
          <a:p/>
          <a:p>
            <a:r>
              <a:t>OBJECTIF OBSERVABLE</a:t>
            </a:r>
          </a:p>
          <a:p>
            <a:r>
              <a:t>Un notebook propre et une slide de décision. Le participant doit pouvoir expliquer ou réaliser les éléments suivants : Préparer les données ; Comparer et entraîner ; Évaluer, documenter et présenter.</a:t>
            </a:r>
          </a:p>
          <a:p/>
          <a:p>
            <a:r>
              <a:t>EXPLICATION ET ANIMATION</a:t>
            </a:r>
          </a:p>
          <a:p>
            <a:r>
              <a:t>Le projet dure trois heures dans le conducteur, incluant lancement, travail d’équipe, présentation et évaluation. Le périmètre est un prototype pédagogique. Chaque équipe choisit un des quatre parcours et garde le même protocole jusqu’au test. Les corrections sont des solutions possibles, pas un classement final à reproduire.</a:t>
            </a:r>
          </a:p>
          <a:p/>
          <a:p>
            <a:r>
              <a:t>QUESTION À POSER</a:t>
            </a:r>
          </a:p>
          <a:p>
            <a:r>
              <a:t>Que livrez-vous si votre réseau ne dépasse pas la référence ?</a:t>
            </a:r>
          </a:p>
          <a:p/>
          <a:p>
            <a:r>
              <a:t>RÉPONSE ATTENDUE ET CORRECTION</a:t>
            </a:r>
          </a:p>
          <a:p>
            <a:r>
              <a:t>Une comparaison honnête et une recommandation argumentée.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107 | Type ATELIER | Niveau Application | Support projection + notes]</a:t>
            </a:r>
          </a:p>
          <a:p/>
          <a:p>
            <a:r>
              <a:t>OBJECTIF OBSERVABLE</a:t>
            </a:r>
          </a:p>
          <a:p>
            <a:r>
              <a:t>La difficulté doit rester dans le raisonnement. Le participant doit pouvoir expliquer ou réaliser les éléments suivants : Vision : chiffres manuscrits ; Priorisation : observations synthétiques ; Séquence ou documents : données préparées.</a:t>
            </a:r>
          </a:p>
          <a:p/>
          <a:p>
            <a:r>
              <a:t>EXPLICATION ET ANIMATION</a:t>
            </a:r>
          </a:p>
          <a:p>
            <a:r>
              <a:t>Les quatre parcours s’appuient sur les fichiers locaux du kit. Le notebook projet exécute un parcours choisi via une variable. Les exigences sont communes : séparation, référence, modèle profond, métrique, journal, erreurs et recommandation. Un groupe peut rester sur une architecture simple et investir le temps gagné dans l’évaluation.</a:t>
            </a:r>
          </a:p>
          <a:p/>
          <a:p>
            <a:r>
              <a:t>QUESTION À POSER</a:t>
            </a:r>
          </a:p>
          <a:p>
            <a:r>
              <a:t>Peut-on changer de parcours après avoir consulté le test ?</a:t>
            </a:r>
          </a:p>
          <a:p/>
          <a:p>
            <a:r>
              <a:t>RÉPONSE ATTENDUE ET CORRECTION</a:t>
            </a:r>
          </a:p>
          <a:p>
            <a:r>
              <a:t>Non. Ce serait utiliser le test pour sélectionner le problème le plus flatteur.</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108 | Type ATELIER | Niveau Application | Support projection + notes]</a:t>
            </a:r>
          </a:p>
          <a:p/>
          <a:p>
            <a:r>
              <a:t>OBJECTIF OBSERVABLE</a:t>
            </a:r>
          </a:p>
          <a:p>
            <a:r>
              <a:t>Classifier sans surinterpréter. Le participant doit pouvoir expliquer ou réaliser les éléments suivants : Digits 8 × 8 ; MLP de référence et CNN ; Erreurs par classe et sauvegarde.</a:t>
            </a:r>
          </a:p>
          <a:p/>
          <a:p>
            <a:r>
              <a:t>EXPLICATION ET ANIMATION</a:t>
            </a:r>
          </a:p>
          <a:p>
            <a:r>
              <a:t>Le livrable présente les classes confondues et quelques erreurs. Les augmentations éventuelles sont justifiées et n’affectent pas le test. Le test conserve les indices réservés. En extension, analyser les performances en présence de bruit ajouté selon un protocole séparé, sans prétendre à une robustesse générale.</a:t>
            </a:r>
          </a:p>
          <a:p/>
          <a:p>
            <a:r>
              <a:t>QUESTION À POSER</a:t>
            </a:r>
          </a:p>
          <a:p>
            <a:r>
              <a:t>Quelle limite métier devez-vous écrire ?</a:t>
            </a:r>
          </a:p>
          <a:p/>
          <a:p>
            <a:r>
              <a:t>RÉPONSE ATTENDUE ET CORRECTION</a:t>
            </a:r>
          </a:p>
          <a:p>
            <a:r>
              <a:t>Ce modèle de chiffres ne démontre pas une aptitude à analyser des données aériennes ou médicales.</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109 | Type ATELIER | Niveau Application | Support projection + notes]</a:t>
            </a:r>
          </a:p>
          <a:p/>
          <a:p>
            <a:r>
              <a:t>OBJECTIF OBSERVABLE</a:t>
            </a:r>
          </a:p>
          <a:p>
            <a:r>
              <a:t>Concilier qualité et capacité de revue. Le participant doit pouvoir expliquer ou réaliser les éléments suivants : Baseline logistique ou arbres ; MLP et métriques de classe rare ; Seuil ou top-k choisi sur validation.</a:t>
            </a:r>
          </a:p>
          <a:p/>
          <a:p>
            <a:r>
              <a:t>EXPLICATION ET ANIMATION</a:t>
            </a:r>
          </a:p>
          <a:p>
            <a:r>
              <a:t>Les résultats synthétiques ne doivent pas être présentés comme une détection de fraude réelle. L’équipe annonce un budget de revue fictif et choisit la règle de sélection. La recommandation inclut le nombre d’alertes, la précision et le rappel, ainsi que les informations non évaluées. Les variables de fuite sont explicitement exclues.</a:t>
            </a:r>
          </a:p>
          <a:p/>
          <a:p>
            <a:r>
              <a:t>QUESTION À POSER</a:t>
            </a:r>
          </a:p>
          <a:p>
            <a:r>
              <a:t>Quel indicateur donne la charge opérationnelle ?</a:t>
            </a:r>
          </a:p>
          <a:p/>
          <a:p>
            <a:r>
              <a:t>RÉPONSE ATTENDUE ET CORRECTION</a:t>
            </a:r>
          </a:p>
          <a:p>
            <a:r>
              <a:t>Le nombre ou la proportion d’alertes dans une période définie.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110 | Type ATELIER | Niveau Application | Support projection + notes]</a:t>
            </a:r>
          </a:p>
          <a:p/>
          <a:p>
            <a:r>
              <a:t>OBJECTIF OBSERVABLE</a:t>
            </a:r>
          </a:p>
          <a:p>
            <a:r>
              <a:t>Prévoir un pas et conserver le futur. Le participant doit pouvoir expliquer ou réaliser les éléments suivants : Fenêtres chronologiques ; Persistance et LSTM ; MAE, RMSE et ruptures.</a:t>
            </a:r>
          </a:p>
          <a:p/>
          <a:p>
            <a:r>
              <a:t>EXPLICATION ET ANIMATION</a:t>
            </a:r>
          </a:p>
          <a:p>
            <a:r>
              <a:t>Le scénario est une prévision roulante à un pas. La baseline de persistance et le LSTM voient les mêmes observations antérieures. Le groupe ne doit pas afficher une performance normalisée comme si elle était dans l’unité métier originale. La slide décrit les ruptures où le modèle échoue et les conditions de recalibrage.</a:t>
            </a:r>
          </a:p>
          <a:p/>
          <a:p>
            <a:r>
              <a:t>QUESTION À POSER</a:t>
            </a:r>
          </a:p>
          <a:p>
            <a:r>
              <a:t>Quel changement rendrait votre test non comparable ?</a:t>
            </a:r>
          </a:p>
          <a:p/>
          <a:p>
            <a:r>
              <a:t>RÉPONSE ATTENDUE ET CORRECTION</a:t>
            </a:r>
          </a:p>
          <a:p>
            <a:r>
              <a:t>Modifier l’horizon ou fournir de nouvelles observations à un seul des modèles.</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111 | Type ATELIER | Niveau Application | Support projection + notes]</a:t>
            </a:r>
          </a:p>
          <a:p/>
          <a:p>
            <a:r>
              <a:t>OBJECTIF OBSERVABLE</a:t>
            </a:r>
          </a:p>
          <a:p>
            <a:r>
              <a:t>Routage simulé, sans données d’usagers. Le participant doit pouvoir expliquer ou réaliser les éléments suivants : Textes artificiels et familles de modèles ; TF-IDF appris sur train ; Régression logistique et petit MLP.</a:t>
            </a:r>
          </a:p>
          <a:p/>
          <a:p>
            <a:r>
              <a:t>EXPLICATION ET ANIMATION</a:t>
            </a:r>
          </a:p>
          <a:p>
            <a:r>
              <a:t>Le dataset est constitué de demandes fictives réparties en familles de formulations. Les variantes d’une même famille restent dans le même ensemble pour limiter les duplications de patrons. Une source lexicale volontairement simple facilite l’exercice ; un score élevé ne prouve aucune compréhension juridique. Le vocabulaire est ajusté exclusivement sur l’entraînement.</a:t>
            </a:r>
          </a:p>
          <a:p/>
          <a:p>
            <a:r>
              <a:t>QUESTION À POSER</a:t>
            </a:r>
          </a:p>
          <a:p>
            <a:r>
              <a:t>Pourquoi séparer les familles de formulations ?</a:t>
            </a:r>
          </a:p>
          <a:p/>
          <a:p>
            <a:r>
              <a:t>RÉPONSE ATTENDUE ET CORRECTION</a:t>
            </a:r>
          </a:p>
          <a:p>
            <a:r>
              <a:t>Pour éviter de retrouver des variantes presque identiques des mêmes modèles de phrase de chaque côté.</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112 | Type ATELIER | Niveau Application | Support projection + notes]</a:t>
            </a:r>
          </a:p>
          <a:p/>
          <a:p>
            <a:r>
              <a:t>OBJECTIF OBSERVABLE</a:t>
            </a:r>
          </a:p>
          <a:p>
            <a:r>
              <a:t>Chacun doit pouvoir expliquer le protocole. Le participant doit pouvoir expliquer ou réaliser les éléments suivants : Données et séparation ; Modèle et expériences ; Évaluation et restitution.</a:t>
            </a:r>
          </a:p>
          <a:p/>
          <a:p>
            <a:r>
              <a:t>EXPLICATION ET ANIMATION</a:t>
            </a:r>
          </a:p>
          <a:p>
            <a:r>
              <a:t>En groupe de trois ou quatre, attribuer un pilote données, un pilote modèle et un pilote évaluation/documentation. Les rôles tournent lors des décisions clés. Une personne peut saisir le code, mais tous doivent expliquer le split et la métrique. La soutenance peut désigner au hasard le membre qui répond.</a:t>
            </a:r>
          </a:p>
          <a:p/>
          <a:p>
            <a:r>
              <a:t>QUESTION À POSER</a:t>
            </a:r>
          </a:p>
          <a:p>
            <a:r>
              <a:t>Qui est responsable de repérer une fuite ?</a:t>
            </a:r>
          </a:p>
          <a:p/>
          <a:p>
            <a:r>
              <a:t>RÉPONSE ATTENDUE ET CORRECTION</a:t>
            </a:r>
          </a:p>
          <a:p>
            <a:r>
              <a:t>Toute l’équipe, même si une personne prépare les données.</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113 | Type ATELIER | Niveau Application | Support projection + notes]</a:t>
            </a:r>
          </a:p>
          <a:p/>
          <a:p>
            <a:r>
              <a:t>OBJECTIF OBSERVABLE</a:t>
            </a:r>
          </a:p>
          <a:p>
            <a:r>
              <a:t>Écrire les règles avant le premier entraînement. Le participant doit pouvoir expliquer ou réaliser les éléments suivants : Entrées, cible et date ; Colonnes exclues ; Indices et protocole conservés.</a:t>
            </a:r>
          </a:p>
          <a:p/>
          <a:p>
            <a:r>
              <a:t>EXPLICATION ET ANIMATION</a:t>
            </a:r>
          </a:p>
          <a:p>
            <a:r>
              <a:t>Le formateur vérifie le contrat avant d’autoriser la phase d’essais. Les critères comprennent absence de données sensibles réelles, justification des exclusions, séparation indépendante et définition du moment de prédiction. Un problème majeur doit être corrigé avant d’investir du temps dans le modèle.</a:t>
            </a:r>
          </a:p>
          <a:p/>
          <a:p>
            <a:r>
              <a:t>QUESTION À POSER</a:t>
            </a:r>
          </a:p>
          <a:p>
            <a:r>
              <a:t>Quelle preuve permet au formateur de valider ce jalon ?</a:t>
            </a:r>
          </a:p>
          <a:p/>
          <a:p>
            <a:r>
              <a:t>RÉPONSE ATTENDUE ET CORRECTION</a:t>
            </a:r>
          </a:p>
          <a:p>
            <a:r>
              <a:t>Une fiche renseignée et des contrôles automatiques de séparation.</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114 | Type ATELIER | Niveau Application | Support projection + notes]</a:t>
            </a:r>
          </a:p>
          <a:p/>
          <a:p>
            <a:r>
              <a:t>OBJECTIF OBSERVABLE</a:t>
            </a:r>
          </a:p>
          <a:p>
            <a:r>
              <a:t>Faire moins, mais comparer correctement. Le participant doit pouvoir expliquer ou réaliser les éléments suivants : Une référence pertinente ; Une architecture expliquée ; Une même métrique principale.</a:t>
            </a:r>
          </a:p>
          <a:p/>
          <a:p>
            <a:r>
              <a:t>EXPLICATION ET ANIMATION</a:t>
            </a:r>
          </a:p>
          <a:p>
            <a:r>
              <a:t>La référence doit correspondre à la structure : persistance pour une série, classifieur simple pour un tableau ou un texte, modèle dense pour les images. L’architecture profonde est limitée et son budget d’entraînement explicite. On ne sélectionne pas la métrique après avoir observé celle qui avantage le réseau.</a:t>
            </a:r>
          </a:p>
          <a:p/>
          <a:p>
            <a:r>
              <a:t>QUESTION À POSER</a:t>
            </a:r>
          </a:p>
          <a:p>
            <a:r>
              <a:t>Une baseline volontairement faible est-elle acceptable ?</a:t>
            </a:r>
          </a:p>
          <a:p/>
          <a:p>
            <a:r>
              <a:t>RÉPONSE ATTENDUE ET CORRECTION</a:t>
            </a:r>
          </a:p>
          <a:p>
            <a:r>
              <a:t>Non. Elle rend la comparaison artificiellement favorable.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115 | Type ATELIER | Niveau Application | Support projection + notes]</a:t>
            </a:r>
          </a:p>
          <a:p/>
          <a:p>
            <a:r>
              <a:t>OBJECTIF OBSERVABLE</a:t>
            </a:r>
          </a:p>
          <a:p>
            <a:r>
              <a:t>Définir ce qui est utile avant de l’optimiser. Le participant doit pouvoir expliquer ou réaliser les éléments suivants : Métrique principale annoncée ; Métriques secondaires et effectifs ; Seuil ou top-k fixé sur validation.</a:t>
            </a:r>
          </a:p>
          <a:p/>
          <a:p>
            <a:r>
              <a:t>EXPLICATION ET ANIMATION</a:t>
            </a:r>
          </a:p>
          <a:p>
            <a:r>
              <a:t>La métrique est reliée à une question : erreurs d’orientation, volume de revue, écart de prévision ou confusion entre catégories. Les classes rares imposent de regarder au-delà de l’accuracy. Les échantillons petits demandent de rester prudent. Aucun seuil « universel » n’est imposé.</a:t>
            </a:r>
          </a:p>
          <a:p/>
          <a:p>
            <a:r>
              <a:t>QUESTION À POSER</a:t>
            </a:r>
          </a:p>
          <a:p>
            <a:r>
              <a:t>Quelle question métier votre métrique répond-elle exactement ?</a:t>
            </a:r>
          </a:p>
          <a:p/>
          <a:p>
            <a:r>
              <a:t>RÉPONSE ATTENDUE ET CORRECTION</a:t>
            </a:r>
          </a:p>
          <a:p>
            <a:r>
              <a:t>La réponse doit nommer une conséquence et un dénominateur.</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116 | Type ATELIER | Niveau Application | Support projection + notes]</a:t>
            </a:r>
          </a:p>
          <a:p/>
          <a:p>
            <a:r>
              <a:t>OBJECTIF OBSERVABLE</a:t>
            </a:r>
          </a:p>
          <a:p>
            <a:r>
              <a:t>Une amélioration doit être attribuable. Le participant doit pouvoir expliquer ou réaliser les éléments suivants : Hypothèse écrite ; Changement limité ; Résultat de validation consigné.</a:t>
            </a:r>
          </a:p>
          <a:p/>
          <a:p>
            <a:r>
              <a:t>EXPLICATION ET ANIMATION</a:t>
            </a:r>
          </a:p>
          <a:p>
            <a:r>
              <a:t>Le groupe réalise au moins une modification justifiée, par exemple dropout, largeur du réseau, taux ou nombre d’époques. Une modification du split n’est pas une optimisation du modèle. Le journal mentionne les essais qui n’améliorent pas la métrique et les raisons de sélection.</a:t>
            </a:r>
          </a:p>
          <a:p/>
          <a:p>
            <a:r>
              <a:t>QUESTION À POSER</a:t>
            </a:r>
          </a:p>
          <a:p>
            <a:r>
              <a:t>Comment prouver que votre optimisation n’utilise pas le test ?</a:t>
            </a:r>
          </a:p>
          <a:p/>
          <a:p>
            <a:r>
              <a:t>RÉPONSE ATTENDUE ET CORRECTION</a:t>
            </a:r>
          </a:p>
          <a:p>
            <a:r>
              <a:t>Montrer que toutes les décisions sont fondées sur train et validation.</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117 | Type ATELIER | Niveau Application | Support projection + notes]</a:t>
            </a:r>
          </a:p>
          <a:p/>
          <a:p>
            <a:r>
              <a:t>OBJECTIF OBSERVABLE</a:t>
            </a:r>
          </a:p>
          <a:p>
            <a:r>
              <a:t>Mesurer le choix retenu, pas chercher un nouveau gagnant. Le participant doit pouvoir expliquer ou réaliser les éléments suivants : Configuration finale figée ; Évaluation réservée ; Aucun réglage après lecture.</a:t>
            </a:r>
          </a:p>
          <a:p/>
          <a:p>
            <a:r>
              <a:t>EXPLICATION ET ANIMATION</a:t>
            </a:r>
          </a:p>
          <a:p>
            <a:r>
              <a:t>Le notebook de projet comporte un commutateur OUVRIR_TEST désactivé par défaut. Après accord sur la configuration, le groupe l’active et exécute l’évaluation. Ce verrou pédagogique n’est pas une garantie technique contre un participant qui modifie le code ; il matérialise la discipline et doit être accompagné d’une trace.</a:t>
            </a:r>
          </a:p>
          <a:p/>
          <a:p>
            <a:r>
              <a:t>QUESTION À POSER</a:t>
            </a:r>
          </a:p>
          <a:p>
            <a:r>
              <a:t>Que faire si le test déçoit ?</a:t>
            </a:r>
          </a:p>
          <a:p/>
          <a:p>
            <a:r>
              <a:t>RÉPONSE ATTENDUE ET CORRECTION</a:t>
            </a:r>
          </a:p>
          <a:p>
            <a:r>
              <a:t>Rapporter le résultat et proposer un futur protocole indépendant, sans retoucher ce test.</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118 | Type ATELIER | Niveau Application | Support projection + notes]</a:t>
            </a:r>
          </a:p>
          <a:p/>
          <a:p>
            <a:r>
              <a:t>OBJECTIF OBSERVABLE</a:t>
            </a:r>
          </a:p>
          <a:p>
            <a:r>
              <a:t>Une recommandation exige des limites. Le participant doit pouvoir expliquer ou réaliser les éléments suivants : Trois erreurs représentatives ; Une cause plausible par erreur ; Un prochain test discriminant.</a:t>
            </a:r>
          </a:p>
          <a:p/>
          <a:p>
            <a:r>
              <a:t>EXPLICATION ET ANIMATION</a:t>
            </a:r>
          </a:p>
          <a:p>
            <a:r>
              <a:t>Les erreurs retenues ne sont pas uniquement les plus faciles à expliquer. Inclure un cas fréquent, un cas coûteux et un cas incertain. Distinguer hypothèse et cause démontrée. Une proposition de collecte supplémentaire précise la population ou le signal manquant, plutôt que demander indistinctement « plus de données ».</a:t>
            </a:r>
          </a:p>
          <a:p/>
          <a:p>
            <a:r>
              <a:t>QUESTION À POSER</a:t>
            </a:r>
          </a:p>
          <a:p>
            <a:r>
              <a:t>Quelle erreur serait la plus coûteuse dans l’usage envisagé ?</a:t>
            </a:r>
          </a:p>
          <a:p/>
          <a:p>
            <a:r>
              <a:t>RÉPONSE ATTENDUE ET CORRECTION</a:t>
            </a:r>
          </a:p>
          <a:p>
            <a:r>
              <a:t>Une réponse contextualisée, pas seulement la plus fréquente.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119 | Type ATELIER | Niveau Application | Support projection + notes]</a:t>
            </a:r>
          </a:p>
          <a:p/>
          <a:p>
            <a:r>
              <a:t>OBJECTIF OBSERVABLE</a:t>
            </a:r>
          </a:p>
          <a:p>
            <a:r>
              <a:t>Dire aussi ce qui n’a pas été évalué. Le participant doit pouvoir expliquer ou réaliser les éléments suivants : Données et versions ; Performances, seuil et limites ; Utilisateur, supervision et arrêt.</a:t>
            </a:r>
          </a:p>
          <a:p/>
          <a:p>
            <a:r>
              <a:t>EXPLICATION ET ANIMATION</a:t>
            </a:r>
          </a:p>
          <a:p>
            <a:r>
              <a:t>Le formulaire donne un statut à chaque champ : renseigné, non applicable ou non évalué. Ne pas inventer une mesure de robustesse, d’équité ou de sécurité pour remplir la page. Une recommandation de poursuite précise les validations nécessaires et leur responsable. Le prototype ne devient pas une solution de production au terme de trois heures.</a:t>
            </a:r>
          </a:p>
          <a:p/>
          <a:p>
            <a:r>
              <a:t>QUESTION À POSER</a:t>
            </a:r>
          </a:p>
          <a:p>
            <a:r>
              <a:t>Quelle formulation est préférable à une assurance non démontrée ?</a:t>
            </a:r>
          </a:p>
          <a:p/>
          <a:p>
            <a:r>
              <a:t>RÉPONSE ATTENDUE ET CORRECTION</a:t>
            </a:r>
          </a:p>
          <a:p>
            <a:r>
              <a:t>« Ce risque n’a pas été évalué dans ce prototype ; voici le test nécessaire. »</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120 | Type ATELIER | Niveau Application | Support projection + notes]</a:t>
            </a:r>
          </a:p>
          <a:p/>
          <a:p>
            <a:r>
              <a:t>OBJECTIF OBSERVABLE</a:t>
            </a:r>
          </a:p>
          <a:p>
            <a:r>
              <a:t>Une décision lisible, sans écran de code. Le participant doit pouvoir expliquer ou réaliser les éléments suivants : Problème et données ; Protocole, comparaison et métrique ; Risques et recommandation.</a:t>
            </a:r>
          </a:p>
          <a:p/>
          <a:p>
            <a:r>
              <a:t>EXPLICATION ET ANIMATION</a:t>
            </a:r>
          </a:p>
          <a:p>
            <a:r>
              <a:t>La maquette fournie contient dix champs du dossier : problème, données, baseline, architecture, split, métrique, résultat, erreur principale, risque et recommandation. Le résultat doit être produit par le notebook. Une décision « conserver la référence » ou « poursuivre sous conditions » est parfaitement recevable.</a:t>
            </a:r>
          </a:p>
          <a:p/>
          <a:p>
            <a:r>
              <a:t>QUESTION À POSER</a:t>
            </a:r>
          </a:p>
          <a:p>
            <a:r>
              <a:t>Que supprimez-vous en priorité pour rendre la slide lisible ?</a:t>
            </a:r>
          </a:p>
          <a:p/>
          <a:p>
            <a:r>
              <a:t>RÉPONSE ATTENDUE ET CORRECTION</a:t>
            </a:r>
          </a:p>
          <a:p>
            <a:r>
              <a:t>Le code détaillé et les métriques qui ne contribuent pas à la décision.</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121 | Type ATELIER | Niveau Application | Support projection + notes]</a:t>
            </a:r>
          </a:p>
          <a:p/>
          <a:p>
            <a:r>
              <a:t>OBJECTIF OBSERVABLE</a:t>
            </a:r>
          </a:p>
          <a:p>
            <a:r>
              <a:t>La qualité de la démarche vaut plus que le score. Le participant doit pouvoir expliquer ou réaliser les éléments suivants : Problème, données et protocole : 45 points ; Baseline, architecture et métriques : 35 points ; Erreurs, limites et recommandation : 20 points.</a:t>
            </a:r>
          </a:p>
          <a:p/>
          <a:p>
            <a:r>
              <a:t>EXPLICATION ET ANIMATION</a:t>
            </a:r>
          </a:p>
          <a:p>
            <a:r>
              <a:t>Le barème détaillé reprend les huit critères du dossier : problème 15, split/prétraitement 15, baseline 10, architecture 10, protocole expérimental 15, métriques 15, erreurs 10, risques/limites/recommandation 10. Aucun point n’est attribué au seul classement des groupes. Le seuil proposé est 60/100, avec correction obligatoire des défauts bloquants.</a:t>
            </a:r>
          </a:p>
          <a:p/>
          <a:p>
            <a:r>
              <a:t>QUESTION À POSER</a:t>
            </a:r>
          </a:p>
          <a:p>
            <a:r>
              <a:t>Un groupe peut-il réussir si son réseau est moins bon ?</a:t>
            </a:r>
          </a:p>
          <a:p/>
          <a:p>
            <a:r>
              <a:t>RÉPONSE ATTENDUE ET CORRECTION</a:t>
            </a:r>
          </a:p>
          <a:p>
            <a:r>
              <a:t>Oui, avec une analyse correcte et une recommandation cohérente.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122 | Type ATELIER | Niveau Application | Support projection + notes]</a:t>
            </a:r>
          </a:p>
          <a:p/>
          <a:p>
            <a:r>
              <a:t>OBJECTIF OBSERVABLE</a:t>
            </a:r>
          </a:p>
          <a:p>
            <a:r>
              <a:t>Dire ce que le résultat autorise, et ce qu’il n’autorise pas. Le participant doit pouvoir expliquer ou réaliser les éléments suivants : 3 minutes de présentation ; 2 minutes de questions ; Protocole, erreur principale et suite proposée.</a:t>
            </a:r>
          </a:p>
          <a:p/>
          <a:p>
            <a:r>
              <a:t>EXPLICATION ET ANIMATION</a:t>
            </a:r>
          </a:p>
          <a:p>
            <a:r>
              <a:t>La durée est adaptée au nombre d’équipes dans la plage prévue. Pour quatre groupes, trois minutes plus deux minutes de questions remplissent vingt minutes. Si le nombre diffère, ajuster la durée par groupe dans cette même enveloppe. Les questions vérifient la contribution individuelle et le raisonnement, pas la récitation.</a:t>
            </a:r>
          </a:p>
          <a:p/>
          <a:p>
            <a:r>
              <a:t>QUESTION À POSER</a:t>
            </a:r>
          </a:p>
          <a:p>
            <a:r>
              <a:t>Qu’est-ce qui pourrait remettre en cause votre recommandation ?</a:t>
            </a:r>
          </a:p>
          <a:p/>
          <a:p>
            <a:r>
              <a:t>RÉPONSE ATTENDUE ET CORRECTION</a:t>
            </a:r>
          </a:p>
          <a:p>
            <a:r>
              <a:t>Une limite réelle du protocole, des données ou de l’usage, accompagnée d’un test.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123 | Type ATELIER | Niveau Application | Support projection + notes]</a:t>
            </a:r>
          </a:p>
          <a:p/>
          <a:p>
            <a:r>
              <a:t>OBJECTIF OBSERVABLE</a:t>
            </a:r>
          </a:p>
          <a:p>
            <a:r>
              <a:t>Dix questions, une réponse argumentée. Le participant doit pouvoir expliquer ou réaliser les éléments suivants : Sortie/perte et gradients ; Validation, seuil et classes rares ; CNN, LSTM et supervision.</a:t>
            </a:r>
          </a:p>
          <a:p/>
          <a:p>
            <a:r>
              <a:t>EXPLICATION ET ANIMATION</a:t>
            </a:r>
          </a:p>
          <a:p>
            <a:r>
              <a:t>Le document d’évaluation comporte une banque de vingt questions avec corrigés séparés ; le formateur en choisit dix pour dix minutes. Cette vérification ne remplace pas l’épreuve pratique. Une réponse juste par hasard est clarifiée oralement lorsque le raisonnement observé pendant les TP était fragile.</a:t>
            </a:r>
          </a:p>
          <a:p/>
          <a:p>
            <a:r>
              <a:t>QUESTION À POSER</a:t>
            </a:r>
          </a:p>
          <a:p>
            <a:r>
              <a:t>Quel ensemble sert à choisir le seuil ?</a:t>
            </a:r>
          </a:p>
          <a:p/>
          <a:p>
            <a:r>
              <a:t>RÉPONSE ATTENDUE ET CORRECTION</a:t>
            </a:r>
          </a:p>
          <a:p>
            <a:r>
              <a:t>La validation ou un ensemble de calibration dédié, pas le test.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124 | Type ATELIER | Niveau Application | Support projection + notes]</a:t>
            </a:r>
          </a:p>
          <a:p/>
          <a:p>
            <a:r>
              <a:t>OBJECTIF OBSERVABLE</a:t>
            </a:r>
          </a:p>
          <a:p>
            <a:r>
              <a:t>Identifier au moins trois problèmes, en corriger deux. Le participant doit pouvoir expliquer ou réaliser les éléments suivants : Fuite de prétraitement ; Sortie/perte incohérentes ; Métrique seule, capacité et conclusion excessive.</a:t>
            </a:r>
          </a:p>
          <a:p/>
          <a:p>
            <a:r>
              <a:t>EXPLICATION ET ANIMATION</a:t>
            </a:r>
          </a:p>
          <a:p>
            <a:r>
              <a:t>L’épreuve dure vingt minutes et utilise une fiche de code indépendante. Le participant entoure les erreurs, propose deux corrections et explique une limite de la conclusion. La grille distingue repérage, correction et justification. Les défauts bloquants de fuite ou de données non autorisées doivent être corrigés, même si le total de points est suffisant.</a:t>
            </a:r>
          </a:p>
          <a:p/>
          <a:p>
            <a:r>
              <a:t>QUESTION À POSER</a:t>
            </a:r>
          </a:p>
          <a:p>
            <a:r>
              <a:t>Une correction syntaxique suffit-elle à valider l’exercice ?</a:t>
            </a:r>
          </a:p>
          <a:p/>
          <a:p>
            <a:r>
              <a:t>RÉPONSE ATTENDUE ET CORRECTION</a:t>
            </a:r>
          </a:p>
          <a:p>
            <a:r>
              <a:t>Non. Il faut expliquer l’effet sur l’évaluation ou la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125 | Type CONCEPT | Niveau Application | Support projection + notes]</a:t>
            </a:r>
          </a:p>
          <a:p/>
          <a:p>
            <a:r>
              <a:t>OBJECTIF OBSERVABLE</a:t>
            </a:r>
          </a:p>
          <a:p>
            <a:r>
              <a:t>Un prototype pédagogique ne vaut pas validation de production. Le participant doit pouvoir expliquer ou réaliser les éléments suivants : Finalité et responsabilités ; Tests indépendants et monitoring ; Conditions de supervision et d’arrêt.</a:t>
            </a:r>
          </a:p>
          <a:p/>
          <a:p>
            <a:r>
              <a:t>EXPLICATION ET ANIMATION</a:t>
            </a:r>
          </a:p>
          <a:p>
            <a:r>
              <a:t>La fiche de passage demande les données, les droits, la référence, la métrique, les sous-populations évaluées, le seuil, la supervision, les journaux et le plan de dérive. Elle peut justifier un refus de déploiement. Cette page est une ressource opérationnelle, non une conclusion rédigée au nom de l’intervenant.</a:t>
            </a:r>
          </a:p>
          <a:p/>
          <a:p>
            <a:r>
              <a:t>QUESTION À POSER</a:t>
            </a:r>
          </a:p>
          <a:p>
            <a:r>
              <a:t>Quel champ non renseigné empêcherait votre mise en service ?</a:t>
            </a:r>
          </a:p>
          <a:p/>
          <a:p>
            <a:r>
              <a:t>RÉPONSE ATTENDUE ET CORRECTION</a:t>
            </a:r>
          </a:p>
          <a:p>
            <a:r>
              <a:t>Tout élément indispensable à la finalité, à la sécurité ou à la responsabilité de la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r>
              <a:t>[R21] Union européenne. Règlement (UE) 2024/1689 sur l’intelligence artificielle. https://eur-lex.europa.eu/eli/reg/2024/1689/oj/fra</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a:r>
              <a:t>[R21] Union européenne. Règlement (UE) 2024/1689 sur l’intelligence artificielle. 13 juin 2024, version applicable à vérifier au projet. https://eur-lex.europa.eu/eli/reg/2024/1689/oj/fra</a:t>
            </a:r>
          </a:p>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126 | Type CONCEPT | Niveau Application | Support projection + notes]</a:t>
            </a:r>
          </a:p>
          <a:p/>
          <a:p>
            <a:r>
              <a:t>OBJECTIF OBSERVABLE</a:t>
            </a:r>
          </a:p>
          <a:p>
            <a:r>
              <a:t>Notebooks, fiches et références restent réutilisables. Le participant doit pouvoir expliquer ou réaliser les éléments suivants : 11 notebooks apprenants + corrections ; Jeux de données locaux et résultats de référence ; Documentation officielle et sources des cas.</a:t>
            </a:r>
          </a:p>
          <a:p/>
          <a:p>
            <a:r>
              <a:t>EXPLICATION ET ANIMATION</a:t>
            </a:r>
          </a:p>
          <a:p>
            <a:r>
              <a:t>Présenter l’arborescence du kit et rappeler de transmettre uniquement le paquet apprenant aux participants. Les corrections et notes formateur sont séparées. La bibliographie distingue le dossier fourni, la documentation technique et les études de cas. Les schémas restent éditables dans PowerPoint et les scripts de génération sont fournis. La prise de parole finale personnelle reste à l’intervenant.</a:t>
            </a:r>
          </a:p>
          <a:p/>
          <a:p>
            <a:r>
              <a:t>QUESTION À POSER</a:t>
            </a:r>
          </a:p>
          <a:p>
            <a:r>
              <a:t>Où retrouver le protocole exact d’un résultat ?</a:t>
            </a:r>
          </a:p>
          <a:p/>
          <a:p>
            <a:r>
              <a:t>RÉPONSE ATTENDUE ET CORRECTION</a:t>
            </a:r>
          </a:p>
          <a:p>
            <a:r>
              <a:t>Dans le notebook exécuté, le journal, les indices et le rapport de qualité du kit.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notesSlide" Target="../notesSlides/notesSlide1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441"/>
        </a:solidFill>
        <a:effectLst/>
      </p:bgPr>
    </p:bg>
    <p:spTree>
      <p:nvGrpSpPr>
        <p:cNvPr id="1" name=""/>
        <p:cNvGrpSpPr/>
        <p:nvPr/>
      </p:nvGrpSpPr>
      <p:grpSpPr/>
      <p:sp>
        <p:nvSpPr>
          <p:cNvPr id="2" name="Rectangle 1"/>
          <p:cNvSpPr/>
          <p:nvPr/>
        </p:nvSpPr>
        <p:spPr>
          <a:xfrm>
            <a:off x="0" y="0"/>
            <a:ext cx="173736"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320040"/>
          </a:xfrm>
          <a:prstGeom prst="rect">
            <a:avLst/>
          </a:prstGeom>
          <a:noFill/>
        </p:spPr>
        <p:txBody>
          <a:bodyPr wrap="square" lIns="0" rIns="0" tIns="0" bIns="0">
            <a:spAutoFit/>
          </a:bodyPr>
          <a:lstStyle/>
          <a:p>
            <a:pPr>
              <a:lnSpc>
                <a:spcPct val="108000"/>
              </a:lnSpc>
              <a:spcBef>
                <a:spcPts val="0"/>
              </a:spcBef>
              <a:spcAft>
                <a:spcPts val="0"/>
              </a:spcAft>
              <a:defRPr sz="1100" b="1">
                <a:solidFill>
                  <a:srgbClr val="FFFFFF"/>
                </a:solidFill>
                <a:latin typeface="DejaVu Sans"/>
              </a:defRPr>
            </a:pPr>
            <a:r>
              <a:t>P2ENJOY  /  FORMATION PROFESSIONNELLE  /  RÉF. 4-024</a:t>
            </a:r>
          </a:p>
        </p:txBody>
      </p:sp>
      <p:sp>
        <p:nvSpPr>
          <p:cNvPr id="4" name="TextBox 3"/>
          <p:cNvSpPr txBox="1"/>
          <p:nvPr/>
        </p:nvSpPr>
        <p:spPr>
          <a:xfrm>
            <a:off x="548640" y="1024128"/>
            <a:ext cx="5943600" cy="1554480"/>
          </a:xfrm>
          <a:prstGeom prst="rect">
            <a:avLst/>
          </a:prstGeom>
          <a:noFill/>
        </p:spPr>
        <p:txBody>
          <a:bodyPr wrap="square" lIns="0" rIns="0" tIns="0" bIns="0">
            <a:spAutoFit/>
          </a:bodyPr>
          <a:lstStyle/>
          <a:p>
            <a:pPr>
              <a:lnSpc>
                <a:spcPct val="108000"/>
              </a:lnSpc>
              <a:spcBef>
                <a:spcPts val="0"/>
              </a:spcBef>
              <a:spcAft>
                <a:spcPts val="0"/>
              </a:spcAft>
              <a:defRPr sz="3900" b="1">
                <a:solidFill>
                  <a:srgbClr val="FFFFFF"/>
                </a:solidFill>
                <a:latin typeface="DejaVu Sans"/>
              </a:defRPr>
            </a:pPr>
            <a:r>
              <a:t>Deep Learning par la pratique</a:t>
            </a:r>
          </a:p>
        </p:txBody>
      </p:sp>
      <p:sp>
        <p:nvSpPr>
          <p:cNvPr id="5" name="TextBox 4"/>
          <p:cNvSpPr txBox="1"/>
          <p:nvPr/>
        </p:nvSpPr>
        <p:spPr>
          <a:xfrm>
            <a:off x="566928" y="2779776"/>
            <a:ext cx="5303520" cy="786384"/>
          </a:xfrm>
          <a:prstGeom prst="rect">
            <a:avLst/>
          </a:prstGeom>
          <a:noFill/>
        </p:spPr>
        <p:txBody>
          <a:bodyPr wrap="square" lIns="0" rIns="0" tIns="0" bIns="0">
            <a:spAutoFit/>
          </a:bodyPr>
          <a:lstStyle/>
          <a:p>
            <a:pPr>
              <a:lnSpc>
                <a:spcPct val="108000"/>
              </a:lnSpc>
              <a:spcBef>
                <a:spcPts val="0"/>
              </a:spcBef>
              <a:spcAft>
                <a:spcPts val="0"/>
              </a:spcAft>
              <a:defRPr sz="2200" b="0">
                <a:solidFill>
                  <a:srgbClr val="FFFFFF"/>
                </a:solidFill>
                <a:latin typeface="DejaVu Sans"/>
              </a:defRPr>
            </a:pPr>
            <a:r>
              <a:t>Comprendre. Construire. Vérifier.</a:t>
            </a:r>
          </a:p>
        </p:txBody>
      </p:sp>
      <p:sp>
        <p:nvSpPr>
          <p:cNvPr id="6" name="TextBox 5"/>
          <p:cNvSpPr txBox="1"/>
          <p:nvPr/>
        </p:nvSpPr>
        <p:spPr>
          <a:xfrm>
            <a:off x="585216" y="3877056"/>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18 heures • 3 journées</a:t>
            </a:r>
          </a:p>
        </p:txBody>
      </p:sp>
      <p:sp>
        <p:nvSpPr>
          <p:cNvPr id="7" name="TextBox 6"/>
          <p:cNvSpPr txBox="1"/>
          <p:nvPr/>
        </p:nvSpPr>
        <p:spPr>
          <a:xfrm>
            <a:off x="585216" y="4306824"/>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DGFiP • 21 au 23 septembre 2026</a:t>
            </a:r>
          </a:p>
        </p:txBody>
      </p:sp>
      <p:sp>
        <p:nvSpPr>
          <p:cNvPr id="8" name="TextBox 7"/>
          <p:cNvSpPr txBox="1"/>
          <p:nvPr/>
        </p:nvSpPr>
        <p:spPr>
          <a:xfrm>
            <a:off x="585216" y="4736592"/>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Référence 4-024 • Niveau Application</a:t>
            </a:r>
          </a:p>
        </p:txBody>
      </p:sp>
      <p:sp>
        <p:nvSpPr>
          <p:cNvPr id="9" name="Rounded Rectangle 8"/>
          <p:cNvSpPr/>
          <p:nvPr/>
        </p:nvSpPr>
        <p:spPr>
          <a:xfrm>
            <a:off x="6080760" y="1572768"/>
            <a:ext cx="5650992" cy="307238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01_hero.png"/>
          <p:cNvPicPr>
            <a:picLocks noChangeAspect="1"/>
          </p:cNvPicPr>
          <p:nvPr/>
        </p:nvPicPr>
        <p:blipFill>
          <a:blip r:embed="rId2"/>
          <a:stretch>
            <a:fillRect/>
          </a:stretch>
        </p:blipFill>
        <p:spPr>
          <a:xfrm>
            <a:off x="6227064" y="1746504"/>
            <a:ext cx="5367528" cy="2688336"/>
          </a:xfrm>
          <a:prstGeom prst="rect">
            <a:avLst/>
          </a:prstGeom>
        </p:spPr>
      </p:pic>
      <p:pic>
        <p:nvPicPr>
          <p:cNvPr id="11" name="Picture 10" descr="detail_reseau_imagegen.png"/>
          <p:cNvPicPr>
            <a:picLocks noChangeAspect="1"/>
          </p:cNvPicPr>
          <p:nvPr/>
        </p:nvPicPr>
        <p:blipFill>
          <a:blip r:embed="rId3"/>
          <a:stretch>
            <a:fillRect/>
          </a:stretch>
        </p:blipFill>
        <p:spPr>
          <a:xfrm>
            <a:off x="9674352" y="374904"/>
            <a:ext cx="2039112" cy="813816"/>
          </a:xfrm>
          <a:prstGeom prst="rect">
            <a:avLst/>
          </a:prstGeom>
        </p:spPr>
      </p:pic>
      <p:sp>
        <p:nvSpPr>
          <p:cNvPr id="12" name="Rounded Rectangle 11"/>
          <p:cNvSpPr/>
          <p:nvPr/>
        </p:nvSpPr>
        <p:spPr>
          <a:xfrm>
            <a:off x="576072" y="5742432"/>
            <a:ext cx="11055096" cy="530352"/>
          </a:xfrm>
          <a:prstGeom prst="roundRect">
            <a:avLst>
              <a:gd name="adj" fmla="val 9000"/>
            </a:avLst>
          </a:prstGeom>
          <a:solidFill>
            <a:srgbClr val="21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852160"/>
            <a:ext cx="10652760" cy="310896"/>
          </a:xfrm>
          <a:prstGeom prst="rect">
            <a:avLst/>
          </a:prstGeom>
          <a:noFill/>
        </p:spPr>
        <p:txBody>
          <a:bodyPr wrap="square" lIns="0" rIns="0" tIns="0" bIns="0">
            <a:spAutoFit/>
          </a:bodyPr>
          <a:lstStyle/>
          <a:p>
            <a:pPr>
              <a:lnSpc>
                <a:spcPct val="108000"/>
              </a:lnSpc>
              <a:spcBef>
                <a:spcPts val="0"/>
              </a:spcBef>
              <a:spcAft>
                <a:spcPts val="0"/>
              </a:spcAft>
              <a:defRPr sz="1500" b="0">
                <a:solidFill>
                  <a:srgbClr val="FFFFFF"/>
                </a:solidFill>
                <a:latin typeface="DejaVu Sans"/>
              </a:defRPr>
            </a:pPr>
            <a:r>
              <a:t>Quelle décision professionnelle souhaitez-vous mieux éclairer ?</a:t>
            </a:r>
          </a:p>
        </p:txBody>
      </p:sp>
      <p:sp>
        <p:nvSpPr>
          <p:cNvPr id="14" name="TextBox 13"/>
          <p:cNvSpPr txBox="1"/>
          <p:nvPr/>
        </p:nvSpPr>
        <p:spPr>
          <a:xfrm>
            <a:off x="585216" y="6492240"/>
            <a:ext cx="7315200" cy="201168"/>
          </a:xfrm>
          <a:prstGeom prst="rect">
            <a:avLst/>
          </a:prstGeom>
          <a:noFill/>
        </p:spPr>
        <p:txBody>
          <a:bodyPr wrap="square" lIns="0" rIns="0" tIns="0" bIns="0">
            <a:spAutoFit/>
          </a:bodyPr>
          <a:lstStyle/>
          <a:p>
            <a:pPr>
              <a:lnSpc>
                <a:spcPct val="108000"/>
              </a:lnSpc>
              <a:spcBef>
                <a:spcPts val="0"/>
              </a:spcBef>
              <a:spcAft>
                <a:spcPts val="0"/>
              </a:spcAft>
              <a:defRPr sz="900" b="0">
                <a:solidFill>
                  <a:srgbClr val="FFFFFF"/>
                </a:solidFill>
                <a:latin typeface="DejaVu Sans"/>
              </a:defRPr>
            </a:pPr>
            <a:r>
              <a:t>https://p2enjoy.studio  •  DGFiP  •  Asnières-sur-Seine</a:t>
            </a:r>
          </a:p>
        </p:txBody>
      </p:sp>
      <p:sp>
        <p:nvSpPr>
          <p:cNvPr id="15" name="TextBox 14"/>
          <p:cNvSpPr txBox="1"/>
          <p:nvPr/>
        </p:nvSpPr>
        <p:spPr>
          <a:xfrm>
            <a:off x="10607040" y="6428232"/>
            <a:ext cx="996696" cy="292608"/>
          </a:xfrm>
          <a:prstGeom prst="rect">
            <a:avLst/>
          </a:prstGeom>
          <a:noFill/>
        </p:spPr>
        <p:txBody>
          <a:bodyPr wrap="square" lIns="0" rIns="0" tIns="0" bIns="0">
            <a:spAutoFit/>
          </a:bodyPr>
          <a:lstStyle/>
          <a:p>
            <a:pPr algn="r">
              <a:lnSpc>
                <a:spcPct val="108000"/>
              </a:lnSpc>
              <a:spcBef>
                <a:spcPts val="0"/>
              </a:spcBef>
              <a:spcAft>
                <a:spcPts val="0"/>
              </a:spcAft>
              <a:defRPr sz="1200" b="1">
                <a:solidFill>
                  <a:srgbClr val="FFFFFF"/>
                </a:solidFill>
                <a:latin typeface="DejaVu Sans"/>
              </a:defRPr>
            </a:pPr>
            <a:r>
              <a:t>JOUR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Ce que vous saurez réellement faire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prototype défendable, pas une boîte magique.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Formuler une cible et un moment de prédiction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Construire et comparer des modèles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Diagnostiquer, documenter et décider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2_pip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résultat prouverait votre progression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002 / 126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parcours des trois jours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Même démarche, données différentes.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J1 : fondamentaux, outils et premier réseau</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J2 : vision, séquences et diagnostic</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J3 : cas métiers et projet en équipe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3_journey.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Quelles connaissances relient les trois journées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003 / 126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Diagnostic de départ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Il ne s’agit pas de vous noter.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Python et manipulation des données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paramètres et métriques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exemple métier par participant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4_diagnostic.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À quoi sert un jeu de validation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004 / 126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IA, apprentissage et réseaux profonds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Quatre expressions, pas quatre synonymes.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IA : famille de systèmes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Apprentissage automatique : comportement appris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Apprentissage profond : transformations neuronales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5_taxonomy.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classifieur neuronal est-il nécessairement génératif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005 / 126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Apprendre avec ou sans étiquettes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Commencer par savoir ce que l’on cherche.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Supervisé : exemples et cibles connues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Non supervisé : structure sans cible fournie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Auto-supervisé : cible construite depuis les données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6_learningtyp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groupe atypique est-il une preuve de fraude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006 / 126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tâche avant une architecture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Prédire, classer, segmenter ou générer ?</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Classe : catégorie discrète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Valeur : quantité continue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Structure : localisation, texte ou masque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7_taskcard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 Repérer une piscine » est-il une tâche entièrement définie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007 / 126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Lire un jeu de données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Chaque ligne doit avoir une signification.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observation et sa date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Des variables disponibles au bon moment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cible et un procédé d’annotation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8_datase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Quelles colonnes seront connues au moment de prédire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008 / 126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Entraînement et inférence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Apprendre les paramètres, puis les utiliser.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Entraînement : données + cibles + mise à jour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Inférence : nouvelles entrées + paramètres figés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Évaluation : comparer à une vérité disponible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9_traininf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Faut-il réajuster le scaler sur chaque nouveau dossier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009 / 126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 neurone, sans métaphore biologique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somme pondérée suivie d’une activation.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z = w₁x₁ + w₂x₂ + b</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 = activation(z)</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Les poids et le biais sont appris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0_neur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vaut z dans cet exemple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010 / 126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Pourquoi ajouter une couche cachée ?</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XOR ne se sépare pas par une seule droite.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Entrées : deux bits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Sortie 1 si les bits diffèrent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Des non-linéarités changent la représentation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1_xo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se passe-t-il si toutes les activations sont linéaires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011 / 126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Trois activations à reconnaître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sortie doit correspondre à la tâche.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ReLU : max(0, z)</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Sigmoïde : score binaire entre 0 et 1</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Softmax : scores normalisés entre classes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2_activation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éviter softmax avant CrossEntropyLoss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012 / 126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Les tenseurs donnent les dimensions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premier diagnostic : afficher la forme.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Scalaire → vecteur → matrice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 : hauteur, largeur, canaux</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Lot : dimension supplémentaire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3_tens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forme attend notre CNN PyTorch pour 32 images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013 / 126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01 : diagnostiquer une forme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Provoquer une erreur, puis la comprendre.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Créer une matrice 2 × 3</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Multiplier par une matrice 3 × 4</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Expliquer pourquoi 2 × 3 fois 2 × 4 échoue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4_shap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transformer six valeurs en une matrice 2 × 4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014 / 126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Sortie et fonction de perte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combinaison incohérente peut tout bloquer.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Binaire : un logit + BCEWithLogitsLoss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Multiclasse : K logits + CrossEntropyLoss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Régression : sortie réelle + MSE ou MAE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5_los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remplacer la perte par l’accuracy pour entraîner simplement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015 / 126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gradient mesure une sensibilité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Que change une petite variation du poids ?</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simple : L(w) = (w - 3)²</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Pente : 2 × (w - 3)</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Minimum : w = 3</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6_gradi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est le premier déplacement avec un taux de 0,1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016 / 126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01 : choisir un taux d’apprentissage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Trop petit : lent. Trop grand : instable.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0,01 : progression lente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0,1 : rapprochement du minimum</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1,1 : divergence sur cette parabole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7_l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taux de 0,1 est-il toujours un bon choix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017 / 126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Rétropropager puis mettre à jour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Calculer un gradient ne modifie pas encore le poids.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Propagation avant : produire la sortie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Rétropropagation : calculer les gradients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Optimiseur : appliquer la mise à jour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8_backprop.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appeler zero_grad dans cette boucle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018 / 126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Lot, époque et hyperparamètres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Ne pas confondre ce qui est appris et ce qui est réglé.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Lot : sous-ensemble traité ensemble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Époque : parcours du jeu d’entraînement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Hyperparamètre : décision de configuration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9_batc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Avec 1 000 observations et des lots de 100, combien de mises à jour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019 / 126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Quatre jalons qui expliquent les choix</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L’histoire sert à comprendre les architectures.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1997 : LSTM et mémoire séquentielle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2012 : AlexNet, CNN et GPU</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2015 : BatchNorm/ResNet • 2017 : attention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0_tim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difficulté chaque innovation cherche-t-elle à résoudre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R08, R09, R12, R13, R14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020 / 126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Pourquoi le Deep Learning s’est développé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convergence, pas une cause unique.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disponibles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Accélérateurs et architectures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Optimisation et logiciels ouverts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1_drive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GPU corrige-t-il un mauvais jeu de données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R08,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021 / 126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Avant le réseau : une référence simple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Comparer vaut mieux que croire.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Prédiction constante ou naïve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linéaire et modèle à arbres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Même séparation et même métrique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2_bas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faire si l’arbre bat le MLP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022 / 126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TensorFlow, PyTorch et Keras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Keras est une API multi-moteur.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TensorFlow : moteur et écosystème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PyTorch : tenseurs, modules et autograd</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Keras 3 : API de modèles de haut niveau</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3_framewor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Keras 3 est-il nécessairement limité à TensorFlow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R23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023 / 126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Choisir la bonne couche d’abstraction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Comprendre une fois, reconnaître plusieurs API.</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Keras : construire rapidement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PyTorch natif : rendre la boucle explicite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TensorFlow natif : tenseurs et différentiation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4_stac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Quels éléments restent identiques entre les API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R23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024 / 126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Deux chemins vers le même notebook</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GPU accélère ; il n’est pas obligatoire.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Jupyter local avec fichiers du kit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Colab si autorisé et disponible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sensibles exclues des services externes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5_environm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faut-il préparer avant une session sans Internet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025 / 126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00 : vérifier avant d’enseigner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Exécuter toutes les cellules depuis un noyau neuf.</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Imports et versions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CPU/GPU détecté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Tenseurs, gradients et fichier de sortie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6_checklis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est la preuve minimale d’un environnement prêt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R23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026 / 126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Reproductibilité : plus qu’une graine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Documenter les conditions de l’expérience.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Graine et indices de séparation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Versions et matériel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configuration et état du modèle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7_repro.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Deux scores légèrement différents signifient-ils nécessairement un bug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R07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027 / 126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boucle PyTorch, ligne par ligne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chaîne entière réalise l’apprentissage.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zero_grad → forward</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loss → backward</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step → lot suivant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8_code_torc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ligne applique réellement les nouveaux poids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028 / 126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Keras : une boucle de haut niveau</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compile, fit, predict ne retirent pas les choix.</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Définir les couches et l’entrée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Associer optimiseur, perte et métriques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Fournir une validation explicite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9_code_kera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fournir X_val et y_val à fit, mais pas X_test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029 / 126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2900" b="1">
                <a:solidFill>
                  <a:srgbClr val="122441"/>
                </a:solidFill>
                <a:latin typeface="DejaVu Sans"/>
              </a:defRPr>
            </a:pPr>
            <a:r>
              <a:t>Sauvegarder un système, pas seulement un réseau</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Les poids ne suffisent pas à reproduire une décision.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Architecture et état des paramètres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Prétraitement et ordre des variables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métriques, données et versions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0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manque-t-il à un fichier de poids utilisé seul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030 / 126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Séparer avant de transformer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Trois ensembles, trois usages.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Entraînement : ajuster les paramètres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 sélectionner et régler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 : estimer le résultat final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1_spli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split aléatoire suffit-il si un contribuable apparaît plusieurs fois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031 / 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fuite de données crée de faux succès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information du futur ne doit pas entrer.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après examen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Prétraitement ajusté sur le test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Doublons ou même entité des deux côtés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2_leakag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un score spectaculaire peut-il être une mauvaise nouvelle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032 / 126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Normaliser sans contaminer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Apprendre le prétraitement uniquement sur train.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fit sur l’entraînement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transform sur validation et test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Conserver le même objet pour l’inférence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3_scal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différence entre fit et transform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033 /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02 : prioriser des dossiers fictifs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score pour une revue, pas un verdict.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20 variables artificielles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Cible : examen_utile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Aucune donnée fiscale réelle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4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intitulé de cible évite une interprétation abusive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034 / 126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02 : préparer, puis vérifier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Aucun entraînement avant les contrôles.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Exclure identifiant et résultat futur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Vérifier les ensembles disjoints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Contrôler forme, types et valeurs finies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5_pip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preuve gardez-vous de la séparation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035 / 126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02 : comparer sans favoritisme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baseline a le droit de gagner.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Même train et même validation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Budget d’essais annoncé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Tableau métriques + coût + limites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6_compar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doit contenir la comparaison au-delà du score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036 / 126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Lire les courbes d’apprentissage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comportement compte autant que le dernier chiffre.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train qui diminue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validation qui stagne ou remonte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Écart à interpréter avec le protocole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7_curv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perte train inférieure à la validation suffit-elle à condamner le modèle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037 / 126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piège des 99 %</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Ignorer tous les cas positifs peut sembler excellent.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10 000 observations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100 positifs seulement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Toujours négatif : 99 % d’exactitude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8_imbal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est le rappel du classifieur toujours négatif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038 / 126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matrice de confusion parle métier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Chaque case représente une conséquence.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Précision = VP / (VP + FP)</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Rappel = VP / (VP + FN)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F1 : équilibre harmonique précision/rappel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9_confus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Avec 60 VP et 40 FP, quelle précision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039 / 126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Du score au seuil de revue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0,5 n’est pas une obligation.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Choisir le seuil sur la validation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Relier précision, rappel et charge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Fixer la règle avant le test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0_threshol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ne pas chercher le meilleur seuil sur le 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040 / 126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Tenir un journal d’expérience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hypothèse, une modification, une trace.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Hypothèse et effet attendu</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mesuré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Interprétation et prochain test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1_journ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qu’un résultat négatif utile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041 / 126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Point de contrôle du jour 1</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Expliquer sans lire son code.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époque est…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Je reconnais une fuite lorsque…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Avant de croire un score, je vérifie…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2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Pouvez-vous recharger et expliquer votre expérience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042 / 126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2441"/>
        </a:solidFill>
        <a:effectLst/>
      </p:bgPr>
    </p:bg>
    <p:spTree>
      <p:nvGrpSpPr>
        <p:cNvPr id="1" name=""/>
        <p:cNvGrpSpPr/>
        <p:nvPr/>
      </p:nvGrpSpPr>
      <p:grpSpPr/>
      <p:sp>
        <p:nvSpPr>
          <p:cNvPr id="2" name="Rectangle 1"/>
          <p:cNvSpPr/>
          <p:nvPr/>
        </p:nvSpPr>
        <p:spPr>
          <a:xfrm>
            <a:off x="0" y="0"/>
            <a:ext cx="173736"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320040"/>
          </a:xfrm>
          <a:prstGeom prst="rect">
            <a:avLst/>
          </a:prstGeom>
          <a:noFill/>
        </p:spPr>
        <p:txBody>
          <a:bodyPr wrap="square" lIns="0" rIns="0" tIns="0" bIns="0">
            <a:spAutoFit/>
          </a:bodyPr>
          <a:lstStyle/>
          <a:p>
            <a:pPr>
              <a:lnSpc>
                <a:spcPct val="108000"/>
              </a:lnSpc>
              <a:spcBef>
                <a:spcPts val="0"/>
              </a:spcBef>
              <a:spcAft>
                <a:spcPts val="0"/>
              </a:spcAft>
              <a:defRPr sz="1100" b="1">
                <a:solidFill>
                  <a:srgbClr val="FFFFFF"/>
                </a:solidFill>
                <a:latin typeface="DejaVu Sans"/>
              </a:defRPr>
            </a:pPr>
            <a:r>
              <a:t>P2ENJOY  /  FORMATION PROFESSIONNELLE  /  RÉF. 4-024</a:t>
            </a:r>
          </a:p>
        </p:txBody>
      </p:sp>
      <p:sp>
        <p:nvSpPr>
          <p:cNvPr id="4" name="TextBox 3"/>
          <p:cNvSpPr txBox="1"/>
          <p:nvPr/>
        </p:nvSpPr>
        <p:spPr>
          <a:xfrm>
            <a:off x="548640" y="1024128"/>
            <a:ext cx="5943600" cy="1554480"/>
          </a:xfrm>
          <a:prstGeom prst="rect">
            <a:avLst/>
          </a:prstGeom>
          <a:noFill/>
        </p:spPr>
        <p:txBody>
          <a:bodyPr wrap="square" lIns="0" rIns="0" tIns="0" bIns="0">
            <a:spAutoFit/>
          </a:bodyPr>
          <a:lstStyle/>
          <a:p>
            <a:pPr>
              <a:lnSpc>
                <a:spcPct val="108000"/>
              </a:lnSpc>
              <a:spcBef>
                <a:spcPts val="0"/>
              </a:spcBef>
              <a:spcAft>
                <a:spcPts val="0"/>
              </a:spcAft>
              <a:defRPr sz="3900" b="1">
                <a:solidFill>
                  <a:srgbClr val="FFFFFF"/>
                </a:solidFill>
                <a:latin typeface="DejaVu Sans"/>
              </a:defRPr>
            </a:pPr>
            <a:r>
              <a:t>Concevoir et diagnostiquer</a:t>
            </a:r>
          </a:p>
        </p:txBody>
      </p:sp>
      <p:sp>
        <p:nvSpPr>
          <p:cNvPr id="5" name="TextBox 4"/>
          <p:cNvSpPr txBox="1"/>
          <p:nvPr/>
        </p:nvSpPr>
        <p:spPr>
          <a:xfrm>
            <a:off x="566928" y="2779776"/>
            <a:ext cx="5303520" cy="786384"/>
          </a:xfrm>
          <a:prstGeom prst="rect">
            <a:avLst/>
          </a:prstGeom>
          <a:noFill/>
        </p:spPr>
        <p:txBody>
          <a:bodyPr wrap="square" lIns="0" rIns="0" tIns="0" bIns="0">
            <a:spAutoFit/>
          </a:bodyPr>
          <a:lstStyle/>
          <a:p>
            <a:pPr>
              <a:lnSpc>
                <a:spcPct val="108000"/>
              </a:lnSpc>
              <a:spcBef>
                <a:spcPts val="0"/>
              </a:spcBef>
              <a:spcAft>
                <a:spcPts val="0"/>
              </a:spcAft>
              <a:defRPr sz="2200" b="0">
                <a:solidFill>
                  <a:srgbClr val="FFFFFF"/>
                </a:solidFill>
                <a:latin typeface="DejaVu Sans"/>
              </a:defRPr>
            </a:pPr>
            <a:r>
              <a:t>Vision, séquences et apprentissage sous contrôle.</a:t>
            </a:r>
          </a:p>
        </p:txBody>
      </p:sp>
      <p:sp>
        <p:nvSpPr>
          <p:cNvPr id="6" name="TextBox 5"/>
          <p:cNvSpPr txBox="1"/>
          <p:nvPr/>
        </p:nvSpPr>
        <p:spPr>
          <a:xfrm>
            <a:off x="585216" y="3877056"/>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CNN : structure spatiale</a:t>
            </a:r>
          </a:p>
        </p:txBody>
      </p:sp>
      <p:sp>
        <p:nvSpPr>
          <p:cNvPr id="7" name="TextBox 6"/>
          <p:cNvSpPr txBox="1"/>
          <p:nvPr/>
        </p:nvSpPr>
        <p:spPr>
          <a:xfrm>
            <a:off x="585216" y="4306824"/>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RNN/LSTM : ordre temporel</a:t>
            </a:r>
          </a:p>
        </p:txBody>
      </p:sp>
      <p:sp>
        <p:nvSpPr>
          <p:cNvPr id="8" name="TextBox 7"/>
          <p:cNvSpPr txBox="1"/>
          <p:nvPr/>
        </p:nvSpPr>
        <p:spPr>
          <a:xfrm>
            <a:off x="585216" y="4736592"/>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Optimisation : hypothèses vérifiables</a:t>
            </a:r>
          </a:p>
        </p:txBody>
      </p:sp>
      <p:sp>
        <p:nvSpPr>
          <p:cNvPr id="9" name="Rounded Rectangle 8"/>
          <p:cNvSpPr/>
          <p:nvPr/>
        </p:nvSpPr>
        <p:spPr>
          <a:xfrm>
            <a:off x="6080760" y="1572768"/>
            <a:ext cx="5650992" cy="307238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01_hero.png"/>
          <p:cNvPicPr>
            <a:picLocks noChangeAspect="1"/>
          </p:cNvPicPr>
          <p:nvPr/>
        </p:nvPicPr>
        <p:blipFill>
          <a:blip r:embed="rId2"/>
          <a:stretch>
            <a:fillRect/>
          </a:stretch>
        </p:blipFill>
        <p:spPr>
          <a:xfrm>
            <a:off x="6227064" y="1746504"/>
            <a:ext cx="5367528" cy="2688336"/>
          </a:xfrm>
          <a:prstGeom prst="rect">
            <a:avLst/>
          </a:prstGeom>
        </p:spPr>
      </p:pic>
      <p:pic>
        <p:nvPicPr>
          <p:cNvPr id="11" name="Picture 10" descr="detail_reseau_imagegen.png"/>
          <p:cNvPicPr>
            <a:picLocks noChangeAspect="1"/>
          </p:cNvPicPr>
          <p:nvPr/>
        </p:nvPicPr>
        <p:blipFill>
          <a:blip r:embed="rId3"/>
          <a:stretch>
            <a:fillRect/>
          </a:stretch>
        </p:blipFill>
        <p:spPr>
          <a:xfrm>
            <a:off x="9674352" y="374904"/>
            <a:ext cx="2039112" cy="813816"/>
          </a:xfrm>
          <a:prstGeom prst="rect">
            <a:avLst/>
          </a:prstGeom>
        </p:spPr>
      </p:pic>
      <p:sp>
        <p:nvSpPr>
          <p:cNvPr id="12" name="Rounded Rectangle 11"/>
          <p:cNvSpPr/>
          <p:nvPr/>
        </p:nvSpPr>
        <p:spPr>
          <a:xfrm>
            <a:off x="576072" y="5742432"/>
            <a:ext cx="11055096" cy="530352"/>
          </a:xfrm>
          <a:prstGeom prst="roundRect">
            <a:avLst>
              <a:gd name="adj" fmla="val 9000"/>
            </a:avLst>
          </a:prstGeom>
          <a:solidFill>
            <a:srgbClr val="21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852160"/>
            <a:ext cx="10652760" cy="310896"/>
          </a:xfrm>
          <a:prstGeom prst="rect">
            <a:avLst/>
          </a:prstGeom>
          <a:noFill/>
        </p:spPr>
        <p:txBody>
          <a:bodyPr wrap="square" lIns="0" rIns="0" tIns="0" bIns="0">
            <a:spAutoFit/>
          </a:bodyPr>
          <a:lstStyle/>
          <a:p>
            <a:pPr>
              <a:lnSpc>
                <a:spcPct val="108000"/>
              </a:lnSpc>
              <a:spcBef>
                <a:spcPts val="0"/>
              </a:spcBef>
              <a:spcAft>
                <a:spcPts val="0"/>
              </a:spcAft>
              <a:defRPr sz="1500" b="0">
                <a:solidFill>
                  <a:srgbClr val="FFFFFF"/>
                </a:solidFill>
                <a:latin typeface="DejaVu Sans"/>
              </a:defRPr>
            </a:pPr>
            <a:r>
              <a:t>Quelle règle du jour 1 reste non négociable ?</a:t>
            </a:r>
          </a:p>
        </p:txBody>
      </p:sp>
      <p:sp>
        <p:nvSpPr>
          <p:cNvPr id="14" name="TextBox 13"/>
          <p:cNvSpPr txBox="1"/>
          <p:nvPr/>
        </p:nvSpPr>
        <p:spPr>
          <a:xfrm>
            <a:off x="585216" y="6492240"/>
            <a:ext cx="7315200" cy="201168"/>
          </a:xfrm>
          <a:prstGeom prst="rect">
            <a:avLst/>
          </a:prstGeom>
          <a:noFill/>
        </p:spPr>
        <p:txBody>
          <a:bodyPr wrap="square" lIns="0" rIns="0" tIns="0" bIns="0">
            <a:spAutoFit/>
          </a:bodyPr>
          <a:lstStyle/>
          <a:p>
            <a:pPr>
              <a:lnSpc>
                <a:spcPct val="108000"/>
              </a:lnSpc>
              <a:spcBef>
                <a:spcPts val="0"/>
              </a:spcBef>
              <a:spcAft>
                <a:spcPts val="0"/>
              </a:spcAft>
              <a:defRPr sz="900" b="0">
                <a:solidFill>
                  <a:srgbClr val="FFFFFF"/>
                </a:solidFill>
                <a:latin typeface="DejaVu Sans"/>
              </a:defRPr>
            </a:pPr>
            <a:r>
              <a:t>https://p2enjoy.studio  •  DGFiP  •  Asnières-sur-Seine</a:t>
            </a:r>
          </a:p>
        </p:txBody>
      </p:sp>
      <p:sp>
        <p:nvSpPr>
          <p:cNvPr id="15" name="TextBox 14"/>
          <p:cNvSpPr txBox="1"/>
          <p:nvPr/>
        </p:nvSpPr>
        <p:spPr>
          <a:xfrm>
            <a:off x="10607040" y="6428232"/>
            <a:ext cx="996696" cy="292608"/>
          </a:xfrm>
          <a:prstGeom prst="rect">
            <a:avLst/>
          </a:prstGeom>
          <a:noFill/>
        </p:spPr>
        <p:txBody>
          <a:bodyPr wrap="square" lIns="0" rIns="0" tIns="0" bIns="0">
            <a:spAutoFit/>
          </a:bodyPr>
          <a:lstStyle/>
          <a:p>
            <a:pPr algn="r">
              <a:lnSpc>
                <a:spcPct val="108000"/>
              </a:lnSpc>
              <a:spcBef>
                <a:spcPts val="0"/>
              </a:spcBef>
              <a:spcAft>
                <a:spcPts val="0"/>
              </a:spcAft>
              <a:defRPr sz="1200" b="1">
                <a:solidFill>
                  <a:srgbClr val="FFFFFF"/>
                </a:solidFill>
                <a:latin typeface="DejaVu Sans"/>
              </a:defRPr>
            </a:pPr>
            <a:r>
              <a:t>JOUR 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Réactivation en binôme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Retrouver les invariants avant les nouveautés.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Pourquoi une validation ?</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Pourquoi une non-linéarité ?</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Pourquoi une baseline ?</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4_diagnostic.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risque si vous changez le split à chaque essai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044 / 126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Trois architectures, trois structures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Choisir le mécanisme adapté à la donnée.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 variables numériques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 voisinage spatial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 état récurrent dans le temps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5_architectur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LSTM est-il synonyme de meilleur modèle temporel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045 / 126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Aplatir l’image ou préserver l’espace ?</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CNN réutilise un même filtre local.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 pixels transformés en vecteur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 filtres partagés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Hiérarchie de représentations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6_mlpcn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perd explicitement le passage immédiat à Flatten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R08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046 / 126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Images et canaux</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Dans notre TP : 8 × 8 pixels, un canal.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1 797 images de chiffres manuscrits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10 classes, de 0 à 9</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locales fournies avec le kit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7_digi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transposer directement son score aux photographies aériennes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047 / 126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convolution, calculée une fois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Multiplier localement, puis additionner.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Fenêtre 3 × 3</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Filtre appris 3 × 3</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valeur dans la carte de caractéristiques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8_convolu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élément est appris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048 / 126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Pas et remplissage changent la forme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Suivre les dimensions à chaque couche.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 : déplacement du filtre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Remplissage : bord ajouté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Taille : dépend de l’entrée et du filtre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9_padding.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produit 8, filtre 3, remplissage 1, pas 1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049 / 126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partage des poids réduit les paramètres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filtre est réutilisé, pas recopié.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Conv 3 × 3, 1 → 8 canaux</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Poids : 3 × 3 × 1 × 8</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Biais : 8, soit 80 paramètres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0_paramete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la convolution conserve-t-elle peu de poids à grande résolution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050 / 126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Sous-échantillonner sans mystère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pooling résume un voisinage.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Max-pooling : maximum local</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 × 2 avec pas 2</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8 × 8 devient 4 × 4</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1_pooling.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empiler dix poolings sur une image 8 × 8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051 / 126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champ réceptif grandit avec les couches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caractéristique résume un voisinage élargi.</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Première couche : motif local</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Couches suivantes : combinaisons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profondeur seule ne suffit pas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2_receptiv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Deux filtres 3 × 3 successifs regardent-ils seulement 3 × 3 pixels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052 / 126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CNN du laboratoire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Petit, lisible et entraînable sur CPU.</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Conv 1→8 • ReLU • Pool</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Conv 8→16 • ReLU • Pool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64 valeurs → 10 logits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3_cn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est la taille du vecteur avant la dernière couche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053 / 126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04 : entraîner et comparer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Conserver les images, les indices et les métriques.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Référence dense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minimal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Courbes et matrice de confusion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4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Le CNN doit-il forcément battre le MLP ici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054 / 126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Inspecter les erreurs de vision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score moyen ne dit pas où agir.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Classe vraie et classe prédite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Score de confiance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Ambiguïté, bruit ou étiquette discutable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5_err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action suit une erreur surconfiante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055 / 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 RNN transporte un état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contexte se transmet d’un instant au suivant.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 xₜ</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État précédent hₜ₋₁</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Nouvel état hₜ</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6_rn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Les cellules déroulées ont-elles chacune des poids différents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056 / 126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LSTM : préserver, écrire, restituer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Des portes contrôlent la circulation de l’information.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État de cellule : information conservée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Porte d’oubli : filtrer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Portes d’entrée et de sortie : modifier et exposer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7_lstm.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porte décide-t-elle selon une règle écrite à la main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057 / 126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Quand les gradients disparaissent ou explosent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Les produits de dérivées peuvent devenir extrêmes.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Dépendances longues difficiles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 mécanismes de mémoire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Écrêtage : contrôler des gradients excessifs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8_vanishing.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Le clipping remplace-t-il la recherche de la cause d’une instabilité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058 / 126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Transformer une série en exemples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fenêtre passée, une cible future.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24 observations en entrée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valeur suivante en cible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Date de cible conservée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9_window.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faut-il modifier pour une prévision à dix pas sans nouvelles observations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059 / 126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Valider dans l’ordre du temps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Imiter l’information disponible en usage réel.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Passé : entraînement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Période suivante : validation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Dernière période : test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0_timespli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problème pose le mélange des dates avant le split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060 / 126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06 : prévoir avec un LSTM</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dernière valeur est votre premier adversaire.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Construire les fenêtres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Entraîner un LSTM de 16 unités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Comparer MAE et RMSE à la persistance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1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prouve un LSTM moins bon que la persistance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061 / 126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prévision n’est pas une courbe jolie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Évaluer l’erreur et les périodes difficiles.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MAE : erreur absolue moyenne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RMSE : sensibilité aux grandes erreurs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Analyser les ruptures et l’horizon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2_forecas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regarder les ruptures séparément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062 / 126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Ouverture : l’attention et les Transformers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Relier les éléments sans les traiter seulement en chaîne.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RNN : transmission d’un état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Attention : pondération des relations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conservé dans les objectifs du cours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3_atten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ne pas entraîner ici un grand modèle de langage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063 / 126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NOUVELLE SÉQUENCE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Passer du lancement au diagnostic</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modèle est un système à examiner.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Observer un symptôme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Formuler une hypothèse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Tester une modification isolée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4_sec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Par quoi commencer devant un mauvais score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064 / 126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Trois profils de courbes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même apparence peut avoir plusieurs causes.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Sous-apprentissage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Compromis à confirmer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Surapprentissage probable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5_curv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Comment distinguer manque de capacité et bug de pipeline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065 / 126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fiche de diagnostic</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Symptôme → hypothèse → test → action.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plate : LR, données ou gradients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Instabilité : LR, échelle ou calcul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Rappel faible : classe rare ou seuil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6_diagnosticmatrix.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information manque à « ajoutez du dropout »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066 / 126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test des 32 exemples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réseau capable devrait pouvoir mémoriser ce petit lot.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Sous-ensemble fixe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 de régularisation forte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qui devient très faible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7_tinybatc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modèle qui mémorise 32 exemples est-il prêt à être déployé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067 / 126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Taux, SGD et Adam</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L’optimiseur n’est pas l’architecture.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SGD : mise à jour suivant le gradient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Momentum : accumulation orientée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Adam : moments adaptatifs des gradients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8_optimiz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changer d’optimiseur sans revoir le taux peut-il tromper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068 / 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Régulariser selon une hypothèse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Réduire les comportements trop spécifiques au train.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L2 / décroissance des poids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Dropout et augmentation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Arrêt anticipé</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9_regulariza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cumuler toutes les régularisations sans risque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R11,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069 / 126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Dropout : apprendre avec des chemins masqués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masque change pendant l’entraînement.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Unités temporairement neutralisées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choisi comme hyperparamètre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Comportement normal en évaluation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0_dropou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appeler model.eval avant la mesure de validation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070 / 126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BatchNorm : deux modes à distinguer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Statistiques du lot pendant l’apprentissage.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Normalisation intermédiaire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Paramètres d’échelle et de décalage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Statistiques suivies pour l’inférence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1_batchnorm.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les petits lots peuvent-ils poser problème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R12,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071 / 126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Augmenter sans changer le sens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transformation doit préserver la cible.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Bruit modéré ou petit déplacement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 de rotation arbitraire des chiffres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et test non augmentés au hasard</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2_augmenta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rotation de 180° conserve-t-elle toujours l’étiquette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072 / 126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Arrêter avant d’apprendre le bruit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Conserver le meilleur état de validation.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Suivre une métrique annoncée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Patience définie à l’avance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Restaurer les meilleurs poids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3_earlystop.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le modèle final n’est-il pas forcément celui de la dernière époque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073 / 126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Réutiliser des représentations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Préentraîner, adapter une tête, puis ajuster.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Partir d’un extracteur appris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Geler ses paramètres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Entraîner une nouvelle tête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4_transf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serait une fuite dans ce TP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074 / 126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Dégeler avec précaution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Adapter sans détruire trop vite les représentations.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Tête nouvelle d’abord</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Dernier bloc ensuite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plus faible et validation surveillée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5_freez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reconstruire l’optimiseur après un changement de couches entraînables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075 / 126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07 : transfert sans téléchargement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vrai gel, une vraie adaptation, des données disjointes.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Étape A : source propre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Étape B : tête sur cible bruitée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Étape C : ajustement du dernier bloc</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6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preuve montre que l’extracteur est gelé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076 / 126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Tester le rechargement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résultat non rechargeable n’est pas un livrable.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Sauvegarder l’état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Reconstruire le modèle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Comparer les prédictions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7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fichier non vide prouve-t-il que la sauvegarde est correcte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077 / 126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Traiter les classes rares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Pondération, échantillonnage et seuil ne sont pas équivalents.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Choisir des métriques adaptées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Tester une pondération sur train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Décider le seuil sur validation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8_imbal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équilibrer le test pour refléter une classe rare réelle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078 / 126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Classer et calibrer sont deux questions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Bien ordonner n’est pas donner une probabilité fiable.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ROC et précision-rappel : discrimination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Courbe de fiabilité : calibration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et coût : décision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9_calibra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score de 0,8 garantit-il huit succès sur dix dans ce contexte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079 / 126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Évaluer les erreurs par segments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moyenne peut cacher une zone de fragilité.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Qualité des données et périodes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Sous-groupes pertinents et effectifs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Incertitude avant comparaison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0_segmen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afficher les effectifs avec chaque taux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080 / 126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Défi : sauver le modèle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Trois expériences maximum, une cause à la fois.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Courbes, métriques et code fournis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Diagnostic écrit avant modification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Journal et preuve après correction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1_incid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vaut le plus : score final ou diagnostic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081 / 126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expérience contrôlée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Ne changez pas trois variables pour expliquer un gain.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Configuration de référence figée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changement principal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Décision conservée dans le journal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2_journ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Comment interpréter un essai qui baisse train et améliore validation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082 / 126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Défendre son diagnostic en trois minutes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raisonnement doit survivre sans le notebook.</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Symptôme observé</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 discriminant et modification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limites et prochaine action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3_defens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objection votre groupe n’a-t-il pas encore testée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083 / 126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Point de contrôle du jour 2</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Vous savez maintenant lire un échec.</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 vérifier les dimensions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 préserver le temps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Diagnostic : relier symptômes et tests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4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test faites-vous avant d’agrandir le réseau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084 / 126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22441"/>
        </a:solidFill>
        <a:effectLst/>
      </p:bgPr>
    </p:bg>
    <p:spTree>
      <p:nvGrpSpPr>
        <p:cNvPr id="1" name=""/>
        <p:cNvGrpSpPr/>
        <p:nvPr/>
      </p:nvGrpSpPr>
      <p:grpSpPr/>
      <p:sp>
        <p:nvSpPr>
          <p:cNvPr id="2" name="Rectangle 1"/>
          <p:cNvSpPr/>
          <p:nvPr/>
        </p:nvSpPr>
        <p:spPr>
          <a:xfrm>
            <a:off x="0" y="0"/>
            <a:ext cx="173736" cy="6858000"/>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320040"/>
          </a:xfrm>
          <a:prstGeom prst="rect">
            <a:avLst/>
          </a:prstGeom>
          <a:noFill/>
        </p:spPr>
        <p:txBody>
          <a:bodyPr wrap="square" lIns="0" rIns="0" tIns="0" bIns="0">
            <a:spAutoFit/>
          </a:bodyPr>
          <a:lstStyle/>
          <a:p>
            <a:pPr>
              <a:lnSpc>
                <a:spcPct val="108000"/>
              </a:lnSpc>
              <a:spcBef>
                <a:spcPts val="0"/>
              </a:spcBef>
              <a:spcAft>
                <a:spcPts val="0"/>
              </a:spcAft>
              <a:defRPr sz="1100" b="1">
                <a:solidFill>
                  <a:srgbClr val="FFFFFF"/>
                </a:solidFill>
                <a:latin typeface="DejaVu Sans"/>
              </a:defRPr>
            </a:pPr>
            <a:r>
              <a:t>P2ENJOY  /  FORMATION PROFESSIONNELLE  /  RÉF. 4-024</a:t>
            </a:r>
          </a:p>
        </p:txBody>
      </p:sp>
      <p:sp>
        <p:nvSpPr>
          <p:cNvPr id="4" name="TextBox 3"/>
          <p:cNvSpPr txBox="1"/>
          <p:nvPr/>
        </p:nvSpPr>
        <p:spPr>
          <a:xfrm>
            <a:off x="548640" y="1024128"/>
            <a:ext cx="5943600" cy="1554480"/>
          </a:xfrm>
          <a:prstGeom prst="rect">
            <a:avLst/>
          </a:prstGeom>
          <a:noFill/>
        </p:spPr>
        <p:txBody>
          <a:bodyPr wrap="square" lIns="0" rIns="0" tIns="0" bIns="0">
            <a:spAutoFit/>
          </a:bodyPr>
          <a:lstStyle/>
          <a:p>
            <a:pPr>
              <a:lnSpc>
                <a:spcPct val="108000"/>
              </a:lnSpc>
              <a:spcBef>
                <a:spcPts val="0"/>
              </a:spcBef>
              <a:spcAft>
                <a:spcPts val="0"/>
              </a:spcAft>
              <a:defRPr sz="3900" b="1">
                <a:solidFill>
                  <a:srgbClr val="FFFFFF"/>
                </a:solidFill>
                <a:latin typeface="DejaVu Sans"/>
              </a:defRPr>
            </a:pPr>
            <a:r>
              <a:t>Du modèle à l’usage métier</a:t>
            </a:r>
          </a:p>
        </p:txBody>
      </p:sp>
      <p:sp>
        <p:nvSpPr>
          <p:cNvPr id="5" name="TextBox 4"/>
          <p:cNvSpPr txBox="1"/>
          <p:nvPr/>
        </p:nvSpPr>
        <p:spPr>
          <a:xfrm>
            <a:off x="566928" y="2779776"/>
            <a:ext cx="5303520" cy="786384"/>
          </a:xfrm>
          <a:prstGeom prst="rect">
            <a:avLst/>
          </a:prstGeom>
          <a:noFill/>
        </p:spPr>
        <p:txBody>
          <a:bodyPr wrap="square" lIns="0" rIns="0" tIns="0" bIns="0">
            <a:spAutoFit/>
          </a:bodyPr>
          <a:lstStyle/>
          <a:p>
            <a:pPr>
              <a:lnSpc>
                <a:spcPct val="108000"/>
              </a:lnSpc>
              <a:spcBef>
                <a:spcPts val="0"/>
              </a:spcBef>
              <a:spcAft>
                <a:spcPts val="0"/>
              </a:spcAft>
              <a:defRPr sz="2200" b="0">
                <a:solidFill>
                  <a:srgbClr val="FFFFFF"/>
                </a:solidFill>
                <a:latin typeface="DejaVu Sans"/>
              </a:defRPr>
            </a:pPr>
            <a:r>
              <a:t>Des preuves, des limites et une décision humaine.</a:t>
            </a:r>
          </a:p>
        </p:txBody>
      </p:sp>
      <p:sp>
        <p:nvSpPr>
          <p:cNvPr id="6" name="TextBox 5"/>
          <p:cNvSpPr txBox="1"/>
          <p:nvPr/>
        </p:nvSpPr>
        <p:spPr>
          <a:xfrm>
            <a:off x="585216" y="3877056"/>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Cas DGFiP, finance, santé et textes</a:t>
            </a:r>
          </a:p>
        </p:txBody>
      </p:sp>
      <p:sp>
        <p:nvSpPr>
          <p:cNvPr id="7" name="TextBox 6"/>
          <p:cNvSpPr txBox="1"/>
          <p:nvPr/>
        </p:nvSpPr>
        <p:spPr>
          <a:xfrm>
            <a:off x="585216" y="4306824"/>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Gouvernance dans le workflow</a:t>
            </a:r>
          </a:p>
        </p:txBody>
      </p:sp>
      <p:sp>
        <p:nvSpPr>
          <p:cNvPr id="8" name="TextBox 7"/>
          <p:cNvSpPr txBox="1"/>
          <p:nvPr/>
        </p:nvSpPr>
        <p:spPr>
          <a:xfrm>
            <a:off x="585216" y="4736592"/>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Projet final en équipe</a:t>
            </a:r>
          </a:p>
        </p:txBody>
      </p:sp>
      <p:sp>
        <p:nvSpPr>
          <p:cNvPr id="9" name="Rounded Rectangle 8"/>
          <p:cNvSpPr/>
          <p:nvPr/>
        </p:nvSpPr>
        <p:spPr>
          <a:xfrm>
            <a:off x="6080760" y="1572768"/>
            <a:ext cx="5650992" cy="307238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01_hero.png"/>
          <p:cNvPicPr>
            <a:picLocks noChangeAspect="1"/>
          </p:cNvPicPr>
          <p:nvPr/>
        </p:nvPicPr>
        <p:blipFill>
          <a:blip r:embed="rId2"/>
          <a:stretch>
            <a:fillRect/>
          </a:stretch>
        </p:blipFill>
        <p:spPr>
          <a:xfrm>
            <a:off x="6227064" y="1746504"/>
            <a:ext cx="5367528" cy="2688336"/>
          </a:xfrm>
          <a:prstGeom prst="rect">
            <a:avLst/>
          </a:prstGeom>
        </p:spPr>
      </p:pic>
      <p:pic>
        <p:nvPicPr>
          <p:cNvPr id="11" name="Picture 10" descr="detail_reseau_imagegen.png"/>
          <p:cNvPicPr>
            <a:picLocks noChangeAspect="1"/>
          </p:cNvPicPr>
          <p:nvPr/>
        </p:nvPicPr>
        <p:blipFill>
          <a:blip r:embed="rId3"/>
          <a:stretch>
            <a:fillRect/>
          </a:stretch>
        </p:blipFill>
        <p:spPr>
          <a:xfrm>
            <a:off x="9674352" y="374904"/>
            <a:ext cx="2039112" cy="813816"/>
          </a:xfrm>
          <a:prstGeom prst="rect">
            <a:avLst/>
          </a:prstGeom>
        </p:spPr>
      </p:pic>
      <p:sp>
        <p:nvSpPr>
          <p:cNvPr id="12" name="Rounded Rectangle 11"/>
          <p:cNvSpPr/>
          <p:nvPr/>
        </p:nvSpPr>
        <p:spPr>
          <a:xfrm>
            <a:off x="576072" y="5742432"/>
            <a:ext cx="11055096" cy="530352"/>
          </a:xfrm>
          <a:prstGeom prst="roundRect">
            <a:avLst>
              <a:gd name="adj" fmla="val 9000"/>
            </a:avLst>
          </a:prstGeom>
          <a:solidFill>
            <a:srgbClr val="21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852160"/>
            <a:ext cx="10652760" cy="310896"/>
          </a:xfrm>
          <a:prstGeom prst="rect">
            <a:avLst/>
          </a:prstGeom>
          <a:noFill/>
        </p:spPr>
        <p:txBody>
          <a:bodyPr wrap="square" lIns="0" rIns="0" tIns="0" bIns="0">
            <a:spAutoFit/>
          </a:bodyPr>
          <a:lstStyle/>
          <a:p>
            <a:pPr>
              <a:lnSpc>
                <a:spcPct val="108000"/>
              </a:lnSpc>
              <a:spcBef>
                <a:spcPts val="0"/>
              </a:spcBef>
              <a:spcAft>
                <a:spcPts val="0"/>
              </a:spcAft>
              <a:defRPr sz="1500" b="0">
                <a:solidFill>
                  <a:srgbClr val="FFFFFF"/>
                </a:solidFill>
                <a:latin typeface="DejaVu Sans"/>
              </a:defRPr>
            </a:pPr>
            <a:r>
              <a:t>Qu’est-ce qui manque encore à un notebook correct ?</a:t>
            </a:r>
          </a:p>
        </p:txBody>
      </p:sp>
      <p:sp>
        <p:nvSpPr>
          <p:cNvPr id="14" name="TextBox 13"/>
          <p:cNvSpPr txBox="1"/>
          <p:nvPr/>
        </p:nvSpPr>
        <p:spPr>
          <a:xfrm>
            <a:off x="585216" y="6492240"/>
            <a:ext cx="7315200" cy="201168"/>
          </a:xfrm>
          <a:prstGeom prst="rect">
            <a:avLst/>
          </a:prstGeom>
          <a:noFill/>
        </p:spPr>
        <p:txBody>
          <a:bodyPr wrap="square" lIns="0" rIns="0" tIns="0" bIns="0">
            <a:spAutoFit/>
          </a:bodyPr>
          <a:lstStyle/>
          <a:p>
            <a:pPr>
              <a:lnSpc>
                <a:spcPct val="108000"/>
              </a:lnSpc>
              <a:spcBef>
                <a:spcPts val="0"/>
              </a:spcBef>
              <a:spcAft>
                <a:spcPts val="0"/>
              </a:spcAft>
              <a:defRPr sz="900" b="0">
                <a:solidFill>
                  <a:srgbClr val="FFFFFF"/>
                </a:solidFill>
                <a:latin typeface="DejaVu Sans"/>
              </a:defRPr>
            </a:pPr>
            <a:r>
              <a:t>https://p2enjoy.studio  •  DGFiP  •  Asnières-sur-Seine</a:t>
            </a:r>
          </a:p>
        </p:txBody>
      </p:sp>
      <p:sp>
        <p:nvSpPr>
          <p:cNvPr id="15" name="TextBox 14"/>
          <p:cNvSpPr txBox="1"/>
          <p:nvPr/>
        </p:nvSpPr>
        <p:spPr>
          <a:xfrm>
            <a:off x="10607040" y="6428232"/>
            <a:ext cx="996696" cy="292608"/>
          </a:xfrm>
          <a:prstGeom prst="rect">
            <a:avLst/>
          </a:prstGeom>
          <a:noFill/>
        </p:spPr>
        <p:txBody>
          <a:bodyPr wrap="square" lIns="0" rIns="0" tIns="0" bIns="0">
            <a:spAutoFit/>
          </a:bodyPr>
          <a:lstStyle/>
          <a:p>
            <a:pPr algn="r">
              <a:lnSpc>
                <a:spcPct val="108000"/>
              </a:lnSpc>
              <a:spcBef>
                <a:spcPts val="0"/>
              </a:spcBef>
              <a:spcAft>
                <a:spcPts val="0"/>
              </a:spcAft>
              <a:defRPr sz="1200" b="1">
                <a:solidFill>
                  <a:srgbClr val="FFFFFF"/>
                </a:solidFill>
                <a:latin typeface="DejaVu Sans"/>
              </a:defRPr>
            </a:pPr>
            <a:r>
              <a:t>JOUR 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grille commune des études de cas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Ne jamais s’arrêter à « ils ont utilisé l’IA ».</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Problème, données et cible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métrique et résultat documenté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Humain, erreurs et transposition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6_casegri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noter lorsqu’une architecture n’est pas documentée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086 / 126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Foncier Innovant : le fait documenté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Vision aérienne et vérification par un agent.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Images aériennes publiques de l’IGN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Rapprochement cadastral et déclaratif</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Vérification manuelle des anomalies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7_case_fonci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À quelle étape le score devient-il une décision administrative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087 / 126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Foncier Innovant : une chaîne de vérification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Détecter un objet ne suffit pas à qualifier une situation.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 → objet candidat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 rapprochement de références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Anomalie potentielle → revue humaine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8_foncierflow.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erreur n’est pas nécessairement une erreur du réseau de vision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088 / 126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Foncier : matérialiser les faux signaux</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Les vignettes sont entièrement fictives.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pertinent correctement signalé</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ressemblant mais non pertinent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pertinent manqué</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9_aeri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bassin visible suffit-il à conclure à une anomalie déclarative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089 / 126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CFVR : cibler n’est pas conclure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datamining alimente l’examen des dossiers.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Dispositif développé à partir de 2014</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Architecture neuronale non documentée ici</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56 % : mobilisation de l’IA en 2024, pas précision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0_case_cfv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dire « le réseau CFVR est exact à 56 % »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R17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090 / 126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Capacité de revue : regarder le haut de la liste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classement sert un budget opérationnel.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Capacité fictive : 50 dossiers par jour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Précision parmi les 50 premiers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Rappel et coût des cas manqués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1_top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métrique relie directement le classement au travail quotidien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091 / 126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Fraude en flux : les labels ne sont pas gratuits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petite partie des transactions est expertisée.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Fort déséquilibre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Vérité terrain retardée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Arbitrage exploration / exploitation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2_stream.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biais si l’on n’observe que les dossiers déjà bien classés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092 / 126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Surveiller la dérive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validation historique n’est pas éternelle.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Les entrées changent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prévalence change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relation entre entrées et cible change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3_drif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garantir la qualité actuelle sans labels récents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093 / 126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OCT rétiniennes : une étude clinique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performance publiée dans un protocole précis.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 Fauw et coauteurs, 2018</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14 884 scans d’entraînement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Recommandation d’orientation dans l’étude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4_case_healt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généralisation le résultat n’autorise-t-il pas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R18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094 / 126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OCT : une représentation intermédiaire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Décomposer peut aider la robustesse et la lecture.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Volume OCT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Segmentation des tissus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Classification et orientation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5_oc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inspecter la segmentation plutôt que seulement le score final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R18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095 / 126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En santé, le coût des erreurs est asymétrique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Même matrice, conséquences différentes.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Urgence manquée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Orientation urgente non nécessaire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Qualité du signal et incertitude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6_costmatrix.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l’accuracy seule ne choisit-elle pas une politique d’orientation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R18,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096 / 126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LlaMandement : routage et résumés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Deux tâches distinctes sur des textes.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Expérimentation autour du PLF 2024</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Près de 7 000 amendements traités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Aide aux équipes, pas preuve d’exactitude absolue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7_documen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bonne classification garantit-elle un résumé fidèle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097 / 126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Choisir une famille de modèles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Partir des données et du niveau de preuve.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Tableau : linéaire/arbres puis réseau</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 : CNN et transfert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Texte : référence lexicale puis représentation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8_decisiontre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Quand une solution plus simple est-elle préférable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098 / 126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Transposer à plusieurs métiers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Même cycle d’ingénierie, contraintes différentes.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Maintenance : séries de capteurs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Relation usager : routage de textes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Logistique : volumes et prévisions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9_sect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cas est suffisamment limité pour un prototype de trois heures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099 / 126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gouvernance commence avant les données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Finalité, habilitations et périmètre autorisé.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de synthèse dans les TP</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Sources et accès documentés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Responsabilités identifiées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0_govern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donnée publique est-elle automatiquement non personnelle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100 / 126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Définir une finalité exploitable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 Faire de l’IA » n’est pas une finalité.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Population et tâche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Entrées nécessaires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Usage autorisé de la sortie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1_purpos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variable retirer si elle ne sert pas la finalité annoncée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101 / 126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supervision humaine doit être effective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agent peut contester, vérifier et décider.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Dossier source accessible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Limites et incertitude visibles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Possibilité réelle de ne pas suivre le score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2_humanloop.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manque à une interface ne montrant que « risque élevé »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102 / 126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RGPD, règlement IA et transparence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Qualifier le cas avant de l’autoriser.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personnelles et risques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Usage prévu et rôle de l’organisme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Obligations à vérifier à la date du projet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3_compli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décider du niveau de risque uniquement parce que le système utilise un CNN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R21, R22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103 / 126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Documenter données, modèle et système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Trois fiches, trois niveaux de responsabilité.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 origine, dates et labels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 versions, métriques et limites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Système : seuil, usage et supervision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4_card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une fiche modèle ne suffit-elle pas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104 / 126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Atelier de transposition et de risques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Rendre un cas vérifiable avant de le coder.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finalité limitée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Trois erreurs possibles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protocole et un contrôle humain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5_casegri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est votre condition d’arrêt avant tout déploiement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105 / 126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NOUVELLE SÉQUENCE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Projet : du besoin au prototype défendable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notebook propre et une slide de décision.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Préparer les données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Comparer et entraîner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Évaluer, documenter et présenter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6_sec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livrez-vous si votre réseau ne dépasse pas la référence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106 / 126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Quatre parcours, une même exigence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difficulté doit rester dans le raisonnement.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Vision : chiffres manuscrits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Priorisation : observations synthétiques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Séquence ou documents : données préparées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7_projecttrack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changer de parcours après avoir consulté le 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107 / 126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vision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Classifier sans surinterpréter.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Digits 8 × 8</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de référence et CNN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Erreurs par classe et sauvegarde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8_digi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limite métier devez-vous écrire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108 / 126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priorisation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Concilier qualité et capacité de revue.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Baseline logistique ou arbres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et métriques de classe rare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ou top-k choisi sur validation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9_top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indicateur donne la charge opérationnelle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109 / 126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séquence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Prévoir un pas et conserver le futur.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Fenêtres chronologiques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Persistance et LSTM</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MAE, RMSE et ruptures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0_window.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changement rendrait votre test non comparable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110 / 126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documents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Routage simulé, sans données d’usagers.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Textes artificiels et familles de modèles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TF-IDF appris sur train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Régression logistique et petit MLP</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1_documen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séparer les familles de formulations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111 / 126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Répartir les rôles, pas la responsabilité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Chacun doit pouvoir expliquer le protocole.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et séparation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et expériences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Évaluation et restitution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2_rol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Qui est responsable de repérer une fuite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112 / 126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1 : contrat de données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Écrire les règles avant le premier entraînement.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Entrées, cible et date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Colonnes exclues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Indices et protocole conservés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3_datase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preuve permet au formateur de valider ce jalon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113 / 126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2 : baseline et modèle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Faire moins, mais comparer correctement.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référence pertinente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architecture expliquée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même métrique principale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4_bas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baseline volontairement faible est-elle acceptable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114 / 126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3 : métrique et règle de décision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Définir ce qui est utile avant de l’optimiser.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Métrique principale annoncée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Métriques secondaires et effectifs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ou top-k fixé sur validation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5_metric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question métier votre métrique répond-elle exactement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115 / 126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4 : expérience contrôlée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amélioration doit être attribuable.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Hypothèse écrite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Changement limité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de validation consigné</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6_journ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Comment prouver que votre optimisation n’utilise pas le 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116 / 126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5 : ouvrir le test une fois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Mesurer le choix retenu, pas chercher un nouveau gagnant.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Configuration finale figée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Évaluation réservée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Aucun réglage après lecture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7_testloc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faire si le test déçoit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117 / 126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6 : analyser les échecs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recommandation exige des limites.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Trois erreurs représentatives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cause plausible par erreur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prochain test discriminant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5_err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erreur serait la plus coûteuse dans l’usage envisagé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118 / 126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7 : fiche de modèle et d’usage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Dire aussi ce qui n’a pas été évalué.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et versions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Performances, seuil et limites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Utilisateur, supervision et arrêt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9_card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formulation est préférable à une assurance non démontrée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119 / 126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slide exécutive attendue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décision lisible, sans écran de code.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Problème et données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Protocole, comparaison et métrique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Risques et recommandation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0_executiv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supprimez-vous en priorité pour rendre la slide lisible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120 / 126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grille de notation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qualité de la démarche vaut plus que le score.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Problème, données et protocole : 45 points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Baseline, architecture et métriques : 35 points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Erreurs, limites et recommandation : 20 points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1_rubric.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groupe peut-il réussir si son réseau est moins bon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121 / 126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Soutenance : défendre une décision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Dire ce que le résultat autorise, et ce qu’il n’autorise pas.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3 minutes de présentation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 minutes de questions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Protocole, erreur principale et suite proposée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2_defens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pourrait remettre en cause votre recommandation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122 / 126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QCM final : vérifier le langage commun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Dix questions, une réponse argumentée.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Sortie/perte et gradients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seuil et classes rares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LSTM et supervision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3_quiz.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ensemble sert à choisir le seuil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123 / 126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Épreuve individuelle : cinq défauts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Identifier au moins trois problèmes, en corriger deux.</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Fuite de prétraitement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Sortie/perte incohérentes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Métrique seule, capacité et conclusion excessive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4_incid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correction syntaxique suffit-elle à valider l’exercice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124 / 126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Avant un usage réel : la fiche de passage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prototype pédagogique ne vaut pas validation de production.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Finalité et responsabilités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Tests indépendants et monitoring</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Conditions de supervision et d’arrêt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5_deploym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champ non renseigné empêcherait votre mise en service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R21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125 / 126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Ressources pour poursuivre les essais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Notebooks, fiches et références restent réutilisables.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11 notebooks apprenants + corrections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Jeux de données locaux et résultats de référence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Documentation officielle et sources des cas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6_resourc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Où retrouver le protocole exact d’un résultat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126 / 126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artificielle : Deep Learning par la pratique</dc:title>
  <dc:subject>Formation 4-024, DGFiP, 21 au 23 septembre 2026</dc:subject>
  <dc:creator>Martino Bettucci | P2Enjoy</dc:creator>
  <cp:keywords>Deep Learning, 4-024, DGFiP, formation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